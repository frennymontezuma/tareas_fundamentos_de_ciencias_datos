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4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4189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 a la Unidad 3. Recordar que en la Unidad 2 vimos qué es un modelo predictivo y las variables independientes y dependientes; ahora aprendemos los dos tipos de problema supervisado y los primeros algoritmos para resolverlos.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recorrido completo. Cada tema tiene prácticas en Colab en el documento de ejemplos.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estudiantes 5 ejemplos de su vida diaria y clasificarlos en voz alta: ¿la respuesta es un número o una etiqueta? Esta es la decisión que define todo lo demás.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la sección de regresión lineal (sesiones 1 y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punto es un viaje real; la línea roja es la predicción del modelo. Preguntar: ¿qué pasaría con un viaje de 25 km? El modelo permite estimarlo aunque nunca lo haya visto.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Relacionar con el taxi: el punto de partida es el banderazo y la pendiente es el precio por kilómetro. El trabajo del algoritmo es encontrar esos dos valores a partir de los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qué se elevan al cuadrado: así los errores positivos y negativos no se cancelan y los errores grandes pesan más. Python hace este cálculo por nosotros al entrenar.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regresión múltiple es la misma idea con varias entradas. Enfatizar la frase 'manteniendo las demás constantes': el coeficiente de habitaciones compara casas del mismo tamaño y antigüedad. Práctica: Ejemplo 2 del documento.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patrón crear, fit, predict se repite con todos los modelos de scikit-learn: lo que cambia es solo la clase que importamos. Abrir el Ejemplo 1 del documento en Colab y ejecutarlo celda por celda.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Inicio de la sección de clasificación (sesión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clave del aprendizaje supervisado: necesitamos datos históricos donde ya sabemos la respuesta correcta.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Adelantar la idea de probabilidad: es la base de la regresión logística que vemos a continuación.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Sesiones 3 a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puntos de abajo son estudiantes que reprobaron (0) y los de arriba los que aprobaron (1). Una recta no sirve porque daría probabilidades negativas o mayores a 1; la sigmoide resuelve 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Python, el modelo usa 0.5 como umbral por defecto y también puede entregar la probabilidad de cada caso. En el Ejemplo 4 los estudiantes prueban distintos umbrales.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como el juego de 20 preguntas. El algoritmo elige en cada paso la pregunta que mejor separa los datos. Ejemplo ilustrativo; en el Ejemplo 6 del documento el árbol se construye a partir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árbol sin límite puede crecer hasta tener una hoja por cada ejemplo: acierta el 100 % en entrenamiento y falla con datos nuevos. Lo veremos en la sección de sobreajuste.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para repasar al cierre de la sección. Aclarar que los árboles también pueden hacer regresión (DecisionTreeRegressor).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hacia la interpretación de resultados: predecir es fácil; saber si podemos confiar en la predicción es el trabajo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Sesiones 2, 4, 6 y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promedio y error con castigo: cuanto más bajos, mejor, y se interpretan en las unidades del problema (colones, grados, kWh). Porcentaje explicado: cuanto más cerca de 1, mejor. Siempre se calculan con datos de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estudiantes que redacten en una frase qué significa cada coeficiente de su modelo. Si no pueden explicarlo en lenguaje simple, todavía no lo entienden.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diagonal resaltada son los aciertos; fuera de la diagonal están los dos tipos de error. Preguntar: ¿cuál error es peor en un filtro de spam? ¿y en una prueba médica?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se obtienen de la matriz de confusión. En scikit-learn, classification_report() las muestra juntas para cada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ejemplo es aritmético: 99 aciertos de 100 sin haber aprendido nada útil. Se reproduce en el Ejemplo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señal de alarma es una gran diferencia entre entrenamiento y prueba. En el Ejemplo 8 se ve cómo cambia esa diferencia al aumentar la profundidad del árbol.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flujo como lista de verificación en el proyecto integrador.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Entregable del proyecto integrador de la sesión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ube de puntos con línea de regresió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23200" y="812800"/>
            <a:ext cx="35560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2550418"/>
            <a:ext cx="71945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MACHINE LEARNING · 14 HORAS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812800" y="2959298"/>
            <a:ext cx="719455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400"/>
              </a:lnSpc>
              <a:buNone/>
            </a:pPr>
            <a:r>
              <a:rPr lang="en-US" sz="6400" b="1" kern="0" spc="-1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Regresión y</a:t>
            </a:r>
            <a:endParaRPr lang="en-US" sz="6400" dirty="0"/>
          </a:p>
          <a:p>
            <a:pPr marL="0" indent="0" algn="l">
              <a:lnSpc>
                <a:spcPts val="6400"/>
              </a:lnSpc>
              <a:buNone/>
            </a:pPr>
            <a:r>
              <a:rPr lang="en-US" sz="6400" b="1" kern="0" spc="-150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clasificación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812800" y="4762698"/>
            <a:ext cx="7194550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Predecir números y predecir categorías: los dos grandes trabajos del aprendizaje supervisado.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2800" y="5529659"/>
            <a:ext cx="719455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Aprenderás a construir modelos en Colab, a leer sus resultados y a decidir si puedes confiar en ellos.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MAPA DE LA UNIDAD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4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Cuatro </a:t>
            </a:r>
            <a:r>
              <a:rPr lang="en-US" sz="3200" b="1" kern="0" spc="-50" dirty="0" err="1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03611"/>
            <a:ext cx="2476500" cy="2315567"/>
          </a:xfrm>
          <a:prstGeom prst="roundRect">
            <a:avLst>
              <a:gd name="adj" fmla="val 5210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79500" y="2163961"/>
            <a:ext cx="20144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79500" y="2621161"/>
            <a:ext cx="201447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Regresión lineal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9500" y="2981821"/>
            <a:ext cx="2014474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Predecir valores continuos: precios, ventas, temperaturas.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11550" y="1903611"/>
            <a:ext cx="2476500" cy="2315567"/>
          </a:xfrm>
          <a:prstGeom prst="roundRect">
            <a:avLst>
              <a:gd name="adj" fmla="val 5210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771900" y="2163961"/>
            <a:ext cx="20144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71900" y="2621161"/>
            <a:ext cx="201447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Clasificación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71900" y="2981821"/>
            <a:ext cx="2014474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Predecir categorías: sí o no, tipo de cliente, nivel de riesgo.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03950" y="1903611"/>
            <a:ext cx="2476500" cy="2315567"/>
          </a:xfrm>
          <a:prstGeom prst="roundRect">
            <a:avLst>
              <a:gd name="adj" fmla="val 5210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464300" y="2163961"/>
            <a:ext cx="20144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64300" y="2621161"/>
            <a:ext cx="2014474" cy="54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Algoritmos básicos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64300" y="3240881"/>
            <a:ext cx="2014474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Regresión logística y árboles de decisión simples.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96350" y="1903611"/>
            <a:ext cx="2476500" cy="2315567"/>
          </a:xfrm>
          <a:prstGeom prst="roundRect">
            <a:avLst>
              <a:gd name="adj" fmla="val 5210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9156700" y="2163961"/>
            <a:ext cx="20144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56700" y="2621161"/>
            <a:ext cx="201447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Interpretación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56700" y="2981821"/>
            <a:ext cx="2014474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Métricas, coeficientes y errores para decidir si confiamos en el modelo.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19150" y="4536678"/>
            <a:ext cx="10553700" cy="1111052"/>
          </a:xfrm>
          <a:prstGeom prst="roundRect">
            <a:avLst>
              <a:gd name="adj" fmla="val 10859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1079500" y="4720828"/>
            <a:ext cx="103339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9500" y="4984948"/>
            <a:ext cx="1033399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Las cuatro partes forman un solo camino: primero reconocemos qué tipo de pregunta tenemos, luego elegimos un algoritmo para responderla y al final medimos cuánto se equivoca antes de usarlo.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ANTES DE ELEGIR UN MODELO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4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¿Número o categoría?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776611"/>
            <a:ext cx="5143500" cy="2751931"/>
          </a:xfrm>
          <a:prstGeom prst="roundRect">
            <a:avLst>
              <a:gd name="adj" fmla="val 4384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79500" y="2036961"/>
            <a:ext cx="4761484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¿CUÁNTO?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79500" y="2501702"/>
            <a:ext cx="47614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Regresión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79500" y="2908102"/>
            <a:ext cx="476148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respuesta es un número que puede tomar cualquier valor dentro de un rango.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9500" y="3525242"/>
            <a:ext cx="4761484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Precio de una casa</a:t>
            </a:r>
            <a:endParaRPr lang="en-US" sz="1300" dirty="0"/>
          </a:p>
          <a:p>
            <a:pPr marL="198120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Temperatura de mañana</a:t>
            </a:r>
            <a:endParaRPr lang="en-US" sz="1300" dirty="0"/>
          </a:p>
          <a:p>
            <a:pPr marL="198120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Ventas del próximo mes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9350" y="1776611"/>
            <a:ext cx="5143500" cy="2751931"/>
          </a:xfrm>
          <a:prstGeom prst="roundRect">
            <a:avLst>
              <a:gd name="adj" fmla="val 4384"/>
            </a:avLst>
          </a:prstGeom>
          <a:solidFill>
            <a:srgbClr val="1A1A1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89700" y="2036961"/>
            <a:ext cx="4761484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¿CUÁL?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89700" y="2501702"/>
            <a:ext cx="47614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Clasificación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89700" y="2908102"/>
            <a:ext cx="476148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respuesta es una etiqueta tomada de una lista cerrada de opciones.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89700" y="3525242"/>
            <a:ext cx="4761484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8120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¿Spam o no spam?</a:t>
            </a:r>
            <a:endParaRPr lang="en-US" sz="1300" dirty="0"/>
          </a:p>
          <a:p>
            <a:pPr marL="198120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¿Aprueba o reprueba?</a:t>
            </a:r>
            <a:endParaRPr lang="en-US" sz="1300" dirty="0"/>
          </a:p>
          <a:p>
            <a:pPr marL="198120" indent="-162306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¿Cliente nuevo, frecuente o en riesgo?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150" y="4719042"/>
            <a:ext cx="10553700" cy="1111052"/>
          </a:xfrm>
          <a:prstGeom prst="roundRect">
            <a:avLst>
              <a:gd name="adj" fmla="val 10859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079500" y="4903192"/>
            <a:ext cx="103339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9500" y="5167313"/>
            <a:ext cx="1033399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Esta es la primera decisión de cualquier proyecto. Si la respuesta puede ser 12.5 o 3 800, es regresión. Si sale de una lista cerrada de opciones, es clasificación.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06649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01 DE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990130"/>
            <a:ext cx="10883392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812800" y="366653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kern="0" spc="-1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Regresión lineal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4458990"/>
            <a:ext cx="7848600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Predecir valores continuos trazando la línea que mejor resume los datos. Es la base de casi todos los modelos que veremos después.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REGRESIÓN LINEAL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4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Una línea que resume la tendencia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95661"/>
            <a:ext cx="6645148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Piensa en un taxi: pagas un monto fijo al subir y luego un precio por cada kilómetro. Si sabes cuántos kilómetros vas a recorrer, puedes estimar cuánto pagarás.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9150" y="2753122"/>
            <a:ext cx="6438900" cy="1385391"/>
          </a:xfrm>
          <a:prstGeom prst="roundRect">
            <a:avLst>
              <a:gd name="adj" fmla="val 8709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79500" y="3013472"/>
            <a:ext cx="60957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F4F4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tarifa = banderazo + precio por kilómetro × kilómetros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9500" y="3399532"/>
            <a:ext cx="609574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Eso ya es un modelo de regresión lineal: una variable de entrada, una salida numérica y una relación en línea recta.</a:t>
            </a:r>
            <a:endParaRPr lang="en-US" sz="1300" dirty="0"/>
          </a:p>
        </p:txBody>
      </p:sp>
      <p:pic>
        <p:nvPicPr>
          <p:cNvPr id="8" name="Image 0" descr="Tarifa de taxi según kilómetro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69200" y="1795661"/>
            <a:ext cx="3810000" cy="2413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69200" y="4284861"/>
            <a:ext cx="3924300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Eje horizontal: kilómetros · Eje vertical: tarifa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19150" y="4715371"/>
            <a:ext cx="10553700" cy="1111052"/>
          </a:xfrm>
          <a:prstGeom prst="roundRect">
            <a:avLst>
              <a:gd name="adj" fmla="val 10859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1079500" y="4899521"/>
            <a:ext cx="103339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79500" y="5163641"/>
            <a:ext cx="1033399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modelo no conoce la regla del taxista: la descubre mirando viajes pasados. Luego usa esa regla para estimar el precio de viajes que todavía no se han hecho.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1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3"/>
              </a:lnSpc>
              <a:buNone/>
            </a:pPr>
            <a:r>
              <a:rPr lang="en-US" sz="1231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 FÓRMULA</a:t>
            </a:r>
            <a:endParaRPr lang="en-US" sz="1231" dirty="0"/>
          </a:p>
        </p:txBody>
      </p:sp>
      <p:sp>
        <p:nvSpPr>
          <p:cNvPr id="3" name="Text 1"/>
          <p:cNvSpPr/>
          <p:nvPr/>
        </p:nvSpPr>
        <p:spPr>
          <a:xfrm>
            <a:off x="812800" y="1130201"/>
            <a:ext cx="10883392" cy="443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22"/>
              </a:lnSpc>
              <a:buNone/>
            </a:pPr>
            <a:r>
              <a:rPr lang="en-US" sz="302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ecuación, parte por parte</a:t>
            </a:r>
            <a:endParaRPr lang="en-US" sz="3020" dirty="0"/>
          </a:p>
        </p:txBody>
      </p:sp>
      <p:sp>
        <p:nvSpPr>
          <p:cNvPr id="4" name="Text 2"/>
          <p:cNvSpPr/>
          <p:nvPr/>
        </p:nvSpPr>
        <p:spPr>
          <a:xfrm>
            <a:off x="812800" y="1751013"/>
            <a:ext cx="10883392" cy="8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35"/>
              </a:lnSpc>
              <a:buNone/>
            </a:pPr>
            <a:r>
              <a:rPr lang="en-US" sz="2643" b="1" dirty="0">
                <a:solidFill>
                  <a:srgbClr val="F4F4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valor estimado = </a:t>
            </a:r>
            <a:r>
              <a:rPr lang="en-US" sz="2643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punto de partida</a:t>
            </a:r>
            <a:r>
              <a:rPr lang="en-US" sz="2643" b="1" dirty="0">
                <a:solidFill>
                  <a:srgbClr val="F4F4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+ </a:t>
            </a:r>
            <a:r>
              <a:rPr lang="en-US" sz="2643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pendiente</a:t>
            </a:r>
            <a:r>
              <a:rPr lang="en-US" sz="2643" b="1" dirty="0">
                <a:solidFill>
                  <a:srgbClr val="F4F4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× dato conocido</a:t>
            </a:r>
            <a:endParaRPr lang="en-US" sz="2643" dirty="0"/>
          </a:p>
        </p:txBody>
      </p:sp>
      <p:sp>
        <p:nvSpPr>
          <p:cNvPr id="5" name="Shape 3"/>
          <p:cNvSpPr/>
          <p:nvPr/>
        </p:nvSpPr>
        <p:spPr>
          <a:xfrm>
            <a:off x="819150" y="2832398"/>
            <a:ext cx="2514600" cy="1718667"/>
          </a:xfrm>
          <a:prstGeom prst="roundRect">
            <a:avLst>
              <a:gd name="adj" fmla="val 7020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079500" y="3092748"/>
            <a:ext cx="205371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Valor estimado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3438128"/>
            <a:ext cx="2053717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 que queremos predecir. En el taxi: la tarifa.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8850" y="2832398"/>
            <a:ext cx="2514600" cy="1718667"/>
          </a:xfrm>
          <a:prstGeom prst="roundRect">
            <a:avLst>
              <a:gd name="adj" fmla="val 7020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759200" y="3092748"/>
            <a:ext cx="205371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Punto de partida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59200" y="3438128"/>
            <a:ext cx="2053717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resultado cuando el dato conocido vale cero. En el taxi: el banderazo.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8550" y="2832398"/>
            <a:ext cx="2514600" cy="1718667"/>
          </a:xfrm>
          <a:prstGeom prst="roundRect">
            <a:avLst>
              <a:gd name="adj" fmla="val 7020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438900" y="3092748"/>
            <a:ext cx="2053717" cy="24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70"/>
              </a:lnSpc>
              <a:buNone/>
            </a:pPr>
            <a:r>
              <a:rPr lang="en-US" sz="1475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Pendiente</a:t>
            </a:r>
            <a:endParaRPr lang="en-US" sz="1475" dirty="0"/>
          </a:p>
        </p:txBody>
      </p:sp>
      <p:sp>
        <p:nvSpPr>
          <p:cNvPr id="13" name="Text 11"/>
          <p:cNvSpPr/>
          <p:nvPr/>
        </p:nvSpPr>
        <p:spPr>
          <a:xfrm>
            <a:off x="6438900" y="3416796"/>
            <a:ext cx="2053717" cy="899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6"/>
              </a:lnSpc>
              <a:buNone/>
            </a:pPr>
            <a:r>
              <a:rPr lang="en-US" sz="119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Cuánto cambia el resultado por cada unidad extra. En el taxi: el precio por kilómetro.</a:t>
            </a:r>
            <a:endParaRPr lang="en-US" sz="1190" dirty="0"/>
          </a:p>
        </p:txBody>
      </p:sp>
      <p:sp>
        <p:nvSpPr>
          <p:cNvPr id="14" name="Shape 12"/>
          <p:cNvSpPr/>
          <p:nvPr/>
        </p:nvSpPr>
        <p:spPr>
          <a:xfrm>
            <a:off x="8858250" y="2832398"/>
            <a:ext cx="2514600" cy="1718667"/>
          </a:xfrm>
          <a:prstGeom prst="roundRect">
            <a:avLst>
              <a:gd name="adj" fmla="val 7020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9118600" y="3092748"/>
            <a:ext cx="205371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Dato conocido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18600" y="3438128"/>
            <a:ext cx="2053717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información que sí tenemos. En el taxi: los kilómetros.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9150" y="4766965"/>
            <a:ext cx="10553700" cy="1068685"/>
          </a:xfrm>
          <a:prstGeom prst="roundRect">
            <a:avLst>
              <a:gd name="adj" fmla="val 11290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1079500" y="4951115"/>
            <a:ext cx="10333990" cy="225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159" dirty="0"/>
          </a:p>
        </p:txBody>
      </p:sp>
      <p:sp>
        <p:nvSpPr>
          <p:cNvPr id="19" name="Text 17"/>
          <p:cNvSpPr/>
          <p:nvPr/>
        </p:nvSpPr>
        <p:spPr>
          <a:xfrm>
            <a:off x="1079500" y="5202138"/>
            <a:ext cx="10333990" cy="474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3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 regresión lineal tiene esta forma. La computadora no inventa la fórmula: solo busca los dos números, el punto de partida y la pendiente, que mejor se ajustan a los datos.</a:t>
            </a:r>
            <a:endParaRPr lang="en-US" sz="1231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CÓMO APRENDE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4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¿Cómo encuentra la mejor línea?</a:t>
            </a:r>
            <a:endParaRPr lang="en-US" sz="3200" dirty="0"/>
          </a:p>
        </p:txBody>
      </p:sp>
      <p:pic>
        <p:nvPicPr>
          <p:cNvPr id="4" name="Image 0" descr="Residuos entre los puntos y la líne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795661"/>
            <a:ext cx="3810000" cy="241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4284861"/>
            <a:ext cx="3924300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Líneas punteadas: residuos (error de cada punto)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78400" y="2172791"/>
            <a:ext cx="35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410200" y="2172791"/>
            <a:ext cx="614807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Traza una línea candidata.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78400" y="2706191"/>
            <a:ext cx="35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10200" y="2706191"/>
            <a:ext cx="614807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Mide la distancia vertical de cada punto a la línea: el residuo.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78400" y="3239591"/>
            <a:ext cx="35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10200" y="3239591"/>
            <a:ext cx="614807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Eleva cada residuo al cuadrado y súmalos.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978400" y="3772991"/>
            <a:ext cx="355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410200" y="3772991"/>
            <a:ext cx="614807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Elige la línea con la suma más pequeña: mínimos cuadrados.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19150" y="4715371"/>
            <a:ext cx="10553700" cy="1111052"/>
          </a:xfrm>
          <a:prstGeom prst="roundRect">
            <a:avLst>
              <a:gd name="adj" fmla="val 10859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1079500" y="4899521"/>
            <a:ext cx="103339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79500" y="5163641"/>
            <a:ext cx="1033399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Ninguna línea pasa por todos los puntos, así que siempre hay errores. La mejor línea es la que, al sumar todos sus errores al cuadrado, se equivoca menos.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0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VARIAS VARIABLES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39825"/>
            <a:ext cx="10883392" cy="461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65"/>
              </a:lnSpc>
              <a:buNone/>
            </a:pPr>
            <a:r>
              <a:rPr lang="en-US" sz="315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Regresión múltiple: más de una pista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819150" y="1785243"/>
            <a:ext cx="10553700" cy="1117203"/>
          </a:xfrm>
          <a:prstGeom prst="roundRect">
            <a:avLst>
              <a:gd name="adj" fmla="val 10799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79500" y="2045593"/>
            <a:ext cx="10333990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55"/>
              </a:lnSpc>
              <a:buNone/>
            </a:pPr>
            <a:r>
              <a:rPr lang="en-US" sz="1472" dirty="0">
                <a:solidFill>
                  <a:srgbClr val="F4F4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precio = punto de partida + efecto por m² × metros cuadrados + efecto por habitación × habitaciones + efecto por año × antigüedad</a:t>
            </a:r>
            <a:endParaRPr lang="en-US" sz="1472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3111996"/>
          <a:ext cx="10566400" cy="1406227"/>
        </p:xfrm>
        <a:graphic>
          <a:graphicData uri="http://schemas.openxmlformats.org/drawingml/2006/table">
            <a:tbl>
              <a:tblPr/>
              <a:tblGrid>
                <a:gridCol w="295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4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532">
                <a:tc>
                  <a:txBody>
                    <a:bodyPr/>
                    <a:lstStyle/>
                    <a:p>
                      <a:pPr marL="0" indent="0">
                        <a:lnSpc>
                          <a:spcPts val="1774"/>
                        </a:lnSpc>
                        <a:buNone/>
                      </a:pPr>
                      <a:r>
                        <a:rPr lang="en-US" sz="1268" b="1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Variable</a:t>
                      </a:r>
                      <a:endParaRPr lang="en-US" sz="1268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6340" marR="56340" marT="56340" marB="56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74"/>
                        </a:lnSpc>
                        <a:buNone/>
                      </a:pPr>
                      <a:r>
                        <a:rPr lang="en-US" sz="1268" b="1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Coeficiente</a:t>
                      </a:r>
                      <a:endParaRPr lang="en-US" sz="1268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6340" marR="56340" marT="56340" marB="56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74"/>
                        </a:lnSpc>
                        <a:buNone/>
                      </a:pPr>
                      <a:r>
                        <a:rPr lang="en-US" sz="1268" b="1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Cómo se lee</a:t>
                      </a:r>
                      <a:endParaRPr lang="en-US" sz="1268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6340" marR="56340" marT="56340" marB="56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532">
                <a:tc>
                  <a:txBody>
                    <a:bodyPr/>
                    <a:lstStyle/>
                    <a:p>
                      <a:pPr marL="0" indent="0">
                        <a:lnSpc>
                          <a:spcPts val="1774"/>
                        </a:lnSpc>
                        <a:buNone/>
                      </a:pPr>
                      <a:r>
                        <a:rPr lang="en-US" sz="1268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Metros cuadrados</a:t>
                      </a:r>
                      <a:endParaRPr lang="en-US" sz="1268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6340" marR="56340" marT="56340" marB="56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74"/>
                        </a:lnSpc>
                        <a:buNone/>
                      </a:pPr>
                      <a:r>
                        <a:rPr lang="en-US" sz="1268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+1 200</a:t>
                      </a:r>
                      <a:endParaRPr lang="en-US" sz="1268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6340" marR="56340" marT="56340" marB="56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74"/>
                        </a:lnSpc>
                        <a:buNone/>
                      </a:pPr>
                      <a:r>
                        <a:rPr lang="en-US" sz="1268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Cada m² extra suma unos $1 200 al precio</a:t>
                      </a:r>
                      <a:endParaRPr lang="en-US" sz="1268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6340" marR="56340" marT="56340" marB="56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532">
                <a:tc>
                  <a:txBody>
                    <a:bodyPr/>
                    <a:lstStyle/>
                    <a:p>
                      <a:pPr marL="0" indent="0">
                        <a:lnSpc>
                          <a:spcPts val="1774"/>
                        </a:lnSpc>
                        <a:buNone/>
                      </a:pPr>
                      <a:r>
                        <a:rPr lang="en-US" sz="1268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Habitaciones</a:t>
                      </a:r>
                      <a:endParaRPr lang="en-US" sz="1268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6340" marR="56340" marT="56340" marB="56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74"/>
                        </a:lnSpc>
                        <a:buNone/>
                      </a:pPr>
                      <a:r>
                        <a:rPr lang="en-US" sz="1268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+8 000</a:t>
                      </a:r>
                      <a:endParaRPr lang="en-US" sz="1268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6340" marR="56340" marT="56340" marB="56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74"/>
                        </a:lnSpc>
                        <a:buNone/>
                      </a:pPr>
                      <a:r>
                        <a:rPr lang="en-US" sz="1268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Cada habitación extra suma unos $8 000</a:t>
                      </a:r>
                      <a:endParaRPr lang="en-US" sz="1268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6340" marR="56340" marT="56340" marB="56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31">
                <a:tc>
                  <a:txBody>
                    <a:bodyPr/>
                    <a:lstStyle/>
                    <a:p>
                      <a:pPr marL="0" indent="0">
                        <a:lnSpc>
                          <a:spcPts val="1774"/>
                        </a:lnSpc>
                        <a:buNone/>
                      </a:pPr>
                      <a:r>
                        <a:rPr lang="en-US" sz="1268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Antigüedad (años)</a:t>
                      </a:r>
                      <a:endParaRPr lang="en-US" sz="1268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6340" marR="56340" marT="56340" marB="56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74"/>
                        </a:lnSpc>
                        <a:buNone/>
                      </a:pPr>
                      <a:r>
                        <a:rPr lang="en-US" sz="1268" dirty="0">
                          <a:solidFill>
                            <a:srgbClr val="E400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−1 500</a:t>
                      </a:r>
                      <a:endParaRPr lang="en-US" sz="1268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6340" marR="56340" marT="56340" marB="56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74"/>
                        </a:lnSpc>
                        <a:buNone/>
                      </a:pPr>
                      <a:r>
                        <a:rPr lang="en-US" sz="1268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Cada año de antigüedad resta unos $1 500</a:t>
                      </a:r>
                      <a:endParaRPr lang="en-US" sz="1268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6340" marR="56340" marT="56340" marB="56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9150" y="4740473"/>
            <a:ext cx="10553700" cy="1095177"/>
          </a:xfrm>
          <a:prstGeom prst="roundRect">
            <a:avLst>
              <a:gd name="adj" fmla="val 11016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1079500" y="4924623"/>
            <a:ext cx="10333990" cy="23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196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196" dirty="0"/>
          </a:p>
        </p:txBody>
      </p:sp>
      <p:sp>
        <p:nvSpPr>
          <p:cNvPr id="9" name="Text 6"/>
          <p:cNvSpPr/>
          <p:nvPr/>
        </p:nvSpPr>
        <p:spPr>
          <a:xfrm>
            <a:off x="1079500" y="5183882"/>
            <a:ext cx="10333990" cy="493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1"/>
              </a:lnSpc>
              <a:buNone/>
            </a:pPr>
            <a:r>
              <a:rPr lang="en-US" sz="1284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Cada coeficiente dice cuánto cambia el precio si esa característica aumenta en 1 y las demás se quedan igual. El signo indica si sube o baja. Los valores son ilustrativos.</a:t>
            </a:r>
            <a:endParaRPr lang="en-US" sz="1284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5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74"/>
              </a:lnSpc>
              <a:buNone/>
            </a:pPr>
            <a:r>
              <a:rPr lang="en-US" sz="1268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MANOS A LA OBRA</a:t>
            </a:r>
            <a:endParaRPr lang="en-US" sz="1268" dirty="0"/>
          </a:p>
        </p:txBody>
      </p:sp>
      <p:sp>
        <p:nvSpPr>
          <p:cNvPr id="3" name="Text 1"/>
          <p:cNvSpPr/>
          <p:nvPr/>
        </p:nvSpPr>
        <p:spPr>
          <a:xfrm>
            <a:off x="812800" y="1134467"/>
            <a:ext cx="10883392" cy="451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6"/>
              </a:lnSpc>
              <a:buNone/>
            </a:pPr>
            <a:r>
              <a:rPr lang="en-US" sz="306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 Colab: siempre los mismos 5 pasos</a:t>
            </a:r>
            <a:endParaRPr lang="en-US" sz="3060" dirty="0"/>
          </a:p>
        </p:txBody>
      </p:sp>
      <p:sp>
        <p:nvSpPr>
          <p:cNvPr id="4" name="Shape 2"/>
          <p:cNvSpPr/>
          <p:nvPr/>
        </p:nvSpPr>
        <p:spPr>
          <a:xfrm>
            <a:off x="819150" y="1769666"/>
            <a:ext cx="1998960" cy="966093"/>
          </a:xfrm>
          <a:prstGeom prst="roundRect">
            <a:avLst>
              <a:gd name="adj" fmla="val 12488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03300" y="1953816"/>
            <a:ext cx="1681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r>
              <a:rPr lang="en-US" sz="14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· Cargar datos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57810" y="1769666"/>
            <a:ext cx="1999059" cy="966093"/>
          </a:xfrm>
          <a:prstGeom prst="roundRect">
            <a:avLst>
              <a:gd name="adj" fmla="val 12488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3141960" y="1953816"/>
            <a:ext cx="1681559" cy="623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38"/>
              </a:lnSpc>
              <a:buNone/>
            </a:pPr>
            <a:r>
              <a:rPr lang="en-US" sz="1365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r>
              <a:rPr lang="en-US" sz="1365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· Separar entradas y objetivo</a:t>
            </a:r>
            <a:endParaRPr lang="en-US" sz="1365" dirty="0"/>
          </a:p>
        </p:txBody>
      </p:sp>
      <p:sp>
        <p:nvSpPr>
          <p:cNvPr id="8" name="Shape 6"/>
          <p:cNvSpPr/>
          <p:nvPr/>
        </p:nvSpPr>
        <p:spPr>
          <a:xfrm>
            <a:off x="5096570" y="1769666"/>
            <a:ext cx="1998960" cy="966093"/>
          </a:xfrm>
          <a:prstGeom prst="roundRect">
            <a:avLst>
              <a:gd name="adj" fmla="val 12488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280720" y="1953816"/>
            <a:ext cx="16814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r>
              <a:rPr lang="en-US" sz="14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· Apartar datos de prueba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35230" y="1769666"/>
            <a:ext cx="1998960" cy="966093"/>
          </a:xfrm>
          <a:prstGeom prst="roundRect">
            <a:avLst>
              <a:gd name="adj" fmla="val 12488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7419380" y="1953816"/>
            <a:ext cx="16814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r>
              <a:rPr lang="en-US" sz="14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· Entrenar el modelo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73890" y="1769666"/>
            <a:ext cx="1998960" cy="966093"/>
          </a:xfrm>
          <a:prstGeom prst="roundRect">
            <a:avLst>
              <a:gd name="adj" fmla="val 12488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558040" y="1953816"/>
            <a:ext cx="16814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r>
              <a:rPr lang="en-US" sz="14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· Predecir y evaluar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9150" y="2951659"/>
            <a:ext cx="10553700" cy="1587698"/>
          </a:xfrm>
          <a:prstGeom prst="roundRect">
            <a:avLst>
              <a:gd name="adj" fmla="val 5999"/>
            </a:avLst>
          </a:prstGeom>
          <a:solidFill>
            <a:srgbClr val="0F0F12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079500" y="3161209"/>
            <a:ext cx="10333990" cy="1193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42"/>
              </a:lnSpc>
              <a:buNone/>
            </a:pPr>
            <a:r>
              <a:rPr lang="en-US" sz="1151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sklearn.linear_model import LinearRegression</a:t>
            </a:r>
            <a:endParaRPr lang="en-US" sz="1151" dirty="0"/>
          </a:p>
          <a:p>
            <a:pPr marL="0" indent="0" algn="l">
              <a:lnSpc>
                <a:spcPts val="1842"/>
              </a:lnSpc>
              <a:buNone/>
            </a:pPr>
            <a:r>
              <a:rPr lang="en-US" sz="1151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modelo = LinearRegression() # crear el modelo</a:t>
            </a:r>
            <a:endParaRPr lang="en-US" sz="1151" dirty="0"/>
          </a:p>
          <a:p>
            <a:pPr marL="0" indent="0" algn="l">
              <a:lnSpc>
                <a:spcPts val="1842"/>
              </a:lnSpc>
              <a:buNone/>
            </a:pPr>
            <a:r>
              <a:rPr lang="en-US" sz="1151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modelo.fit(kilometros_entrenamiento, tarifas_entrenamiento) # aprender de viajes pasados</a:t>
            </a:r>
            <a:endParaRPr lang="en-US" sz="1151" dirty="0"/>
          </a:p>
          <a:p>
            <a:pPr marL="0" indent="0" algn="l">
              <a:lnSpc>
                <a:spcPts val="1842"/>
              </a:lnSpc>
              <a:buNone/>
            </a:pPr>
            <a:r>
              <a:rPr lang="en-US" sz="1151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tarifas_estimadas = modelo.predict(kilometros_nuevos) # predecir viajes nuevos</a:t>
            </a:r>
            <a:endParaRPr lang="en-US" sz="1151" dirty="0"/>
          </a:p>
          <a:p>
            <a:pPr marL="0" indent="0" algn="l">
              <a:lnSpc>
                <a:spcPts val="1842"/>
              </a:lnSpc>
              <a:buNone/>
            </a:pPr>
            <a:r>
              <a:rPr lang="en-US" sz="1151" dirty="0">
                <a:solidFill>
                  <a:srgbClr val="E4E4E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print(modelo.intercept_, modelo.coef_) # banderazo y precio por kilómetro</a:t>
            </a:r>
            <a:endParaRPr lang="en-US" sz="1151" dirty="0"/>
          </a:p>
        </p:txBody>
      </p:sp>
      <p:sp>
        <p:nvSpPr>
          <p:cNvPr id="16" name="Shape 14"/>
          <p:cNvSpPr/>
          <p:nvPr/>
        </p:nvSpPr>
        <p:spPr>
          <a:xfrm>
            <a:off x="819150" y="4755257"/>
            <a:ext cx="10553700" cy="1080393"/>
          </a:xfrm>
          <a:prstGeom prst="roundRect">
            <a:avLst>
              <a:gd name="adj" fmla="val 11167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079500" y="4939407"/>
            <a:ext cx="10333990" cy="229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159" dirty="0"/>
          </a:p>
        </p:txBody>
      </p:sp>
      <p:sp>
        <p:nvSpPr>
          <p:cNvPr id="18" name="Text 16"/>
          <p:cNvSpPr/>
          <p:nvPr/>
        </p:nvSpPr>
        <p:spPr>
          <a:xfrm>
            <a:off x="1079500" y="5194102"/>
            <a:ext cx="10333990" cy="482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8"/>
              </a:lnSpc>
              <a:buNone/>
            </a:pPr>
            <a:r>
              <a:rPr lang="en-US" sz="1247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Estos cinco pasos se repiten con todos los modelos de la unidad. Lo único que cambia es el tipo de modelo; la forma de entrenar, predecir y evaluar es siempre la misma.</a:t>
            </a:r>
            <a:endParaRPr lang="en-US" sz="1247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7526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02 DE 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139950"/>
            <a:ext cx="10883392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976908" y="3560366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kern="0" spc="-1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Clasificación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12800" y="4603750"/>
            <a:ext cx="7848600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Predecir a qué grupo o categoría pertenece cada caso. Por ejemplo, decidir si un correo es spam o si un cliente volverá.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4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Clasificar es asignar una etiqueta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52811"/>
            <a:ext cx="3373934" cy="2356445"/>
          </a:xfrm>
          <a:prstGeom prst="roundRect">
            <a:avLst>
              <a:gd name="adj" fmla="val 5120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PaperPla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9500" y="2113161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9500" y="2621161"/>
            <a:ext cx="2938831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kern="0" spc="1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ENTRADA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79500" y="2943721"/>
            <a:ext cx="293883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correo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79500" y="3350121"/>
            <a:ext cx="2938831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kern="0" spc="1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ETIQUETA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79500" y="3672681"/>
            <a:ext cx="293883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Spam · No spam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408984" y="1852811"/>
            <a:ext cx="3374033" cy="2356445"/>
          </a:xfrm>
          <a:prstGeom prst="roundRect">
            <a:avLst>
              <a:gd name="adj" fmla="val 5120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1" name="Image 1" descr="GraduationCap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9334" y="2113161"/>
            <a:ext cx="406400" cy="406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9334" y="2621161"/>
            <a:ext cx="293893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kern="0" spc="1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ENTRADA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669334" y="2943721"/>
            <a:ext cx="29389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estudiante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69334" y="3350121"/>
            <a:ext cx="293893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kern="0" spc="1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ETIQUETA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69334" y="3672681"/>
            <a:ext cx="2938933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Aprueba · Reprueba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998916" y="1852811"/>
            <a:ext cx="3373934" cy="2356445"/>
          </a:xfrm>
          <a:prstGeom prst="roundRect">
            <a:avLst>
              <a:gd name="adj" fmla="val 5120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2" descr="Loc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59266" y="2113161"/>
            <a:ext cx="406400" cy="406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59266" y="2621161"/>
            <a:ext cx="2938831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kern="0" spc="1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ENTRADA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259266" y="2943721"/>
            <a:ext cx="293883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Una transacción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259266" y="3350121"/>
            <a:ext cx="2938831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kern="0" spc="15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ETIQUETA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59266" y="3672681"/>
            <a:ext cx="293883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Normal · Fraude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819150" y="4475956"/>
            <a:ext cx="10553700" cy="1111052"/>
          </a:xfrm>
          <a:prstGeom prst="roundRect">
            <a:avLst>
              <a:gd name="adj" fmla="val 10859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18"/>
          <p:cNvSpPr/>
          <p:nvPr/>
        </p:nvSpPr>
        <p:spPr>
          <a:xfrm>
            <a:off x="1079500" y="4660106"/>
            <a:ext cx="103339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079500" y="4924227"/>
            <a:ext cx="1033399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modelo aprende de ejemplos que ya tienen su etiqueta, como correos que alguien marcó como spam. Así descubre las señales que distinguen a cada grupo y luego etiqueta casos nuevos.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TIPOS DE CLASIFICACIÓN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4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Binaria o multiclase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02011"/>
            <a:ext cx="5143500" cy="2220416"/>
          </a:xfrm>
          <a:prstGeom prst="roundRect">
            <a:avLst>
              <a:gd name="adj" fmla="val 5434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79500" y="2062361"/>
            <a:ext cx="476148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Binaria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9500" y="2499221"/>
            <a:ext cx="4761484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Dos opciones posibles, normalmente codificadas como 1 y 0.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9500" y="3116362"/>
            <a:ext cx="47614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sí / no · 1 / 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79500" y="3522762"/>
            <a:ext cx="4761484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Ejemplos: spam, fraude, aprobación de crédito.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9350" y="1802011"/>
            <a:ext cx="5143500" cy="2220416"/>
          </a:xfrm>
          <a:prstGeom prst="roundRect">
            <a:avLst>
              <a:gd name="adj" fmla="val 5434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89700" y="2062361"/>
            <a:ext cx="476148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Multiclase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89700" y="2499221"/>
            <a:ext cx="4761484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Tres o más opciones; el modelo elige una de ellas.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89700" y="2858591"/>
            <a:ext cx="47614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bajo / medio / alto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89700" y="3264991"/>
            <a:ext cx="4761484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Ejemplos: especie de flor, nivel de riesgo, tipo de cliente.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9150" y="4238327"/>
            <a:ext cx="10553700" cy="1111052"/>
          </a:xfrm>
          <a:prstGeom prst="roundRect">
            <a:avLst>
              <a:gd name="adj" fmla="val 10859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079500" y="4422477"/>
            <a:ext cx="103339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9500" y="4686598"/>
            <a:ext cx="1033399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Muchos clasificadores primero calculan una probabilidad para cada opción, por ejemplo 87 % spam, y después eligen la opción más probable. Binaria o multiclase, la idea es la misma.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06649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03 DE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990130"/>
            <a:ext cx="10883392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812800" y="366653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kern="0" spc="-1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Algoritmos básicos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4458990"/>
            <a:ext cx="7848600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Regresión logística y árboles de decisión simples: dos formas de llegar a una categoría, con porcentajes o con preguntas.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ALGORITMO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4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Regresión logística</a:t>
            </a:r>
            <a:endParaRPr lang="en-US" sz="3200" dirty="0"/>
          </a:p>
        </p:txBody>
      </p:sp>
      <p:pic>
        <p:nvPicPr>
          <p:cNvPr id="4" name="Image 0" descr="Curva sigmoide de la regresión logística con umbral 0.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795661"/>
            <a:ext cx="3810000" cy="215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4030861"/>
            <a:ext cx="4078206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Eje x: horas de estudio · Eje y: probabilidad de aprobar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127823" y="1795661"/>
            <a:ext cx="643891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pesar de su nombre, se usa para </a:t>
            </a:r>
            <a:r>
              <a:rPr lang="en-US" sz="16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clasificar</a:t>
            </a:r>
            <a:r>
              <a:rPr lang="en-US" sz="16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127823" y="2268041"/>
            <a:ext cx="643891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Combina las variables como una regresión lineal y pasa el resultado por la función sigmoide, que lo comprime entre 0 y 1.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34173" y="2967732"/>
            <a:ext cx="6238677" cy="1048941"/>
          </a:xfrm>
          <a:prstGeom prst="roundRect">
            <a:avLst>
              <a:gd name="adj" fmla="val 11502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5394523" y="3228082"/>
            <a:ext cx="5889516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probabilidad = curva S ( punto de partida + pendiente × horas de estudio 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9150" y="4461371"/>
            <a:ext cx="10553700" cy="1111052"/>
          </a:xfrm>
          <a:prstGeom prst="roundRect">
            <a:avLst>
              <a:gd name="adj" fmla="val 10859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1079500" y="4645521"/>
            <a:ext cx="103339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79500" y="4909641"/>
            <a:ext cx="1033399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curva roja muestra la probabilidad de aprobar según las horas de estudio. Tiene forma de S porque una probabilidad nunca baja de 0 % ni pasa de 100 %. Donde cruza la línea punteada, la decisión cambia.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 UMBRAL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4488"/>
            <a:ext cx="10883392" cy="4704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 porcentaje a la decisión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92784"/>
          <a:ext cx="5867400" cy="2170409"/>
        </p:xfrm>
        <a:graphic>
          <a:graphicData uri="http://schemas.openxmlformats.org/drawingml/2006/table">
            <a:tbl>
              <a:tblPr/>
              <a:tblGrid>
                <a:gridCol w="1760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3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3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1329">
                <a:tc>
                  <a:txBody>
                    <a:bodyPr/>
                    <a:lstStyle/>
                    <a:p>
                      <a:pPr marL="0" indent="0">
                        <a:lnSpc>
                          <a:spcPts val="1954"/>
                        </a:lnSpc>
                        <a:buNone/>
                      </a:pPr>
                      <a:r>
                        <a:rPr lang="en-US" sz="1396" b="1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Horas de estudio</a:t>
                      </a:r>
                      <a:endParaRPr lang="en-US" sz="1396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2036" marR="62036" marT="62036" marB="62036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54"/>
                        </a:lnSpc>
                        <a:buNone/>
                      </a:pPr>
                      <a:r>
                        <a:rPr lang="en-US" sz="1396" b="1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Probabilidad de aprobar</a:t>
                      </a:r>
                      <a:endParaRPr lang="en-US" sz="1396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2036" marR="62036" marT="62036" marB="62036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54"/>
                        </a:lnSpc>
                        <a:buNone/>
                      </a:pPr>
                      <a:r>
                        <a:rPr lang="en-US" sz="1396" b="1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Decisión (umbral 0.5)</a:t>
                      </a:r>
                      <a:endParaRPr lang="en-US" sz="1396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2036" marR="62036" marT="62036" marB="62036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770">
                <a:tc>
                  <a:txBody>
                    <a:bodyPr/>
                    <a:lstStyle/>
                    <a:p>
                      <a:pPr marL="0" indent="0">
                        <a:lnSpc>
                          <a:spcPts val="1954"/>
                        </a:lnSpc>
                        <a:buNone/>
                      </a:pPr>
                      <a:r>
                        <a:rPr lang="en-US" sz="1396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2</a:t>
                      </a:r>
                      <a:endParaRPr lang="en-US" sz="1396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2036" marR="62036" marT="62036" marB="62036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54"/>
                        </a:lnSpc>
                        <a:buNone/>
                      </a:pPr>
                      <a:r>
                        <a:rPr lang="en-US" sz="1396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0.05</a:t>
                      </a:r>
                      <a:endParaRPr lang="en-US" sz="1396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2036" marR="62036" marT="62036" marB="62036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54"/>
                        </a:lnSpc>
                        <a:buNone/>
                      </a:pPr>
                      <a:r>
                        <a:rPr lang="en-US" sz="1396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Reprueba</a:t>
                      </a:r>
                      <a:endParaRPr lang="en-US" sz="1396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2036" marR="62036" marT="62036" marB="62036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770">
                <a:tc>
                  <a:txBody>
                    <a:bodyPr/>
                    <a:lstStyle/>
                    <a:p>
                      <a:pPr marL="0" indent="0">
                        <a:lnSpc>
                          <a:spcPts val="1954"/>
                        </a:lnSpc>
                        <a:buNone/>
                      </a:pPr>
                      <a:r>
                        <a:rPr lang="en-US" sz="1396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4</a:t>
                      </a:r>
                      <a:endParaRPr lang="en-US" sz="1396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2036" marR="62036" marT="62036" marB="62036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54"/>
                        </a:lnSpc>
                        <a:buNone/>
                      </a:pPr>
                      <a:r>
                        <a:rPr lang="en-US" sz="1396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0.27</a:t>
                      </a:r>
                      <a:endParaRPr lang="en-US" sz="1396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2036" marR="62036" marT="62036" marB="62036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54"/>
                        </a:lnSpc>
                        <a:buNone/>
                      </a:pPr>
                      <a:r>
                        <a:rPr lang="en-US" sz="1396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Reprueba</a:t>
                      </a:r>
                      <a:endParaRPr lang="en-US" sz="1396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2036" marR="62036" marT="62036" marB="62036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770">
                <a:tc>
                  <a:txBody>
                    <a:bodyPr/>
                    <a:lstStyle/>
                    <a:p>
                      <a:pPr marL="0" indent="0">
                        <a:lnSpc>
                          <a:spcPts val="1954"/>
                        </a:lnSpc>
                        <a:buNone/>
                      </a:pPr>
                      <a:r>
                        <a:rPr lang="en-US" sz="1396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6</a:t>
                      </a:r>
                      <a:endParaRPr lang="en-US" sz="1396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2036" marR="62036" marT="62036" marB="62036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54"/>
                        </a:lnSpc>
                        <a:buNone/>
                      </a:pPr>
                      <a:r>
                        <a:rPr lang="en-US" sz="1396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0.73</a:t>
                      </a:r>
                      <a:endParaRPr lang="en-US" sz="1396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2036" marR="62036" marT="62036" marB="62036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54"/>
                        </a:lnSpc>
                        <a:buNone/>
                      </a:pPr>
                      <a:r>
                        <a:rPr lang="en-US" sz="1396" dirty="0">
                          <a:solidFill>
                            <a:srgbClr val="E400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Aprueba</a:t>
                      </a:r>
                      <a:endParaRPr lang="en-US" sz="1396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2036" marR="62036" marT="62036" marB="62036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770">
                <a:tc>
                  <a:txBody>
                    <a:bodyPr/>
                    <a:lstStyle/>
                    <a:p>
                      <a:pPr marL="0" indent="0">
                        <a:lnSpc>
                          <a:spcPts val="1954"/>
                        </a:lnSpc>
                        <a:buNone/>
                      </a:pPr>
                      <a:r>
                        <a:rPr lang="en-US" sz="1396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8</a:t>
                      </a:r>
                      <a:endParaRPr lang="en-US" sz="1396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2036" marR="62036" marT="62036" marB="62036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54"/>
                        </a:lnSpc>
                        <a:buNone/>
                      </a:pPr>
                      <a:r>
                        <a:rPr lang="en-US" sz="1396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0.95</a:t>
                      </a:r>
                      <a:endParaRPr lang="en-US" sz="1396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2036" marR="62036" marT="62036" marB="62036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54"/>
                        </a:lnSpc>
                        <a:buNone/>
                      </a:pPr>
                      <a:r>
                        <a:rPr lang="en-US" sz="1396" dirty="0">
                          <a:solidFill>
                            <a:srgbClr val="E400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Aprueba</a:t>
                      </a:r>
                      <a:endParaRPr lang="en-US" sz="1396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62036" marR="62036" marT="62036" marB="62036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077494"/>
            <a:ext cx="6043422" cy="465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35"/>
              </a:lnSpc>
              <a:buNone/>
            </a:pPr>
            <a:r>
              <a:rPr lang="en-US" sz="1196" dirty="0">
                <a:solidFill>
                  <a:srgbClr val="7171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Modelo ilustrativo: la probabilidad sube con cada hora de estudio y cruza el 50 % a las 5 horas.</a:t>
            </a:r>
            <a:endParaRPr lang="en-US" sz="1196" dirty="0"/>
          </a:p>
        </p:txBody>
      </p:sp>
      <p:sp>
        <p:nvSpPr>
          <p:cNvPr id="6" name="Shape 3"/>
          <p:cNvSpPr/>
          <p:nvPr/>
        </p:nvSpPr>
        <p:spPr>
          <a:xfrm>
            <a:off x="6940550" y="1799134"/>
            <a:ext cx="4432300" cy="2712244"/>
          </a:xfrm>
          <a:prstGeom prst="roundRect">
            <a:avLst>
              <a:gd name="adj" fmla="val 4448"/>
            </a:avLst>
          </a:prstGeom>
          <a:solidFill>
            <a:srgbClr val="1A1A1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7200900" y="2059484"/>
            <a:ext cx="402894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Mover el umbral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200900" y="2435324"/>
            <a:ext cx="4028948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 bajamos el umbral, el modelo marca más casos como positivos: detecta más, pero también se equivoca más veces.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00900" y="3254871"/>
            <a:ext cx="4028948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 fraude o salud suele convenir un umbral más bajo para no dejar pasar casos.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9150" y="4727277"/>
            <a:ext cx="10553700" cy="1108373"/>
          </a:xfrm>
          <a:prstGeom prst="roundRect">
            <a:avLst>
              <a:gd name="adj" fmla="val 10885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1079500" y="4911427"/>
            <a:ext cx="10333990" cy="237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196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196" dirty="0"/>
          </a:p>
        </p:txBody>
      </p:sp>
      <p:sp>
        <p:nvSpPr>
          <p:cNvPr id="12" name="Text 9"/>
          <p:cNvSpPr/>
          <p:nvPr/>
        </p:nvSpPr>
        <p:spPr>
          <a:xfrm>
            <a:off x="1079500" y="5174754"/>
            <a:ext cx="10333990" cy="502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modelo da un porcentaje, pero al final necesitamos un sí o un no. El umbral es la línea de corte: por encima del 50 % decimos «aprueba» y por debajo, «reprueba».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ALGORITMO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4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Árbol de decisión: preguntas de sí o 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451350" y="1911350"/>
            <a:ext cx="3289300" cy="685800"/>
          </a:xfrm>
          <a:prstGeom prst="roundRect">
            <a:avLst>
              <a:gd name="adj" fmla="val 15741"/>
            </a:avLst>
          </a:prstGeom>
          <a:solidFill>
            <a:srgbClr val="1A1A1F"/>
          </a:solidFill>
          <a:ln w="12700">
            <a:solidFill>
              <a:srgbClr val="A1A1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67875" y="2143125"/>
            <a:ext cx="30561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¿Ingreso mensual mayor a $1 000?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28850" y="3562350"/>
            <a:ext cx="2654300" cy="622300"/>
          </a:xfrm>
          <a:prstGeom prst="roundRect">
            <a:avLst>
              <a:gd name="adj" fmla="val 17347"/>
            </a:avLst>
          </a:prstGeom>
          <a:solidFill>
            <a:srgbClr val="1A1A1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2798862" y="3762375"/>
            <a:ext cx="15141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Rechazar crédito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91350" y="3562350"/>
            <a:ext cx="3289300" cy="685800"/>
          </a:xfrm>
          <a:prstGeom prst="roundRect">
            <a:avLst>
              <a:gd name="adj" fmla="val 15741"/>
            </a:avLst>
          </a:prstGeom>
          <a:solidFill>
            <a:srgbClr val="1A1A1F"/>
          </a:solidFill>
          <a:ln w="12700">
            <a:solidFill>
              <a:srgbClr val="A1A1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480070" y="3794125"/>
            <a:ext cx="23117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¿Tiene deudas atrasadas?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75350" y="4959350"/>
            <a:ext cx="2273300" cy="558800"/>
          </a:xfrm>
          <a:prstGeom prst="roundRect">
            <a:avLst>
              <a:gd name="adj" fmla="val 19318"/>
            </a:avLst>
          </a:prstGeom>
          <a:solidFill>
            <a:srgbClr val="1A1A1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354862" y="5127625"/>
            <a:ext cx="15141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Rechazar crédito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23350" y="4959350"/>
            <a:ext cx="2273300" cy="558800"/>
          </a:xfrm>
          <a:prstGeom prst="roundRect">
            <a:avLst>
              <a:gd name="adj" fmla="val 19318"/>
            </a:avLst>
          </a:prstGeom>
          <a:solidFill>
            <a:srgbClr val="26262C"/>
          </a:solidFill>
          <a:ln w="12700">
            <a:solidFill>
              <a:srgbClr val="F4F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456837" y="5127625"/>
            <a:ext cx="140622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Aprobar crédito</a:t>
            </a:r>
            <a:endParaRPr lang="en-US" sz="1400" dirty="0"/>
          </a:p>
        </p:txBody>
      </p:sp>
      <p:pic>
        <p:nvPicPr>
          <p:cNvPr id="14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59200" y="2552700"/>
            <a:ext cx="2006600" cy="1054100"/>
          </a:xfrm>
          <a:prstGeom prst="rect">
            <a:avLst/>
          </a:prstGeom>
        </p:spPr>
      </p:pic>
      <p:pic>
        <p:nvPicPr>
          <p:cNvPr id="15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26200" y="2552700"/>
            <a:ext cx="2070100" cy="1054100"/>
          </a:xfrm>
          <a:prstGeom prst="rect">
            <a:avLst/>
          </a:prstGeom>
        </p:spPr>
      </p:pic>
      <p:pic>
        <p:nvPicPr>
          <p:cNvPr id="16" name="Image 2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88200" y="4203700"/>
            <a:ext cx="990600" cy="800100"/>
          </a:xfrm>
          <a:prstGeom prst="rect">
            <a:avLst/>
          </a:prstGeom>
        </p:spPr>
      </p:pic>
      <p:pic>
        <p:nvPicPr>
          <p:cNvPr id="17" name="Image 3" descr="connecto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93200" y="4203700"/>
            <a:ext cx="990600" cy="8001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445000" y="2984500"/>
            <a:ext cx="495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7620000" y="2984500"/>
            <a:ext cx="495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Sí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302500" y="4476750"/>
            <a:ext cx="495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Sí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9715500" y="4476750"/>
            <a:ext cx="4953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19150" y="1847850"/>
            <a:ext cx="3416300" cy="1221581"/>
          </a:xfrm>
          <a:prstGeom prst="roundRect">
            <a:avLst>
              <a:gd name="adj" fmla="val 9877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17"/>
          <p:cNvSpPr/>
          <p:nvPr/>
        </p:nvSpPr>
        <p:spPr>
          <a:xfrm>
            <a:off x="1028700" y="2006600"/>
            <a:ext cx="30871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28700" y="2270720"/>
            <a:ext cx="3087116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 sigue el camino desde arriba: cada respuesta lleva a otra pregunta, hasta llegar a una hoja con la decisión.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12800" y="4572000"/>
            <a:ext cx="4185920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Cada pregunta divide los datos en grupos más parecidos. Las hojas, las cajas finales, contienen la predicción.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HIPERPARÁMETROS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4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Controlar el tamaño del árbol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02011"/>
            <a:ext cx="3373934" cy="1897162"/>
          </a:xfrm>
          <a:prstGeom prst="roundRect">
            <a:avLst>
              <a:gd name="adj" fmla="val 6359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79500" y="2062361"/>
            <a:ext cx="293883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Profundidad máxima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9500" y="2407741"/>
            <a:ext cx="2938831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Cuántas preguntas seguidas puede hacer. Poca profundidad da un modelo simple; mucha lo hace memorizar.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8984" y="1802011"/>
            <a:ext cx="3374033" cy="1897162"/>
          </a:xfrm>
          <a:prstGeom prst="roundRect">
            <a:avLst>
              <a:gd name="adj" fmla="val 6359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669334" y="2062361"/>
            <a:ext cx="2938933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Mínimo de casos por hoja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9334" y="2407741"/>
            <a:ext cx="2938933" cy="1056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Cuántos ejemplos debe tener como mínimo cada respuesta final. Evita reglas basadas en uno o dos casos raros.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8916" y="1802011"/>
            <a:ext cx="3373934" cy="1897162"/>
          </a:xfrm>
          <a:prstGeom prst="roundRect">
            <a:avLst>
              <a:gd name="adj" fmla="val 6359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8259266" y="2062361"/>
            <a:ext cx="2938831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Forma de medir cada pregunta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59266" y="2651522"/>
            <a:ext cx="293883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cálculo que usa para elegir la pregunta que mejor separa los grupos.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9150" y="3915073"/>
            <a:ext cx="10553700" cy="1350367"/>
          </a:xfrm>
          <a:prstGeom prst="roundRect">
            <a:avLst>
              <a:gd name="adj" fmla="val 8935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079500" y="4099223"/>
            <a:ext cx="103339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9500" y="4363343"/>
            <a:ext cx="10333990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Estos límites los decide la persona antes de entrenar, no el modelo. Un buen punto de partida es una profundidad de 3 preguntas; luego se revisa con los datos de prueba si conviene más o menos. Así el árbol aprende reglas generales en lugar de memorizar casos.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RESUMEN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4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Tres algoritmos, lado a lado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95661"/>
          <a:ext cx="10566400" cy="2130327"/>
        </p:xfrm>
        <a:graphic>
          <a:graphicData uri="http://schemas.openxmlformats.org/drawingml/2006/table">
            <a:tbl>
              <a:tblPr/>
              <a:tblGrid>
                <a:gridCol w="2324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4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4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Algoritmo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Qué predice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Ventaja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Cuidado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352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Regresión lineal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Un número continuo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Fácil de interpretar con sus coeficientes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Supone una relación en línea recta; sensible a valores atípicos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352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Regresión logística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Una probabilidad y una categoría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Rápida y entrega probabilidades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Separa las clases con fronteras lineales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352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Árbol de decisión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Una categoría o un número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Reglas visibles; no requiere escalar datos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Se sobreajusta si crece demasiado</a:t>
                      </a:r>
                      <a:endParaRPr lang="en-US" sz="13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9150" y="4148237"/>
            <a:ext cx="10553700" cy="1111052"/>
          </a:xfrm>
          <a:prstGeom prst="roundRect">
            <a:avLst>
              <a:gd name="adj" fmla="val 10859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1079500" y="4332387"/>
            <a:ext cx="103339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79500" y="4596507"/>
            <a:ext cx="1033399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hay un algoritmo ganador. Se elige según la pregunta: para un número, regresión lineal; para una categoría con su probabilidad, logística; para reglas fáciles de explicar, un árbol.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40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68909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F4F4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IDEA CLAVE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255399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kern="0" spc="-100" dirty="0">
                <a:solidFill>
                  <a:srgbClr val="FFF7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modelo solo es útil si sabemos cuánto se equivoca.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149030"/>
            <a:ext cx="91567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FFF7F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 eso casi la mitad de esta unidad se dedica a medir y explicar los errores de los modelos.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06649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SECCIÓN 04 DE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990130"/>
            <a:ext cx="10883392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000"/>
              </a:lnSpc>
              <a:buNone/>
            </a:pPr>
            <a:r>
              <a:rPr lang="en-US" sz="120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812800" y="366653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4800" b="1" kern="0" spc="-1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Interpretación de resultados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4458990"/>
            <a:ext cx="7848600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Leer métricas, coeficientes y errores para decidir si confiamos en el modelo. Es la parte que convierte un resultado en una decisión.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REGRESIÓN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4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¿Qué tan lejos quedamos?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02011"/>
            <a:ext cx="3373934" cy="2541588"/>
          </a:xfrm>
          <a:prstGeom prst="roundRect">
            <a:avLst>
              <a:gd name="adj" fmla="val 4747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79500" y="2062361"/>
            <a:ext cx="29388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Error promedio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9500" y="2499221"/>
            <a:ext cx="2938831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Colab aparece como MAE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9500" y="2821781"/>
            <a:ext cx="2938831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 promedio, cuánto nos equivocamos, en las mismas unidades de lo que predecimos.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9500" y="3641328"/>
            <a:ext cx="2938831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Error promedio de 12 → fallamos por 12 unidades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8984" y="1802011"/>
            <a:ext cx="3374033" cy="2541588"/>
          </a:xfrm>
          <a:prstGeom prst="roundRect">
            <a:avLst>
              <a:gd name="adj" fmla="val 4747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669334" y="2062361"/>
            <a:ext cx="293893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Error con castigo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9334" y="2499221"/>
            <a:ext cx="293893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Colab aparece como RMSE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9334" y="2821781"/>
            <a:ext cx="2938933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Parecido al error promedio, pero pesa más los errores grandes.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9334" y="3402013"/>
            <a:ext cx="2938933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 es mucho mayor que el error promedio, hay errores grandes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98916" y="1802011"/>
            <a:ext cx="3373934" cy="2541588"/>
          </a:xfrm>
          <a:prstGeom prst="roundRect">
            <a:avLst>
              <a:gd name="adj" fmla="val 4747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259266" y="2062361"/>
            <a:ext cx="293883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Porcentaje explicado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59266" y="2499221"/>
            <a:ext cx="2938831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Colab aparece como R²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9266" y="2821781"/>
            <a:ext cx="2938831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Qué parte de los cambios en el resultado logra explicar el modelo.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59266" y="3402013"/>
            <a:ext cx="2938831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= perfecto · 0 = igual que adivinar el promedio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9150" y="4559498"/>
            <a:ext cx="10553700" cy="871736"/>
          </a:xfrm>
          <a:prstGeom prst="roundRect">
            <a:avLst>
              <a:gd name="adj" fmla="val 13840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079500" y="4743648"/>
            <a:ext cx="103339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9500" y="5007769"/>
            <a:ext cx="10333990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Las tres se calculan con datos de prueba y se leen juntas: ninguna basta por sí sola.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INTERPRETACIÓN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4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Cómo leer los coeficientes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03611"/>
            <a:ext cx="3924300" cy="1572816"/>
          </a:xfrm>
          <a:prstGeom prst="roundRect">
            <a:avLst>
              <a:gd name="adj" fmla="val 7671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79500" y="2163961"/>
            <a:ext cx="3505708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modelo entrega: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79500" y="2504877"/>
            <a:ext cx="35057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4F4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Punto de partida: 2.5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9500" y="2911277"/>
            <a:ext cx="35057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4F4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Pendiente: 0.8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9150" y="3641527"/>
            <a:ext cx="3924300" cy="2087563"/>
          </a:xfrm>
          <a:prstGeom prst="roundRect">
            <a:avLst>
              <a:gd name="adj" fmla="val 5779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079500" y="3901877"/>
            <a:ext cx="3505708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Traducción: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9500" y="4242792"/>
            <a:ext cx="35057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F4F4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tarifa = 2.5 + 0.8 × km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9500" y="4649192"/>
            <a:ext cx="3505708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Cada kilómetro extra suma 0.8 a la tarifa.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9500" y="4990108"/>
            <a:ext cx="3505708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Ejemplo: un viaje de 10 km cuesta 2.5 + 0.8 × 10 = 10.5.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10150" y="1903611"/>
            <a:ext cx="3098800" cy="1830189"/>
          </a:xfrm>
          <a:prstGeom prst="roundRect">
            <a:avLst>
              <a:gd name="adj" fmla="val 6592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219700" y="2113161"/>
            <a:ext cx="276009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9700" y="2458541"/>
            <a:ext cx="2760091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Positivo: cuando el dato de entrada sube, la predicción sube. Negativo: baja.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74050" y="1903611"/>
            <a:ext cx="3098800" cy="1830189"/>
          </a:xfrm>
          <a:prstGeom prst="roundRect">
            <a:avLst>
              <a:gd name="adj" fmla="val 6592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483600" y="2113161"/>
            <a:ext cx="276009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Tamaño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83600" y="2458541"/>
            <a:ext cx="2760091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Depende de las unidades; compara coeficientes solo si los datos están en la misma escala.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10150" y="3898900"/>
            <a:ext cx="3098800" cy="1830189"/>
          </a:xfrm>
          <a:prstGeom prst="roundRect">
            <a:avLst>
              <a:gd name="adj" fmla="val 6592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219700" y="4108450"/>
            <a:ext cx="276009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Asociación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19700" y="4453830"/>
            <a:ext cx="2760091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Describe una relación en los datos; por sí solo no prueba que una cosa cause la otra.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74050" y="3898900"/>
            <a:ext cx="3098800" cy="1830189"/>
          </a:xfrm>
          <a:prstGeom prst="roundRect">
            <a:avLst>
              <a:gd name="adj" fmla="val 6592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8483600" y="4108450"/>
            <a:ext cx="2760091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Logística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83600" y="4453830"/>
            <a:ext cx="2760091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coeficiente positivo aumenta la probabilidad de la respuesta «sí».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23"/>
              </a:lnSpc>
              <a:buNone/>
            </a:pPr>
            <a:r>
              <a:rPr lang="en-US" sz="1231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CLASIFICACIÓN</a:t>
            </a:r>
            <a:endParaRPr lang="en-US" sz="1231" dirty="0"/>
          </a:p>
        </p:txBody>
      </p:sp>
      <p:sp>
        <p:nvSpPr>
          <p:cNvPr id="3" name="Text 1"/>
          <p:cNvSpPr/>
          <p:nvPr/>
        </p:nvSpPr>
        <p:spPr>
          <a:xfrm>
            <a:off x="812800" y="1131094"/>
            <a:ext cx="10883392" cy="4445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22"/>
              </a:lnSpc>
              <a:buNone/>
            </a:pPr>
            <a:r>
              <a:rPr lang="en-US" sz="302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Matriz de confusión</a:t>
            </a:r>
            <a:endParaRPr lang="en-US" sz="3020" dirty="0"/>
          </a:p>
        </p:txBody>
      </p:sp>
      <p:sp>
        <p:nvSpPr>
          <p:cNvPr id="4" name="Text 2"/>
          <p:cNvSpPr/>
          <p:nvPr/>
        </p:nvSpPr>
        <p:spPr>
          <a:xfrm>
            <a:off x="812800" y="1753493"/>
            <a:ext cx="1701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Ejemplo: filtro de spam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5400" y="1860153"/>
            <a:ext cx="4486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PREDICHO: SPAM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023100" y="1860153"/>
            <a:ext cx="44867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PREDICHO: NO SPAM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717998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REAL: SPAM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71750" y="2248198"/>
            <a:ext cx="4343400" cy="1153021"/>
          </a:xfrm>
          <a:prstGeom prst="roundRect">
            <a:avLst>
              <a:gd name="adj" fmla="val 9362"/>
            </a:avLst>
          </a:prstGeom>
          <a:solidFill>
            <a:srgbClr val="2A0A12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755900" y="2432348"/>
            <a:ext cx="4094353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ACIERTO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55900" y="2719288"/>
            <a:ext cx="40943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Verdadero positivo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55900" y="2996109"/>
            <a:ext cx="409435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Era spam y el modelo lo detectó.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29450" y="2248198"/>
            <a:ext cx="4343400" cy="1153021"/>
          </a:xfrm>
          <a:prstGeom prst="roundRect">
            <a:avLst>
              <a:gd name="adj" fmla="val 9362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7213600" y="2432348"/>
            <a:ext cx="4094353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F4F4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13600" y="2719288"/>
            <a:ext cx="40943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Falso negativo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13600" y="2996109"/>
            <a:ext cx="409435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Era spam y se le escapó.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3905448"/>
            <a:ext cx="1701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REAL: NO SPAM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71750" y="3435648"/>
            <a:ext cx="4343400" cy="1153021"/>
          </a:xfrm>
          <a:prstGeom prst="roundRect">
            <a:avLst>
              <a:gd name="adj" fmla="val 9362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755900" y="3619798"/>
            <a:ext cx="4094353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F4F4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755900" y="3906738"/>
            <a:ext cx="40943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Falso positivo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55900" y="4183559"/>
            <a:ext cx="409435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Correo legítimo enviado a spam.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29450" y="3435648"/>
            <a:ext cx="4343400" cy="1153021"/>
          </a:xfrm>
          <a:prstGeom prst="roundRect">
            <a:avLst>
              <a:gd name="adj" fmla="val 9362"/>
            </a:avLst>
          </a:prstGeom>
          <a:solidFill>
            <a:srgbClr val="2A0A12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213600" y="3619798"/>
            <a:ext cx="4094353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6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ACIERTO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13600" y="3906738"/>
            <a:ext cx="40943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Verdadero negativo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13600" y="4183559"/>
            <a:ext cx="4094353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Correo legítimo que llegó bien.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9150" y="4764683"/>
            <a:ext cx="10553700" cy="1070967"/>
          </a:xfrm>
          <a:prstGeom prst="roundRect">
            <a:avLst>
              <a:gd name="adj" fmla="val 11266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079500" y="4948833"/>
            <a:ext cx="10333990" cy="226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159" dirty="0"/>
          </a:p>
        </p:txBody>
      </p:sp>
      <p:sp>
        <p:nvSpPr>
          <p:cNvPr id="27" name="Text 25"/>
          <p:cNvSpPr/>
          <p:nvPr/>
        </p:nvSpPr>
        <p:spPr>
          <a:xfrm>
            <a:off x="1079500" y="5200551"/>
            <a:ext cx="10333990" cy="476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23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Los aciertos están en la diagonal roja. Los dos errores no pesan igual: perder un correo importante en spam suele molestar más que recibir un spam de vez en cuando.</a:t>
            </a:r>
            <a:endParaRPr lang="en-US" sz="1231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4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Cuatro métricas de clasificación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44861"/>
          <a:ext cx="10566400" cy="2302868"/>
        </p:xfrm>
        <a:graphic>
          <a:graphicData uri="http://schemas.openxmlformats.org/drawingml/2006/table">
            <a:tbl>
              <a:tblPr/>
              <a:tblGrid>
                <a:gridCol w="1584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5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4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Métrica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Cómo se calcula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Pregunta que responde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4F4F5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Úsala cuando…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2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400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Exactitud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Aciertos ÷ total de casos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¿Qué porcentaje acertó en total?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Las clases están balanceadas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90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400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Precisión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Detectados bien ÷ todo lo marcado como positivo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De lo que marcó como positivo, ¿cuánto lo era?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Un falso positivo es costoso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90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400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Recall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Detectados bien ÷ todos los positivos reales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De los positivos reales, ¿cuántos encontró?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Un falso negativo es costoso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90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E4002B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F1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Media armónica de precisión y recall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¿Hay equilibrio entre ambas?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4D4D8"/>
                          </a:solidFill>
                          <a:latin typeface="Space Grotesk" pitchFamily="34" charset="0"/>
                          <a:ea typeface="Space Grotesk" pitchFamily="34" charset="-122"/>
                          <a:cs typeface="Space Grotesk" pitchFamily="34" charset="-120"/>
                        </a:rPr>
                        <a:t>Las clases están desbalanceadas</a:t>
                      </a:r>
                      <a:endParaRPr lang="en-US" sz="1200" dirty="0">
                        <a:latin typeface="Space Grotesk" charset="0"/>
                        <a:ea typeface="Space Grotesk" charset="0"/>
                        <a:cs typeface="Space Grotesk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37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9150" y="4219178"/>
            <a:ext cx="10553700" cy="871736"/>
          </a:xfrm>
          <a:prstGeom prst="roundRect">
            <a:avLst>
              <a:gd name="adj" fmla="val 13840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/>
          <p:nvPr/>
        </p:nvSpPr>
        <p:spPr>
          <a:xfrm>
            <a:off x="1079500" y="4403328"/>
            <a:ext cx="103339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79500" y="4667448"/>
            <a:ext cx="10333990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Todas salen de la matriz de confusión. Elige la métrica según qué error sea más costoso en tu problema.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ATENCIÓN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4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trampa de la exactitud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97261"/>
            <a:ext cx="4055110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99 %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812800" y="3218061"/>
            <a:ext cx="4055110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exactitud… y cero fraudes detectados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56200" y="1962646"/>
            <a:ext cx="640969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 solo 1 de cada 100 transacciones es fraude, un modelo que siempre responde “normal” acierta el 99 % de las veces.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62550" y="2699246"/>
            <a:ext cx="6210300" cy="1036241"/>
          </a:xfrm>
          <a:prstGeom prst="roundRect">
            <a:avLst>
              <a:gd name="adj" fmla="val 11643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422900" y="2959596"/>
            <a:ext cx="586028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 clases desbalanceadas, revisa siempre la matriz de confusión y el recall de la clase minoritaria.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9150" y="4118372"/>
            <a:ext cx="10553700" cy="1111052"/>
          </a:xfrm>
          <a:prstGeom prst="roundRect">
            <a:avLst>
              <a:gd name="adj" fmla="val 10859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079500" y="4302522"/>
            <a:ext cx="103339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9500" y="4566642"/>
            <a:ext cx="1033399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modelo puede tener un número alto y aun así no servir. Siempre pregunta: ¿acierta en los casos que de verdad me importan?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GENERALIZACIÓN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3794"/>
            <a:ext cx="10883392" cy="469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Subajuste, buen ajuste, sobreajuste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797050"/>
            <a:ext cx="3390900" cy="2716411"/>
          </a:xfrm>
          <a:prstGeom prst="roundRect">
            <a:avLst>
              <a:gd name="adj" fmla="val 4442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Ejemplo visual de subajuste"/>
          <p:cNvPicPr>
            <a:picLocks noChangeAspect="1"/>
          </p:cNvPicPr>
          <p:nvPr/>
        </p:nvPicPr>
        <p:blipFill>
          <a:blip r:embed="rId3"/>
          <a:srcRect l="-436" r="-436"/>
          <a:stretch/>
        </p:blipFill>
        <p:spPr>
          <a:xfrm>
            <a:off x="1003300" y="1981200"/>
            <a:ext cx="2921000" cy="10701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3300" y="3152973"/>
            <a:ext cx="3113278" cy="282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1"/>
              </a:lnSpc>
              <a:buNone/>
            </a:pPr>
            <a:r>
              <a:rPr lang="en-US" sz="1684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Subajuste</a:t>
            </a:r>
            <a:endParaRPr lang="en-US" sz="1684" dirty="0"/>
          </a:p>
        </p:txBody>
      </p:sp>
      <p:sp>
        <p:nvSpPr>
          <p:cNvPr id="7" name="Text 4"/>
          <p:cNvSpPr/>
          <p:nvPr/>
        </p:nvSpPr>
        <p:spPr>
          <a:xfrm>
            <a:off x="1003300" y="3511451"/>
            <a:ext cx="3113278" cy="267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entrenamiento 0.62 · prueba 0.60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3300" y="3854748"/>
            <a:ext cx="3113278" cy="499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Modelo demasiado simple: no captura el patrón.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00550" y="1797050"/>
            <a:ext cx="3390900" cy="2716411"/>
          </a:xfrm>
          <a:prstGeom prst="roundRect">
            <a:avLst>
              <a:gd name="adj" fmla="val 4442"/>
            </a:avLst>
          </a:prstGeom>
          <a:solidFill>
            <a:srgbClr val="1A1A1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1" descr="Ejemplo visual de buen ajuste"/>
          <p:cNvPicPr>
            <a:picLocks noChangeAspect="1"/>
          </p:cNvPicPr>
          <p:nvPr/>
        </p:nvPicPr>
        <p:blipFill>
          <a:blip r:embed="rId4"/>
          <a:srcRect l="-436" r="-436"/>
          <a:stretch/>
        </p:blipFill>
        <p:spPr>
          <a:xfrm>
            <a:off x="4584700" y="1981200"/>
            <a:ext cx="2921000" cy="10701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84700" y="3152973"/>
            <a:ext cx="3113278" cy="282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1"/>
              </a:lnSpc>
              <a:buNone/>
            </a:pPr>
            <a:r>
              <a:rPr lang="en-US" sz="1684" b="1" dirty="0">
                <a:solidFill>
                  <a:srgbClr val="E40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Buen ajuste</a:t>
            </a:r>
            <a:endParaRPr lang="en-US" sz="1684" dirty="0"/>
          </a:p>
        </p:txBody>
      </p:sp>
      <p:sp>
        <p:nvSpPr>
          <p:cNvPr id="12" name="Text 8"/>
          <p:cNvSpPr/>
          <p:nvPr/>
        </p:nvSpPr>
        <p:spPr>
          <a:xfrm>
            <a:off x="4584700" y="3511451"/>
            <a:ext cx="3113278" cy="267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entrenamiento 0.88 · prueba 0.85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84700" y="3854748"/>
            <a:ext cx="3113278" cy="499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Aprende el patrón y generaliza a datos nuevos.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81950" y="1797050"/>
            <a:ext cx="3390900" cy="2716411"/>
          </a:xfrm>
          <a:prstGeom prst="roundRect">
            <a:avLst>
              <a:gd name="adj" fmla="val 4442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5" name="Image 2" descr="Ejemplo visual de sobreajust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66100" y="1981200"/>
            <a:ext cx="2921000" cy="10795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66100" y="3162300"/>
            <a:ext cx="311327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Sobreajuste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166100" y="3522960"/>
            <a:ext cx="31132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entrenamiento 1.00 · prueba 0.71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166100" y="3868341"/>
            <a:ext cx="3113278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D4D4D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Memorizó los datos, incluido el ruido.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19150" y="4729361"/>
            <a:ext cx="10553700" cy="1106289"/>
          </a:xfrm>
          <a:prstGeom prst="roundRect">
            <a:avLst>
              <a:gd name="adj" fmla="val 10906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5"/>
          <p:cNvSpPr/>
          <p:nvPr/>
        </p:nvSpPr>
        <p:spPr>
          <a:xfrm>
            <a:off x="1079500" y="4913511"/>
            <a:ext cx="10333990" cy="237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5"/>
              </a:lnSpc>
              <a:buNone/>
            </a:pPr>
            <a:r>
              <a:rPr lang="en-US" sz="1196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196" dirty="0"/>
          </a:p>
        </p:txBody>
      </p:sp>
      <p:sp>
        <p:nvSpPr>
          <p:cNvPr id="21" name="Text 16"/>
          <p:cNvSpPr/>
          <p:nvPr/>
        </p:nvSpPr>
        <p:spPr>
          <a:xfrm>
            <a:off x="1079500" y="5176143"/>
            <a:ext cx="10333990" cy="500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 buen modelo saca notas parecidas en la práctica (entrenamiento) y en el examen (prueba). Si le va perfecto en la práctica y mal en el examen, memorizó. Valores ilustrativos.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VISIÓN COMPLETA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4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flujo completo de un proyecto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03611"/>
            <a:ext cx="1642467" cy="1666180"/>
          </a:xfrm>
          <a:prstGeom prst="roundRect">
            <a:avLst>
              <a:gd name="adj" fmla="val 7346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003300" y="2087761"/>
            <a:ext cx="13249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3300" y="2392561"/>
            <a:ext cx="13249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Pregunta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3300" y="2722761"/>
            <a:ext cx="1324967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¿Número o categoría?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1317" y="1903611"/>
            <a:ext cx="1642566" cy="1666180"/>
          </a:xfrm>
          <a:prstGeom prst="roundRect">
            <a:avLst>
              <a:gd name="adj" fmla="val 7345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785467" y="2087761"/>
            <a:ext cx="1325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85467" y="2392561"/>
            <a:ext cx="132506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5467" y="2722761"/>
            <a:ext cx="1325066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Reunir y revisar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3584" y="1903611"/>
            <a:ext cx="1642467" cy="1666180"/>
          </a:xfrm>
          <a:prstGeom prst="roundRect">
            <a:avLst>
              <a:gd name="adj" fmla="val 7346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567734" y="2087761"/>
            <a:ext cx="13249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67734" y="2392561"/>
            <a:ext cx="13249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Preparar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67734" y="2722761"/>
            <a:ext cx="1324967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Limpiar y separar entradas y objetivo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65751" y="1903611"/>
            <a:ext cx="1642566" cy="1666180"/>
          </a:xfrm>
          <a:prstGeom prst="roundRect">
            <a:avLst>
              <a:gd name="adj" fmla="val 7345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349901" y="2087761"/>
            <a:ext cx="1325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9901" y="2392561"/>
            <a:ext cx="132506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Entrenar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49901" y="2722761"/>
            <a:ext cx="132506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Apartar prueba y entrenar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48017" y="1903611"/>
            <a:ext cx="1642566" cy="1666180"/>
          </a:xfrm>
          <a:prstGeom prst="roundRect">
            <a:avLst>
              <a:gd name="adj" fmla="val 7345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8132167" y="2087761"/>
            <a:ext cx="1325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32167" y="2392561"/>
            <a:ext cx="132506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Evaluar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32167" y="2722761"/>
            <a:ext cx="132506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Métricas con datos de prueba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730284" y="1903611"/>
            <a:ext cx="1642566" cy="1666180"/>
          </a:xfrm>
          <a:prstGeom prst="roundRect">
            <a:avLst>
              <a:gd name="adj" fmla="val 7345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9914434" y="2087761"/>
            <a:ext cx="13250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14434" y="2392561"/>
            <a:ext cx="132506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Decidir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14434" y="2722761"/>
            <a:ext cx="1325066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Explicar y actuar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9150" y="3887291"/>
            <a:ext cx="10553700" cy="1111052"/>
          </a:xfrm>
          <a:prstGeom prst="roundRect">
            <a:avLst>
              <a:gd name="adj" fmla="val 10859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1079500" y="4071441"/>
            <a:ext cx="103339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79500" y="4335562"/>
            <a:ext cx="1033399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 interpretación cierra el ciclo. Si el resultado no sirve para tomar una decisión, se vuelve a la pregunta o a los datos. Los proyectos reales dan varias vueltas antes de funcionar bien.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20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RETO DE LA UNIDAD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14548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kern="0" spc="-5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 propio modelo, explicado en 5 minutos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03611"/>
            <a:ext cx="2514600" cy="1869380"/>
          </a:xfrm>
          <a:prstGeom prst="roundRect">
            <a:avLst>
              <a:gd name="adj" fmla="val 6454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5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8700" y="2113161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700" y="2570361"/>
            <a:ext cx="21583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Pregunta clara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28700" y="2900561"/>
            <a:ext cx="2158365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¿Regresión o clasificación? Justifícalo.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98850" y="1903611"/>
            <a:ext cx="2514600" cy="1869380"/>
          </a:xfrm>
          <a:prstGeom prst="roundRect">
            <a:avLst>
              <a:gd name="adj" fmla="val 6454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9" name="Image 1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08400" y="2113161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08400" y="2570361"/>
            <a:ext cx="21583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Dos modelos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708400" y="2900561"/>
            <a:ext cx="2158365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Entrénalos en Colab con datos de prueba separados.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8550" y="1903611"/>
            <a:ext cx="2514600" cy="1869380"/>
          </a:xfrm>
          <a:prstGeom prst="roundRect">
            <a:avLst>
              <a:gd name="adj" fmla="val 6454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mage 2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88100" y="2113161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88100" y="2570361"/>
            <a:ext cx="21583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Métrica elegida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88100" y="2900561"/>
            <a:ext cx="2158365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Explica por qué es la adecuada para tu problema.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858250" y="1903611"/>
            <a:ext cx="2514600" cy="1869380"/>
          </a:xfrm>
          <a:prstGeom prst="roundRect">
            <a:avLst>
              <a:gd name="adj" fmla="val 6454"/>
            </a:avLst>
          </a:prstGeom>
          <a:solidFill>
            <a:srgbClr val="1A1A1F"/>
          </a:solidFill>
          <a:ln w="12700">
            <a:solidFill>
              <a:srgbClr val="2C2C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7" name="Image 3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67800" y="2113161"/>
            <a:ext cx="355600" cy="355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67800" y="2570361"/>
            <a:ext cx="21583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Interpretación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9067800" y="2900561"/>
            <a:ext cx="2158365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A1A1A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Cuenta en lenguaje simple qué significan los resultados.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819150" y="4090491"/>
            <a:ext cx="10553700" cy="1111052"/>
          </a:xfrm>
          <a:prstGeom prst="roundRect">
            <a:avLst>
              <a:gd name="adj" fmla="val 10859"/>
            </a:avLst>
          </a:prstGeom>
          <a:solidFill>
            <a:srgbClr val="1F0A0F"/>
          </a:solidFill>
          <a:ln w="12700">
            <a:solidFill>
              <a:srgbClr val="E400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5"/>
          <p:cNvSpPr/>
          <p:nvPr/>
        </p:nvSpPr>
        <p:spPr>
          <a:xfrm>
            <a:off x="1079500" y="4274641"/>
            <a:ext cx="103339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00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 PALABRAS SIMPLES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079500" y="4538762"/>
            <a:ext cx="10333990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F4F4F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 que más cuenta no es que el modelo acierte mucho, sino que puedas explicar con palabras sencillas por qué confiar o no confiar en él.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UNIDAD 3 · REGRESIÓN Y CLASIFICACIÓN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7171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3520</Words>
  <Application>Microsoft Office PowerPoint</Application>
  <PresentationFormat>Panorámica</PresentationFormat>
  <Paragraphs>465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2" baseType="lpstr">
      <vt:lpstr>Arial</vt:lpstr>
      <vt:lpstr>JetBrains Mono</vt:lpstr>
      <vt:lpstr>Space Grotesk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3 · Regresión y clasificación</dc:title>
  <dc:subject>PptxGenJS Presentation</dc:subject>
  <dc:creator>PptxGenJS</dc:creator>
  <cp:lastModifiedBy>Alonso Moya</cp:lastModifiedBy>
  <cp:revision>2</cp:revision>
  <dcterms:created xsi:type="dcterms:W3CDTF">2026-09-24T00:59:21Z</dcterms:created>
  <dcterms:modified xsi:type="dcterms:W3CDTF">2026-09-24T17:35:22Z</dcterms:modified>
</cp:coreProperties>
</file>