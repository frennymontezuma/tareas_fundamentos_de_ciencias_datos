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extra después de la Unidad 3. Conectar con lo visto: la regresión lineal y la regresión logística son, en el fondo, redes neuronales de una sola neurona. Hoy vemos qué pasa cuando juntamos muchas.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a la clase dónde han visto redes neuronales: reconocimiento facial del celular, traductores, recomendaciones de Netflix o YouTube, asistentes de voz. Insistir en que no es magia: son operaciones simples repetidas muchísimas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Relacionar con la regresión lineal: los pesos son los coeficientes y el sesgo es el intercepto. Lo nuevo es la función de activación al final, que decide qué sale de la neurona.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la cuenta en la pizarra con la clase. Regla de activación: si el total es mayor que 0, la respuesta es sí. Actividad rápida: pedir a los estudiantes que cambien un peso (por ejemplo, que la tarea pese −2) y vuelvan a calcular: 3 + 2 − 2 − 1 = 2, ahora sí va a la playa. Así ven que cambiar los pesos cambia la decisión.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imagen de 28 × 28 píxeles tiene 784 píxeles: esa es la capa de entrada del Ejemplo 2. Se les llama capas ocultas porque no vemos directamente lo que hacen: solo vemos la entrada y la salida.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sigmoide es la misma función de la regresión logística de la Unidad 3. En el Ejemplo 2 verán ReLU en la capa oculta y Softmax en la salida, que reparte la probabilidad entre los 10 dígitos.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nombre técnico del paso 3 es descenso de gradiente, y la forma de repartir el error entre todas las capas se llama retropropagación (backpropagation). Para este nivel basta con la idea: probar, medir el error y corregir un poquito, muchas veces. Estas tres palabras aparecen tal cual en el código de los ejemplos.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hacia la práctica. Si los estudiantes se quedan con una sola frase de la clase, que sea 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1: una sola neurona que descubre una fórmula. Ejemplo 2: una red con una capa oculta que reconoce dígitos escritos a mano. Los dos cuadernos completos, con explicaciones, se entregan aparte como archivos .ipynb para subir a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Dense(units=1) es una capa con una sola neurona: exactamente la neurona que dibujamos antes, con un peso y un sesgo. Adam es el optimizador y 0.1 es qué tan grandes son los ajustes en cada paso. epochs=1000 significa que repasa los 7 ejemplos 1000 veces. El entrenamiento tarda unos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números exactos cambian un poco en cada ejecución porque los pesos empiezan al azar; lo normal es obtener algo como 1,80 y 31,97. Pregunta para la clase: ¿qué modelo de la Unidad 3 habría encontrado lo mismo? Respuesta: la regresión lineal. Esta neurona es, literalmente, una regresión lineal entrenada de otra forma. Extra: para ver cómo bajó el error en cada época, agregar una celda con import matplotlib.pyplot as plt y plt.plot(historial.history["loss"]); plt.show(). El cuaderno de Colab ya la incluye.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código con la diapositiva de capas: Flatten es la capa de entrada (aplana la imagen de 28 × 28 en una fila de 784 números), Dense(128, relu) es la capa oculta y Dense(10, softmax) es la salida, una neurona por cada dígito. Dividir entre 255 deja los píxeles entre 0 y 1, lo que ayuda a la red a aprender más rápido. MNIST trae 60 000 imágenes para entrenar y 10 000 para el examen. En Colab el entrenamiento tarda alrededor de un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porcentaje exacto cambia un poco en cada ejecución. Pedir a los estudiantes que cambien x_test[0] por otros números (x_test[7], x_test[42]) y comprueben si la red acierta. np.argmax elige la posición con el porcentaje más alto de la salida Softmax, es decir, el dígito ganador de la votación. El sobreajuste es el mismo concepto que vimos en la Unidad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para el trabajo real: en datos de negocio en tablas (ventas, clientes, inventarios), una regresión o un árbol muchas veces funciona igual de bien y se puede explicar a un gerente. Las redes brillan en imágenes, audio y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Pueden trabajar en parejas y comparar en una tabla: épocas, neuronas, capas y precisión en el examen. Cerrar la clase preguntando qué combinación dio el mejor resultado y si más grande siempre fue mejor.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D"/>
        </a:solidFill>
      </p:bgPr>
    </p:bg>
    <p:spTree>
      <p:nvGrpSpPr>
        <p:cNvPr id="1" name=""/>
        <p:cNvGrpSpPr/>
        <p:nvPr/>
      </p:nvGrpSpPr>
      <p:grpSpPr>
        <a:xfrm>
          <a:off x="0" y="0"/>
          <a:ext cx="0" cy="0"/>
          <a:chOff x="0" y="0"/>
          <a:chExt cx="0" cy="0"/>
        </a:xfrm>
      </p:grpSpPr>
      <p:pic>
        <p:nvPicPr>
          <p:cNvPr id="2" name="Image 0" descr="Diagrama de una red neuronal con tres entradas, cuatro neuronas ocultas y dos salidas">    </p:cNvPr>
          <p:cNvPicPr>
            <a:picLocks noChangeAspect="1"/>
          </p:cNvPicPr>
          <p:nvPr/>
        </p:nvPicPr>
        <p:blipFill>
          <a:blip r:embed="rId1"/>
          <a:srcRect l="0" r="0" t="0" b="0"/>
          <a:stretch/>
        </p:blipFill>
        <p:spPr>
          <a:xfrm>
            <a:off x="7823200" y="812800"/>
            <a:ext cx="3556000" cy="2286000"/>
          </a:xfrm>
          <a:prstGeom prst="rect">
            <a:avLst/>
          </a:prstGeom>
        </p:spPr>
      </p:pic>
      <p:sp>
        <p:nvSpPr>
          <p:cNvPr id="3" name="Text 0"/>
          <p:cNvSpPr/>
          <p:nvPr/>
        </p:nvSpPr>
        <p:spPr>
          <a:xfrm>
            <a:off x="812800" y="2550418"/>
            <a:ext cx="7194550"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4002B"/>
                </a:solidFill>
                <a:latin typeface="Courier New" pitchFamily="34" charset="0"/>
                <a:ea typeface="Courier New" pitchFamily="34" charset="-122"/>
                <a:cs typeface="Courier New" pitchFamily="34" charset="-120"/>
              </a:rPr>
              <a:t>TEMA EXTRA · MACHINE LEARNING · EXPLICADO FÁCIL</a:t>
            </a:r>
            <a:endParaRPr lang="en-US" sz="1300" dirty="0"/>
          </a:p>
        </p:txBody>
      </p:sp>
      <p:sp>
        <p:nvSpPr>
          <p:cNvPr id="4" name="Text 1"/>
          <p:cNvSpPr/>
          <p:nvPr/>
        </p:nvSpPr>
        <p:spPr>
          <a:xfrm>
            <a:off x="812800" y="2959298"/>
            <a:ext cx="7194550" cy="1651000"/>
          </a:xfrm>
          <a:prstGeom prst="rect">
            <a:avLst/>
          </a:prstGeom>
          <a:noFill/>
          <a:ln/>
        </p:spPr>
        <p:txBody>
          <a:bodyPr wrap="square" lIns="0" tIns="0" rIns="0" bIns="0" rtlCol="0" anchor="t">
            <a:normAutofit/>
          </a:bodyPr>
          <a:lstStyle/>
          <a:p>
            <a:pPr algn="l" indent="0" marL="0">
              <a:lnSpc>
                <a:spcPts val="6400"/>
              </a:lnSpc>
              <a:buNone/>
            </a:pPr>
            <a:r>
              <a:rPr lang="en-US" sz="6400" b="1" spc="-150" kern="0" dirty="0">
                <a:solidFill>
                  <a:srgbClr val="F4F4F5"/>
                </a:solidFill>
                <a:latin typeface="Arial" pitchFamily="34" charset="0"/>
                <a:ea typeface="Arial" pitchFamily="34" charset="-122"/>
                <a:cs typeface="Arial" pitchFamily="34" charset="-120"/>
              </a:rPr>
              <a:t>Redes</a:t>
            </a:r>
            <a:endParaRPr lang="en-US" sz="6400" dirty="0"/>
          </a:p>
          <a:p>
            <a:pPr algn="l" indent="0" marL="0">
              <a:lnSpc>
                <a:spcPts val="6400"/>
              </a:lnSpc>
              <a:buNone/>
            </a:pPr>
            <a:r>
              <a:rPr lang="en-US" sz="6400" b="1" spc="-150" kern="0" dirty="0">
                <a:solidFill>
                  <a:srgbClr val="E4002B"/>
                </a:solidFill>
                <a:latin typeface="Arial" pitchFamily="34" charset="0"/>
                <a:ea typeface="Arial" pitchFamily="34" charset="-122"/>
                <a:cs typeface="Arial" pitchFamily="34" charset="-120"/>
              </a:rPr>
              <a:t>neuronales</a:t>
            </a:r>
            <a:endParaRPr lang="en-US" sz="6400" dirty="0"/>
          </a:p>
        </p:txBody>
      </p:sp>
      <p:sp>
        <p:nvSpPr>
          <p:cNvPr id="5" name="Text 2"/>
          <p:cNvSpPr/>
          <p:nvPr/>
        </p:nvSpPr>
        <p:spPr>
          <a:xfrm>
            <a:off x="812800" y="4762698"/>
            <a:ext cx="719455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A1A1AA"/>
                </a:solidFill>
                <a:latin typeface="Arial" pitchFamily="34" charset="0"/>
                <a:ea typeface="Arial" pitchFamily="34" charset="-122"/>
                <a:cs typeface="Arial" pitchFamily="34" charset="-120"/>
              </a:rPr>
              <a:t>Qué son, cómo aprenden y por qué no son magia: solo muchas fórmulas pequeñas trabajando en equipo.</a:t>
            </a:r>
            <a:endParaRPr lang="en-US" sz="1600" dirty="0"/>
          </a:p>
        </p:txBody>
      </p:sp>
      <p:sp>
        <p:nvSpPr>
          <p:cNvPr id="6" name="Text 3"/>
          <p:cNvSpPr/>
          <p:nvPr/>
        </p:nvSpPr>
        <p:spPr>
          <a:xfrm>
            <a:off x="812800" y="5529659"/>
            <a:ext cx="719455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4D4D8"/>
                </a:solidFill>
                <a:latin typeface="Arial" pitchFamily="34" charset="0"/>
                <a:ea typeface="Arial" pitchFamily="34" charset="-122"/>
                <a:cs typeface="Arial" pitchFamily="34" charset="-120"/>
              </a:rPr>
              <a:t>Terminarás programando dos redes en Colab: una que aprende una fórmula sola y otra que lee números escritos a mano.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4002B"/>
                </a:solidFill>
                <a:latin typeface="Courier New" pitchFamily="34" charset="0"/>
                <a:ea typeface="Courier New" pitchFamily="34" charset="-122"/>
                <a:cs typeface="Courier New" pitchFamily="34" charset="-120"/>
              </a:rPr>
              <a:t>LA IDEA GENERAL</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4F4F5"/>
                </a:solidFill>
                <a:latin typeface="Arial" pitchFamily="34" charset="0"/>
                <a:ea typeface="Arial" pitchFamily="34" charset="-122"/>
                <a:cs typeface="Arial" pitchFamily="34" charset="-120"/>
              </a:rPr>
              <a:t>Un equipo de calculadoras que vota</a:t>
            </a:r>
            <a:endParaRPr lang="en-US" sz="3200" dirty="0"/>
          </a:p>
        </p:txBody>
      </p:sp>
      <p:sp>
        <p:nvSpPr>
          <p:cNvPr id="4" name="Text 2"/>
          <p:cNvSpPr/>
          <p:nvPr/>
        </p:nvSpPr>
        <p:spPr>
          <a:xfrm>
            <a:off x="812800" y="1795661"/>
            <a:ext cx="1088339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4D4D8"/>
                </a:solidFill>
                <a:latin typeface="Arial" pitchFamily="34" charset="0"/>
                <a:ea typeface="Arial" pitchFamily="34" charset="-122"/>
                <a:cs typeface="Arial" pitchFamily="34" charset="-120"/>
              </a:rPr>
              <a:t>Imagina a muchas personas mirando una foto. Cada una revisa un detalle: ¿orejas puntiagudas?, ¿bigotes?, ¿cola? Al final alguien junta los votos y decide: «es un gato». Eso hace una red neuronal.</a:t>
            </a:r>
            <a:endParaRPr lang="en-US" sz="1400" dirty="0"/>
          </a:p>
        </p:txBody>
      </p:sp>
      <p:sp>
        <p:nvSpPr>
          <p:cNvPr id="5" name="Shape 3"/>
          <p:cNvSpPr/>
          <p:nvPr/>
        </p:nvSpPr>
        <p:spPr>
          <a:xfrm>
            <a:off x="819150" y="2520752"/>
            <a:ext cx="3407767" cy="1648420"/>
          </a:xfrm>
          <a:prstGeom prst="roundRect">
            <a:avLst>
              <a:gd name="adj" fmla="val 7319"/>
            </a:avLst>
          </a:prstGeom>
          <a:solidFill>
            <a:srgbClr val="1A1A1F"/>
          </a:solidFill>
          <a:ln w="12700">
            <a:solidFill>
              <a:srgbClr val="2C2C33"/>
            </a:solidFill>
            <a:prstDash val="solid"/>
          </a:ln>
        </p:spPr>
      </p:sp>
      <p:pic>
        <p:nvPicPr>
          <p:cNvPr id="6" name="Image 0" descr="Lightbulb">    </p:cNvPr>
          <p:cNvPicPr>
            <a:picLocks noChangeAspect="1"/>
          </p:cNvPicPr>
          <p:nvPr/>
        </p:nvPicPr>
        <p:blipFill>
          <a:blip r:embed="rId1"/>
          <a:srcRect l="0" r="0" t="0" b="0"/>
          <a:stretch/>
        </p:blipFill>
        <p:spPr>
          <a:xfrm>
            <a:off x="1028700" y="2730302"/>
            <a:ext cx="355600" cy="355600"/>
          </a:xfrm>
          <a:prstGeom prst="rect">
            <a:avLst/>
          </a:prstGeom>
        </p:spPr>
      </p:pic>
      <p:sp>
        <p:nvSpPr>
          <p:cNvPr id="7" name="Text 4"/>
          <p:cNvSpPr/>
          <p:nvPr/>
        </p:nvSpPr>
        <p:spPr>
          <a:xfrm>
            <a:off x="1028700" y="3187502"/>
            <a:ext cx="30783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Se inspira en el cerebro</a:t>
            </a:r>
            <a:endParaRPr lang="en-US" sz="1500" dirty="0"/>
          </a:p>
        </p:txBody>
      </p:sp>
      <p:sp>
        <p:nvSpPr>
          <p:cNvPr id="8" name="Text 5"/>
          <p:cNvSpPr/>
          <p:nvPr/>
        </p:nvSpPr>
        <p:spPr>
          <a:xfrm>
            <a:off x="1028700" y="3517702"/>
            <a:ext cx="307832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Muchas neuronas conectadas que se pasan señales unas a otras.</a:t>
            </a:r>
            <a:endParaRPr lang="en-US" sz="1200" dirty="0"/>
          </a:p>
        </p:txBody>
      </p:sp>
      <p:sp>
        <p:nvSpPr>
          <p:cNvPr id="9" name="Shape 6"/>
          <p:cNvSpPr/>
          <p:nvPr/>
        </p:nvSpPr>
        <p:spPr>
          <a:xfrm>
            <a:off x="4392017" y="2520752"/>
            <a:ext cx="3407866" cy="1648420"/>
          </a:xfrm>
          <a:prstGeom prst="roundRect">
            <a:avLst>
              <a:gd name="adj" fmla="val 7319"/>
            </a:avLst>
          </a:prstGeom>
          <a:solidFill>
            <a:srgbClr val="1A1A1F"/>
          </a:solidFill>
          <a:ln w="12700">
            <a:solidFill>
              <a:srgbClr val="2C2C33"/>
            </a:solidFill>
            <a:prstDash val="solid"/>
          </a:ln>
        </p:spPr>
      </p:sp>
      <p:pic>
        <p:nvPicPr>
          <p:cNvPr id="10" name="Image 1" descr="Code">    </p:cNvPr>
          <p:cNvPicPr>
            <a:picLocks noChangeAspect="1"/>
          </p:cNvPicPr>
          <p:nvPr/>
        </p:nvPicPr>
        <p:blipFill>
          <a:blip r:embed="rId2"/>
          <a:srcRect l="0" r="0" t="0" b="0"/>
          <a:stretch/>
        </p:blipFill>
        <p:spPr>
          <a:xfrm>
            <a:off x="4601567" y="2730302"/>
            <a:ext cx="355600" cy="355600"/>
          </a:xfrm>
          <a:prstGeom prst="rect">
            <a:avLst/>
          </a:prstGeom>
        </p:spPr>
      </p:pic>
      <p:sp>
        <p:nvSpPr>
          <p:cNvPr id="11" name="Text 7"/>
          <p:cNvSpPr/>
          <p:nvPr/>
        </p:nvSpPr>
        <p:spPr>
          <a:xfrm>
            <a:off x="4601567" y="3187502"/>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Pero son matemáticas</a:t>
            </a:r>
            <a:endParaRPr lang="en-US" sz="1500" dirty="0"/>
          </a:p>
        </p:txBody>
      </p:sp>
      <p:sp>
        <p:nvSpPr>
          <p:cNvPr id="12" name="Text 8"/>
          <p:cNvSpPr/>
          <p:nvPr/>
        </p:nvSpPr>
        <p:spPr>
          <a:xfrm>
            <a:off x="4601567" y="3517702"/>
            <a:ext cx="307842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Cada neurona solo multiplica, suma y decide. No piensa ni entiende.</a:t>
            </a:r>
            <a:endParaRPr lang="en-US" sz="1200" dirty="0"/>
          </a:p>
        </p:txBody>
      </p:sp>
      <p:sp>
        <p:nvSpPr>
          <p:cNvPr id="13" name="Shape 9"/>
          <p:cNvSpPr/>
          <p:nvPr/>
        </p:nvSpPr>
        <p:spPr>
          <a:xfrm>
            <a:off x="7964984" y="2520752"/>
            <a:ext cx="3407866" cy="1648420"/>
          </a:xfrm>
          <a:prstGeom prst="roundRect">
            <a:avLst>
              <a:gd name="adj" fmla="val 7319"/>
            </a:avLst>
          </a:prstGeom>
          <a:solidFill>
            <a:srgbClr val="1A1A1F"/>
          </a:solidFill>
          <a:ln w="12700">
            <a:solidFill>
              <a:srgbClr val="2C2C33"/>
            </a:solidFill>
            <a:prstDash val="solid"/>
          </a:ln>
        </p:spPr>
      </p:sp>
      <p:pic>
        <p:nvPicPr>
          <p:cNvPr id="14" name="Image 2" descr="GraduationCap">    </p:cNvPr>
          <p:cNvPicPr>
            <a:picLocks noChangeAspect="1"/>
          </p:cNvPicPr>
          <p:nvPr/>
        </p:nvPicPr>
        <p:blipFill>
          <a:blip r:embed="rId3"/>
          <a:srcRect l="0" r="0" t="0" b="0"/>
          <a:stretch/>
        </p:blipFill>
        <p:spPr>
          <a:xfrm>
            <a:off x="8174534" y="2730302"/>
            <a:ext cx="355600" cy="355600"/>
          </a:xfrm>
          <a:prstGeom prst="rect">
            <a:avLst/>
          </a:prstGeom>
        </p:spPr>
      </p:pic>
      <p:sp>
        <p:nvSpPr>
          <p:cNvPr id="15" name="Text 10"/>
          <p:cNvSpPr/>
          <p:nvPr/>
        </p:nvSpPr>
        <p:spPr>
          <a:xfrm>
            <a:off x="8174534" y="3187502"/>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Aprende con ejemplos</a:t>
            </a:r>
            <a:endParaRPr lang="en-US" sz="1500" dirty="0"/>
          </a:p>
        </p:txBody>
      </p:sp>
      <p:sp>
        <p:nvSpPr>
          <p:cNvPr id="16" name="Text 11"/>
          <p:cNvSpPr/>
          <p:nvPr/>
        </p:nvSpPr>
        <p:spPr>
          <a:xfrm>
            <a:off x="8174534" y="3517702"/>
            <a:ext cx="307842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No le das reglas: le das datos con sus respuestas y ella encuentra el patrón.</a:t>
            </a:r>
            <a:endParaRPr lang="en-US" sz="1200" dirty="0"/>
          </a:p>
        </p:txBody>
      </p:sp>
      <p:sp>
        <p:nvSpPr>
          <p:cNvPr id="17" name="Shape 12"/>
          <p:cNvSpPr/>
          <p:nvPr/>
        </p:nvSpPr>
        <p:spPr>
          <a:xfrm>
            <a:off x="819150" y="4385072"/>
            <a:ext cx="10553700" cy="871736"/>
          </a:xfrm>
          <a:prstGeom prst="roundRect">
            <a:avLst>
              <a:gd name="adj" fmla="val 13840"/>
            </a:avLst>
          </a:prstGeom>
          <a:solidFill>
            <a:srgbClr val="1F0A0F"/>
          </a:solidFill>
          <a:ln w="12700">
            <a:solidFill>
              <a:srgbClr val="E4002B"/>
            </a:solidFill>
            <a:prstDash val="solid"/>
          </a:ln>
        </p:spPr>
      </p:sp>
      <p:sp>
        <p:nvSpPr>
          <p:cNvPr id="18" name="Text 13"/>
          <p:cNvSpPr/>
          <p:nvPr/>
        </p:nvSpPr>
        <p:spPr>
          <a:xfrm>
            <a:off x="1079500" y="4569222"/>
            <a:ext cx="103339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19" name="Text 14"/>
          <p:cNvSpPr/>
          <p:nvPr/>
        </p:nvSpPr>
        <p:spPr>
          <a:xfrm>
            <a:off x="1079500" y="4833342"/>
            <a:ext cx="10333990"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4F4F5"/>
                </a:solidFill>
                <a:latin typeface="Arial" pitchFamily="34" charset="0"/>
                <a:ea typeface="Arial" pitchFamily="34" charset="-122"/>
                <a:cs typeface="Arial" pitchFamily="34" charset="-120"/>
              </a:rPr>
              <a:t>Ya conoces una neurona: la regresión logística. Una red es muchas de esas trabajando en equipo.</a:t>
            </a:r>
            <a:endParaRPr lang="en-US" sz="1300" dirty="0"/>
          </a:p>
        </p:txBody>
      </p:sp>
      <p:sp>
        <p:nvSpPr>
          <p:cNvPr id="20"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1717A"/>
                </a:solidFill>
                <a:latin typeface="Courier New" pitchFamily="34" charset="0"/>
                <a:ea typeface="Courier New" pitchFamily="34" charset="-122"/>
                <a:cs typeface="Courier New"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4002B"/>
                </a:solidFill>
                <a:latin typeface="Courier New" pitchFamily="34" charset="0"/>
                <a:ea typeface="Courier New" pitchFamily="34" charset="-122"/>
                <a:cs typeface="Courier New" pitchFamily="34" charset="-120"/>
              </a:rPr>
              <a:t>LA PIEZA BÁSICA</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4F4F5"/>
                </a:solidFill>
                <a:latin typeface="Arial" pitchFamily="34" charset="0"/>
                <a:ea typeface="Arial" pitchFamily="34" charset="-122"/>
                <a:cs typeface="Arial" pitchFamily="34" charset="-120"/>
              </a:rPr>
              <a:t>La neurona: multiplica, suma y decide</a:t>
            </a:r>
            <a:endParaRPr lang="en-US" sz="3200" dirty="0"/>
          </a:p>
        </p:txBody>
      </p:sp>
      <p:sp>
        <p:nvSpPr>
          <p:cNvPr id="4" name="Shape 2"/>
          <p:cNvSpPr/>
          <p:nvPr/>
        </p:nvSpPr>
        <p:spPr>
          <a:xfrm>
            <a:off x="819150" y="1802011"/>
            <a:ext cx="2247900" cy="2024261"/>
          </a:xfrm>
          <a:prstGeom prst="roundRect">
            <a:avLst>
              <a:gd name="adj" fmla="val 5960"/>
            </a:avLst>
          </a:prstGeom>
          <a:solidFill>
            <a:srgbClr val="1A1A1F"/>
          </a:solidFill>
          <a:ln w="12700">
            <a:solidFill>
              <a:srgbClr val="2C2C33"/>
            </a:solidFill>
            <a:prstDash val="solid"/>
          </a:ln>
        </p:spPr>
      </p:sp>
      <p:sp>
        <p:nvSpPr>
          <p:cNvPr id="5" name="Text 3"/>
          <p:cNvSpPr/>
          <p:nvPr/>
        </p:nvSpPr>
        <p:spPr>
          <a:xfrm>
            <a:off x="1003300" y="1986161"/>
            <a:ext cx="193598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4002B"/>
                </a:solidFill>
                <a:latin typeface="Courier New" pitchFamily="34" charset="0"/>
                <a:ea typeface="Courier New" pitchFamily="34" charset="-122"/>
                <a:cs typeface="Courier New" pitchFamily="34" charset="-120"/>
              </a:rPr>
              <a:t>1</a:t>
            </a:r>
            <a:endParaRPr lang="en-US" sz="2200" dirty="0"/>
          </a:p>
        </p:txBody>
      </p:sp>
      <p:sp>
        <p:nvSpPr>
          <p:cNvPr id="6" name="Text 4"/>
          <p:cNvSpPr/>
          <p:nvPr/>
        </p:nvSpPr>
        <p:spPr>
          <a:xfrm>
            <a:off x="1003300" y="2453481"/>
            <a:ext cx="19359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Entradas</a:t>
            </a:r>
            <a:endParaRPr lang="en-US" sz="1500" dirty="0"/>
          </a:p>
        </p:txBody>
      </p:sp>
      <p:sp>
        <p:nvSpPr>
          <p:cNvPr id="7" name="Text 5"/>
          <p:cNvSpPr/>
          <p:nvPr/>
        </p:nvSpPr>
        <p:spPr>
          <a:xfrm>
            <a:off x="1003300" y="2758281"/>
            <a:ext cx="1935988"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Los datos que recibe: ¿hace sol?, ¿es fin de semana?</a:t>
            </a:r>
            <a:endParaRPr lang="en-US" sz="1200" dirty="0"/>
          </a:p>
        </p:txBody>
      </p:sp>
      <p:pic>
        <p:nvPicPr>
          <p:cNvPr id="8" name="Image 0" descr="arrow-right">    </p:cNvPr>
          <p:cNvPicPr>
            <a:picLocks noChangeAspect="1"/>
          </p:cNvPicPr>
          <p:nvPr/>
        </p:nvPicPr>
        <p:blipFill>
          <a:blip r:embed="rId1"/>
          <a:srcRect l="0" r="0" t="0" b="0"/>
          <a:stretch/>
        </p:blipFill>
        <p:spPr>
          <a:xfrm>
            <a:off x="3175000" y="2725241"/>
            <a:ext cx="304800" cy="177800"/>
          </a:xfrm>
          <a:prstGeom prst="rect">
            <a:avLst/>
          </a:prstGeom>
        </p:spPr>
      </p:pic>
      <p:sp>
        <p:nvSpPr>
          <p:cNvPr id="9" name="Shape 6"/>
          <p:cNvSpPr/>
          <p:nvPr/>
        </p:nvSpPr>
        <p:spPr>
          <a:xfrm>
            <a:off x="3587750" y="1802011"/>
            <a:ext cx="2247900" cy="2024261"/>
          </a:xfrm>
          <a:prstGeom prst="roundRect">
            <a:avLst>
              <a:gd name="adj" fmla="val 5960"/>
            </a:avLst>
          </a:prstGeom>
          <a:solidFill>
            <a:srgbClr val="1A1A1F"/>
          </a:solidFill>
          <a:ln w="12700">
            <a:solidFill>
              <a:srgbClr val="2C2C33"/>
            </a:solidFill>
            <a:prstDash val="solid"/>
          </a:ln>
        </p:spPr>
      </p:sp>
      <p:sp>
        <p:nvSpPr>
          <p:cNvPr id="10" name="Text 7"/>
          <p:cNvSpPr/>
          <p:nvPr/>
        </p:nvSpPr>
        <p:spPr>
          <a:xfrm>
            <a:off x="3771900" y="1986161"/>
            <a:ext cx="193598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4002B"/>
                </a:solidFill>
                <a:latin typeface="Courier New" pitchFamily="34" charset="0"/>
                <a:ea typeface="Courier New" pitchFamily="34" charset="-122"/>
                <a:cs typeface="Courier New" pitchFamily="34" charset="-120"/>
              </a:rPr>
              <a:t>2</a:t>
            </a:r>
            <a:endParaRPr lang="en-US" sz="2200" dirty="0"/>
          </a:p>
        </p:txBody>
      </p:sp>
      <p:sp>
        <p:nvSpPr>
          <p:cNvPr id="11" name="Text 8"/>
          <p:cNvSpPr/>
          <p:nvPr/>
        </p:nvSpPr>
        <p:spPr>
          <a:xfrm>
            <a:off x="3771900" y="2453481"/>
            <a:ext cx="19359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Pesos</a:t>
            </a:r>
            <a:endParaRPr lang="en-US" sz="1500" dirty="0"/>
          </a:p>
        </p:txBody>
      </p:sp>
      <p:sp>
        <p:nvSpPr>
          <p:cNvPr id="12" name="Text 9"/>
          <p:cNvSpPr/>
          <p:nvPr/>
        </p:nvSpPr>
        <p:spPr>
          <a:xfrm>
            <a:off x="3771900" y="2758281"/>
            <a:ext cx="1935988"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Cuánto importa cada dato. Peso grande = dato muy importante.</a:t>
            </a:r>
            <a:endParaRPr lang="en-US" sz="1200" dirty="0"/>
          </a:p>
        </p:txBody>
      </p:sp>
      <p:pic>
        <p:nvPicPr>
          <p:cNvPr id="13" name="Image 1" descr="arrow-right">    </p:cNvPr>
          <p:cNvPicPr>
            <a:picLocks noChangeAspect="1"/>
          </p:cNvPicPr>
          <p:nvPr/>
        </p:nvPicPr>
        <p:blipFill>
          <a:blip r:embed="rId2"/>
          <a:srcRect l="0" r="0" t="0" b="0"/>
          <a:stretch/>
        </p:blipFill>
        <p:spPr>
          <a:xfrm>
            <a:off x="5943600" y="2725241"/>
            <a:ext cx="304800" cy="177800"/>
          </a:xfrm>
          <a:prstGeom prst="rect">
            <a:avLst/>
          </a:prstGeom>
        </p:spPr>
      </p:pic>
      <p:sp>
        <p:nvSpPr>
          <p:cNvPr id="14" name="Shape 10"/>
          <p:cNvSpPr/>
          <p:nvPr/>
        </p:nvSpPr>
        <p:spPr>
          <a:xfrm>
            <a:off x="6356350" y="1802011"/>
            <a:ext cx="2247900" cy="2024261"/>
          </a:xfrm>
          <a:prstGeom prst="roundRect">
            <a:avLst>
              <a:gd name="adj" fmla="val 5960"/>
            </a:avLst>
          </a:prstGeom>
          <a:solidFill>
            <a:srgbClr val="1A1A1F"/>
          </a:solidFill>
          <a:ln w="12700">
            <a:solidFill>
              <a:srgbClr val="2C2C33"/>
            </a:solidFill>
            <a:prstDash val="solid"/>
          </a:ln>
        </p:spPr>
      </p:sp>
      <p:sp>
        <p:nvSpPr>
          <p:cNvPr id="15" name="Text 11"/>
          <p:cNvSpPr/>
          <p:nvPr/>
        </p:nvSpPr>
        <p:spPr>
          <a:xfrm>
            <a:off x="6540500" y="1986161"/>
            <a:ext cx="193598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4002B"/>
                </a:solidFill>
                <a:latin typeface="Courier New" pitchFamily="34" charset="0"/>
                <a:ea typeface="Courier New" pitchFamily="34" charset="-122"/>
                <a:cs typeface="Courier New" pitchFamily="34" charset="-120"/>
              </a:rPr>
              <a:t>3</a:t>
            </a:r>
            <a:endParaRPr lang="en-US" sz="2200" dirty="0"/>
          </a:p>
        </p:txBody>
      </p:sp>
      <p:sp>
        <p:nvSpPr>
          <p:cNvPr id="16" name="Text 12"/>
          <p:cNvSpPr/>
          <p:nvPr/>
        </p:nvSpPr>
        <p:spPr>
          <a:xfrm>
            <a:off x="6540500" y="2453481"/>
            <a:ext cx="19359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Suma + sesgo</a:t>
            </a:r>
            <a:endParaRPr lang="en-US" sz="1500" dirty="0"/>
          </a:p>
        </p:txBody>
      </p:sp>
      <p:sp>
        <p:nvSpPr>
          <p:cNvPr id="17" name="Text 13"/>
          <p:cNvSpPr/>
          <p:nvPr/>
        </p:nvSpPr>
        <p:spPr>
          <a:xfrm>
            <a:off x="6540500" y="2758281"/>
            <a:ext cx="1935988"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Multiplica cada dato por su peso, suma todo y agrega el sesgo: sus «ganas de base».</a:t>
            </a:r>
            <a:endParaRPr lang="en-US" sz="1200" dirty="0"/>
          </a:p>
        </p:txBody>
      </p:sp>
      <p:pic>
        <p:nvPicPr>
          <p:cNvPr id="18" name="Image 2" descr="arrow-right">    </p:cNvPr>
          <p:cNvPicPr>
            <a:picLocks noChangeAspect="1"/>
          </p:cNvPicPr>
          <p:nvPr/>
        </p:nvPicPr>
        <p:blipFill>
          <a:blip r:embed="rId3"/>
          <a:srcRect l="0" r="0" t="0" b="0"/>
          <a:stretch/>
        </p:blipFill>
        <p:spPr>
          <a:xfrm>
            <a:off x="8712200" y="2725241"/>
            <a:ext cx="304800" cy="177800"/>
          </a:xfrm>
          <a:prstGeom prst="rect">
            <a:avLst/>
          </a:prstGeom>
        </p:spPr>
      </p:pic>
      <p:sp>
        <p:nvSpPr>
          <p:cNvPr id="19" name="Shape 14"/>
          <p:cNvSpPr/>
          <p:nvPr/>
        </p:nvSpPr>
        <p:spPr>
          <a:xfrm>
            <a:off x="9124950" y="1802011"/>
            <a:ext cx="2247900" cy="2024261"/>
          </a:xfrm>
          <a:prstGeom prst="roundRect">
            <a:avLst>
              <a:gd name="adj" fmla="val 5960"/>
            </a:avLst>
          </a:prstGeom>
          <a:solidFill>
            <a:srgbClr val="1A1A1F"/>
          </a:solidFill>
          <a:ln w="12700">
            <a:solidFill>
              <a:srgbClr val="2C2C33"/>
            </a:solidFill>
            <a:prstDash val="solid"/>
          </a:ln>
        </p:spPr>
      </p:sp>
      <p:sp>
        <p:nvSpPr>
          <p:cNvPr id="20" name="Text 15"/>
          <p:cNvSpPr/>
          <p:nvPr/>
        </p:nvSpPr>
        <p:spPr>
          <a:xfrm>
            <a:off x="9309100" y="1986161"/>
            <a:ext cx="193598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4002B"/>
                </a:solidFill>
                <a:latin typeface="Courier New" pitchFamily="34" charset="0"/>
                <a:ea typeface="Courier New" pitchFamily="34" charset="-122"/>
                <a:cs typeface="Courier New" pitchFamily="34" charset="-120"/>
              </a:rPr>
              <a:t>4</a:t>
            </a:r>
            <a:endParaRPr lang="en-US" sz="2200" dirty="0"/>
          </a:p>
        </p:txBody>
      </p:sp>
      <p:sp>
        <p:nvSpPr>
          <p:cNvPr id="21" name="Text 16"/>
          <p:cNvSpPr/>
          <p:nvPr/>
        </p:nvSpPr>
        <p:spPr>
          <a:xfrm>
            <a:off x="9309100" y="2453481"/>
            <a:ext cx="19359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Activación</a:t>
            </a:r>
            <a:endParaRPr lang="en-US" sz="1500" dirty="0"/>
          </a:p>
        </p:txBody>
      </p:sp>
      <p:sp>
        <p:nvSpPr>
          <p:cNvPr id="22" name="Text 17"/>
          <p:cNvSpPr/>
          <p:nvPr/>
        </p:nvSpPr>
        <p:spPr>
          <a:xfrm>
            <a:off x="9309100" y="2758281"/>
            <a:ext cx="1935988"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Decide qué sale. Por ejemplo: si el total es positivo, dice «sí».</a:t>
            </a:r>
            <a:endParaRPr lang="en-US" sz="1200" dirty="0"/>
          </a:p>
        </p:txBody>
      </p:sp>
      <p:sp>
        <p:nvSpPr>
          <p:cNvPr id="23" name="Shape 18"/>
          <p:cNvSpPr/>
          <p:nvPr/>
        </p:nvSpPr>
        <p:spPr>
          <a:xfrm>
            <a:off x="819150" y="4042172"/>
            <a:ext cx="10553700" cy="652760"/>
          </a:xfrm>
          <a:prstGeom prst="roundRect">
            <a:avLst>
              <a:gd name="adj" fmla="val 14592"/>
            </a:avLst>
          </a:prstGeom>
          <a:solidFill>
            <a:srgbClr val="0F0F12"/>
          </a:solidFill>
          <a:ln w="12700">
            <a:solidFill>
              <a:srgbClr val="2C2C33"/>
            </a:solidFill>
            <a:prstDash val="solid"/>
          </a:ln>
        </p:spPr>
      </p:sp>
      <p:sp>
        <p:nvSpPr>
          <p:cNvPr id="24" name="Text 19"/>
          <p:cNvSpPr/>
          <p:nvPr/>
        </p:nvSpPr>
        <p:spPr>
          <a:xfrm>
            <a:off x="1079500" y="4226322"/>
            <a:ext cx="10333990"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4E4E7"/>
                </a:solidFill>
                <a:latin typeface="Courier New" pitchFamily="34" charset="0"/>
                <a:ea typeface="Courier New" pitchFamily="34" charset="-122"/>
                <a:cs typeface="Courier New" pitchFamily="34" charset="-120"/>
              </a:rPr>
              <a:t>salida = activación( dato1 × peso1 + dato2 × peso2 + dato3 × peso3 + sesgo )</a:t>
            </a:r>
            <a:endParaRPr lang="en-US" sz="1400" dirty="0"/>
          </a:p>
        </p:txBody>
      </p:sp>
      <p:sp>
        <p:nvSpPr>
          <p:cNvPr id="25"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1717A"/>
                </a:solidFill>
                <a:latin typeface="Courier New" pitchFamily="34" charset="0"/>
                <a:ea typeface="Courier New" pitchFamily="34" charset="-122"/>
                <a:cs typeface="Courier New"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4002B"/>
                </a:solidFill>
                <a:latin typeface="Courier New" pitchFamily="34" charset="0"/>
                <a:ea typeface="Courier New" pitchFamily="34" charset="-122"/>
                <a:cs typeface="Courier New" pitchFamily="34" charset="-120"/>
              </a:rPr>
              <a:t>HAGAMOS LA CUENTA</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4F4F5"/>
                </a:solidFill>
                <a:latin typeface="Arial" pitchFamily="34" charset="0"/>
                <a:ea typeface="Arial" pitchFamily="34" charset="-122"/>
                <a:cs typeface="Arial" pitchFamily="34" charset="-120"/>
              </a:rPr>
              <a:t>Una neurona decide: ¿voy a la playa?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08361"/>
          <a:ext cx="5885160" cy="2813447"/>
        </p:xfrm>
        <a:graphic>
          <a:graphicData uri="http://schemas.openxmlformats.org/drawingml/2006/table">
            <a:tbl>
              <a:tblPr/>
              <a:tblGrid>
                <a:gridCol w="2354064"/>
                <a:gridCol w="1177032"/>
                <a:gridCol w="1177032"/>
                <a:gridCol w="1177032"/>
              </a:tblGrid>
              <a:tr h="634802">
                <a:tc>
                  <a:txBody>
                    <a:bodyPr/>
                    <a:lstStyle/>
                    <a:p>
                      <a:pPr indent="0" marL="0">
                        <a:lnSpc>
                          <a:spcPts val="1960"/>
                        </a:lnSpc>
                        <a:buNone/>
                      </a:pPr>
                      <a:r>
                        <a:rPr lang="en-US" sz="1400" b="1" dirty="0">
                          <a:solidFill>
                            <a:srgbClr val="E4E4E7"/>
                          </a:solidFill>
                          <a:latin typeface="Arial" pitchFamily="34" charset="0"/>
                          <a:ea typeface="Arial" pitchFamily="34" charset="-122"/>
                          <a:cs typeface="Arial" pitchFamily="34" charset="-120"/>
                        </a:rPr>
                        <a:t>Dato</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algn="ctr" indent="0" marL="0">
                        <a:lnSpc>
                          <a:spcPts val="1960"/>
                        </a:lnSpc>
                        <a:buNone/>
                      </a:pPr>
                      <a:r>
                        <a:rPr lang="en-US" sz="1400" b="1" dirty="0">
                          <a:solidFill>
                            <a:srgbClr val="E4E4E7"/>
                          </a:solidFill>
                          <a:latin typeface="Arial" pitchFamily="34" charset="0"/>
                          <a:ea typeface="Arial" pitchFamily="34" charset="-122"/>
                          <a:cs typeface="Arial" pitchFamily="34" charset="-120"/>
                        </a:rPr>
                        <a:t>Valor</a:t>
                      </a:r>
                      <a:endParaRPr lang="en-US" sz="1400" dirty="0">
                        <a:latin typeface="Arial" charset="0"/>
                        <a:ea typeface="Arial" charset="0"/>
                        <a:cs typeface="Arial" charset="0"/>
                      </a:endParaRPr>
                    </a:p>
                  </a:txBody>
                  <a:tcPr marL="62230" marR="62230" marT="62230" marB="62230" anchor="t">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algn="ctr" indent="0" marL="0">
                        <a:lnSpc>
                          <a:spcPts val="1960"/>
                        </a:lnSpc>
                        <a:buNone/>
                      </a:pPr>
                      <a:r>
                        <a:rPr lang="en-US" sz="1400" b="1" dirty="0">
                          <a:solidFill>
                            <a:srgbClr val="E4E4E7"/>
                          </a:solidFill>
                          <a:latin typeface="Arial" pitchFamily="34" charset="0"/>
                          <a:ea typeface="Arial" pitchFamily="34" charset="-122"/>
                          <a:cs typeface="Arial" pitchFamily="34" charset="-120"/>
                        </a:rPr>
                        <a:t>Peso</a:t>
                      </a:r>
                      <a:endParaRPr lang="en-US" sz="1400" dirty="0">
                        <a:latin typeface="Arial" charset="0"/>
                        <a:ea typeface="Arial" charset="0"/>
                        <a:cs typeface="Arial" charset="0"/>
                      </a:endParaRPr>
                    </a:p>
                  </a:txBody>
                  <a:tcPr marL="62230" marR="62230" marT="62230" marB="62230" anchor="t">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algn="ctr" indent="0" marL="0">
                        <a:lnSpc>
                          <a:spcPts val="1960"/>
                        </a:lnSpc>
                        <a:buNone/>
                      </a:pPr>
                      <a:r>
                        <a:rPr lang="en-US" sz="1400" b="1" dirty="0">
                          <a:solidFill>
                            <a:srgbClr val="E4E4E7"/>
                          </a:solidFill>
                          <a:latin typeface="Arial" pitchFamily="34" charset="0"/>
                          <a:ea typeface="Arial" pitchFamily="34" charset="-122"/>
                          <a:cs typeface="Arial" pitchFamily="34" charset="-120"/>
                        </a:rPr>
                        <a:t>Valor × peso</a:t>
                      </a:r>
                      <a:endParaRPr lang="en-US" sz="1400" dirty="0">
                        <a:latin typeface="Arial" charset="0"/>
                        <a:ea typeface="Arial" charset="0"/>
                        <a:cs typeface="Arial" charset="0"/>
                      </a:endParaRPr>
                    </a:p>
                  </a:txBody>
                  <a:tcPr marL="62230" marR="62230" marT="62230" marB="62230" anchor="t">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r>
              <a:tr h="385961">
                <a:tc>
                  <a:txBody>
                    <a:bodyPr/>
                    <a:lstStyle/>
                    <a:p>
                      <a:pPr indent="0" marL="0">
                        <a:lnSpc>
                          <a:spcPts val="1960"/>
                        </a:lnSpc>
                        <a:buNone/>
                      </a:pPr>
                      <a:r>
                        <a:rPr lang="en-US" sz="1400" dirty="0">
                          <a:solidFill>
                            <a:srgbClr val="E4E4E7"/>
                          </a:solidFill>
                          <a:latin typeface="Arial" pitchFamily="34" charset="0"/>
                          <a:ea typeface="Arial" pitchFamily="34" charset="-122"/>
                          <a:cs typeface="Arial" pitchFamily="34" charset="-120"/>
                        </a:rPr>
                        <a:t>¿Hace sol?</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algn="ctr" indent="0" marL="0">
                        <a:lnSpc>
                          <a:spcPts val="1960"/>
                        </a:lnSpc>
                        <a:buNone/>
                      </a:pPr>
                      <a:r>
                        <a:rPr lang="en-US" sz="1400" dirty="0">
                          <a:solidFill>
                            <a:srgbClr val="E4E4E7"/>
                          </a:solidFill>
                          <a:latin typeface="Arial" pitchFamily="34" charset="0"/>
                          <a:ea typeface="Arial" pitchFamily="34" charset="-122"/>
                          <a:cs typeface="Arial" pitchFamily="34" charset="-120"/>
                        </a:rPr>
                        <a:t>1 (sí)</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algn="ctr" indent="0" marL="0">
                        <a:lnSpc>
                          <a:spcPts val="1960"/>
                        </a:lnSpc>
                        <a:buNone/>
                      </a:pPr>
                      <a:r>
                        <a:rPr lang="en-US" sz="1400" dirty="0">
                          <a:solidFill>
                            <a:srgbClr val="E4E4E7"/>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algn="ctr" indent="0" marL="0">
                        <a:lnSpc>
                          <a:spcPts val="1960"/>
                        </a:lnSpc>
                        <a:buNone/>
                      </a:pPr>
                      <a:r>
                        <a:rPr lang="en-US" sz="1400" dirty="0">
                          <a:solidFill>
                            <a:srgbClr val="E4E4E7"/>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r>
              <a:tr h="385961">
                <a:tc>
                  <a:txBody>
                    <a:bodyPr/>
                    <a:lstStyle/>
                    <a:p>
                      <a:pPr indent="0" marL="0">
                        <a:lnSpc>
                          <a:spcPts val="1960"/>
                        </a:lnSpc>
                        <a:buNone/>
                      </a:pPr>
                      <a:r>
                        <a:rPr lang="en-US" sz="1400" dirty="0">
                          <a:solidFill>
                            <a:srgbClr val="E4E4E7"/>
                          </a:solidFill>
                          <a:latin typeface="Arial" pitchFamily="34" charset="0"/>
                          <a:ea typeface="Arial" pitchFamily="34" charset="-122"/>
                          <a:cs typeface="Arial" pitchFamily="34" charset="-120"/>
                        </a:rPr>
                        <a:t>¿Es fin de semana?</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algn="ctr" indent="0" marL="0">
                        <a:lnSpc>
                          <a:spcPts val="1960"/>
                        </a:lnSpc>
                        <a:buNone/>
                      </a:pPr>
                      <a:r>
                        <a:rPr lang="en-US" sz="1400" dirty="0">
                          <a:solidFill>
                            <a:srgbClr val="E4E4E7"/>
                          </a:solidFill>
                          <a:latin typeface="Arial" pitchFamily="34" charset="0"/>
                          <a:ea typeface="Arial" pitchFamily="34" charset="-122"/>
                          <a:cs typeface="Arial" pitchFamily="34" charset="-120"/>
                        </a:rPr>
                        <a:t>1 (sí)</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algn="ctr" indent="0" marL="0">
                        <a:lnSpc>
                          <a:spcPts val="1960"/>
                        </a:lnSpc>
                        <a:buNone/>
                      </a:pPr>
                      <a:r>
                        <a:rPr lang="en-US" sz="1400" dirty="0">
                          <a:solidFill>
                            <a:srgbClr val="E4E4E7"/>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algn="ctr" indent="0" marL="0">
                        <a:lnSpc>
                          <a:spcPts val="1960"/>
                        </a:lnSpc>
                        <a:buNone/>
                      </a:pPr>
                      <a:r>
                        <a:rPr lang="en-US" sz="1400" dirty="0">
                          <a:solidFill>
                            <a:srgbClr val="E4E4E7"/>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r>
              <a:tr h="385961">
                <a:tc>
                  <a:txBody>
                    <a:bodyPr/>
                    <a:lstStyle/>
                    <a:p>
                      <a:pPr indent="0" marL="0">
                        <a:lnSpc>
                          <a:spcPts val="1960"/>
                        </a:lnSpc>
                        <a:buNone/>
                      </a:pPr>
                      <a:r>
                        <a:rPr lang="en-US" sz="1400" dirty="0">
                          <a:solidFill>
                            <a:srgbClr val="E4E4E7"/>
                          </a:solidFill>
                          <a:latin typeface="Arial" pitchFamily="34" charset="0"/>
                          <a:ea typeface="Arial" pitchFamily="34" charset="-122"/>
                          <a:cs typeface="Arial" pitchFamily="34" charset="-120"/>
                        </a:rPr>
                        <a:t>¿Tengo tarea?</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algn="ctr" indent="0" marL="0">
                        <a:lnSpc>
                          <a:spcPts val="1960"/>
                        </a:lnSpc>
                        <a:buNone/>
                      </a:pPr>
                      <a:r>
                        <a:rPr lang="en-US" sz="1400" dirty="0">
                          <a:solidFill>
                            <a:srgbClr val="E4E4E7"/>
                          </a:solidFill>
                          <a:latin typeface="Arial" pitchFamily="34" charset="0"/>
                          <a:ea typeface="Arial" pitchFamily="34" charset="-122"/>
                          <a:cs typeface="Arial" pitchFamily="34" charset="-120"/>
                        </a:rPr>
                        <a:t>0 (no)</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algn="ctr" indent="0" marL="0">
                        <a:lnSpc>
                          <a:spcPts val="1960"/>
                        </a:lnSpc>
                        <a:buNone/>
                      </a:pPr>
                      <a:r>
                        <a:rPr lang="en-US" sz="1400" dirty="0">
                          <a:solidFill>
                            <a:srgbClr val="E4E4E7"/>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algn="ctr" indent="0" marL="0">
                        <a:lnSpc>
                          <a:spcPts val="1960"/>
                        </a:lnSpc>
                        <a:buNone/>
                      </a:pPr>
                      <a:r>
                        <a:rPr lang="en-US" sz="1400" dirty="0">
                          <a:solidFill>
                            <a:srgbClr val="E4E4E7"/>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r>
              <a:tr h="385961">
                <a:tc>
                  <a:txBody>
                    <a:bodyPr/>
                    <a:lstStyle/>
                    <a:p>
                      <a:pPr indent="0" marL="0">
                        <a:lnSpc>
                          <a:spcPts val="1960"/>
                        </a:lnSpc>
                        <a:buNone/>
                      </a:pPr>
                      <a:r>
                        <a:rPr lang="en-US" sz="1400" dirty="0">
                          <a:solidFill>
                            <a:srgbClr val="E4E4E7"/>
                          </a:solidFill>
                          <a:latin typeface="Arial" pitchFamily="34" charset="0"/>
                          <a:ea typeface="Arial" pitchFamily="34" charset="-122"/>
                          <a:cs typeface="Arial" pitchFamily="34" charset="-120"/>
                        </a:rPr>
                        <a:t>Sesgo</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algn="ctr" indent="0" marL="0">
                        <a:lnSpc>
                          <a:spcPts val="1960"/>
                        </a:lnSpc>
                        <a:buNone/>
                      </a:pPr>
                      <a:r>
                        <a:rPr lang="en-US" sz="1400" dirty="0">
                          <a:solidFill>
                            <a:srgbClr val="E4E4E7"/>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algn="ctr" indent="0" marL="0">
                        <a:lnSpc>
                          <a:spcPts val="1960"/>
                        </a:lnSpc>
                        <a:buNone/>
                      </a:pPr>
                      <a:r>
                        <a:rPr lang="en-US" sz="1400" dirty="0">
                          <a:solidFill>
                            <a:srgbClr val="E4E4E7"/>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algn="ctr" indent="0" marL="0">
                        <a:lnSpc>
                          <a:spcPts val="1960"/>
                        </a:lnSpc>
                        <a:buNone/>
                      </a:pPr>
                      <a:r>
                        <a:rPr lang="en-US" sz="1400" dirty="0">
                          <a:solidFill>
                            <a:srgbClr val="E4E4E7"/>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r>
              <a:tr h="634802">
                <a:tc>
                  <a:txBody>
                    <a:bodyPr/>
                    <a:lstStyle/>
                    <a:p>
                      <a:pPr indent="0" marL="0">
                        <a:lnSpc>
                          <a:spcPts val="1960"/>
                        </a:lnSpc>
                        <a:buNone/>
                      </a:pPr>
                      <a:r>
                        <a:rPr lang="en-US" sz="1400" dirty="0">
                          <a:solidFill>
                            <a:srgbClr val="F4F4F5"/>
                          </a:solidFill>
                          <a:latin typeface="Arial" pitchFamily="34" charset="0"/>
                          <a:ea typeface="Arial" pitchFamily="34" charset="-122"/>
                          <a:cs typeface="Arial" pitchFamily="34" charset="-120"/>
                        </a:rPr>
                        <a:t>Total</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F3F42"/>
                      </a:solidFill>
                      <a:prstDash val="solid"/>
                      <a:round/>
                      <a:headEnd type="none" w="med" len="med"/>
                      <a:tailEnd type="none" w="med" len="med"/>
                    </a:lnB>
                    <a:solidFill>
                      <a:srgbClr val="1F0A0F"/>
                    </a:solidFill>
                  </a:tcPr>
                </a:tc>
                <a:tc>
                  <a:txBody>
                    <a:bodyPr/>
                    <a:lstStyle/>
                    <a:p>
                      <a:pPr algn="ctr" indent="0" marL="0">
                        <a:lnSpc>
                          <a:spcPts val="1960"/>
                        </a:lnSpc>
                        <a:buNone/>
                      </a:pPr>
                      <a:endParaRPr lang="en-US" sz="1400" dirty="0">
                        <a:latin typeface="Arial" charset="0"/>
                        <a:ea typeface="Arial" charset="0"/>
                        <a:cs typeface="Arial" charset="0"/>
                      </a:endParaRPr>
                    </a:p>
                  </a:txBody>
                  <a:tcPr marL="62230" marR="62230" marT="62230" marB="62230" anchor="t">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F3F42"/>
                      </a:solidFill>
                      <a:prstDash val="solid"/>
                      <a:round/>
                      <a:headEnd type="none" w="med" len="med"/>
                      <a:tailEnd type="none" w="med" len="med"/>
                    </a:lnB>
                    <a:solidFill>
                      <a:srgbClr val="1F0A0F"/>
                    </a:solidFill>
                  </a:tcPr>
                </a:tc>
                <a:tc>
                  <a:txBody>
                    <a:bodyPr/>
                    <a:lstStyle/>
                    <a:p>
                      <a:pPr algn="ctr" indent="0" marL="0">
                        <a:lnSpc>
                          <a:spcPts val="1960"/>
                        </a:lnSpc>
                        <a:buNone/>
                      </a:pPr>
                      <a:endParaRPr lang="en-US" sz="1400" dirty="0">
                        <a:latin typeface="Arial" charset="0"/>
                        <a:ea typeface="Arial" charset="0"/>
                        <a:cs typeface="Arial" charset="0"/>
                      </a:endParaRPr>
                    </a:p>
                  </a:txBody>
                  <a:tcPr marL="62230" marR="62230" marT="62230" marB="62230" anchor="t">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F3F42"/>
                      </a:solidFill>
                      <a:prstDash val="solid"/>
                      <a:round/>
                      <a:headEnd type="none" w="med" len="med"/>
                      <a:tailEnd type="none" w="med" len="med"/>
                    </a:lnB>
                    <a:solidFill>
                      <a:srgbClr val="1F0A0F"/>
                    </a:solidFill>
                  </a:tcPr>
                </a:tc>
                <a:tc>
                  <a:txBody>
                    <a:bodyPr/>
                    <a:lstStyle/>
                    <a:p>
                      <a:pPr algn="ctr" indent="0" marL="0">
                        <a:lnSpc>
                          <a:spcPts val="1960"/>
                        </a:lnSpc>
                        <a:buNone/>
                      </a:pPr>
                      <a:r>
                        <a:rPr lang="en-US" sz="1400" dirty="0">
                          <a:solidFill>
                            <a:srgbClr val="FF5C77"/>
                          </a:solidFill>
                          <a:latin typeface="Arial" pitchFamily="34" charset="0"/>
                          <a:ea typeface="Arial" pitchFamily="34" charset="-122"/>
                          <a:cs typeface="Arial" pitchFamily="34" charset="-120"/>
                        </a:rPr>
                        <a:t>+4 → ¡sí, a la playa!</a:t>
                      </a:r>
                      <a:endParaRPr lang="en-US" sz="1400" dirty="0">
                        <a:latin typeface="Arial" charset="0"/>
                        <a:ea typeface="Arial" charset="0"/>
                        <a:cs typeface="Arial" charset="0"/>
                      </a:endParaRPr>
                    </a:p>
                  </a:txBody>
                  <a:tcPr marL="62230" marR="62230" marT="62230" marB="62230" anchor="t">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F3F42"/>
                      </a:solidFill>
                      <a:prstDash val="solid"/>
                      <a:round/>
                      <a:headEnd type="none" w="med" len="med"/>
                      <a:tailEnd type="none" w="med" len="med"/>
                    </a:lnB>
                    <a:solidFill>
                      <a:srgbClr val="1F0A0F"/>
                    </a:solidFill>
                  </a:tcPr>
                </a:tc>
              </a:tr>
            </a:tbl>
          </a:graphicData>
        </a:graphic>
      </p:graphicFrame>
      <p:sp>
        <p:nvSpPr>
          <p:cNvPr id="5" name="Shape 2"/>
          <p:cNvSpPr/>
          <p:nvPr/>
        </p:nvSpPr>
        <p:spPr>
          <a:xfrm>
            <a:off x="6971010" y="1802011"/>
            <a:ext cx="4401840" cy="2813447"/>
          </a:xfrm>
          <a:prstGeom prst="roundRect">
            <a:avLst>
              <a:gd name="adj" fmla="val 4288"/>
            </a:avLst>
          </a:prstGeom>
          <a:solidFill>
            <a:srgbClr val="1A1A1F"/>
          </a:solidFill>
          <a:ln w="12700">
            <a:solidFill>
              <a:srgbClr val="2C2C33"/>
            </a:solidFill>
            <a:prstDash val="solid"/>
          </a:ln>
        </p:spPr>
      </p:sp>
      <p:sp>
        <p:nvSpPr>
          <p:cNvPr id="6" name="Text 3"/>
          <p:cNvSpPr/>
          <p:nvPr/>
        </p:nvSpPr>
        <p:spPr>
          <a:xfrm>
            <a:off x="7205960" y="2036961"/>
            <a:ext cx="404989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4F5"/>
                </a:solidFill>
                <a:latin typeface="Arial" pitchFamily="34" charset="0"/>
                <a:ea typeface="Arial" pitchFamily="34" charset="-122"/>
                <a:cs typeface="Arial" pitchFamily="34" charset="-120"/>
              </a:rPr>
              <a:t>¿Y si tengo tarea?</a:t>
            </a:r>
            <a:endParaRPr lang="en-US" sz="1600" dirty="0"/>
          </a:p>
        </p:txBody>
      </p:sp>
      <p:sp>
        <p:nvSpPr>
          <p:cNvPr id="7" name="Text 4"/>
          <p:cNvSpPr/>
          <p:nvPr/>
        </p:nvSpPr>
        <p:spPr>
          <a:xfrm>
            <a:off x="7205960" y="2382341"/>
            <a:ext cx="4049898"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4E4E7"/>
                </a:solidFill>
                <a:latin typeface="Courier New" pitchFamily="34" charset="0"/>
                <a:ea typeface="Courier New" pitchFamily="34" charset="-122"/>
                <a:cs typeface="Courier New" pitchFamily="34" charset="-120"/>
              </a:rPr>
              <a:t>3 + 2 − 5 − 1 = </a:t>
            </a:r>
            <a:r>
              <a:rPr lang="en-US" sz="1500" dirty="0">
                <a:solidFill>
                  <a:srgbClr val="FF5C77"/>
                </a:solidFill>
                <a:latin typeface="Courier New" pitchFamily="34" charset="0"/>
                <a:ea typeface="Courier New" pitchFamily="34" charset="-122"/>
                <a:cs typeface="Courier New" pitchFamily="34" charset="-120"/>
              </a:rPr>
              <a:t>−1</a:t>
            </a:r>
            <a:endParaRPr lang="en-US" sz="1500" dirty="0"/>
          </a:p>
        </p:txBody>
      </p:sp>
      <p:sp>
        <p:nvSpPr>
          <p:cNvPr id="8" name="Text 5"/>
          <p:cNvSpPr/>
          <p:nvPr/>
        </p:nvSpPr>
        <p:spPr>
          <a:xfrm>
            <a:off x="7205960" y="2769691"/>
            <a:ext cx="4049898"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A1A1AA"/>
                </a:solidFill>
                <a:latin typeface="Arial" pitchFamily="34" charset="0"/>
                <a:ea typeface="Arial" pitchFamily="34" charset="-122"/>
                <a:cs typeface="Arial" pitchFamily="34" charset="-120"/>
              </a:rPr>
              <a:t>El total es negativo, así que la neurona dice: «me quedo en casa». La tarea pesa más que el sol y el fin de semana juntos.</a:t>
            </a:r>
            <a:endParaRPr lang="en-US" sz="1300" dirty="0"/>
          </a:p>
        </p:txBody>
      </p:sp>
      <p:sp>
        <p:nvSpPr>
          <p:cNvPr id="9" name="Shape 6"/>
          <p:cNvSpPr/>
          <p:nvPr/>
        </p:nvSpPr>
        <p:spPr>
          <a:xfrm>
            <a:off x="819150" y="4831358"/>
            <a:ext cx="10553700" cy="871736"/>
          </a:xfrm>
          <a:prstGeom prst="roundRect">
            <a:avLst>
              <a:gd name="adj" fmla="val 13840"/>
            </a:avLst>
          </a:prstGeom>
          <a:solidFill>
            <a:srgbClr val="1F0A0F"/>
          </a:solidFill>
          <a:ln w="12700">
            <a:solidFill>
              <a:srgbClr val="E4002B"/>
            </a:solidFill>
            <a:prstDash val="solid"/>
          </a:ln>
        </p:spPr>
      </p:sp>
      <p:sp>
        <p:nvSpPr>
          <p:cNvPr id="10" name="Text 7"/>
          <p:cNvSpPr/>
          <p:nvPr/>
        </p:nvSpPr>
        <p:spPr>
          <a:xfrm>
            <a:off x="1079500" y="5015508"/>
            <a:ext cx="103339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11" name="Text 8"/>
          <p:cNvSpPr/>
          <p:nvPr/>
        </p:nvSpPr>
        <p:spPr>
          <a:xfrm>
            <a:off x="1079500" y="5279628"/>
            <a:ext cx="10333990"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4F4F5"/>
                </a:solidFill>
                <a:latin typeface="Arial" pitchFamily="34" charset="0"/>
                <a:ea typeface="Arial" pitchFamily="34" charset="-122"/>
                <a:cs typeface="Arial" pitchFamily="34" charset="-120"/>
              </a:rPr>
              <a:t>Los pesos son la «personalidad» de la neurona. Entrenar una red significa buscar los pesos que dan las mejores decisiones.</a:t>
            </a:r>
            <a:endParaRPr lang="en-US" sz="1300" dirty="0"/>
          </a:p>
        </p:txBody>
      </p:sp>
      <p:sp>
        <p:nvSpPr>
          <p:cNvPr id="12"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1717A"/>
                </a:solidFill>
                <a:latin typeface="Courier New" pitchFamily="34" charset="0"/>
                <a:ea typeface="Courier New" pitchFamily="34" charset="-122"/>
                <a:cs typeface="Courier New"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4002B"/>
                </a:solidFill>
                <a:latin typeface="Courier New" pitchFamily="34" charset="0"/>
                <a:ea typeface="Courier New" pitchFamily="34" charset="-122"/>
                <a:cs typeface="Courier New" pitchFamily="34" charset="-120"/>
              </a:rPr>
              <a:t>DE UNA NEURONA A UNA RED</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4F4F5"/>
                </a:solidFill>
                <a:latin typeface="Arial" pitchFamily="34" charset="0"/>
                <a:ea typeface="Arial" pitchFamily="34" charset="-122"/>
                <a:cs typeface="Arial" pitchFamily="34" charset="-120"/>
              </a:rPr>
              <a:t>Muchas neuronas juntas forman capas</a:t>
            </a:r>
            <a:endParaRPr lang="en-US" sz="3200" dirty="0"/>
          </a:p>
        </p:txBody>
      </p:sp>
      <p:sp>
        <p:nvSpPr>
          <p:cNvPr id="4" name="Text 2"/>
          <p:cNvSpPr/>
          <p:nvPr/>
        </p:nvSpPr>
        <p:spPr>
          <a:xfrm>
            <a:off x="812800" y="1795661"/>
            <a:ext cx="981075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4D4D8"/>
                </a:solidFill>
                <a:latin typeface="Arial" pitchFamily="34" charset="0"/>
                <a:ea typeface="Arial" pitchFamily="34" charset="-122"/>
                <a:cs typeface="Arial" pitchFamily="34" charset="-120"/>
              </a:rPr>
              <a:t>Funciona como una fábrica: cada estación transforma el producto un poco y se lo pasa a la siguiente.</a:t>
            </a:r>
            <a:endParaRPr lang="en-US" sz="1400" dirty="0"/>
          </a:p>
        </p:txBody>
      </p:sp>
      <p:sp>
        <p:nvSpPr>
          <p:cNvPr id="5" name="Shape 3"/>
          <p:cNvSpPr/>
          <p:nvPr/>
        </p:nvSpPr>
        <p:spPr>
          <a:xfrm>
            <a:off x="819150" y="2262981"/>
            <a:ext cx="3102967" cy="1495921"/>
          </a:xfrm>
          <a:prstGeom prst="roundRect">
            <a:avLst>
              <a:gd name="adj" fmla="val 8065"/>
            </a:avLst>
          </a:prstGeom>
          <a:solidFill>
            <a:srgbClr val="1A1A1F"/>
          </a:solidFill>
          <a:ln w="12700">
            <a:solidFill>
              <a:srgbClr val="2C2C33"/>
            </a:solidFill>
            <a:prstDash val="solid"/>
          </a:ln>
        </p:spPr>
      </p:sp>
      <p:sp>
        <p:nvSpPr>
          <p:cNvPr id="6" name="Text 4"/>
          <p:cNvSpPr/>
          <p:nvPr/>
        </p:nvSpPr>
        <p:spPr>
          <a:xfrm>
            <a:off x="1028700" y="2472531"/>
            <a:ext cx="276438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4002B"/>
                </a:solidFill>
                <a:latin typeface="Courier New" pitchFamily="34" charset="0"/>
                <a:ea typeface="Courier New" pitchFamily="34" charset="-122"/>
                <a:cs typeface="Courier New" pitchFamily="34" charset="-120"/>
              </a:rPr>
              <a:t>ENTRADA</a:t>
            </a:r>
            <a:endParaRPr lang="en-US" sz="1200" dirty="0"/>
          </a:p>
        </p:txBody>
      </p:sp>
      <p:sp>
        <p:nvSpPr>
          <p:cNvPr id="7" name="Text 5"/>
          <p:cNvSpPr/>
          <p:nvPr/>
        </p:nvSpPr>
        <p:spPr>
          <a:xfrm>
            <a:off x="1028700" y="2774752"/>
            <a:ext cx="276438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4F5"/>
                </a:solidFill>
                <a:latin typeface="Arial" pitchFamily="34" charset="0"/>
                <a:ea typeface="Arial" pitchFamily="34" charset="-122"/>
                <a:cs typeface="Arial" pitchFamily="34" charset="-120"/>
              </a:rPr>
              <a:t>Recibe los datos</a:t>
            </a:r>
            <a:endParaRPr lang="en-US" sz="1600" dirty="0"/>
          </a:p>
        </p:txBody>
      </p:sp>
      <p:sp>
        <p:nvSpPr>
          <p:cNvPr id="8" name="Text 6"/>
          <p:cNvSpPr/>
          <p:nvPr/>
        </p:nvSpPr>
        <p:spPr>
          <a:xfrm>
            <a:off x="1028700" y="3107432"/>
            <a:ext cx="276438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Tal cual llegan. Ejemplo: los 784 píxeles de una foto de un número.</a:t>
            </a:r>
            <a:endParaRPr lang="en-US" sz="1200" dirty="0"/>
          </a:p>
        </p:txBody>
      </p:sp>
      <p:pic>
        <p:nvPicPr>
          <p:cNvPr id="9" name="Image 0" descr="arrow-right">    </p:cNvPr>
          <p:cNvPicPr>
            <a:picLocks noChangeAspect="1"/>
          </p:cNvPicPr>
          <p:nvPr/>
        </p:nvPicPr>
        <p:blipFill>
          <a:blip r:embed="rId1"/>
          <a:srcRect l="0" r="0" t="0" b="0"/>
          <a:stretch/>
        </p:blipFill>
        <p:spPr>
          <a:xfrm>
            <a:off x="4055467" y="2909292"/>
            <a:ext cx="355600" cy="203200"/>
          </a:xfrm>
          <a:prstGeom prst="rect">
            <a:avLst/>
          </a:prstGeom>
        </p:spPr>
      </p:pic>
      <p:sp>
        <p:nvSpPr>
          <p:cNvPr id="10" name="Shape 7"/>
          <p:cNvSpPr/>
          <p:nvPr/>
        </p:nvSpPr>
        <p:spPr>
          <a:xfrm>
            <a:off x="4544417" y="2262981"/>
            <a:ext cx="3103066" cy="1495921"/>
          </a:xfrm>
          <a:prstGeom prst="roundRect">
            <a:avLst>
              <a:gd name="adj" fmla="val 8065"/>
            </a:avLst>
          </a:prstGeom>
          <a:solidFill>
            <a:srgbClr val="1A1A1F"/>
          </a:solidFill>
          <a:ln w="12700">
            <a:solidFill>
              <a:srgbClr val="E4002B"/>
            </a:solidFill>
            <a:prstDash val="solid"/>
          </a:ln>
        </p:spPr>
      </p:sp>
      <p:sp>
        <p:nvSpPr>
          <p:cNvPr id="11" name="Text 8"/>
          <p:cNvSpPr/>
          <p:nvPr/>
        </p:nvSpPr>
        <p:spPr>
          <a:xfrm>
            <a:off x="4753967" y="2472531"/>
            <a:ext cx="276448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4002B"/>
                </a:solidFill>
                <a:latin typeface="Courier New" pitchFamily="34" charset="0"/>
                <a:ea typeface="Courier New" pitchFamily="34" charset="-122"/>
                <a:cs typeface="Courier New" pitchFamily="34" charset="-120"/>
              </a:rPr>
              <a:t>OCULTAS</a:t>
            </a:r>
            <a:endParaRPr lang="en-US" sz="1200" dirty="0"/>
          </a:p>
        </p:txBody>
      </p:sp>
      <p:sp>
        <p:nvSpPr>
          <p:cNvPr id="12" name="Text 9"/>
          <p:cNvSpPr/>
          <p:nvPr/>
        </p:nvSpPr>
        <p:spPr>
          <a:xfrm>
            <a:off x="4753967" y="2774752"/>
            <a:ext cx="276448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4F5"/>
                </a:solidFill>
                <a:latin typeface="Arial" pitchFamily="34" charset="0"/>
                <a:ea typeface="Arial" pitchFamily="34" charset="-122"/>
                <a:cs typeface="Arial" pitchFamily="34" charset="-120"/>
              </a:rPr>
              <a:t>Buscan patrones</a:t>
            </a:r>
            <a:endParaRPr lang="en-US" sz="1600" dirty="0"/>
          </a:p>
        </p:txBody>
      </p:sp>
      <p:sp>
        <p:nvSpPr>
          <p:cNvPr id="13" name="Text 10"/>
          <p:cNvSpPr/>
          <p:nvPr/>
        </p:nvSpPr>
        <p:spPr>
          <a:xfrm>
            <a:off x="4753967" y="3107432"/>
            <a:ext cx="2764485"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Primero detectan líneas, luego curvas y después formas completas.</a:t>
            </a:r>
            <a:endParaRPr lang="en-US" sz="1200" dirty="0"/>
          </a:p>
        </p:txBody>
      </p:sp>
      <p:pic>
        <p:nvPicPr>
          <p:cNvPr id="14" name="Image 1" descr="arrow-right">    </p:cNvPr>
          <p:cNvPicPr>
            <a:picLocks noChangeAspect="1"/>
          </p:cNvPicPr>
          <p:nvPr/>
        </p:nvPicPr>
        <p:blipFill>
          <a:blip r:embed="rId2"/>
          <a:srcRect l="0" r="0" t="0" b="0"/>
          <a:stretch/>
        </p:blipFill>
        <p:spPr>
          <a:xfrm>
            <a:off x="7780834" y="2909292"/>
            <a:ext cx="355600" cy="203200"/>
          </a:xfrm>
          <a:prstGeom prst="rect">
            <a:avLst/>
          </a:prstGeom>
        </p:spPr>
      </p:pic>
      <p:sp>
        <p:nvSpPr>
          <p:cNvPr id="15" name="Shape 11"/>
          <p:cNvSpPr/>
          <p:nvPr/>
        </p:nvSpPr>
        <p:spPr>
          <a:xfrm>
            <a:off x="8269784" y="2262981"/>
            <a:ext cx="3103066" cy="1495921"/>
          </a:xfrm>
          <a:prstGeom prst="roundRect">
            <a:avLst>
              <a:gd name="adj" fmla="val 8065"/>
            </a:avLst>
          </a:prstGeom>
          <a:solidFill>
            <a:srgbClr val="1A1A1F"/>
          </a:solidFill>
          <a:ln w="12700">
            <a:solidFill>
              <a:srgbClr val="2C2C33"/>
            </a:solidFill>
            <a:prstDash val="solid"/>
          </a:ln>
        </p:spPr>
      </p:sp>
      <p:sp>
        <p:nvSpPr>
          <p:cNvPr id="16" name="Text 12"/>
          <p:cNvSpPr/>
          <p:nvPr/>
        </p:nvSpPr>
        <p:spPr>
          <a:xfrm>
            <a:off x="8479334" y="2472531"/>
            <a:ext cx="276448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4002B"/>
                </a:solidFill>
                <a:latin typeface="Courier New" pitchFamily="34" charset="0"/>
                <a:ea typeface="Courier New" pitchFamily="34" charset="-122"/>
                <a:cs typeface="Courier New" pitchFamily="34" charset="-120"/>
              </a:rPr>
              <a:t>SALIDA</a:t>
            </a:r>
            <a:endParaRPr lang="en-US" sz="1200" dirty="0"/>
          </a:p>
        </p:txBody>
      </p:sp>
      <p:sp>
        <p:nvSpPr>
          <p:cNvPr id="17" name="Text 13"/>
          <p:cNvSpPr/>
          <p:nvPr/>
        </p:nvSpPr>
        <p:spPr>
          <a:xfrm>
            <a:off x="8479334" y="2774752"/>
            <a:ext cx="276448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4F5"/>
                </a:solidFill>
                <a:latin typeface="Arial" pitchFamily="34" charset="0"/>
                <a:ea typeface="Arial" pitchFamily="34" charset="-122"/>
                <a:cs typeface="Arial" pitchFamily="34" charset="-120"/>
              </a:rPr>
              <a:t>Da la respuesta</a:t>
            </a:r>
            <a:endParaRPr lang="en-US" sz="1600" dirty="0"/>
          </a:p>
        </p:txBody>
      </p:sp>
      <p:sp>
        <p:nvSpPr>
          <p:cNvPr id="18" name="Text 14"/>
          <p:cNvSpPr/>
          <p:nvPr/>
        </p:nvSpPr>
        <p:spPr>
          <a:xfrm>
            <a:off x="8479334" y="3107432"/>
            <a:ext cx="2764485"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Por ejemplo: «es un 7», junto con qué tan segura está.</a:t>
            </a:r>
            <a:endParaRPr lang="en-US" sz="1200" dirty="0"/>
          </a:p>
        </p:txBody>
      </p:sp>
      <p:sp>
        <p:nvSpPr>
          <p:cNvPr id="19" name="Shape 15"/>
          <p:cNvSpPr/>
          <p:nvPr/>
        </p:nvSpPr>
        <p:spPr>
          <a:xfrm>
            <a:off x="819150" y="3974802"/>
            <a:ext cx="10553700" cy="871736"/>
          </a:xfrm>
          <a:prstGeom prst="roundRect">
            <a:avLst>
              <a:gd name="adj" fmla="val 13840"/>
            </a:avLst>
          </a:prstGeom>
          <a:solidFill>
            <a:srgbClr val="1F0A0F"/>
          </a:solidFill>
          <a:ln w="12700">
            <a:solidFill>
              <a:srgbClr val="E4002B"/>
            </a:solidFill>
            <a:prstDash val="solid"/>
          </a:ln>
        </p:spPr>
      </p:sp>
      <p:sp>
        <p:nvSpPr>
          <p:cNvPr id="20" name="Text 16"/>
          <p:cNvSpPr/>
          <p:nvPr/>
        </p:nvSpPr>
        <p:spPr>
          <a:xfrm>
            <a:off x="1079500" y="4158952"/>
            <a:ext cx="103339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21" name="Text 17"/>
          <p:cNvSpPr/>
          <p:nvPr/>
        </p:nvSpPr>
        <p:spPr>
          <a:xfrm>
            <a:off x="1079500" y="4423073"/>
            <a:ext cx="10333990"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4F4F5"/>
                </a:solidFill>
                <a:latin typeface="Arial" pitchFamily="34" charset="0"/>
                <a:ea typeface="Arial" pitchFamily="34" charset="-122"/>
                <a:cs typeface="Arial" pitchFamily="34" charset="-120"/>
              </a:rPr>
              <a:t>«Deep learning» o aprendizaje profundo es una red con muchas capas ocultas. No hay nada más misterioso que eso.</a:t>
            </a:r>
            <a:endParaRPr lang="en-US" sz="1300" dirty="0"/>
          </a:p>
        </p:txBody>
      </p:sp>
      <p:sp>
        <p:nvSpPr>
          <p:cNvPr id="22"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1717A"/>
                </a:solidFill>
                <a:latin typeface="Courier New" pitchFamily="34" charset="0"/>
                <a:ea typeface="Courier New" pitchFamily="34" charset="-122"/>
                <a:cs typeface="Courier New"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4002B"/>
                </a:solidFill>
                <a:latin typeface="Courier New" pitchFamily="34" charset="0"/>
                <a:ea typeface="Courier New" pitchFamily="34" charset="-122"/>
                <a:cs typeface="Courier New" pitchFamily="34" charset="-120"/>
              </a:rPr>
              <a:t>FUNCIÓN DE ACTIVACIÓN</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4F4F5"/>
                </a:solidFill>
                <a:latin typeface="Arial" pitchFamily="34" charset="0"/>
                <a:ea typeface="Arial" pitchFamily="34" charset="-122"/>
                <a:cs typeface="Arial" pitchFamily="34" charset="-120"/>
              </a:rPr>
              <a:t>El interruptor que decide qué sale</a:t>
            </a:r>
            <a:endParaRPr lang="en-US" sz="3200" dirty="0"/>
          </a:p>
        </p:txBody>
      </p:sp>
      <p:sp>
        <p:nvSpPr>
          <p:cNvPr id="4" name="Shape 2"/>
          <p:cNvSpPr/>
          <p:nvPr/>
        </p:nvSpPr>
        <p:spPr>
          <a:xfrm>
            <a:off x="819150" y="1802011"/>
            <a:ext cx="3407767" cy="2080121"/>
          </a:xfrm>
          <a:prstGeom prst="roundRect">
            <a:avLst>
              <a:gd name="adj" fmla="val 5800"/>
            </a:avLst>
          </a:prstGeom>
          <a:solidFill>
            <a:srgbClr val="1A1A1F"/>
          </a:solidFill>
          <a:ln w="12700">
            <a:solidFill>
              <a:srgbClr val="2C2C33"/>
            </a:solidFill>
            <a:prstDash val="solid"/>
          </a:ln>
        </p:spPr>
      </p:sp>
      <p:sp>
        <p:nvSpPr>
          <p:cNvPr id="5" name="Text 3"/>
          <p:cNvSpPr/>
          <p:nvPr/>
        </p:nvSpPr>
        <p:spPr>
          <a:xfrm>
            <a:off x="1054100" y="2036961"/>
            <a:ext cx="3026003"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4002B"/>
                </a:solidFill>
                <a:latin typeface="Courier New" pitchFamily="34" charset="0"/>
                <a:ea typeface="Courier New" pitchFamily="34" charset="-122"/>
                <a:cs typeface="Courier New" pitchFamily="34" charset="-120"/>
              </a:rPr>
              <a:t>ReLU</a:t>
            </a:r>
            <a:endParaRPr lang="en-US" sz="1800" dirty="0"/>
          </a:p>
        </p:txBody>
      </p:sp>
      <p:sp>
        <p:nvSpPr>
          <p:cNvPr id="6" name="Text 4"/>
          <p:cNvSpPr/>
          <p:nvPr/>
        </p:nvSpPr>
        <p:spPr>
          <a:xfrm>
            <a:off x="1054100" y="2458541"/>
            <a:ext cx="30260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El portero de discoteca</a:t>
            </a:r>
            <a:endParaRPr lang="en-US" sz="1500" dirty="0"/>
          </a:p>
        </p:txBody>
      </p:sp>
      <p:sp>
        <p:nvSpPr>
          <p:cNvPr id="7" name="Text 5"/>
          <p:cNvSpPr/>
          <p:nvPr/>
        </p:nvSpPr>
        <p:spPr>
          <a:xfrm>
            <a:off x="1054100" y="2788741"/>
            <a:ext cx="302600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Si el número es negativo, no entra: sale 0. Si es positivo, pasa tal cual.</a:t>
            </a:r>
            <a:endParaRPr lang="en-US" sz="1200" dirty="0"/>
          </a:p>
        </p:txBody>
      </p:sp>
      <p:sp>
        <p:nvSpPr>
          <p:cNvPr id="8" name="Shape 6"/>
          <p:cNvSpPr/>
          <p:nvPr/>
        </p:nvSpPr>
        <p:spPr>
          <a:xfrm>
            <a:off x="1054100" y="3332262"/>
            <a:ext cx="2937867" cy="314920"/>
          </a:xfrm>
          <a:prstGeom prst="roundRect">
            <a:avLst>
              <a:gd name="adj" fmla="val 24197"/>
            </a:avLst>
          </a:prstGeom>
          <a:solidFill>
            <a:srgbClr val="26262C"/>
          </a:solidFill>
          <a:ln/>
        </p:spPr>
      </p:sp>
      <p:sp>
        <p:nvSpPr>
          <p:cNvPr id="9" name="Text 7"/>
          <p:cNvSpPr/>
          <p:nvPr/>
        </p:nvSpPr>
        <p:spPr>
          <a:xfrm>
            <a:off x="1155700" y="3383062"/>
            <a:ext cx="28167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4E7"/>
                </a:solidFill>
                <a:latin typeface="Arial" pitchFamily="34" charset="0"/>
                <a:ea typeface="Arial" pitchFamily="34" charset="-122"/>
                <a:cs typeface="Arial" pitchFamily="34" charset="-120"/>
              </a:rPr>
              <a:t>Se usa en: capas ocultas</a:t>
            </a:r>
            <a:endParaRPr lang="en-US" sz="1200" dirty="0"/>
          </a:p>
        </p:txBody>
      </p:sp>
      <p:sp>
        <p:nvSpPr>
          <p:cNvPr id="10" name="Shape 8"/>
          <p:cNvSpPr/>
          <p:nvPr/>
        </p:nvSpPr>
        <p:spPr>
          <a:xfrm>
            <a:off x="4392017" y="1802011"/>
            <a:ext cx="3407866" cy="2080121"/>
          </a:xfrm>
          <a:prstGeom prst="roundRect">
            <a:avLst>
              <a:gd name="adj" fmla="val 5800"/>
            </a:avLst>
          </a:prstGeom>
          <a:solidFill>
            <a:srgbClr val="1A1A1F"/>
          </a:solidFill>
          <a:ln w="12700">
            <a:solidFill>
              <a:srgbClr val="2C2C33"/>
            </a:solidFill>
            <a:prstDash val="solid"/>
          </a:ln>
        </p:spPr>
      </p:sp>
      <p:sp>
        <p:nvSpPr>
          <p:cNvPr id="11" name="Text 9"/>
          <p:cNvSpPr/>
          <p:nvPr/>
        </p:nvSpPr>
        <p:spPr>
          <a:xfrm>
            <a:off x="4626967" y="2036961"/>
            <a:ext cx="3026105"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4002B"/>
                </a:solidFill>
                <a:latin typeface="Courier New" pitchFamily="34" charset="0"/>
                <a:ea typeface="Courier New" pitchFamily="34" charset="-122"/>
                <a:cs typeface="Courier New" pitchFamily="34" charset="-120"/>
              </a:rPr>
              <a:t>Sigmoide</a:t>
            </a:r>
            <a:endParaRPr lang="en-US" sz="1800" dirty="0"/>
          </a:p>
        </p:txBody>
      </p:sp>
      <p:sp>
        <p:nvSpPr>
          <p:cNvPr id="12" name="Text 10"/>
          <p:cNvSpPr/>
          <p:nvPr/>
        </p:nvSpPr>
        <p:spPr>
          <a:xfrm>
            <a:off x="4626967" y="2458541"/>
            <a:ext cx="302610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El termómetro de confianza</a:t>
            </a:r>
            <a:endParaRPr lang="en-US" sz="1500" dirty="0"/>
          </a:p>
        </p:txBody>
      </p:sp>
      <p:sp>
        <p:nvSpPr>
          <p:cNvPr id="13" name="Text 11"/>
          <p:cNvSpPr/>
          <p:nvPr/>
        </p:nvSpPr>
        <p:spPr>
          <a:xfrm>
            <a:off x="4626967" y="2788741"/>
            <a:ext cx="3026105"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Convierte cualquier número en un valor entre 0 y 1, como una probabilidad.</a:t>
            </a:r>
            <a:endParaRPr lang="en-US" sz="1200" dirty="0"/>
          </a:p>
        </p:txBody>
      </p:sp>
      <p:sp>
        <p:nvSpPr>
          <p:cNvPr id="14" name="Shape 12"/>
          <p:cNvSpPr/>
          <p:nvPr/>
        </p:nvSpPr>
        <p:spPr>
          <a:xfrm>
            <a:off x="4626967" y="3332262"/>
            <a:ext cx="2937966" cy="314920"/>
          </a:xfrm>
          <a:prstGeom prst="roundRect">
            <a:avLst>
              <a:gd name="adj" fmla="val 24197"/>
            </a:avLst>
          </a:prstGeom>
          <a:solidFill>
            <a:srgbClr val="26262C"/>
          </a:solidFill>
          <a:ln/>
        </p:spPr>
      </p:sp>
      <p:sp>
        <p:nvSpPr>
          <p:cNvPr id="15" name="Text 13"/>
          <p:cNvSpPr/>
          <p:nvPr/>
        </p:nvSpPr>
        <p:spPr>
          <a:xfrm>
            <a:off x="4728567" y="3383062"/>
            <a:ext cx="28168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4E7"/>
                </a:solidFill>
                <a:latin typeface="Arial" pitchFamily="34" charset="0"/>
                <a:ea typeface="Arial" pitchFamily="34" charset="-122"/>
                <a:cs typeface="Arial" pitchFamily="34" charset="-120"/>
              </a:rPr>
              <a:t>Se usa en: salida de sí o no</a:t>
            </a:r>
            <a:endParaRPr lang="en-US" sz="1200" dirty="0"/>
          </a:p>
        </p:txBody>
      </p:sp>
      <p:sp>
        <p:nvSpPr>
          <p:cNvPr id="16" name="Shape 14"/>
          <p:cNvSpPr/>
          <p:nvPr/>
        </p:nvSpPr>
        <p:spPr>
          <a:xfrm>
            <a:off x="7964984" y="1802011"/>
            <a:ext cx="3407866" cy="2080121"/>
          </a:xfrm>
          <a:prstGeom prst="roundRect">
            <a:avLst>
              <a:gd name="adj" fmla="val 5800"/>
            </a:avLst>
          </a:prstGeom>
          <a:solidFill>
            <a:srgbClr val="1A1A1F"/>
          </a:solidFill>
          <a:ln w="12700">
            <a:solidFill>
              <a:srgbClr val="2C2C33"/>
            </a:solidFill>
            <a:prstDash val="solid"/>
          </a:ln>
        </p:spPr>
      </p:sp>
      <p:sp>
        <p:nvSpPr>
          <p:cNvPr id="17" name="Text 15"/>
          <p:cNvSpPr/>
          <p:nvPr/>
        </p:nvSpPr>
        <p:spPr>
          <a:xfrm>
            <a:off x="8199934" y="2036961"/>
            <a:ext cx="3026105"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4002B"/>
                </a:solidFill>
                <a:latin typeface="Courier New" pitchFamily="34" charset="0"/>
                <a:ea typeface="Courier New" pitchFamily="34" charset="-122"/>
                <a:cs typeface="Courier New" pitchFamily="34" charset="-120"/>
              </a:rPr>
              <a:t>Softmax</a:t>
            </a:r>
            <a:endParaRPr lang="en-US" sz="1800" dirty="0"/>
          </a:p>
        </p:txBody>
      </p:sp>
      <p:sp>
        <p:nvSpPr>
          <p:cNvPr id="18" name="Text 16"/>
          <p:cNvSpPr/>
          <p:nvPr/>
        </p:nvSpPr>
        <p:spPr>
          <a:xfrm>
            <a:off x="8199934" y="2458541"/>
            <a:ext cx="302610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La votación</a:t>
            </a:r>
            <a:endParaRPr lang="en-US" sz="1500" dirty="0"/>
          </a:p>
        </p:txBody>
      </p:sp>
      <p:sp>
        <p:nvSpPr>
          <p:cNvPr id="19" name="Text 17"/>
          <p:cNvSpPr/>
          <p:nvPr/>
        </p:nvSpPr>
        <p:spPr>
          <a:xfrm>
            <a:off x="8199934" y="2788741"/>
            <a:ext cx="3026105"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Reparte el 100 % entre varias opciones. Gana la que recibe más.</a:t>
            </a:r>
            <a:endParaRPr lang="en-US" sz="1200" dirty="0"/>
          </a:p>
        </p:txBody>
      </p:sp>
      <p:sp>
        <p:nvSpPr>
          <p:cNvPr id="20" name="Shape 18"/>
          <p:cNvSpPr/>
          <p:nvPr/>
        </p:nvSpPr>
        <p:spPr>
          <a:xfrm>
            <a:off x="8199934" y="3332262"/>
            <a:ext cx="2937966" cy="314920"/>
          </a:xfrm>
          <a:prstGeom prst="roundRect">
            <a:avLst>
              <a:gd name="adj" fmla="val 24197"/>
            </a:avLst>
          </a:prstGeom>
          <a:solidFill>
            <a:srgbClr val="26262C"/>
          </a:solidFill>
          <a:ln/>
        </p:spPr>
      </p:sp>
      <p:sp>
        <p:nvSpPr>
          <p:cNvPr id="21" name="Text 19"/>
          <p:cNvSpPr/>
          <p:nvPr/>
        </p:nvSpPr>
        <p:spPr>
          <a:xfrm>
            <a:off x="8301534" y="3383062"/>
            <a:ext cx="28168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4E7"/>
                </a:solidFill>
                <a:latin typeface="Arial" pitchFamily="34" charset="0"/>
                <a:ea typeface="Arial" pitchFamily="34" charset="-122"/>
                <a:cs typeface="Arial" pitchFamily="34" charset="-120"/>
              </a:rPr>
              <a:t>Se usa en: salida con varias clases</a:t>
            </a:r>
            <a:endParaRPr lang="en-US" sz="1200" dirty="0"/>
          </a:p>
        </p:txBody>
      </p:sp>
      <p:sp>
        <p:nvSpPr>
          <p:cNvPr id="22" name="Shape 20"/>
          <p:cNvSpPr/>
          <p:nvPr/>
        </p:nvSpPr>
        <p:spPr>
          <a:xfrm>
            <a:off x="819150" y="4098032"/>
            <a:ext cx="10553700" cy="1111052"/>
          </a:xfrm>
          <a:prstGeom prst="roundRect">
            <a:avLst>
              <a:gd name="adj" fmla="val 10859"/>
            </a:avLst>
          </a:prstGeom>
          <a:solidFill>
            <a:srgbClr val="1F0A0F"/>
          </a:solidFill>
          <a:ln w="12700">
            <a:solidFill>
              <a:srgbClr val="E4002B"/>
            </a:solidFill>
            <a:prstDash val="solid"/>
          </a:ln>
        </p:spPr>
      </p:sp>
      <p:sp>
        <p:nvSpPr>
          <p:cNvPr id="23" name="Text 21"/>
          <p:cNvSpPr/>
          <p:nvPr/>
        </p:nvSpPr>
        <p:spPr>
          <a:xfrm>
            <a:off x="1079500" y="4282182"/>
            <a:ext cx="103339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24" name="Text 22"/>
          <p:cNvSpPr/>
          <p:nvPr/>
        </p:nvSpPr>
        <p:spPr>
          <a:xfrm>
            <a:off x="1079500" y="4546302"/>
            <a:ext cx="10333990"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4F4F5"/>
                </a:solidFill>
                <a:latin typeface="Arial" pitchFamily="34" charset="0"/>
                <a:ea typeface="Arial" pitchFamily="34" charset="-122"/>
                <a:cs typeface="Arial" pitchFamily="34" charset="-120"/>
              </a:rPr>
              <a:t>Sin activación, una red de 100 capas haría lo mismo que una simple regresión lineal. El interruptor es lo que le permite aprender patrones complicados.</a:t>
            </a:r>
            <a:endParaRPr lang="en-US" sz="13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1717A"/>
                </a:solidFill>
                <a:latin typeface="Courier New" pitchFamily="34" charset="0"/>
                <a:ea typeface="Courier New" pitchFamily="34" charset="-122"/>
                <a:cs typeface="Courier New"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4002B"/>
                </a:solidFill>
                <a:latin typeface="Courier New" pitchFamily="34" charset="0"/>
                <a:ea typeface="Courier New" pitchFamily="34" charset="-122"/>
                <a:cs typeface="Courier New" pitchFamily="34" charset="-120"/>
              </a:rPr>
              <a:t>EL ENTRENAMIENTO</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4F4F5"/>
                </a:solidFill>
                <a:latin typeface="Arial" pitchFamily="34" charset="0"/>
                <a:ea typeface="Arial" pitchFamily="34" charset="-122"/>
                <a:cs typeface="Arial" pitchFamily="34" charset="-120"/>
              </a:rPr>
              <a:t>Aprende como quien practica tiros libres</a:t>
            </a:r>
            <a:endParaRPr lang="en-US" sz="3200" dirty="0"/>
          </a:p>
        </p:txBody>
      </p:sp>
      <p:sp>
        <p:nvSpPr>
          <p:cNvPr id="4" name="Shape 2"/>
          <p:cNvSpPr/>
          <p:nvPr/>
        </p:nvSpPr>
        <p:spPr>
          <a:xfrm>
            <a:off x="819150" y="1802011"/>
            <a:ext cx="2247900" cy="1803301"/>
          </a:xfrm>
          <a:prstGeom prst="roundRect">
            <a:avLst>
              <a:gd name="adj" fmla="val 6691"/>
            </a:avLst>
          </a:prstGeom>
          <a:solidFill>
            <a:srgbClr val="1A1A1F"/>
          </a:solidFill>
          <a:ln w="12700">
            <a:solidFill>
              <a:srgbClr val="2C2C33"/>
            </a:solidFill>
            <a:prstDash val="solid"/>
          </a:ln>
        </p:spPr>
      </p:sp>
      <p:sp>
        <p:nvSpPr>
          <p:cNvPr id="5" name="Text 3"/>
          <p:cNvSpPr/>
          <p:nvPr/>
        </p:nvSpPr>
        <p:spPr>
          <a:xfrm>
            <a:off x="1003300" y="1986161"/>
            <a:ext cx="193598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4002B"/>
                </a:solidFill>
                <a:latin typeface="Courier New" pitchFamily="34" charset="0"/>
                <a:ea typeface="Courier New" pitchFamily="34" charset="-122"/>
                <a:cs typeface="Courier New" pitchFamily="34" charset="-120"/>
              </a:rPr>
              <a:t>1</a:t>
            </a:r>
            <a:endParaRPr lang="en-US" sz="2200" dirty="0"/>
          </a:p>
        </p:txBody>
      </p:sp>
      <p:sp>
        <p:nvSpPr>
          <p:cNvPr id="6" name="Text 4"/>
          <p:cNvSpPr/>
          <p:nvPr/>
        </p:nvSpPr>
        <p:spPr>
          <a:xfrm>
            <a:off x="1003300" y="2453481"/>
            <a:ext cx="19359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Adivina</a:t>
            </a:r>
            <a:endParaRPr lang="en-US" sz="1500" dirty="0"/>
          </a:p>
        </p:txBody>
      </p:sp>
      <p:sp>
        <p:nvSpPr>
          <p:cNvPr id="7" name="Text 5"/>
          <p:cNvSpPr/>
          <p:nvPr/>
        </p:nvSpPr>
        <p:spPr>
          <a:xfrm>
            <a:off x="1003300" y="2758281"/>
            <a:ext cx="193598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Empieza con pesos al azar y lanza una predicción.</a:t>
            </a:r>
            <a:endParaRPr lang="en-US" sz="1200" dirty="0"/>
          </a:p>
        </p:txBody>
      </p:sp>
      <p:pic>
        <p:nvPicPr>
          <p:cNvPr id="8" name="Image 0" descr="arrow-right">    </p:cNvPr>
          <p:cNvPicPr>
            <a:picLocks noChangeAspect="1"/>
          </p:cNvPicPr>
          <p:nvPr/>
        </p:nvPicPr>
        <p:blipFill>
          <a:blip r:embed="rId1"/>
          <a:srcRect l="0" r="0" t="0" b="0"/>
          <a:stretch/>
        </p:blipFill>
        <p:spPr>
          <a:xfrm>
            <a:off x="3175000" y="2614712"/>
            <a:ext cx="304800" cy="177800"/>
          </a:xfrm>
          <a:prstGeom prst="rect">
            <a:avLst/>
          </a:prstGeom>
        </p:spPr>
      </p:pic>
      <p:sp>
        <p:nvSpPr>
          <p:cNvPr id="9" name="Shape 6"/>
          <p:cNvSpPr/>
          <p:nvPr/>
        </p:nvSpPr>
        <p:spPr>
          <a:xfrm>
            <a:off x="3587750" y="1802011"/>
            <a:ext cx="2247900" cy="1803301"/>
          </a:xfrm>
          <a:prstGeom prst="roundRect">
            <a:avLst>
              <a:gd name="adj" fmla="val 6691"/>
            </a:avLst>
          </a:prstGeom>
          <a:solidFill>
            <a:srgbClr val="1A1A1F"/>
          </a:solidFill>
          <a:ln w="12700">
            <a:solidFill>
              <a:srgbClr val="2C2C33"/>
            </a:solidFill>
            <a:prstDash val="solid"/>
          </a:ln>
        </p:spPr>
      </p:sp>
      <p:sp>
        <p:nvSpPr>
          <p:cNvPr id="10" name="Text 7"/>
          <p:cNvSpPr/>
          <p:nvPr/>
        </p:nvSpPr>
        <p:spPr>
          <a:xfrm>
            <a:off x="3771900" y="1986161"/>
            <a:ext cx="193598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4002B"/>
                </a:solidFill>
                <a:latin typeface="Courier New" pitchFamily="34" charset="0"/>
                <a:ea typeface="Courier New" pitchFamily="34" charset="-122"/>
                <a:cs typeface="Courier New" pitchFamily="34" charset="-120"/>
              </a:rPr>
              <a:t>2</a:t>
            </a:r>
            <a:endParaRPr lang="en-US" sz="2200" dirty="0"/>
          </a:p>
        </p:txBody>
      </p:sp>
      <p:sp>
        <p:nvSpPr>
          <p:cNvPr id="11" name="Text 8"/>
          <p:cNvSpPr/>
          <p:nvPr/>
        </p:nvSpPr>
        <p:spPr>
          <a:xfrm>
            <a:off x="3771900" y="2453481"/>
            <a:ext cx="19359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Mide el error</a:t>
            </a:r>
            <a:endParaRPr lang="en-US" sz="1500" dirty="0"/>
          </a:p>
        </p:txBody>
      </p:sp>
      <p:sp>
        <p:nvSpPr>
          <p:cNvPr id="12" name="Text 9"/>
          <p:cNvSpPr/>
          <p:nvPr/>
        </p:nvSpPr>
        <p:spPr>
          <a:xfrm>
            <a:off x="3771900" y="2758281"/>
            <a:ext cx="1935988"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Compara con la respuesta correcta: ¿qué tan lejos del aro quedó?</a:t>
            </a:r>
            <a:endParaRPr lang="en-US" sz="1200" dirty="0"/>
          </a:p>
        </p:txBody>
      </p:sp>
      <p:pic>
        <p:nvPicPr>
          <p:cNvPr id="13" name="Image 1" descr="arrow-right">    </p:cNvPr>
          <p:cNvPicPr>
            <a:picLocks noChangeAspect="1"/>
          </p:cNvPicPr>
          <p:nvPr/>
        </p:nvPicPr>
        <p:blipFill>
          <a:blip r:embed="rId2"/>
          <a:srcRect l="0" r="0" t="0" b="0"/>
          <a:stretch/>
        </p:blipFill>
        <p:spPr>
          <a:xfrm>
            <a:off x="5943600" y="2614712"/>
            <a:ext cx="304800" cy="177800"/>
          </a:xfrm>
          <a:prstGeom prst="rect">
            <a:avLst/>
          </a:prstGeom>
        </p:spPr>
      </p:pic>
      <p:sp>
        <p:nvSpPr>
          <p:cNvPr id="14" name="Shape 10"/>
          <p:cNvSpPr/>
          <p:nvPr/>
        </p:nvSpPr>
        <p:spPr>
          <a:xfrm>
            <a:off x="6356350" y="1802011"/>
            <a:ext cx="2247900" cy="1803301"/>
          </a:xfrm>
          <a:prstGeom prst="roundRect">
            <a:avLst>
              <a:gd name="adj" fmla="val 6691"/>
            </a:avLst>
          </a:prstGeom>
          <a:solidFill>
            <a:srgbClr val="1A1A1F"/>
          </a:solidFill>
          <a:ln w="12700">
            <a:solidFill>
              <a:srgbClr val="2C2C33"/>
            </a:solidFill>
            <a:prstDash val="solid"/>
          </a:ln>
        </p:spPr>
      </p:sp>
      <p:sp>
        <p:nvSpPr>
          <p:cNvPr id="15" name="Text 11"/>
          <p:cNvSpPr/>
          <p:nvPr/>
        </p:nvSpPr>
        <p:spPr>
          <a:xfrm>
            <a:off x="6540500" y="1986161"/>
            <a:ext cx="193598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4002B"/>
                </a:solidFill>
                <a:latin typeface="Courier New" pitchFamily="34" charset="0"/>
                <a:ea typeface="Courier New" pitchFamily="34" charset="-122"/>
                <a:cs typeface="Courier New" pitchFamily="34" charset="-120"/>
              </a:rPr>
              <a:t>3</a:t>
            </a:r>
            <a:endParaRPr lang="en-US" sz="2200" dirty="0"/>
          </a:p>
        </p:txBody>
      </p:sp>
      <p:sp>
        <p:nvSpPr>
          <p:cNvPr id="16" name="Text 12"/>
          <p:cNvSpPr/>
          <p:nvPr/>
        </p:nvSpPr>
        <p:spPr>
          <a:xfrm>
            <a:off x="6540500" y="2453481"/>
            <a:ext cx="19359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Ajusta</a:t>
            </a:r>
            <a:endParaRPr lang="en-US" sz="1500" dirty="0"/>
          </a:p>
        </p:txBody>
      </p:sp>
      <p:sp>
        <p:nvSpPr>
          <p:cNvPr id="17" name="Text 13"/>
          <p:cNvSpPr/>
          <p:nvPr/>
        </p:nvSpPr>
        <p:spPr>
          <a:xfrm>
            <a:off x="6540500" y="2758281"/>
            <a:ext cx="1935988"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Mueve cada peso un poquito hacia donde el error baja.</a:t>
            </a:r>
            <a:endParaRPr lang="en-US" sz="1200" dirty="0"/>
          </a:p>
        </p:txBody>
      </p:sp>
      <p:pic>
        <p:nvPicPr>
          <p:cNvPr id="18" name="Image 2" descr="arrow-right">    </p:cNvPr>
          <p:cNvPicPr>
            <a:picLocks noChangeAspect="1"/>
          </p:cNvPicPr>
          <p:nvPr/>
        </p:nvPicPr>
        <p:blipFill>
          <a:blip r:embed="rId3"/>
          <a:srcRect l="0" r="0" t="0" b="0"/>
          <a:stretch/>
        </p:blipFill>
        <p:spPr>
          <a:xfrm>
            <a:off x="8712200" y="2614712"/>
            <a:ext cx="304800" cy="177800"/>
          </a:xfrm>
          <a:prstGeom prst="rect">
            <a:avLst/>
          </a:prstGeom>
        </p:spPr>
      </p:pic>
      <p:sp>
        <p:nvSpPr>
          <p:cNvPr id="19" name="Shape 14"/>
          <p:cNvSpPr/>
          <p:nvPr/>
        </p:nvSpPr>
        <p:spPr>
          <a:xfrm>
            <a:off x="9124950" y="1802011"/>
            <a:ext cx="2247900" cy="1803301"/>
          </a:xfrm>
          <a:prstGeom prst="roundRect">
            <a:avLst>
              <a:gd name="adj" fmla="val 6691"/>
            </a:avLst>
          </a:prstGeom>
          <a:solidFill>
            <a:srgbClr val="1A1A1F"/>
          </a:solidFill>
          <a:ln w="12700">
            <a:solidFill>
              <a:srgbClr val="2C2C33"/>
            </a:solidFill>
            <a:prstDash val="solid"/>
          </a:ln>
        </p:spPr>
      </p:sp>
      <p:sp>
        <p:nvSpPr>
          <p:cNvPr id="20" name="Text 15"/>
          <p:cNvSpPr/>
          <p:nvPr/>
        </p:nvSpPr>
        <p:spPr>
          <a:xfrm>
            <a:off x="9309100" y="1986161"/>
            <a:ext cx="1935988"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4002B"/>
                </a:solidFill>
                <a:latin typeface="Courier New" pitchFamily="34" charset="0"/>
                <a:ea typeface="Courier New" pitchFamily="34" charset="-122"/>
                <a:cs typeface="Courier New" pitchFamily="34" charset="-120"/>
              </a:rPr>
              <a:t>4</a:t>
            </a:r>
            <a:endParaRPr lang="en-US" sz="2200" dirty="0"/>
          </a:p>
        </p:txBody>
      </p:sp>
      <p:sp>
        <p:nvSpPr>
          <p:cNvPr id="21" name="Text 16"/>
          <p:cNvSpPr/>
          <p:nvPr/>
        </p:nvSpPr>
        <p:spPr>
          <a:xfrm>
            <a:off x="9309100" y="2453481"/>
            <a:ext cx="19359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Repite</a:t>
            </a:r>
            <a:endParaRPr lang="en-US" sz="1500" dirty="0"/>
          </a:p>
        </p:txBody>
      </p:sp>
      <p:sp>
        <p:nvSpPr>
          <p:cNvPr id="22" name="Text 17"/>
          <p:cNvSpPr/>
          <p:nvPr/>
        </p:nvSpPr>
        <p:spPr>
          <a:xfrm>
            <a:off x="9309100" y="2758281"/>
            <a:ext cx="1935988"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Cientos o miles de veces, hasta que casi siempre encesta.</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5500" y="3827562"/>
          <a:ext cx="10553700" cy="1437084"/>
        </p:xfrm>
        <a:graphic>
          <a:graphicData uri="http://schemas.openxmlformats.org/drawingml/2006/table">
            <a:tbl>
              <a:tblPr/>
              <a:tblGrid>
                <a:gridCol w="3166110"/>
                <a:gridCol w="7387590"/>
              </a:tblGrid>
              <a:tr h="359271">
                <a:tc>
                  <a:txBody>
                    <a:bodyPr/>
                    <a:lstStyle/>
                    <a:p>
                      <a:pPr indent="0" marL="0">
                        <a:lnSpc>
                          <a:spcPts val="1820"/>
                        </a:lnSpc>
                        <a:buNone/>
                      </a:pPr>
                      <a:r>
                        <a:rPr lang="en-US" sz="1300" b="1" dirty="0">
                          <a:solidFill>
                            <a:srgbClr val="E4E4E7"/>
                          </a:solidFill>
                          <a:latin typeface="Arial" pitchFamily="34" charset="0"/>
                          <a:ea typeface="Arial" pitchFamily="34" charset="-122"/>
                          <a:cs typeface="Arial" pitchFamily="34" charset="-120"/>
                        </a:rPr>
                        <a:t>Palabra en Colab</a:t>
                      </a:r>
                      <a:endParaRPr lang="en-US" sz="1300" dirty="0">
                        <a:latin typeface="Arial" charset="0"/>
                        <a:ea typeface="Arial" charset="0"/>
                        <a:cs typeface="Arial" charset="0"/>
                      </a:endParaRPr>
                    </a:p>
                  </a:txBody>
                  <a:tcPr marL="57785" marR="57785" marT="57785" marB="57785" anchor="t">
                    <a:lnL w="12700" cap="flat" cmpd="sng" algn="ctr">
                      <a:solidFill>
                        <a:srgbClr val="403F40"/>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indent="0" marL="0">
                        <a:lnSpc>
                          <a:spcPts val="1820"/>
                        </a:lnSpc>
                        <a:buNone/>
                      </a:pPr>
                      <a:r>
                        <a:rPr lang="en-US" sz="1300" b="1" dirty="0">
                          <a:solidFill>
                            <a:srgbClr val="E4E4E7"/>
                          </a:solidFill>
                          <a:latin typeface="Arial" pitchFamily="34" charset="0"/>
                          <a:ea typeface="Arial" pitchFamily="34" charset="-122"/>
                          <a:cs typeface="Arial" pitchFamily="34" charset="-120"/>
                        </a:rPr>
                        <a:t>Qué significa</a:t>
                      </a:r>
                      <a:endParaRPr lang="en-US" sz="1300" dirty="0">
                        <a:latin typeface="Arial" charset="0"/>
                        <a:ea typeface="Arial" charset="0"/>
                        <a:cs typeface="Arial" charset="0"/>
                      </a:endParaRPr>
                    </a:p>
                  </a:txBody>
                  <a:tcPr marL="57785" marR="57785" marT="57785" marB="57785" anchor="t">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r>
              <a:tr h="359271">
                <a:tc>
                  <a:txBody>
                    <a:bodyPr/>
                    <a:lstStyle/>
                    <a:p>
                      <a:pPr indent="0" marL="0">
                        <a:lnSpc>
                          <a:spcPts val="1820"/>
                        </a:lnSpc>
                        <a:buNone/>
                      </a:pPr>
                      <a:r>
                        <a:rPr lang="en-US" sz="1300" dirty="0">
                          <a:solidFill>
                            <a:srgbClr val="FF5C77"/>
                          </a:solidFill>
                          <a:latin typeface="Arial" pitchFamily="34" charset="0"/>
                          <a:ea typeface="Arial" pitchFamily="34" charset="-122"/>
                          <a:cs typeface="Arial" pitchFamily="34" charset="-120"/>
                        </a:rPr>
                        <a:t>loss (pérdida)</a:t>
                      </a:r>
                      <a:endParaRPr lang="en-US" sz="1300" dirty="0">
                        <a:latin typeface="Arial" charset="0"/>
                        <a:ea typeface="Arial" charset="0"/>
                        <a:cs typeface="Arial" charset="0"/>
                      </a:endParaRPr>
                    </a:p>
                  </a:txBody>
                  <a:tcPr marL="57785" marR="57785" marT="57785" marB="57785"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indent="0" marL="0">
                        <a:lnSpc>
                          <a:spcPts val="1820"/>
                        </a:lnSpc>
                        <a:buNone/>
                      </a:pPr>
                      <a:r>
                        <a:rPr lang="en-US" sz="1300" dirty="0">
                          <a:solidFill>
                            <a:srgbClr val="E4E4E7"/>
                          </a:solidFill>
                          <a:latin typeface="Arial" pitchFamily="34" charset="0"/>
                          <a:ea typeface="Arial" pitchFamily="34" charset="-122"/>
                          <a:cs typeface="Arial" pitchFamily="34" charset="-120"/>
                        </a:rPr>
                        <a:t>El tamaño del error. Queremos que baje.</a:t>
                      </a:r>
                      <a:endParaRPr lang="en-US" sz="1300" dirty="0">
                        <a:latin typeface="Arial" charset="0"/>
                        <a:ea typeface="Arial" charset="0"/>
                        <a:cs typeface="Arial" charset="0"/>
                      </a:endParaRPr>
                    </a:p>
                  </a:txBody>
                  <a:tcPr marL="57785" marR="57785" marT="57785" marB="57785"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r>
              <a:tr h="359271">
                <a:tc>
                  <a:txBody>
                    <a:bodyPr/>
                    <a:lstStyle/>
                    <a:p>
                      <a:pPr indent="0" marL="0">
                        <a:lnSpc>
                          <a:spcPts val="1820"/>
                        </a:lnSpc>
                        <a:buNone/>
                      </a:pPr>
                      <a:r>
                        <a:rPr lang="en-US" sz="1300" dirty="0">
                          <a:solidFill>
                            <a:srgbClr val="FF5C77"/>
                          </a:solidFill>
                          <a:latin typeface="Arial" pitchFamily="34" charset="0"/>
                          <a:ea typeface="Arial" pitchFamily="34" charset="-122"/>
                          <a:cs typeface="Arial" pitchFamily="34" charset="-120"/>
                        </a:rPr>
                        <a:t>epochs (épocas)</a:t>
                      </a:r>
                      <a:endParaRPr lang="en-US" sz="1300" dirty="0">
                        <a:latin typeface="Arial" charset="0"/>
                        <a:ea typeface="Arial" charset="0"/>
                        <a:cs typeface="Arial" charset="0"/>
                      </a:endParaRPr>
                    </a:p>
                  </a:txBody>
                  <a:tcPr marL="57785" marR="57785" marT="57785" marB="57785"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indent="0" marL="0">
                        <a:lnSpc>
                          <a:spcPts val="1820"/>
                        </a:lnSpc>
                        <a:buNone/>
                      </a:pPr>
                      <a:r>
                        <a:rPr lang="en-US" sz="1300" dirty="0">
                          <a:solidFill>
                            <a:srgbClr val="E4E4E7"/>
                          </a:solidFill>
                          <a:latin typeface="Arial" pitchFamily="34" charset="0"/>
                          <a:ea typeface="Arial" pitchFamily="34" charset="-122"/>
                          <a:cs typeface="Arial" pitchFamily="34" charset="-120"/>
                        </a:rPr>
                        <a:t>Cuántas vueltas completas da por todos los datos.</a:t>
                      </a:r>
                      <a:endParaRPr lang="en-US" sz="1300" dirty="0">
                        <a:latin typeface="Arial" charset="0"/>
                        <a:ea typeface="Arial" charset="0"/>
                        <a:cs typeface="Arial" charset="0"/>
                      </a:endParaRPr>
                    </a:p>
                  </a:txBody>
                  <a:tcPr marL="57785" marR="57785" marT="57785" marB="57785"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r>
              <a:tr h="359271">
                <a:tc>
                  <a:txBody>
                    <a:bodyPr/>
                    <a:lstStyle/>
                    <a:p>
                      <a:pPr indent="0" marL="0">
                        <a:lnSpc>
                          <a:spcPts val="1820"/>
                        </a:lnSpc>
                        <a:buNone/>
                      </a:pPr>
                      <a:r>
                        <a:rPr lang="en-US" sz="1300" dirty="0">
                          <a:solidFill>
                            <a:srgbClr val="FF5C77"/>
                          </a:solidFill>
                          <a:latin typeface="Arial" pitchFamily="34" charset="0"/>
                          <a:ea typeface="Arial" pitchFamily="34" charset="-122"/>
                          <a:cs typeface="Arial" pitchFamily="34" charset="-120"/>
                        </a:rPr>
                        <a:t>optimizer (optimizador)</a:t>
                      </a:r>
                      <a:endParaRPr lang="en-US" sz="1300" dirty="0">
                        <a:latin typeface="Arial" charset="0"/>
                        <a:ea typeface="Arial" charset="0"/>
                        <a:cs typeface="Arial" charset="0"/>
                      </a:endParaRPr>
                    </a:p>
                  </a:txBody>
                  <a:tcPr marL="57785" marR="57785" marT="57785" marB="57785"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indent="0" marL="0">
                        <a:lnSpc>
                          <a:spcPts val="1820"/>
                        </a:lnSpc>
                        <a:buNone/>
                      </a:pPr>
                      <a:r>
                        <a:rPr lang="en-US" sz="1300" dirty="0">
                          <a:solidFill>
                            <a:srgbClr val="E4E4E7"/>
                          </a:solidFill>
                          <a:latin typeface="Arial" pitchFamily="34" charset="0"/>
                          <a:ea typeface="Arial" pitchFamily="34" charset="-122"/>
                          <a:cs typeface="Arial" pitchFamily="34" charset="-120"/>
                        </a:rPr>
                        <a:t>El «entrenador» que decide cómo ajustar los pesos.</a:t>
                      </a:r>
                      <a:endParaRPr lang="en-US" sz="1300" dirty="0">
                        <a:latin typeface="Arial" charset="0"/>
                        <a:ea typeface="Arial" charset="0"/>
                        <a:cs typeface="Arial" charset="0"/>
                      </a:endParaRPr>
                    </a:p>
                  </a:txBody>
                  <a:tcPr marL="57785" marR="57785" marT="57785" marB="57785"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r>
            </a:tbl>
          </a:graphicData>
        </a:graphic>
      </p:graphicFrame>
      <p:sp>
        <p:nvSpPr>
          <p:cNvPr id="24"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1717A"/>
                </a:solidFill>
                <a:latin typeface="Courier New" pitchFamily="34" charset="0"/>
                <a:ea typeface="Courier New" pitchFamily="34" charset="-122"/>
                <a:cs typeface="Courier New"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4002B"/>
        </a:solidFill>
      </p:bgPr>
    </p:bg>
    <p:spTree>
      <p:nvGrpSpPr>
        <p:cNvPr id="1" name=""/>
        <p:cNvGrpSpPr/>
        <p:nvPr/>
      </p:nvGrpSpPr>
      <p:grpSpPr>
        <a:xfrm>
          <a:off x="0" y="0"/>
          <a:ext cx="0" cy="0"/>
          <a:chOff x="0" y="0"/>
          <a:chExt cx="0" cy="0"/>
        </a:xfrm>
      </p:grpSpPr>
      <p:sp>
        <p:nvSpPr>
          <p:cNvPr id="2" name="Text 0"/>
          <p:cNvSpPr/>
          <p:nvPr/>
        </p:nvSpPr>
        <p:spPr>
          <a:xfrm>
            <a:off x="812800" y="1893689"/>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4F4F5"/>
                </a:solidFill>
                <a:latin typeface="Courier New" pitchFamily="34" charset="0"/>
                <a:ea typeface="Courier New" pitchFamily="34" charset="-122"/>
                <a:cs typeface="Courier New" pitchFamily="34" charset="-120"/>
              </a:rPr>
              <a:t>IDEA CLAVE</a:t>
            </a:r>
            <a:endParaRPr lang="en-US" sz="1300" dirty="0"/>
          </a:p>
        </p:txBody>
      </p:sp>
      <p:sp>
        <p:nvSpPr>
          <p:cNvPr id="3" name="Text 1"/>
          <p:cNvSpPr/>
          <p:nvPr/>
        </p:nvSpPr>
        <p:spPr>
          <a:xfrm>
            <a:off x="812800" y="2378770"/>
            <a:ext cx="9810750" cy="2036961"/>
          </a:xfrm>
          <a:prstGeom prst="rect">
            <a:avLst/>
          </a:prstGeom>
          <a:noFill/>
          <a:ln/>
        </p:spPr>
        <p:txBody>
          <a:bodyPr wrap="square" lIns="0" tIns="0" rIns="0" bIns="0" rtlCol="0" anchor="t">
            <a:normAutofit/>
          </a:bodyPr>
          <a:lstStyle/>
          <a:p>
            <a:pPr algn="l" indent="0" marL="0">
              <a:lnSpc>
                <a:spcPts val="5280"/>
              </a:lnSpc>
              <a:buNone/>
            </a:pPr>
            <a:r>
              <a:rPr lang="en-US" sz="4800" b="1" spc="-100" kern="0" dirty="0">
                <a:solidFill>
                  <a:srgbClr val="FFF7F7"/>
                </a:solidFill>
                <a:latin typeface="Arial" pitchFamily="34" charset="0"/>
                <a:ea typeface="Arial" pitchFamily="34" charset="-122"/>
                <a:cs typeface="Arial" pitchFamily="34" charset="-120"/>
              </a:rPr>
              <a:t>Una red neuronal no piensa: ajusta números hasta equivocarse menos.</a:t>
            </a:r>
            <a:endParaRPr lang="en-US" sz="4800" dirty="0"/>
          </a:p>
        </p:txBody>
      </p:sp>
      <p:sp>
        <p:nvSpPr>
          <p:cNvPr id="4" name="Text 2"/>
          <p:cNvSpPr/>
          <p:nvPr/>
        </p:nvSpPr>
        <p:spPr>
          <a:xfrm>
            <a:off x="812800" y="4644330"/>
            <a:ext cx="91567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F7F7"/>
                </a:solidFill>
                <a:latin typeface="Arial" pitchFamily="34" charset="0"/>
                <a:ea typeface="Arial" pitchFamily="34" charset="-122"/>
                <a:cs typeface="Arial" pitchFamily="34" charset="-120"/>
              </a:rPr>
              <a:t>Con esa idea en mente, vamos a Colab a verla aprender en vivo.</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417"/>
        </a:solidFill>
      </p:bgPr>
    </p:bg>
    <p:spTree>
      <p:nvGrpSpPr>
        <p:cNvPr id="1" name=""/>
        <p:cNvGrpSpPr/>
        <p:nvPr/>
      </p:nvGrpSpPr>
      <p:grpSpPr>
        <a:xfrm>
          <a:off x="0" y="0"/>
          <a:ext cx="0" cy="0"/>
          <a:chOff x="0" y="0"/>
          <a:chExt cx="0" cy="0"/>
        </a:xfrm>
      </p:grpSpPr>
      <p:sp>
        <p:nvSpPr>
          <p:cNvPr id="2" name="Text 0"/>
          <p:cNvSpPr/>
          <p:nvPr/>
        </p:nvSpPr>
        <p:spPr>
          <a:xfrm>
            <a:off x="812800" y="1606649"/>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4002B"/>
                </a:solidFill>
                <a:latin typeface="Courier New" pitchFamily="34" charset="0"/>
                <a:ea typeface="Courier New" pitchFamily="34" charset="-122"/>
                <a:cs typeface="Courier New" pitchFamily="34" charset="-120"/>
              </a:rPr>
              <a:t>PRÁCTICA EN COLAB</a:t>
            </a:r>
            <a:endParaRPr lang="en-US" sz="1300" dirty="0"/>
          </a:p>
        </p:txBody>
      </p:sp>
      <p:sp>
        <p:nvSpPr>
          <p:cNvPr id="3" name="Text 1"/>
          <p:cNvSpPr/>
          <p:nvPr/>
        </p:nvSpPr>
        <p:spPr>
          <a:xfrm>
            <a:off x="812800" y="1990130"/>
            <a:ext cx="10883392" cy="1549400"/>
          </a:xfrm>
          <a:prstGeom prst="rect">
            <a:avLst/>
          </a:prstGeom>
          <a:noFill/>
          <a:ln/>
        </p:spPr>
        <p:txBody>
          <a:bodyPr wrap="square" lIns="0" tIns="0" rIns="0" bIns="0" rtlCol="0" anchor="t">
            <a:normAutofit/>
          </a:bodyPr>
          <a:lstStyle/>
          <a:p>
            <a:pPr algn="l" indent="0" marL="0">
              <a:lnSpc>
                <a:spcPts val="12000"/>
              </a:lnSpc>
              <a:buNone/>
            </a:pPr>
            <a:r>
              <a:rPr lang="en-US" sz="12000" b="1" dirty="0">
                <a:solidFill>
                  <a:srgbClr val="E4002B"/>
                </a:solidFill>
                <a:latin typeface="Courier New" pitchFamily="34" charset="0"/>
                <a:ea typeface="Courier New" pitchFamily="34" charset="-122"/>
                <a:cs typeface="Courier New" pitchFamily="34" charset="-120"/>
              </a:rPr>
              <a:t>02</a:t>
            </a:r>
            <a:endParaRPr lang="en-US" sz="12000" dirty="0"/>
          </a:p>
        </p:txBody>
      </p:sp>
      <p:sp>
        <p:nvSpPr>
          <p:cNvPr id="4" name="Text 2"/>
          <p:cNvSpPr/>
          <p:nvPr/>
        </p:nvSpPr>
        <p:spPr>
          <a:xfrm>
            <a:off x="812800" y="366653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spc="-100" kern="0" dirty="0">
                <a:solidFill>
                  <a:srgbClr val="F4F4F5"/>
                </a:solidFill>
                <a:latin typeface="Arial" pitchFamily="34" charset="0"/>
                <a:ea typeface="Arial" pitchFamily="34" charset="-122"/>
                <a:cs typeface="Arial" pitchFamily="34" charset="-120"/>
              </a:rPr>
              <a:t>Dos redes para programar</a:t>
            </a:r>
            <a:endParaRPr lang="en-US" sz="4800" dirty="0"/>
          </a:p>
        </p:txBody>
      </p:sp>
      <p:sp>
        <p:nvSpPr>
          <p:cNvPr id="5" name="Text 3"/>
          <p:cNvSpPr/>
          <p:nvPr/>
        </p:nvSpPr>
        <p:spPr>
          <a:xfrm>
            <a:off x="812800" y="4458990"/>
            <a:ext cx="850265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A1A1AA"/>
                </a:solidFill>
                <a:latin typeface="Arial" pitchFamily="34" charset="0"/>
                <a:ea typeface="Arial" pitchFamily="34" charset="-122"/>
                <a:cs typeface="Arial" pitchFamily="34" charset="-120"/>
              </a:rPr>
              <a:t>Abre colab.research.google.com y crea un cuaderno nuevo. TensorFlow ya viene instalado: solo copia cada bloque de código en una celda y ejecútalo.</a:t>
            </a:r>
            <a:endParaRPr lang="en-US" sz="16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1717A"/>
                </a:solidFill>
                <a:latin typeface="Courier New" pitchFamily="34" charset="0"/>
                <a:ea typeface="Courier New" pitchFamily="34" charset="-122"/>
                <a:cs typeface="Courier New" pitchFamily="34" charset="-120"/>
              </a:rPr>
              <a:t>TEMA EXTRA · </a:t>
            </a:r>
            <a:endParaRPr lang="en-US" sz="1200" dirty="0"/>
          </a:p>
        </p:txBody>
      </p:sp>
      <p:sp>
        <p:nvSpPr>
          <p:cNvPr id="7"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1717A"/>
                </a:solidFill>
                <a:latin typeface="Courier New" pitchFamily="34" charset="0"/>
                <a:ea typeface="Courier New" pitchFamily="34" charset="-122"/>
                <a:cs typeface="Courier New"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4002B"/>
                </a:solidFill>
                <a:latin typeface="Courier New" pitchFamily="34" charset="0"/>
                <a:ea typeface="Courier New" pitchFamily="34" charset="-122"/>
                <a:cs typeface="Courier New" pitchFamily="34" charset="-120"/>
              </a:rPr>
              <a:t>EJEMPLO 1 · UNA SOLA NEURONA</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4F4F5"/>
                </a:solidFill>
                <a:latin typeface="Arial" pitchFamily="34" charset="0"/>
                <a:ea typeface="Arial" pitchFamily="34" charset="-122"/>
                <a:cs typeface="Arial" pitchFamily="34" charset="-120"/>
              </a:rPr>
              <a:t>Aprende sola a convertir °C en °F</a:t>
            </a:r>
            <a:endParaRPr lang="en-US" sz="3200" dirty="0"/>
          </a:p>
        </p:txBody>
      </p:sp>
      <p:sp>
        <p:nvSpPr>
          <p:cNvPr id="4" name="Text 2"/>
          <p:cNvSpPr/>
          <p:nvPr/>
        </p:nvSpPr>
        <p:spPr>
          <a:xfrm>
            <a:off x="812800" y="1795661"/>
            <a:ext cx="108833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4D4D8"/>
                </a:solidFill>
                <a:latin typeface="Arial" pitchFamily="34" charset="0"/>
                <a:ea typeface="Arial" pitchFamily="34" charset="-122"/>
                <a:cs typeface="Arial" pitchFamily="34" charset="-120"/>
              </a:rPr>
              <a:t>Le damos 7 temperaturas con su respuesta correcta y nunca le decimos la fórmula.</a:t>
            </a:r>
            <a:endParaRPr lang="en-US" sz="1400" dirty="0"/>
          </a:p>
        </p:txBody>
      </p:sp>
      <p:sp>
        <p:nvSpPr>
          <p:cNvPr id="5" name="Shape 3"/>
          <p:cNvSpPr/>
          <p:nvPr/>
        </p:nvSpPr>
        <p:spPr>
          <a:xfrm>
            <a:off x="819150" y="2262981"/>
            <a:ext cx="10553700" cy="2856905"/>
          </a:xfrm>
          <a:prstGeom prst="roundRect">
            <a:avLst>
              <a:gd name="adj" fmla="val 3334"/>
            </a:avLst>
          </a:prstGeom>
          <a:solidFill>
            <a:srgbClr val="0F0F12"/>
          </a:solidFill>
          <a:ln w="12700">
            <a:solidFill>
              <a:srgbClr val="2C2C33"/>
            </a:solidFill>
            <a:prstDash val="solid"/>
          </a:ln>
        </p:spPr>
      </p:sp>
      <p:sp>
        <p:nvSpPr>
          <p:cNvPr id="6" name="Text 4"/>
          <p:cNvSpPr/>
          <p:nvPr/>
        </p:nvSpPr>
        <p:spPr>
          <a:xfrm>
            <a:off x="1079500" y="2472531"/>
            <a:ext cx="10333990" cy="2463205"/>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import numpy as np</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import tensorflow as tf</a:t>
            </a:r>
            <a:endParaRPr lang="en-US" sz="1200" dirty="0"/>
          </a:p>
          <a:p>
            <a:pPr algn="l" indent="0" marL="0">
              <a:lnSpc>
                <a:spcPts val="1920"/>
              </a:lnSpc>
              <a:buNone/>
            </a:pPr>
            <a:r>
              <a:rPr lang="en-US" sz="1200" dirty="0">
                <a:solidFill>
                  <a:srgbClr val="71717A"/>
                </a:solidFill>
                <a:latin typeface="Courier New" pitchFamily="34" charset="0"/>
                <a:ea typeface="Courier New" pitchFamily="34" charset="-122"/>
                <a:cs typeface="Courier New" pitchFamily="34" charset="-120"/>
              </a:rPr>
              <a:t># Datos de ejemplo: entradas (°C) y respuestas correctas (°F)</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celsius    = np.array([-40, -10, 0, 8, 15, 22, 38], dtype=float)</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fahrenheit = np.array([-40, 14, 32, 46.4, 59, 71.6, 100.4], dtype=float)</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modelo = tf.keras.Sequential([tf.keras.Input(shape=(1,)), tf.keras.layers.Dense(units=1)])  </a:t>
            </a:r>
            <a:r>
              <a:rPr lang="en-US" sz="1200" dirty="0">
                <a:solidFill>
                  <a:srgbClr val="71717A"/>
                </a:solidFill>
                <a:latin typeface="Courier New" pitchFamily="34" charset="0"/>
                <a:ea typeface="Courier New" pitchFamily="34" charset="-122"/>
                <a:cs typeface="Courier New" pitchFamily="34" charset="-120"/>
              </a:rPr>
              <a:t># 1 neurona</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modelo.compile(optimizer=tf.keras.optimizers.Adam(0.1), loss="mean_squared_error")</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historial = modelo.fit(celsius, fahrenheit, epochs=1000, verbose=False)  </a:t>
            </a:r>
            <a:r>
              <a:rPr lang="en-US" sz="1200" dirty="0">
                <a:solidFill>
                  <a:srgbClr val="71717A"/>
                </a:solidFill>
                <a:latin typeface="Courier New" pitchFamily="34" charset="0"/>
                <a:ea typeface="Courier New" pitchFamily="34" charset="-122"/>
                <a:cs typeface="Courier New" pitchFamily="34" charset="-120"/>
              </a:rPr>
              <a:t># ¡a entrenar!</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print(modelo.predict(np.array([[100.0]])))      </a:t>
            </a:r>
            <a:r>
              <a:rPr lang="en-US" sz="1200" dirty="0">
                <a:solidFill>
                  <a:srgbClr val="71717A"/>
                </a:solidFill>
                <a:latin typeface="Courier New" pitchFamily="34" charset="0"/>
                <a:ea typeface="Courier New" pitchFamily="34" charset="-122"/>
                <a:cs typeface="Courier New" pitchFamily="34" charset="-120"/>
              </a:rPr>
              <a:t># ¿cuánto es 100 °C?</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print(modelo.layers[0].get_weights())           </a:t>
            </a:r>
            <a:r>
              <a:rPr lang="en-US" sz="1200" dirty="0">
                <a:solidFill>
                  <a:srgbClr val="71717A"/>
                </a:solidFill>
                <a:latin typeface="Courier New" pitchFamily="34" charset="0"/>
                <a:ea typeface="Courier New" pitchFamily="34" charset="-122"/>
                <a:cs typeface="Courier New" pitchFamily="34" charset="-120"/>
              </a:rPr>
              <a:t># peso y sesgo aprendidos</a:t>
            </a:r>
            <a:endParaRPr lang="en-US" sz="1200" dirty="0"/>
          </a:p>
        </p:txBody>
      </p:sp>
      <p:sp>
        <p:nvSpPr>
          <p:cNvPr id="7"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1717A"/>
                </a:solidFill>
                <a:latin typeface="Courier New" pitchFamily="34" charset="0"/>
                <a:ea typeface="Courier New" pitchFamily="34" charset="-122"/>
                <a:cs typeface="Courier New" pitchFamily="34" charset="-120"/>
              </a:rPr>
              <a:t>TEMA EXTRA · REDES NEURONALES</a:t>
            </a:r>
            <a:endParaRPr lang="en-US" sz="1200" dirty="0"/>
          </a:p>
        </p:txBody>
      </p:sp>
      <p:sp>
        <p:nvSpPr>
          <p:cNvPr id="8"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1717A"/>
                </a:solidFill>
                <a:latin typeface="Courier New" pitchFamily="34" charset="0"/>
                <a:ea typeface="Courier New" pitchFamily="34" charset="-122"/>
                <a:cs typeface="Courier New"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4002B"/>
                </a:solidFill>
                <a:latin typeface="Courier New" pitchFamily="34" charset="0"/>
                <a:ea typeface="Courier New" pitchFamily="34" charset="-122"/>
                <a:cs typeface="Courier New" pitchFamily="34" charset="-120"/>
              </a:rPr>
              <a:t>EJEMPLO 1 · RESULTADOS</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4F4F5"/>
                </a:solidFill>
                <a:latin typeface="Arial" pitchFamily="34" charset="0"/>
                <a:ea typeface="Arial" pitchFamily="34" charset="-122"/>
                <a:cs typeface="Arial" pitchFamily="34" charset="-120"/>
              </a:rPr>
              <a:t>La neurona descubrió la fórmula</a:t>
            </a:r>
            <a:endParaRPr lang="en-US" sz="3200" dirty="0"/>
          </a:p>
        </p:txBody>
      </p:sp>
      <p:sp>
        <p:nvSpPr>
          <p:cNvPr id="4" name="Shape 2"/>
          <p:cNvSpPr/>
          <p:nvPr/>
        </p:nvSpPr>
        <p:spPr>
          <a:xfrm>
            <a:off x="819150" y="1802011"/>
            <a:ext cx="3407767" cy="1630660"/>
          </a:xfrm>
          <a:prstGeom prst="roundRect">
            <a:avLst>
              <a:gd name="adj" fmla="val 7399"/>
            </a:avLst>
          </a:prstGeom>
          <a:solidFill>
            <a:srgbClr val="1A1A1F"/>
          </a:solidFill>
          <a:ln w="12700">
            <a:solidFill>
              <a:srgbClr val="2C2C33"/>
            </a:solidFill>
            <a:prstDash val="solid"/>
          </a:ln>
        </p:spPr>
      </p:sp>
      <p:sp>
        <p:nvSpPr>
          <p:cNvPr id="5" name="Text 3"/>
          <p:cNvSpPr/>
          <p:nvPr/>
        </p:nvSpPr>
        <p:spPr>
          <a:xfrm>
            <a:off x="1054100" y="2036961"/>
            <a:ext cx="302600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E4002B"/>
                </a:solidFill>
                <a:latin typeface="Courier New" pitchFamily="34" charset="0"/>
                <a:ea typeface="Courier New" pitchFamily="34" charset="-122"/>
                <a:cs typeface="Courier New" pitchFamily="34" charset="-120"/>
              </a:rPr>
              <a:t>≈ 1,8</a:t>
            </a:r>
            <a:endParaRPr lang="en-US" sz="4400" dirty="0"/>
          </a:p>
        </p:txBody>
      </p:sp>
      <p:sp>
        <p:nvSpPr>
          <p:cNvPr id="6" name="Text 4"/>
          <p:cNvSpPr/>
          <p:nvPr/>
        </p:nvSpPr>
        <p:spPr>
          <a:xfrm>
            <a:off x="1054100" y="2671961"/>
            <a:ext cx="30260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Peso aprendido</a:t>
            </a:r>
            <a:endParaRPr lang="en-US" sz="1500" dirty="0"/>
          </a:p>
        </p:txBody>
      </p:sp>
      <p:sp>
        <p:nvSpPr>
          <p:cNvPr id="7" name="Text 5"/>
          <p:cNvSpPr/>
          <p:nvPr/>
        </p:nvSpPr>
        <p:spPr>
          <a:xfrm>
            <a:off x="1054100" y="2976761"/>
            <a:ext cx="3026003"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Por cuánto multiplica los grados Celsius.</a:t>
            </a:r>
            <a:endParaRPr lang="en-US" sz="1200" dirty="0"/>
          </a:p>
        </p:txBody>
      </p:sp>
      <p:sp>
        <p:nvSpPr>
          <p:cNvPr id="8" name="Shape 6"/>
          <p:cNvSpPr/>
          <p:nvPr/>
        </p:nvSpPr>
        <p:spPr>
          <a:xfrm>
            <a:off x="4392017" y="1802011"/>
            <a:ext cx="3407866" cy="1630660"/>
          </a:xfrm>
          <a:prstGeom prst="roundRect">
            <a:avLst>
              <a:gd name="adj" fmla="val 7399"/>
            </a:avLst>
          </a:prstGeom>
          <a:solidFill>
            <a:srgbClr val="1A1A1F"/>
          </a:solidFill>
          <a:ln w="12700">
            <a:solidFill>
              <a:srgbClr val="2C2C33"/>
            </a:solidFill>
            <a:prstDash val="solid"/>
          </a:ln>
        </p:spPr>
      </p:sp>
      <p:sp>
        <p:nvSpPr>
          <p:cNvPr id="9" name="Text 7"/>
          <p:cNvSpPr/>
          <p:nvPr/>
        </p:nvSpPr>
        <p:spPr>
          <a:xfrm>
            <a:off x="4626967" y="2036961"/>
            <a:ext cx="3026105"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E4002B"/>
                </a:solidFill>
                <a:latin typeface="Courier New" pitchFamily="34" charset="0"/>
                <a:ea typeface="Courier New" pitchFamily="34" charset="-122"/>
                <a:cs typeface="Courier New" pitchFamily="34" charset="-120"/>
              </a:rPr>
              <a:t>≈ 32</a:t>
            </a:r>
            <a:endParaRPr lang="en-US" sz="4400" dirty="0"/>
          </a:p>
        </p:txBody>
      </p:sp>
      <p:sp>
        <p:nvSpPr>
          <p:cNvPr id="10" name="Text 8"/>
          <p:cNvSpPr/>
          <p:nvPr/>
        </p:nvSpPr>
        <p:spPr>
          <a:xfrm>
            <a:off x="4626967" y="2671961"/>
            <a:ext cx="302610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Sesgo aprendido</a:t>
            </a:r>
            <a:endParaRPr lang="en-US" sz="1500" dirty="0"/>
          </a:p>
        </p:txBody>
      </p:sp>
      <p:sp>
        <p:nvSpPr>
          <p:cNvPr id="11" name="Text 9"/>
          <p:cNvSpPr/>
          <p:nvPr/>
        </p:nvSpPr>
        <p:spPr>
          <a:xfrm>
            <a:off x="4626967" y="2976761"/>
            <a:ext cx="3026105"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Lo que suma siempre, al final.</a:t>
            </a:r>
            <a:endParaRPr lang="en-US" sz="1200" dirty="0"/>
          </a:p>
        </p:txBody>
      </p:sp>
      <p:sp>
        <p:nvSpPr>
          <p:cNvPr id="12" name="Shape 10"/>
          <p:cNvSpPr/>
          <p:nvPr/>
        </p:nvSpPr>
        <p:spPr>
          <a:xfrm>
            <a:off x="7964984" y="1802011"/>
            <a:ext cx="3407866" cy="1630660"/>
          </a:xfrm>
          <a:prstGeom prst="roundRect">
            <a:avLst>
              <a:gd name="adj" fmla="val 7399"/>
            </a:avLst>
          </a:prstGeom>
          <a:solidFill>
            <a:srgbClr val="1A1A1F"/>
          </a:solidFill>
          <a:ln w="12700">
            <a:solidFill>
              <a:srgbClr val="2C2C33"/>
            </a:solidFill>
            <a:prstDash val="solid"/>
          </a:ln>
        </p:spPr>
      </p:sp>
      <p:sp>
        <p:nvSpPr>
          <p:cNvPr id="13" name="Text 11"/>
          <p:cNvSpPr/>
          <p:nvPr/>
        </p:nvSpPr>
        <p:spPr>
          <a:xfrm>
            <a:off x="8199934" y="2036961"/>
            <a:ext cx="3026105"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E4002B"/>
                </a:solidFill>
                <a:latin typeface="Courier New" pitchFamily="34" charset="0"/>
                <a:ea typeface="Courier New" pitchFamily="34" charset="-122"/>
                <a:cs typeface="Courier New" pitchFamily="34" charset="-120"/>
              </a:rPr>
              <a:t>≈ 212</a:t>
            </a:r>
            <a:endParaRPr lang="en-US" sz="4400" dirty="0"/>
          </a:p>
        </p:txBody>
      </p:sp>
      <p:sp>
        <p:nvSpPr>
          <p:cNvPr id="14" name="Text 12"/>
          <p:cNvSpPr/>
          <p:nvPr/>
        </p:nvSpPr>
        <p:spPr>
          <a:xfrm>
            <a:off x="8199934" y="2671961"/>
            <a:ext cx="302610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Predicción para 100 °C</a:t>
            </a:r>
            <a:endParaRPr lang="en-US" sz="1500" dirty="0"/>
          </a:p>
        </p:txBody>
      </p:sp>
      <p:sp>
        <p:nvSpPr>
          <p:cNvPr id="15" name="Text 13"/>
          <p:cNvSpPr/>
          <p:nvPr/>
        </p:nvSpPr>
        <p:spPr>
          <a:xfrm>
            <a:off x="8199934" y="2976761"/>
            <a:ext cx="3026105"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La respuesta correcta es 212 °F.</a:t>
            </a:r>
            <a:endParaRPr lang="en-US" sz="1200" dirty="0"/>
          </a:p>
        </p:txBody>
      </p:sp>
      <p:sp>
        <p:nvSpPr>
          <p:cNvPr id="16" name="Shape 14"/>
          <p:cNvSpPr/>
          <p:nvPr/>
        </p:nvSpPr>
        <p:spPr>
          <a:xfrm>
            <a:off x="819150" y="3648571"/>
            <a:ext cx="10553700" cy="871736"/>
          </a:xfrm>
          <a:prstGeom prst="roundRect">
            <a:avLst>
              <a:gd name="adj" fmla="val 13840"/>
            </a:avLst>
          </a:prstGeom>
          <a:solidFill>
            <a:srgbClr val="1F0A0F"/>
          </a:solidFill>
          <a:ln w="12700">
            <a:solidFill>
              <a:srgbClr val="E4002B"/>
            </a:solidFill>
            <a:prstDash val="solid"/>
          </a:ln>
        </p:spPr>
      </p:sp>
      <p:sp>
        <p:nvSpPr>
          <p:cNvPr id="17" name="Text 15"/>
          <p:cNvSpPr/>
          <p:nvPr/>
        </p:nvSpPr>
        <p:spPr>
          <a:xfrm>
            <a:off x="1079500" y="3832721"/>
            <a:ext cx="103339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18" name="Text 16"/>
          <p:cNvSpPr/>
          <p:nvPr/>
        </p:nvSpPr>
        <p:spPr>
          <a:xfrm>
            <a:off x="1079500" y="4096841"/>
            <a:ext cx="10333990"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4F4F5"/>
                </a:solidFill>
                <a:latin typeface="Arial" pitchFamily="34" charset="0"/>
                <a:ea typeface="Arial" pitchFamily="34" charset="-122"/>
                <a:cs typeface="Arial" pitchFamily="34" charset="-120"/>
              </a:rPr>
              <a:t>La fórmula real es °F = °C × 1,8 + 32. Nadie se la dijo: la encontró ajustando su peso y su sesgo 1000 veces.</a:t>
            </a:r>
            <a:endParaRPr lang="en-US" sz="13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1717A"/>
                </a:solidFill>
                <a:latin typeface="Courier New" pitchFamily="34" charset="0"/>
                <a:ea typeface="Courier New" pitchFamily="34" charset="-122"/>
                <a:cs typeface="Courier New" pitchFamily="34" charset="-120"/>
              </a:rPr>
              <a:t>TEMA EXTRA · REDES NEURONALES</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1717A"/>
                </a:solidFill>
                <a:latin typeface="Courier New" pitchFamily="34" charset="0"/>
                <a:ea typeface="Courier New" pitchFamily="34" charset="-122"/>
                <a:cs typeface="Courier New"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4002B"/>
                </a:solidFill>
                <a:latin typeface="Courier New" pitchFamily="34" charset="0"/>
                <a:ea typeface="Courier New" pitchFamily="34" charset="-122"/>
                <a:cs typeface="Courier New" pitchFamily="34" charset="-120"/>
              </a:rPr>
              <a:t>EJEMPLO 2 · UNA RED DE VERDAD</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4F4F5"/>
                </a:solidFill>
                <a:latin typeface="Arial" pitchFamily="34" charset="0"/>
                <a:ea typeface="Arial" pitchFamily="34" charset="-122"/>
                <a:cs typeface="Arial" pitchFamily="34" charset="-120"/>
              </a:rPr>
              <a:t>Reconoce números escritos a mano</a:t>
            </a:r>
            <a:endParaRPr lang="en-US" sz="3200" dirty="0"/>
          </a:p>
        </p:txBody>
      </p:sp>
      <p:sp>
        <p:nvSpPr>
          <p:cNvPr id="4" name="Text 2"/>
          <p:cNvSpPr/>
          <p:nvPr/>
        </p:nvSpPr>
        <p:spPr>
          <a:xfrm>
            <a:off x="812800" y="1795661"/>
            <a:ext cx="108833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4D4D8"/>
                </a:solidFill>
                <a:latin typeface="Arial" pitchFamily="34" charset="0"/>
                <a:ea typeface="Arial" pitchFamily="34" charset="-122"/>
                <a:cs typeface="Arial" pitchFamily="34" charset="-120"/>
              </a:rPr>
              <a:t>MNIST: 70 000 imágenes de dígitos del 0 al 9 (28 × 28 píxeles), incluidas en TensorFlow.</a:t>
            </a:r>
            <a:endParaRPr lang="en-US" sz="1400" dirty="0"/>
          </a:p>
        </p:txBody>
      </p:sp>
      <p:sp>
        <p:nvSpPr>
          <p:cNvPr id="5" name="Shape 3"/>
          <p:cNvSpPr/>
          <p:nvPr/>
        </p:nvSpPr>
        <p:spPr>
          <a:xfrm>
            <a:off x="819150" y="2262981"/>
            <a:ext cx="10553700" cy="3344466"/>
          </a:xfrm>
          <a:prstGeom prst="roundRect">
            <a:avLst>
              <a:gd name="adj" fmla="val 2848"/>
            </a:avLst>
          </a:prstGeom>
          <a:solidFill>
            <a:srgbClr val="0F0F12"/>
          </a:solidFill>
          <a:ln w="12700">
            <a:solidFill>
              <a:srgbClr val="2C2C33"/>
            </a:solidFill>
            <a:prstDash val="solid"/>
          </a:ln>
        </p:spPr>
      </p:sp>
      <p:sp>
        <p:nvSpPr>
          <p:cNvPr id="6" name="Text 4"/>
          <p:cNvSpPr/>
          <p:nvPr/>
        </p:nvSpPr>
        <p:spPr>
          <a:xfrm>
            <a:off x="1079500" y="2472531"/>
            <a:ext cx="10333990" cy="2950766"/>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import tensorflow as tf</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(x_train, y_train), (x_test, y_test) = tf.keras.datasets.mnist.load_data()</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x_train, x_test = x_train / 255.0, x_test / 255.0         </a:t>
            </a:r>
            <a:r>
              <a:rPr lang="en-US" sz="1200" dirty="0">
                <a:solidFill>
                  <a:srgbClr val="71717A"/>
                </a:solidFill>
                <a:latin typeface="Courier New" pitchFamily="34" charset="0"/>
                <a:ea typeface="Courier New" pitchFamily="34" charset="-122"/>
                <a:cs typeface="Courier New" pitchFamily="34" charset="-120"/>
              </a:rPr>
              <a:t># píxeles de 0 a 1</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modelo = tf.keras.Sequential([</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    tf.keras.Input(shape=(28, 28)),</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    tf.keras.layers.Flatten(),                       </a:t>
            </a:r>
            <a:r>
              <a:rPr lang="en-US" sz="1200" dirty="0">
                <a:solidFill>
                  <a:srgbClr val="71717A"/>
                </a:solidFill>
                <a:latin typeface="Courier New" pitchFamily="34" charset="0"/>
                <a:ea typeface="Courier New" pitchFamily="34" charset="-122"/>
                <a:cs typeface="Courier New" pitchFamily="34" charset="-120"/>
              </a:rPr>
              <a:t># entrada: 784 píxeles en fila</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    tf.keras.layers.Dense(128, activation="relu"),   </a:t>
            </a:r>
            <a:r>
              <a:rPr lang="en-US" sz="1200" dirty="0">
                <a:solidFill>
                  <a:srgbClr val="71717A"/>
                </a:solidFill>
                <a:latin typeface="Courier New" pitchFamily="34" charset="0"/>
                <a:ea typeface="Courier New" pitchFamily="34" charset="-122"/>
                <a:cs typeface="Courier New" pitchFamily="34" charset="-120"/>
              </a:rPr>
              <a:t># capa oculta: 128 neuronas</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    tf.keras.layers.Dense(10, activation="softmax")  </a:t>
            </a:r>
            <a:r>
              <a:rPr lang="en-US" sz="1200" dirty="0">
                <a:solidFill>
                  <a:srgbClr val="71717A"/>
                </a:solidFill>
                <a:latin typeface="Courier New" pitchFamily="34" charset="0"/>
                <a:ea typeface="Courier New" pitchFamily="34" charset="-122"/>
                <a:cs typeface="Courier New" pitchFamily="34" charset="-120"/>
              </a:rPr>
              <a:t># salida: un % por cada dígito</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modelo.compile(optimizer="adam", loss="sparse_categorical_crossentropy", metrics=["accuracy"])</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modelo.fit(x_train, y_train, epochs=5)                    </a:t>
            </a:r>
            <a:r>
              <a:rPr lang="en-US" sz="1200" dirty="0">
                <a:solidFill>
                  <a:srgbClr val="71717A"/>
                </a:solidFill>
                <a:latin typeface="Courier New" pitchFamily="34" charset="0"/>
                <a:ea typeface="Courier New" pitchFamily="34" charset="-122"/>
                <a:cs typeface="Courier New" pitchFamily="34" charset="-120"/>
              </a:rPr>
              <a:t># 5 vueltas por 60 000 imágenes</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modelo.evaluate(x_test, y_test)                           </a:t>
            </a:r>
            <a:r>
              <a:rPr lang="en-US" sz="1200" dirty="0">
                <a:solidFill>
                  <a:srgbClr val="71717A"/>
                </a:solidFill>
                <a:latin typeface="Courier New" pitchFamily="34" charset="0"/>
                <a:ea typeface="Courier New" pitchFamily="34" charset="-122"/>
                <a:cs typeface="Courier New" pitchFamily="34" charset="-120"/>
              </a:rPr>
              <a:t># examen con 10 000 imágenes nuevas</a:t>
            </a:r>
            <a:endParaRPr lang="en-US" sz="1200" dirty="0"/>
          </a:p>
        </p:txBody>
      </p:sp>
      <p:sp>
        <p:nvSpPr>
          <p:cNvPr id="7"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1717A"/>
                </a:solidFill>
                <a:latin typeface="Courier New" pitchFamily="34" charset="0"/>
                <a:ea typeface="Courier New" pitchFamily="34" charset="-122"/>
                <a:cs typeface="Courier New" pitchFamily="34" charset="-120"/>
              </a:rPr>
              <a:t>TEMA EXTRA · </a:t>
            </a:r>
            <a:endParaRPr lang="en-US" sz="1200" dirty="0"/>
          </a:p>
        </p:txBody>
      </p:sp>
      <p:sp>
        <p:nvSpPr>
          <p:cNvPr id="8"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1717A"/>
                </a:solidFill>
                <a:latin typeface="Courier New" pitchFamily="34" charset="0"/>
                <a:ea typeface="Courier New" pitchFamily="34" charset="-122"/>
                <a:cs typeface="Courier New"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4002B"/>
                </a:solidFill>
                <a:latin typeface="Courier New" pitchFamily="34" charset="0"/>
                <a:ea typeface="Courier New" pitchFamily="34" charset="-122"/>
                <a:cs typeface="Courier New" pitchFamily="34" charset="-120"/>
              </a:rPr>
              <a:t>EJEMPLO 2 · RESULTADOS</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4F4F5"/>
                </a:solidFill>
                <a:latin typeface="Arial" pitchFamily="34" charset="0"/>
                <a:ea typeface="Arial" pitchFamily="34" charset="-122"/>
                <a:cs typeface="Arial" pitchFamily="34" charset="-120"/>
              </a:rPr>
              <a:t>Cómo leer lo que imprime Colab</a:t>
            </a:r>
            <a:endParaRPr lang="en-US" sz="3200" dirty="0"/>
          </a:p>
        </p:txBody>
      </p:sp>
      <p:sp>
        <p:nvSpPr>
          <p:cNvPr id="4" name="Shape 2"/>
          <p:cNvSpPr/>
          <p:nvPr/>
        </p:nvSpPr>
        <p:spPr>
          <a:xfrm>
            <a:off x="819150" y="1802011"/>
            <a:ext cx="3407767" cy="1508720"/>
          </a:xfrm>
          <a:prstGeom prst="roundRect">
            <a:avLst>
              <a:gd name="adj" fmla="val 7997"/>
            </a:avLst>
          </a:prstGeom>
          <a:solidFill>
            <a:srgbClr val="1A1A1F"/>
          </a:solidFill>
          <a:ln w="12700">
            <a:solidFill>
              <a:srgbClr val="2C2C33"/>
            </a:solidFill>
            <a:prstDash val="solid"/>
          </a:ln>
        </p:spPr>
      </p:sp>
      <p:sp>
        <p:nvSpPr>
          <p:cNvPr id="5" name="Text 3"/>
          <p:cNvSpPr/>
          <p:nvPr/>
        </p:nvSpPr>
        <p:spPr>
          <a:xfrm>
            <a:off x="1028700" y="2011561"/>
            <a:ext cx="30783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4002B"/>
                </a:solidFill>
                <a:latin typeface="Courier New" pitchFamily="34" charset="0"/>
                <a:ea typeface="Courier New" pitchFamily="34" charset="-122"/>
                <a:cs typeface="Courier New" pitchFamily="34" charset="-120"/>
              </a:rPr>
              <a:t>accuracy</a:t>
            </a:r>
            <a:endParaRPr lang="en-US" sz="1500" dirty="0"/>
          </a:p>
        </p:txBody>
      </p:sp>
      <p:sp>
        <p:nvSpPr>
          <p:cNvPr id="6" name="Text 4"/>
          <p:cNvSpPr/>
          <p:nvPr/>
        </p:nvSpPr>
        <p:spPr>
          <a:xfrm>
            <a:off x="1028700" y="2354461"/>
            <a:ext cx="30783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Aciertos al practicar</a:t>
            </a:r>
            <a:endParaRPr lang="en-US" sz="1500" dirty="0"/>
          </a:p>
        </p:txBody>
      </p:sp>
      <p:sp>
        <p:nvSpPr>
          <p:cNvPr id="7" name="Text 5"/>
          <p:cNvSpPr/>
          <p:nvPr/>
        </p:nvSpPr>
        <p:spPr>
          <a:xfrm>
            <a:off x="1028700" y="2659261"/>
            <a:ext cx="307832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Porcentaje de aciertos con las imágenes de entrenamiento. Sube en cada época.</a:t>
            </a:r>
            <a:endParaRPr lang="en-US" sz="1200" dirty="0"/>
          </a:p>
        </p:txBody>
      </p:sp>
      <p:sp>
        <p:nvSpPr>
          <p:cNvPr id="8" name="Shape 6"/>
          <p:cNvSpPr/>
          <p:nvPr/>
        </p:nvSpPr>
        <p:spPr>
          <a:xfrm>
            <a:off x="4392017" y="1802011"/>
            <a:ext cx="3407866" cy="1508720"/>
          </a:xfrm>
          <a:prstGeom prst="roundRect">
            <a:avLst>
              <a:gd name="adj" fmla="val 7997"/>
            </a:avLst>
          </a:prstGeom>
          <a:solidFill>
            <a:srgbClr val="1A1A1F"/>
          </a:solidFill>
          <a:ln w="12700">
            <a:solidFill>
              <a:srgbClr val="E4002B"/>
            </a:solidFill>
            <a:prstDash val="solid"/>
          </a:ln>
        </p:spPr>
      </p:sp>
      <p:sp>
        <p:nvSpPr>
          <p:cNvPr id="9" name="Text 7"/>
          <p:cNvSpPr/>
          <p:nvPr/>
        </p:nvSpPr>
        <p:spPr>
          <a:xfrm>
            <a:off x="4601567" y="2011561"/>
            <a:ext cx="307842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4002B"/>
                </a:solidFill>
                <a:latin typeface="Courier New" pitchFamily="34" charset="0"/>
                <a:ea typeface="Courier New" pitchFamily="34" charset="-122"/>
                <a:cs typeface="Courier New" pitchFamily="34" charset="-120"/>
              </a:rPr>
              <a:t>evaluate</a:t>
            </a:r>
            <a:endParaRPr lang="en-US" sz="1500" dirty="0"/>
          </a:p>
        </p:txBody>
      </p:sp>
      <p:sp>
        <p:nvSpPr>
          <p:cNvPr id="10" name="Text 8"/>
          <p:cNvSpPr/>
          <p:nvPr/>
        </p:nvSpPr>
        <p:spPr>
          <a:xfrm>
            <a:off x="4601567" y="235446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El examen final</a:t>
            </a:r>
            <a:endParaRPr lang="en-US" sz="1500" dirty="0"/>
          </a:p>
        </p:txBody>
      </p:sp>
      <p:sp>
        <p:nvSpPr>
          <p:cNvPr id="11" name="Text 9"/>
          <p:cNvSpPr/>
          <p:nvPr/>
        </p:nvSpPr>
        <p:spPr>
          <a:xfrm>
            <a:off x="4601567" y="2659261"/>
            <a:ext cx="307842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Aciertos con 10 000 imágenes que nunca vio. Suele rondar el 97 % o 98 %.</a:t>
            </a:r>
            <a:endParaRPr lang="en-US" sz="1200" dirty="0"/>
          </a:p>
        </p:txBody>
      </p:sp>
      <p:sp>
        <p:nvSpPr>
          <p:cNvPr id="12" name="Shape 10"/>
          <p:cNvSpPr/>
          <p:nvPr/>
        </p:nvSpPr>
        <p:spPr>
          <a:xfrm>
            <a:off x="7964984" y="1802011"/>
            <a:ext cx="3407866" cy="1508720"/>
          </a:xfrm>
          <a:prstGeom prst="roundRect">
            <a:avLst>
              <a:gd name="adj" fmla="val 7997"/>
            </a:avLst>
          </a:prstGeom>
          <a:solidFill>
            <a:srgbClr val="1A1A1F"/>
          </a:solidFill>
          <a:ln w="12700">
            <a:solidFill>
              <a:srgbClr val="2C2C33"/>
            </a:solidFill>
            <a:prstDash val="solid"/>
          </a:ln>
        </p:spPr>
      </p:sp>
      <p:sp>
        <p:nvSpPr>
          <p:cNvPr id="13" name="Text 11"/>
          <p:cNvSpPr/>
          <p:nvPr/>
        </p:nvSpPr>
        <p:spPr>
          <a:xfrm>
            <a:off x="8174534" y="2011561"/>
            <a:ext cx="307842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4002B"/>
                </a:solidFill>
                <a:latin typeface="Courier New" pitchFamily="34" charset="0"/>
                <a:ea typeface="Courier New" pitchFamily="34" charset="-122"/>
                <a:cs typeface="Courier New" pitchFamily="34" charset="-120"/>
              </a:rPr>
              <a:t>¿memorizó?</a:t>
            </a:r>
            <a:endParaRPr lang="en-US" sz="1500" dirty="0"/>
          </a:p>
        </p:txBody>
      </p:sp>
      <p:sp>
        <p:nvSpPr>
          <p:cNvPr id="14" name="Text 12"/>
          <p:cNvSpPr/>
          <p:nvPr/>
        </p:nvSpPr>
        <p:spPr>
          <a:xfrm>
            <a:off x="8174534" y="235446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Compara los dos</a:t>
            </a:r>
            <a:endParaRPr lang="en-US" sz="1500" dirty="0"/>
          </a:p>
        </p:txBody>
      </p:sp>
      <p:sp>
        <p:nvSpPr>
          <p:cNvPr id="15" name="Text 13"/>
          <p:cNvSpPr/>
          <p:nvPr/>
        </p:nvSpPr>
        <p:spPr>
          <a:xfrm>
            <a:off x="8174534" y="2659261"/>
            <a:ext cx="307842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Si practica mucho mejor de lo que rinde en el examen, hay sobreajuste.</a:t>
            </a:r>
            <a:endParaRPr lang="en-US" sz="1200" dirty="0"/>
          </a:p>
        </p:txBody>
      </p:sp>
      <p:sp>
        <p:nvSpPr>
          <p:cNvPr id="16" name="Shape 14"/>
          <p:cNvSpPr/>
          <p:nvPr/>
        </p:nvSpPr>
        <p:spPr>
          <a:xfrm>
            <a:off x="819150" y="3526631"/>
            <a:ext cx="10553700" cy="1633538"/>
          </a:xfrm>
          <a:prstGeom prst="roundRect">
            <a:avLst>
              <a:gd name="adj" fmla="val 5831"/>
            </a:avLst>
          </a:prstGeom>
          <a:solidFill>
            <a:srgbClr val="0F0F12"/>
          </a:solidFill>
          <a:ln w="12700">
            <a:solidFill>
              <a:srgbClr val="2C2C33"/>
            </a:solidFill>
            <a:prstDash val="solid"/>
          </a:ln>
        </p:spPr>
      </p:sp>
      <p:sp>
        <p:nvSpPr>
          <p:cNvPr id="17" name="Text 15"/>
          <p:cNvSpPr/>
          <p:nvPr/>
        </p:nvSpPr>
        <p:spPr>
          <a:xfrm>
            <a:off x="1079500" y="3710781"/>
            <a:ext cx="10333990"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4D4D8"/>
                </a:solidFill>
                <a:latin typeface="Arial" pitchFamily="34" charset="0"/>
                <a:ea typeface="Arial" pitchFamily="34" charset="-122"/>
                <a:cs typeface="Arial" pitchFamily="34" charset="-120"/>
              </a:rPr>
              <a:t>Pruébala con una imagen del examen:</a:t>
            </a:r>
            <a:endParaRPr lang="en-US" sz="1300" dirty="0"/>
          </a:p>
        </p:txBody>
      </p:sp>
      <p:sp>
        <p:nvSpPr>
          <p:cNvPr id="18" name="Text 16"/>
          <p:cNvSpPr/>
          <p:nvPr/>
        </p:nvSpPr>
        <p:spPr>
          <a:xfrm>
            <a:off x="1079500" y="4000897"/>
            <a:ext cx="10333990" cy="1000522"/>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import numpy as np</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import matplotlib.pyplot as plt</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plt.imshow(x_test[0], cmap="gray"); plt.show()</a:t>
            </a:r>
            <a:endParaRPr lang="en-US" sz="1200" dirty="0"/>
          </a:p>
          <a:p>
            <a:pPr algn="l" indent="0" marL="0">
              <a:lnSpc>
                <a:spcPts val="1920"/>
              </a:lnSpc>
              <a:buNone/>
            </a:pPr>
            <a:r>
              <a:rPr lang="en-US" sz="1200" dirty="0">
                <a:solidFill>
                  <a:srgbClr val="E4E4E7"/>
                </a:solidFill>
                <a:latin typeface="Courier New" pitchFamily="34" charset="0"/>
                <a:ea typeface="Courier New" pitchFamily="34" charset="-122"/>
                <a:cs typeface="Courier New" pitchFamily="34" charset="-120"/>
              </a:rPr>
              <a:t>print("La red dice que es un:", np.argmax(modelo.predict(x_test[:1])))  </a:t>
            </a:r>
            <a:r>
              <a:rPr lang="en-US" sz="1200" dirty="0">
                <a:solidFill>
                  <a:srgbClr val="71717A"/>
                </a:solidFill>
                <a:latin typeface="Courier New" pitchFamily="34" charset="0"/>
                <a:ea typeface="Courier New" pitchFamily="34" charset="-122"/>
                <a:cs typeface="Courier New" pitchFamily="34" charset="-120"/>
              </a:rPr>
              <a:t># el dígito con más %</a:t>
            </a:r>
            <a:endParaRPr lang="en-US" sz="12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1717A"/>
                </a:solidFill>
                <a:latin typeface="Courier New" pitchFamily="34" charset="0"/>
                <a:ea typeface="Courier New" pitchFamily="34" charset="-122"/>
                <a:cs typeface="Courier New" pitchFamily="34" charset="-120"/>
              </a:rPr>
              <a:t>TEMA EXTRA · REDES NEURONALES</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1717A"/>
                </a:solidFill>
                <a:latin typeface="Courier New" pitchFamily="34" charset="0"/>
                <a:ea typeface="Courier New" pitchFamily="34" charset="-122"/>
                <a:cs typeface="Courier New"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4002B"/>
                </a:solidFill>
                <a:latin typeface="Courier New" pitchFamily="34" charset="0"/>
                <a:ea typeface="Courier New" pitchFamily="34" charset="-122"/>
                <a:cs typeface="Courier New" pitchFamily="34" charset="-120"/>
              </a:rPr>
              <a:t>¿CUÁNDO USARLAS?</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4F4F5"/>
                </a:solidFill>
                <a:latin typeface="Arial" pitchFamily="34" charset="0"/>
                <a:ea typeface="Arial" pitchFamily="34" charset="-122"/>
                <a:cs typeface="Arial" pitchFamily="34" charset="-120"/>
              </a:rPr>
              <a:t>Redes neuronales vs. modelos clásicos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08361"/>
          <a:ext cx="10553700" cy="1929805"/>
        </p:xfrm>
        <a:graphic>
          <a:graphicData uri="http://schemas.openxmlformats.org/drawingml/2006/table">
            <a:tbl>
              <a:tblPr/>
              <a:tblGrid>
                <a:gridCol w="2532888"/>
                <a:gridCol w="4010406"/>
                <a:gridCol w="4010406"/>
              </a:tblGrid>
              <a:tr h="385961">
                <a:tc>
                  <a:txBody>
                    <a:bodyPr/>
                    <a:lstStyle/>
                    <a:p>
                      <a:pPr indent="0" marL="0">
                        <a:lnSpc>
                          <a:spcPts val="1960"/>
                        </a:lnSpc>
                        <a:buNone/>
                      </a:pPr>
                      <a:r>
                        <a:rPr lang="en-US" sz="1400" b="1" dirty="0">
                          <a:solidFill>
                            <a:srgbClr val="E4E4E7"/>
                          </a:solidFill>
                          <a:latin typeface="Arial" pitchFamily="34" charset="0"/>
                          <a:ea typeface="Arial" pitchFamily="34" charset="-122"/>
                          <a:cs typeface="Arial" pitchFamily="34" charset="-120"/>
                        </a:rPr>
                        <a:t>Aspecto</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indent="0" marL="0">
                        <a:lnSpc>
                          <a:spcPts val="1960"/>
                        </a:lnSpc>
                        <a:buNone/>
                      </a:pPr>
                      <a:r>
                        <a:rPr lang="en-US" sz="1400" b="1" dirty="0">
                          <a:solidFill>
                            <a:srgbClr val="E4E4E7"/>
                          </a:solidFill>
                          <a:latin typeface="Arial" pitchFamily="34" charset="0"/>
                          <a:ea typeface="Arial" pitchFamily="34" charset="-122"/>
                          <a:cs typeface="Arial" pitchFamily="34" charset="-120"/>
                        </a:rPr>
                        <a:t>Regresión y árboles</a:t>
                      </a:r>
                      <a:endParaRPr lang="en-US" sz="1400" dirty="0">
                        <a:latin typeface="Arial" charset="0"/>
                        <a:ea typeface="Arial" charset="0"/>
                        <a:cs typeface="Arial" charset="0"/>
                      </a:endParaRPr>
                    </a:p>
                  </a:txBody>
                  <a:tcPr marL="62230" marR="62230" marT="62230" marB="62230" anchor="t">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indent="0" marL="0">
                        <a:lnSpc>
                          <a:spcPts val="1960"/>
                        </a:lnSpc>
                        <a:buNone/>
                      </a:pPr>
                      <a:r>
                        <a:rPr lang="en-US" sz="1400" b="1" dirty="0">
                          <a:solidFill>
                            <a:srgbClr val="E4E4E7"/>
                          </a:solidFill>
                          <a:latin typeface="Arial" pitchFamily="34" charset="0"/>
                          <a:ea typeface="Arial" pitchFamily="34" charset="-122"/>
                          <a:cs typeface="Arial" pitchFamily="34" charset="-120"/>
                        </a:rPr>
                        <a:t>Redes neuronales</a:t>
                      </a:r>
                      <a:endParaRPr lang="en-US" sz="1400" dirty="0">
                        <a:latin typeface="Arial" charset="0"/>
                        <a:ea typeface="Arial" charset="0"/>
                        <a:cs typeface="Arial" charset="0"/>
                      </a:endParaRPr>
                    </a:p>
                  </a:txBody>
                  <a:tcPr marL="62230" marR="62230" marT="62230" marB="62230" anchor="t">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r>
              <a:tr h="385961">
                <a:tc>
                  <a:txBody>
                    <a:bodyPr/>
                    <a:lstStyle/>
                    <a:p>
                      <a:pPr indent="0" marL="0">
                        <a:lnSpc>
                          <a:spcPts val="1960"/>
                        </a:lnSpc>
                        <a:buNone/>
                      </a:pPr>
                      <a:r>
                        <a:rPr lang="en-US" sz="1400" dirty="0">
                          <a:solidFill>
                            <a:srgbClr val="A1A1AA"/>
                          </a:solidFill>
                          <a:latin typeface="Arial" pitchFamily="34" charset="0"/>
                          <a:ea typeface="Arial" pitchFamily="34" charset="-122"/>
                          <a:cs typeface="Arial" pitchFamily="34" charset="-120"/>
                        </a:rPr>
                        <a:t>Datos que necesitan</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indent="0" marL="0">
                        <a:lnSpc>
                          <a:spcPts val="1960"/>
                        </a:lnSpc>
                        <a:buNone/>
                      </a:pPr>
                      <a:r>
                        <a:rPr lang="en-US" sz="1400" dirty="0">
                          <a:solidFill>
                            <a:srgbClr val="E4E4E7"/>
                          </a:solidFill>
                          <a:latin typeface="Arial" pitchFamily="34" charset="0"/>
                          <a:ea typeface="Arial" pitchFamily="34" charset="-122"/>
                          <a:cs typeface="Arial" pitchFamily="34" charset="-120"/>
                        </a:rPr>
                        <a:t>Pocos: cientos de filas bastan</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indent="0" marL="0">
                        <a:lnSpc>
                          <a:spcPts val="1960"/>
                        </a:lnSpc>
                        <a:buNone/>
                      </a:pPr>
                      <a:r>
                        <a:rPr lang="en-US" sz="1400" dirty="0">
                          <a:solidFill>
                            <a:srgbClr val="E4E4E7"/>
                          </a:solidFill>
                          <a:latin typeface="Arial" pitchFamily="34" charset="0"/>
                          <a:ea typeface="Arial" pitchFamily="34" charset="-122"/>
                          <a:cs typeface="Arial" pitchFamily="34" charset="-120"/>
                        </a:rPr>
                        <a:t>Muchos: miles o millones de ejemplos</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r>
              <a:tr h="385961">
                <a:tc>
                  <a:txBody>
                    <a:bodyPr/>
                    <a:lstStyle/>
                    <a:p>
                      <a:pPr indent="0" marL="0">
                        <a:lnSpc>
                          <a:spcPts val="1960"/>
                        </a:lnSpc>
                        <a:buNone/>
                      </a:pPr>
                      <a:r>
                        <a:rPr lang="en-US" sz="1400" dirty="0">
                          <a:solidFill>
                            <a:srgbClr val="A1A1AA"/>
                          </a:solidFill>
                          <a:latin typeface="Arial" pitchFamily="34" charset="0"/>
                          <a:ea typeface="Arial" pitchFamily="34" charset="-122"/>
                          <a:cs typeface="Arial" pitchFamily="34" charset="-120"/>
                        </a:rPr>
                        <a:t>Tipo de datos</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indent="0" marL="0">
                        <a:lnSpc>
                          <a:spcPts val="1960"/>
                        </a:lnSpc>
                        <a:buNone/>
                      </a:pPr>
                      <a:r>
                        <a:rPr lang="en-US" sz="1400" dirty="0">
                          <a:solidFill>
                            <a:srgbClr val="E4E4E7"/>
                          </a:solidFill>
                          <a:latin typeface="Arial" pitchFamily="34" charset="0"/>
                          <a:ea typeface="Arial" pitchFamily="34" charset="-122"/>
                          <a:cs typeface="Arial" pitchFamily="34" charset="-120"/>
                        </a:rPr>
                        <a:t>Tablas de Excel o bases de datos</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indent="0" marL="0">
                        <a:lnSpc>
                          <a:spcPts val="1960"/>
                        </a:lnSpc>
                        <a:buNone/>
                      </a:pPr>
                      <a:r>
                        <a:rPr lang="en-US" sz="1400" dirty="0">
                          <a:solidFill>
                            <a:srgbClr val="E4E4E7"/>
                          </a:solidFill>
                          <a:latin typeface="Arial" pitchFamily="34" charset="0"/>
                          <a:ea typeface="Arial" pitchFamily="34" charset="-122"/>
                          <a:cs typeface="Arial" pitchFamily="34" charset="-120"/>
                        </a:rPr>
                        <a:t>Imágenes, voz, texto y tablas grandes</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r>
              <a:tr h="385961">
                <a:tc>
                  <a:txBody>
                    <a:bodyPr/>
                    <a:lstStyle/>
                    <a:p>
                      <a:pPr indent="0" marL="0">
                        <a:lnSpc>
                          <a:spcPts val="1960"/>
                        </a:lnSpc>
                        <a:buNone/>
                      </a:pPr>
                      <a:r>
                        <a:rPr lang="en-US" sz="1400" dirty="0">
                          <a:solidFill>
                            <a:srgbClr val="A1A1AA"/>
                          </a:solidFill>
                          <a:latin typeface="Arial" pitchFamily="34" charset="0"/>
                          <a:ea typeface="Arial" pitchFamily="34" charset="-122"/>
                          <a:cs typeface="Arial" pitchFamily="34" charset="-120"/>
                        </a:rPr>
                        <a:t>Explicar el resultado</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indent="0" marL="0">
                        <a:lnSpc>
                          <a:spcPts val="1960"/>
                        </a:lnSpc>
                        <a:buNone/>
                      </a:pPr>
                      <a:r>
                        <a:rPr lang="en-US" sz="1400" dirty="0">
                          <a:solidFill>
                            <a:srgbClr val="E4E4E7"/>
                          </a:solidFill>
                          <a:latin typeface="Arial" pitchFamily="34" charset="0"/>
                          <a:ea typeface="Arial" pitchFamily="34" charset="-122"/>
                          <a:cs typeface="Arial" pitchFamily="34" charset="-120"/>
                        </a:rPr>
                        <a:t>Fácil: coeficientes y reglas</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indent="0" marL="0">
                        <a:lnSpc>
                          <a:spcPts val="1960"/>
                        </a:lnSpc>
                        <a:buNone/>
                      </a:pPr>
                      <a:r>
                        <a:rPr lang="en-US" sz="1400" dirty="0">
                          <a:solidFill>
                            <a:srgbClr val="E4E4E7"/>
                          </a:solidFill>
                          <a:latin typeface="Arial" pitchFamily="34" charset="0"/>
                          <a:ea typeface="Arial" pitchFamily="34" charset="-122"/>
                          <a:cs typeface="Arial" pitchFamily="34" charset="-120"/>
                        </a:rPr>
                        <a:t>Difícil: se les llama «caja negra»</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r>
              <a:tr h="385961">
                <a:tc>
                  <a:txBody>
                    <a:bodyPr/>
                    <a:lstStyle/>
                    <a:p>
                      <a:pPr indent="0" marL="0">
                        <a:lnSpc>
                          <a:spcPts val="1960"/>
                        </a:lnSpc>
                        <a:buNone/>
                      </a:pPr>
                      <a:r>
                        <a:rPr lang="en-US" sz="1400" dirty="0">
                          <a:solidFill>
                            <a:srgbClr val="A1A1AA"/>
                          </a:solidFill>
                          <a:latin typeface="Arial" pitchFamily="34" charset="0"/>
                          <a:ea typeface="Arial" pitchFamily="34" charset="-122"/>
                          <a:cs typeface="Arial" pitchFamily="34" charset="-120"/>
                        </a:rPr>
                        <a:t>Costo de entrenar</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indent="0" marL="0">
                        <a:lnSpc>
                          <a:spcPts val="1960"/>
                        </a:lnSpc>
                        <a:buNone/>
                      </a:pPr>
                      <a:r>
                        <a:rPr lang="en-US" sz="1400" dirty="0">
                          <a:solidFill>
                            <a:srgbClr val="E4E4E7"/>
                          </a:solidFill>
                          <a:latin typeface="Arial" pitchFamily="34" charset="0"/>
                          <a:ea typeface="Arial" pitchFamily="34" charset="-122"/>
                          <a:cs typeface="Arial" pitchFamily="34" charset="-120"/>
                        </a:rPr>
                        <a:t>Bajo: segundos</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indent="0" marL="0">
                        <a:lnSpc>
                          <a:spcPts val="1960"/>
                        </a:lnSpc>
                        <a:buNone/>
                      </a:pPr>
                      <a:r>
                        <a:rPr lang="en-US" sz="1400" dirty="0">
                          <a:solidFill>
                            <a:srgbClr val="E4E4E7"/>
                          </a:solidFill>
                          <a:latin typeface="Arial" pitchFamily="34" charset="0"/>
                          <a:ea typeface="Arial" pitchFamily="34" charset="-122"/>
                          <a:cs typeface="Arial" pitchFamily="34" charset="-120"/>
                        </a:rPr>
                        <a:t>Alto: minutos, horas o más</a:t>
                      </a:r>
                      <a:endParaRPr lang="en-US" sz="1400" dirty="0">
                        <a:latin typeface="Arial" charset="0"/>
                        <a:ea typeface="Arial" charset="0"/>
                        <a:cs typeface="Arial" charset="0"/>
                      </a:endParaRPr>
                    </a:p>
                  </a:txBody>
                  <a:tcPr marL="62230" marR="62230" marT="62230" marB="62230" anchor="t">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r>
            </a:tbl>
          </a:graphicData>
        </a:graphic>
      </p:graphicFrame>
      <p:sp>
        <p:nvSpPr>
          <p:cNvPr id="5" name="Shape 2"/>
          <p:cNvSpPr/>
          <p:nvPr/>
        </p:nvSpPr>
        <p:spPr>
          <a:xfrm>
            <a:off x="819150" y="3947716"/>
            <a:ext cx="10553700" cy="1111052"/>
          </a:xfrm>
          <a:prstGeom prst="roundRect">
            <a:avLst>
              <a:gd name="adj" fmla="val 10859"/>
            </a:avLst>
          </a:prstGeom>
          <a:solidFill>
            <a:srgbClr val="1F0A0F"/>
          </a:solidFill>
          <a:ln w="12700">
            <a:solidFill>
              <a:srgbClr val="E4002B"/>
            </a:solidFill>
            <a:prstDash val="solid"/>
          </a:ln>
        </p:spPr>
      </p:sp>
      <p:sp>
        <p:nvSpPr>
          <p:cNvPr id="6" name="Text 3"/>
          <p:cNvSpPr/>
          <p:nvPr/>
        </p:nvSpPr>
        <p:spPr>
          <a:xfrm>
            <a:off x="1079500" y="4131866"/>
            <a:ext cx="103339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7" name="Text 4"/>
          <p:cNvSpPr/>
          <p:nvPr/>
        </p:nvSpPr>
        <p:spPr>
          <a:xfrm>
            <a:off x="1079500" y="4395986"/>
            <a:ext cx="10333990"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4F4F5"/>
                </a:solidFill>
                <a:latin typeface="Arial" pitchFamily="34" charset="0"/>
                <a:ea typeface="Arial" pitchFamily="34" charset="-122"/>
                <a:cs typeface="Arial" pitchFamily="34" charset="-120"/>
              </a:rPr>
              <a:t>Empieza siempre por el modelo más sencillo. Usa una red neuronal cuando los datos son muchos o complejos y el modelo sencillo ya no alcanza.</a:t>
            </a:r>
            <a:endParaRPr lang="en-US" sz="1300"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1717A"/>
                </a:solidFill>
                <a:latin typeface="Courier New" pitchFamily="34" charset="0"/>
                <a:ea typeface="Courier New" pitchFamily="34" charset="-122"/>
                <a:cs typeface="Courier New" pitchFamily="34" charset="-120"/>
              </a:rPr>
              <a:t>TEMA EXTRA · REDES NEURONALES</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1717A"/>
                </a:solidFill>
                <a:latin typeface="Courier New" pitchFamily="34" charset="0"/>
                <a:ea typeface="Courier New" pitchFamily="34" charset="-122"/>
                <a:cs typeface="Courier New"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4002B"/>
                </a:solidFill>
                <a:latin typeface="Courier New" pitchFamily="34" charset="0"/>
                <a:ea typeface="Courier New" pitchFamily="34" charset="-122"/>
                <a:cs typeface="Courier New" pitchFamily="34" charset="-120"/>
              </a:rPr>
              <a:t>RETO</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4F4F5"/>
                </a:solidFill>
                <a:latin typeface="Arial" pitchFamily="34" charset="0"/>
                <a:ea typeface="Arial" pitchFamily="34" charset="-122"/>
                <a:cs typeface="Arial" pitchFamily="34" charset="-120"/>
              </a:rPr>
              <a:t>Experimenta con el Ejemplo 2</a:t>
            </a:r>
            <a:endParaRPr lang="en-US" sz="3200" dirty="0"/>
          </a:p>
        </p:txBody>
      </p:sp>
      <p:sp>
        <p:nvSpPr>
          <p:cNvPr id="4" name="Shape 2"/>
          <p:cNvSpPr/>
          <p:nvPr/>
        </p:nvSpPr>
        <p:spPr>
          <a:xfrm>
            <a:off x="819150" y="1903611"/>
            <a:ext cx="2514600" cy="1869380"/>
          </a:xfrm>
          <a:prstGeom prst="roundRect">
            <a:avLst>
              <a:gd name="adj" fmla="val 6454"/>
            </a:avLst>
          </a:prstGeom>
          <a:solidFill>
            <a:srgbClr val="1A1A1F"/>
          </a:solidFill>
          <a:ln w="12700">
            <a:solidFill>
              <a:srgbClr val="2C2C33"/>
            </a:solidFill>
            <a:prstDash val="solid"/>
          </a:ln>
        </p:spPr>
      </p:sp>
      <p:pic>
        <p:nvPicPr>
          <p:cNvPr id="5" name="Image 0" descr="Clock">    </p:cNvPr>
          <p:cNvPicPr>
            <a:picLocks noChangeAspect="1"/>
          </p:cNvPicPr>
          <p:nvPr/>
        </p:nvPicPr>
        <p:blipFill>
          <a:blip r:embed="rId1"/>
          <a:srcRect l="0" r="0" t="0" b="0"/>
          <a:stretch/>
        </p:blipFill>
        <p:spPr>
          <a:xfrm>
            <a:off x="1028700" y="2113161"/>
            <a:ext cx="355600" cy="355600"/>
          </a:xfrm>
          <a:prstGeom prst="rect">
            <a:avLst/>
          </a:prstGeom>
        </p:spPr>
      </p:pic>
      <p:sp>
        <p:nvSpPr>
          <p:cNvPr id="6" name="Text 3"/>
          <p:cNvSpPr/>
          <p:nvPr/>
        </p:nvSpPr>
        <p:spPr>
          <a:xfrm>
            <a:off x="1028700" y="2570361"/>
            <a:ext cx="21583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Cambia las épocas</a:t>
            </a:r>
            <a:endParaRPr lang="en-US" sz="1500" dirty="0"/>
          </a:p>
        </p:txBody>
      </p:sp>
      <p:sp>
        <p:nvSpPr>
          <p:cNvPr id="7" name="Text 4"/>
          <p:cNvSpPr/>
          <p:nvPr/>
        </p:nvSpPr>
        <p:spPr>
          <a:xfrm>
            <a:off x="1028700" y="2900561"/>
            <a:ext cx="2158365"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Prueba con 1 y con 10. ¿Cuánto cambia el examen final?</a:t>
            </a:r>
            <a:endParaRPr lang="en-US" sz="1200" dirty="0"/>
          </a:p>
        </p:txBody>
      </p:sp>
      <p:sp>
        <p:nvSpPr>
          <p:cNvPr id="8" name="Shape 5"/>
          <p:cNvSpPr/>
          <p:nvPr/>
        </p:nvSpPr>
        <p:spPr>
          <a:xfrm>
            <a:off x="3498850" y="1903611"/>
            <a:ext cx="2514600" cy="1869380"/>
          </a:xfrm>
          <a:prstGeom prst="roundRect">
            <a:avLst>
              <a:gd name="adj" fmla="val 6454"/>
            </a:avLst>
          </a:prstGeom>
          <a:solidFill>
            <a:srgbClr val="1A1A1F"/>
          </a:solidFill>
          <a:ln w="12700">
            <a:solidFill>
              <a:srgbClr val="2C2C33"/>
            </a:solidFill>
            <a:prstDash val="solid"/>
          </a:ln>
        </p:spPr>
      </p:sp>
      <p:pic>
        <p:nvPicPr>
          <p:cNvPr id="9" name="Image 1" descr="Users">    </p:cNvPr>
          <p:cNvPicPr>
            <a:picLocks noChangeAspect="1"/>
          </p:cNvPicPr>
          <p:nvPr/>
        </p:nvPicPr>
        <p:blipFill>
          <a:blip r:embed="rId2"/>
          <a:srcRect l="0" r="0" t="0" b="0"/>
          <a:stretch/>
        </p:blipFill>
        <p:spPr>
          <a:xfrm>
            <a:off x="3708400" y="2113161"/>
            <a:ext cx="355600" cy="355600"/>
          </a:xfrm>
          <a:prstGeom prst="rect">
            <a:avLst/>
          </a:prstGeom>
        </p:spPr>
      </p:pic>
      <p:sp>
        <p:nvSpPr>
          <p:cNvPr id="10" name="Text 6"/>
          <p:cNvSpPr/>
          <p:nvPr/>
        </p:nvSpPr>
        <p:spPr>
          <a:xfrm>
            <a:off x="3708400" y="2570361"/>
            <a:ext cx="21583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Cambia las neuronas</a:t>
            </a:r>
            <a:endParaRPr lang="en-US" sz="1500" dirty="0"/>
          </a:p>
        </p:txBody>
      </p:sp>
      <p:sp>
        <p:nvSpPr>
          <p:cNvPr id="11" name="Text 7"/>
          <p:cNvSpPr/>
          <p:nvPr/>
        </p:nvSpPr>
        <p:spPr>
          <a:xfrm>
            <a:off x="3708400" y="2900561"/>
            <a:ext cx="2158365"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Usa 16 y luego 512 en la capa oculta. ¿Mejora o empeora?</a:t>
            </a:r>
            <a:endParaRPr lang="en-US" sz="1200" dirty="0"/>
          </a:p>
        </p:txBody>
      </p:sp>
      <p:sp>
        <p:nvSpPr>
          <p:cNvPr id="12" name="Shape 8"/>
          <p:cNvSpPr/>
          <p:nvPr/>
        </p:nvSpPr>
        <p:spPr>
          <a:xfrm>
            <a:off x="6178550" y="1903611"/>
            <a:ext cx="2514600" cy="1869380"/>
          </a:xfrm>
          <a:prstGeom prst="roundRect">
            <a:avLst>
              <a:gd name="adj" fmla="val 6454"/>
            </a:avLst>
          </a:prstGeom>
          <a:solidFill>
            <a:srgbClr val="1A1A1F"/>
          </a:solidFill>
          <a:ln w="12700">
            <a:solidFill>
              <a:srgbClr val="2C2C33"/>
            </a:solidFill>
            <a:prstDash val="solid"/>
          </a:ln>
        </p:spPr>
      </p:sp>
      <p:pic>
        <p:nvPicPr>
          <p:cNvPr id="13" name="Image 2" descr="Settings">    </p:cNvPr>
          <p:cNvPicPr>
            <a:picLocks noChangeAspect="1"/>
          </p:cNvPicPr>
          <p:nvPr/>
        </p:nvPicPr>
        <p:blipFill>
          <a:blip r:embed="rId3"/>
          <a:srcRect l="0" r="0" t="0" b="0"/>
          <a:stretch/>
        </p:blipFill>
        <p:spPr>
          <a:xfrm>
            <a:off x="6388100" y="2113161"/>
            <a:ext cx="355600" cy="355600"/>
          </a:xfrm>
          <a:prstGeom prst="rect">
            <a:avLst/>
          </a:prstGeom>
        </p:spPr>
      </p:pic>
      <p:sp>
        <p:nvSpPr>
          <p:cNvPr id="14" name="Text 9"/>
          <p:cNvSpPr/>
          <p:nvPr/>
        </p:nvSpPr>
        <p:spPr>
          <a:xfrm>
            <a:off x="6388100" y="2570361"/>
            <a:ext cx="21583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Agrega una capa</a:t>
            </a:r>
            <a:endParaRPr lang="en-US" sz="1500" dirty="0"/>
          </a:p>
        </p:txBody>
      </p:sp>
      <p:sp>
        <p:nvSpPr>
          <p:cNvPr id="15" name="Text 10"/>
          <p:cNvSpPr/>
          <p:nvPr/>
        </p:nvSpPr>
        <p:spPr>
          <a:xfrm>
            <a:off x="6388100" y="2900561"/>
            <a:ext cx="2158365"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Copia la línea Dense(128) una vez más. ¿Vale la pena?</a:t>
            </a:r>
            <a:endParaRPr lang="en-US" sz="1200" dirty="0"/>
          </a:p>
        </p:txBody>
      </p:sp>
      <p:sp>
        <p:nvSpPr>
          <p:cNvPr id="16" name="Shape 11"/>
          <p:cNvSpPr/>
          <p:nvPr/>
        </p:nvSpPr>
        <p:spPr>
          <a:xfrm>
            <a:off x="8858250" y="1903611"/>
            <a:ext cx="2514600" cy="1869380"/>
          </a:xfrm>
          <a:prstGeom prst="roundRect">
            <a:avLst>
              <a:gd name="adj" fmla="val 6454"/>
            </a:avLst>
          </a:prstGeom>
          <a:solidFill>
            <a:srgbClr val="1A1A1F"/>
          </a:solidFill>
          <a:ln w="12700">
            <a:solidFill>
              <a:srgbClr val="2C2C33"/>
            </a:solidFill>
            <a:prstDash val="solid"/>
          </a:ln>
        </p:spPr>
      </p:sp>
      <p:pic>
        <p:nvPicPr>
          <p:cNvPr id="17" name="Image 3" descr="Chat">    </p:cNvPr>
          <p:cNvPicPr>
            <a:picLocks noChangeAspect="1"/>
          </p:cNvPicPr>
          <p:nvPr/>
        </p:nvPicPr>
        <p:blipFill>
          <a:blip r:embed="rId4"/>
          <a:srcRect l="0" r="0" t="0" b="0"/>
          <a:stretch/>
        </p:blipFill>
        <p:spPr>
          <a:xfrm>
            <a:off x="9067800" y="2113161"/>
            <a:ext cx="355600" cy="355600"/>
          </a:xfrm>
          <a:prstGeom prst="rect">
            <a:avLst/>
          </a:prstGeom>
        </p:spPr>
      </p:pic>
      <p:sp>
        <p:nvSpPr>
          <p:cNvPr id="18" name="Text 12"/>
          <p:cNvSpPr/>
          <p:nvPr/>
        </p:nvSpPr>
        <p:spPr>
          <a:xfrm>
            <a:off x="9067800" y="2570361"/>
            <a:ext cx="21583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4F5"/>
                </a:solidFill>
                <a:latin typeface="Arial" pitchFamily="34" charset="0"/>
                <a:ea typeface="Arial" pitchFamily="34" charset="-122"/>
                <a:cs typeface="Arial" pitchFamily="34" charset="-120"/>
              </a:rPr>
              <a:t>Explícalo</a:t>
            </a:r>
            <a:endParaRPr lang="en-US" sz="1500" dirty="0"/>
          </a:p>
        </p:txBody>
      </p:sp>
      <p:sp>
        <p:nvSpPr>
          <p:cNvPr id="19" name="Text 13"/>
          <p:cNvSpPr/>
          <p:nvPr/>
        </p:nvSpPr>
        <p:spPr>
          <a:xfrm>
            <a:off x="9067800" y="2900561"/>
            <a:ext cx="2158365"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1A1AA"/>
                </a:solidFill>
                <a:latin typeface="Arial" pitchFamily="34" charset="0"/>
                <a:ea typeface="Arial" pitchFamily="34" charset="-122"/>
                <a:cs typeface="Arial" pitchFamily="34" charset="-120"/>
              </a:rPr>
              <a:t>Anota tus resultados y cuenta en tres frases qué aprendiste.</a:t>
            </a:r>
            <a:endParaRPr lang="en-US" sz="1200" dirty="0"/>
          </a:p>
        </p:txBody>
      </p:sp>
      <p:sp>
        <p:nvSpPr>
          <p:cNvPr id="20" name="Shape 14"/>
          <p:cNvSpPr/>
          <p:nvPr/>
        </p:nvSpPr>
        <p:spPr>
          <a:xfrm>
            <a:off x="819150" y="4090491"/>
            <a:ext cx="10553700" cy="1111052"/>
          </a:xfrm>
          <a:prstGeom prst="roundRect">
            <a:avLst>
              <a:gd name="adj" fmla="val 10859"/>
            </a:avLst>
          </a:prstGeom>
          <a:solidFill>
            <a:srgbClr val="1F0A0F"/>
          </a:solidFill>
          <a:ln w="12700">
            <a:solidFill>
              <a:srgbClr val="E4002B"/>
            </a:solidFill>
            <a:prstDash val="solid"/>
          </a:ln>
        </p:spPr>
      </p:sp>
      <p:sp>
        <p:nvSpPr>
          <p:cNvPr id="21" name="Text 15"/>
          <p:cNvSpPr/>
          <p:nvPr/>
        </p:nvSpPr>
        <p:spPr>
          <a:xfrm>
            <a:off x="1079500" y="4274641"/>
            <a:ext cx="103339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22" name="Text 16"/>
          <p:cNvSpPr/>
          <p:nvPr/>
        </p:nvSpPr>
        <p:spPr>
          <a:xfrm>
            <a:off x="1079500" y="4538762"/>
            <a:ext cx="10333990"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4F4F5"/>
                </a:solidFill>
                <a:latin typeface="Arial" pitchFamily="34" charset="0"/>
                <a:ea typeface="Arial" pitchFamily="34" charset="-122"/>
                <a:cs typeface="Arial" pitchFamily="34" charset="-120"/>
              </a:rPr>
              <a:t>Así trabajan los científicos de datos: cambian una cosa a la vez, miden el resultado y se quedan con lo que funciona mejor en el examen.</a:t>
            </a:r>
            <a:endParaRPr lang="en-US" sz="1300" dirty="0"/>
          </a:p>
        </p:txBody>
      </p:sp>
      <p:sp>
        <p:nvSpPr>
          <p:cNvPr id="23"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1717A"/>
                </a:solidFill>
                <a:latin typeface="Courier New" pitchFamily="34" charset="0"/>
                <a:ea typeface="Courier New" pitchFamily="34" charset="-122"/>
                <a:cs typeface="Courier New" pitchFamily="34" charset="-120"/>
              </a:rPr>
              <a:t>TEMA EXTRA · REDES NEURONALES</a:t>
            </a:r>
            <a:endParaRPr lang="en-US" sz="1200" dirty="0"/>
          </a:p>
        </p:txBody>
      </p:sp>
      <p:sp>
        <p:nvSpPr>
          <p:cNvPr id="24"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1717A"/>
                </a:solidFill>
                <a:latin typeface="Courier New" pitchFamily="34" charset="0"/>
                <a:ea typeface="Courier New" pitchFamily="34" charset="-122"/>
                <a:cs typeface="Courier New" pitchFamily="34" charset="-120"/>
              </a:rPr>
              <a:t>15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 neuronales</dc:title>
  <dc:subject>PptxGenJS Presentation</dc:subject>
  <dc:creator>PptxGenJS</dc:creator>
  <cp:lastModifiedBy>PptxGenJS</cp:lastModifiedBy>
  <cp:revision>1</cp:revision>
  <dcterms:created xsi:type="dcterms:W3CDTF">2026-09-27T23:31:39Z</dcterms:created>
  <dcterms:modified xsi:type="dcterms:W3CDTF">2026-09-27T23:31:39Z</dcterms:modified>
</cp:coreProperties>
</file>