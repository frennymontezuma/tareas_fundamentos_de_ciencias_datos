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15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098280" y="822960"/>
            <a:ext cx="2651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1704320" y="777240"/>
            <a:ext cx="91440" cy="9144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098280" y="2057400"/>
            <a:ext cx="2331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1384280" y="2011680"/>
            <a:ext cx="91440" cy="91440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9098280" y="3291840"/>
            <a:ext cx="20116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1064240" y="3246120"/>
            <a:ext cx="91440" cy="9144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098280" y="4526280"/>
            <a:ext cx="1691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4480560"/>
            <a:ext cx="91440" cy="91440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9098280" y="5760720"/>
            <a:ext cx="1371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0424160" y="5715000"/>
            <a:ext cx="91440" cy="9144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9464040" y="3017520"/>
            <a:ext cx="1737360" cy="1737360"/>
          </a:xfrm>
          <a:prstGeom prst="rect">
            <a:avLst/>
          </a:prstGeom>
          <a:ln w="1905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9829800" y="3383280"/>
            <a:ext cx="1005840" cy="10058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10104120" y="3657600"/>
            <a:ext cx="457200" cy="457200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ANALÍTICA PREDICTIVA · UNIDAD 1 ]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22860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al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Aplicado</a:t>
            </a:r>
            <a:endParaRPr lang="en-US" sz="4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</a:t>
            </a:r>
            <a:r>
              <a:rPr lang="en-US" sz="1800" dirty="0" err="1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r>
              <a:rPr lang="en-US" sz="18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predictive</a:t>
            </a:r>
            <a:r>
              <a:rPr lang="en-US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AGENDA DE LA UNIDAD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que veremos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2258568"/>
            <a:ext cx="640080" cy="64008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86868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Machine Learning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743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por qué importa y en qué se diferencia de la programación tradicional.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07492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263640" y="2258568"/>
            <a:ext cx="640080" cy="64008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626364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219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aprendizaje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743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supervisado vs. no supervisado: definiciones, ejemplos y diferencias clave.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07492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68680" y="4498848"/>
            <a:ext cx="640080" cy="64008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868680" y="4498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462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 proyecto de ML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983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etapas que sigue todo proyecto, desde el problema hasta el despliegue.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4206240"/>
            <a:ext cx="507492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263640" y="4498848"/>
            <a:ext cx="640080" cy="64008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6263640" y="4498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462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features y target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983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identificar qué predice el modelo y con qué información lo hace.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1. INTRODUCCIÓN AL 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Machine Learning?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rama de la Inteligencia Artificial que permite a un sistema </a:t>
            </a:r>
            <a:r>
              <a:rPr lang="en-US" sz="17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patrones a partir de datos</a:t>
            </a:r>
            <a:r>
              <a:rPr lang="en-US" sz="17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lugar de seguir reglas escritas explícitamente por una persona.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otras palabras: en lugar de programar la lógica paso a paso, le mostramos ejemplos al modelo y él encuentra la relación entre ellos.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754880" cy="19659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2237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tradicional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+ Reglas  →  Resultados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743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programadora define cada regla de forma manual.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0" y="3931920"/>
            <a:ext cx="4754880" cy="196596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722376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+ Resultados  →  Reglas (modelo)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4937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descubre el patrón a partir de ejemplos.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1. INTRODUCCIÓN AL 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Machine Learning hoy?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datos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986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y dispositivos generan volúmenes de datos sin precedentes.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45262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cómputo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986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y la nube permiten entrenar modelos complejos rápidamente.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275320" y="201168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82753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algoritmos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8986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en técnicas estadísticas y de aprendizaje profundo.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cotidianas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215384"/>
            <a:ext cx="109728" cy="10972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 txBox="1"/>
          <p:nvPr/>
        </p:nvSpPr>
        <p:spPr>
          <a:xfrm>
            <a:off x="822960" y="4087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(Netflix, Spotify, e-commerce)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4215384"/>
            <a:ext cx="109728" cy="10972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6537960" y="4087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fraude en tarjetas y transacciones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18304"/>
            <a:ext cx="109728" cy="10972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822960" y="45902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spam en el correo electrónico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718304"/>
            <a:ext cx="109728" cy="10972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6537960" y="45902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asistido en imágenes médicas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21224"/>
            <a:ext cx="109728" cy="10972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822960" y="50932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 en maquinaria industrial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5221224"/>
            <a:ext cx="109728" cy="10972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 txBox="1"/>
          <p:nvPr/>
        </p:nvSpPr>
        <p:spPr>
          <a:xfrm>
            <a:off x="6537960" y="50932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demanda y precios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2. TIPOS DE APRENDIZAJE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aprenden los modelos?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Supervisado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con datos etiquetados (ya conocemos la respuesta correcta).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Clasificación · Regresión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20440" cy="402336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457200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supervisado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63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con datos sin etiquetas, buscando estructura oculta.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Clustering · Reducción de dimensión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20440" cy="4023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321040" y="2240280"/>
            <a:ext cx="822960" cy="6400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832104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refuerzo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prueba y error, recibiendo recompensas o castigos.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Robótica · Juegos · Control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esta unidad: supervisado y no supervisado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2. TIPOS DE APRENDIZAJE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Supervisado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a partir de ejemplos que ya incluyen la </a:t>
            </a:r>
            <a:r>
              <a:rPr lang="en-US" sz="16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r>
              <a:rPr lang="en-US" sz="16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 etiqueta). El objetivo es predecir esa respuesta para datos nuevos.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852160" cy="118872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 una categoría.  ¿Este correo es spam o no? ¿El cliente compra o no compra?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5852160" cy="118872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82296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 un número.  ¿Cuál será el precio de la casa? ¿Cuánto va a vender el próximo mes?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4846320" cy="448056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717804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etiquetados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468880"/>
          <a:ext cx="4206240" cy="118872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¿Compra?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9281160" y="3794760"/>
            <a:ext cx="0" cy="36576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7680960" y="4206240"/>
            <a:ext cx="3200400" cy="54864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 txBox="1"/>
          <p:nvPr/>
        </p:nvSpPr>
        <p:spPr>
          <a:xfrm>
            <a:off x="7680960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0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entrenado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281160" y="4754880"/>
            <a:ext cx="0" cy="365760"/>
          </a:xfrm>
          <a:prstGeom prst="line">
            <a:avLst/>
          </a:prstGeom>
          <a:noFill/>
          <a:ln w="25400">
            <a:solidFill>
              <a:srgbClr val="E4002B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 txBox="1"/>
          <p:nvPr/>
        </p:nvSpPr>
        <p:spPr>
          <a:xfrm>
            <a:off x="7178040" y="5257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nuevo: 30 años, $1,200 de ingreso  →  Predicción: ¿Compra? Sí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2. TIPOS DE APRENDIZAJE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No Supervisado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recibe datos </a:t>
            </a:r>
            <a:r>
              <a:rPr lang="en-US" sz="16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</a:t>
            </a:r>
            <a:r>
              <a:rPr lang="en-US" sz="16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debe encontrar estructura, agrupaciones o patrones por sí mismo.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852160" cy="118872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(agrupamiento)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elementos parecidos entre sí.  Segmentar clientes según sus hábitos de compra.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5852160" cy="118872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82296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dimensión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muchas variables en pocas, conservando lo esencial.  Simplificar cientos de variables para visualizar o acelerar el análisis.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4846320" cy="4480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717804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agrupar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288036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772400" y="315468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412480" y="278892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9052560" y="310896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9692640" y="283464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332720" y="315468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7589520" y="342900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686800" y="347472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966960" y="342900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10881360" y="3017520"/>
            <a:ext cx="128016" cy="128016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717804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descubiertos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3760" y="4251960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7680960" y="4526280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315200" y="4800600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7863840" y="4800600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7589520" y="4434840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9601200" y="425196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10058400" y="452628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9692640" y="48006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10241280" y="48006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9875520" y="443484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7178040" y="5166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A: clientes frecuentes de bajo gasto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5486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B: clientes ocasionales de alto gasto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2. TIPOS DE APRENDIZAJE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Supervisado vs. No supervisado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297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Aprendizaje Supervisado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Aprendizaje No Supervisado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2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Etiquetados (con respuesta conocida)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etiquetas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Predecir una categoría o un número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Descubrir patrones o grupos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típico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Predecir si un cliente pagará un préstamo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Segmentar clientes por comportamiento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Algoritmos comunes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Regresión, árboles de decisión, 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clustering jerárquico, PCA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evalúa?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Comparando predicción vs. respuesta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6D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Revisando la calidad/coherencia de los grupos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3. FLUJO DE UN PROYECTO DE 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etapas de un proyecto de Machine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5880" y="3108960"/>
            <a:ext cx="955548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60120" y="2743200"/>
            <a:ext cx="731520" cy="7315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problema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39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queremos predecir o descubrir? ¿Qué decisión de negocio apoya?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52700" y="2743200"/>
            <a:ext cx="731520" cy="7315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25527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6690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Recolectar datos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775460" y="40507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la información histórica relevante para el problema.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45280" y="2743200"/>
            <a:ext cx="731520" cy="7315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41452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5948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y limpiar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68040" y="20391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errores, datos faltantes y formatos inconsistentes.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37860" y="2743200"/>
            <a:ext cx="731520" cy="7315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57378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5206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los datos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960620" y="40507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 conjuntos de entrenamiento y prueba (train/test).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30440" y="2743200"/>
            <a:ext cx="731520" cy="7315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73304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6446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modelo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53200" y="20391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aprende el patrón a partir del conjunto de entrenamiento.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23020" y="2743200"/>
            <a:ext cx="731520" cy="7315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89230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3722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resultados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145780" y="40507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desempeño del modelo con el conjunto de prueba.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515600" y="2743200"/>
            <a:ext cx="731520" cy="7315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 txBox="1"/>
          <p:nvPr/>
        </p:nvSpPr>
        <p:spPr>
          <a:xfrm>
            <a:off x="105156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y monitorear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20391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el modelo en producción y vigilar su desempeño en el tiempo.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4. VARIABLES, FEATURES Y TARGET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features y target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86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característica medible de un dato: edad, precio, color, ciudad, etc.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85216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(variables predictoras)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703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que el modelo usa como "pistas" de entrada para hacer una predicción.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85216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777240" y="4846320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7772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(variable objetivo)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120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que queremos predecir; es la "respuesta" del modelo.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1783080"/>
            <a:ext cx="4846320" cy="4480560"/>
          </a:xfrm>
          <a:prstGeom prst="rect">
            <a:avLst/>
          </a:prstGeom>
          <a:solidFill>
            <a:srgbClr val="0C0C0C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71323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Ejemplo: dataset de clientes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514600"/>
          <a:ext cx="4114800" cy="13716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Antigüedad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40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¿Compra?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años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años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13232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Edad, Ingreso, Antigüedad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¿Compra?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5120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problema no supervisado no hay target: solo trabajamos con features para descubrir estructura en los datos.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PRÁCTICA GUIADA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1 · Clasificación supervisada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construir, paso a paso, un modelo que predice si un cliente comprará o no un producto.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49808" y="2670048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49808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968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y explorar los datos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926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dataset y revisar sus columnas, tipos de datos y valores faltantes.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464808" y="2670048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6464808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5968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features y target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926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qué columnas son predictoras (X) y cuál es la variable a predecir (y).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49808" y="3904488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74980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313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train / test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los datos en un conjunto para entrenar y otro para evaluar (ej. 80/20).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70332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464808" y="3904488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646480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8313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modelo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un modelo de clasificación (ej. Árbol de Decisión) con los datos de entrenamiento.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49808" y="5138928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749808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0657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modelo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exactitud (accuracy) y revisar la matriz de confusión con los datos de prueba.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93776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464808" y="5138928"/>
            <a:ext cx="50292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6464808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6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0657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casos nuevos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modelo entrenado para predecir clientes que aún no conocemos.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PRÁCTICA GUIADA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 · Clustering no supervisado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segmentar clientes en grupos según su comportamiento, sin decirle al modelo cuáles son los grupos.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49808" y="2670048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49808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968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los datos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926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dataset de clientes (sin ninguna columna de "respuesta").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464808" y="2670048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6464808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5968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las variables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926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los datos para que ninguna variable domine por su magnitud.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49808" y="3904488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74980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313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número de grupos (k)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método del codo para decidir cuántos clústeres formar.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70332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464808" y="3904488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6464808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8313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K-Means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algoritmo para que agrupe a los clientes similares entre sí.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49808" y="5138928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 txBox="1"/>
          <p:nvPr/>
        </p:nvSpPr>
        <p:spPr>
          <a:xfrm>
            <a:off x="749808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0657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los grupos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 los clústeres para ver cómo se distribuyen los clientes.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937760"/>
            <a:ext cx="5394960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464808" y="5138928"/>
            <a:ext cx="502920" cy="502920"/>
          </a:xfrm>
          <a:prstGeom prst="rect">
            <a:avLst/>
          </a:prstGeom>
          <a:solidFill>
            <a:srgbClr val="161616"/>
          </a:solidFill>
          <a:ln w="15875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6464808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0657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cada grupo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el perfil de cada clúster (ej. "alto gasto, baja frecuencia").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HERRAMIENTAS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qué vamos a trabajar en la práctica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0040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4672" y="2194560"/>
            <a:ext cx="640080" cy="6400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 txBox="1"/>
          <p:nvPr/>
        </p:nvSpPr>
        <p:spPr>
          <a:xfrm>
            <a:off x="804672" y="23774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632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 principal para ciencia de datos y ML.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32004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39312" y="2194560"/>
            <a:ext cx="640080" cy="6400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3639312" y="23774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0632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para cargar, explorar y limpiar datos en tablas.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3200400"/>
          </a:xfrm>
          <a:prstGeom prst="rect">
            <a:avLst/>
          </a:prstGeom>
          <a:solidFill>
            <a:srgbClr val="3A0209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473952" y="2194560"/>
            <a:ext cx="640080" cy="6400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6473952" y="23774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0632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con los algoritmos de clasificación y clustering que usaremos.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32004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9308592" y="2194560"/>
            <a:ext cx="640080" cy="64008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 txBox="1"/>
          <p:nvPr/>
        </p:nvSpPr>
        <p:spPr>
          <a:xfrm>
            <a:off x="9308592" y="23774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08592" y="30632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donde escribimos y ejecutamos el código, sin instalar nada.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464040" y="2377440"/>
            <a:ext cx="1737360" cy="1737360"/>
          </a:xfrm>
          <a:prstGeom prst="rect">
            <a:avLst/>
          </a:prstGeom>
          <a:ln w="1905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829800" y="2743200"/>
            <a:ext cx="1005840" cy="10058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104120" y="3017520"/>
            <a:ext cx="457200" cy="457200"/>
          </a:xfrm>
          <a:prstGeom prst="ellipse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9098280" y="4663440"/>
            <a:ext cx="2651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9098280" y="5120640"/>
            <a:ext cx="2331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9098280" y="5577840"/>
            <a:ext cx="20116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098280" y="6035040"/>
            <a:ext cx="1691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PRÓXIMOS PASOS 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1945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 antes de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a la práctica?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1303</Words>
  <Application>Microsoft Office PowerPoint</Application>
  <PresentationFormat>Panorámica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Alonso Moya</cp:lastModifiedBy>
  <cp:revision>4</cp:revision>
  <dcterms:created xsi:type="dcterms:W3CDTF">2026-09-13T19:44:32Z</dcterms:created>
  <dcterms:modified xsi:type="dcterms:W3CDTF">2026-09-17T20:23:27Z</dcterms:modified>
</cp:coreProperties>
</file>