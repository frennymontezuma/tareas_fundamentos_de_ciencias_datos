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E400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822960"/>
            <a:ext cx="2651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777240"/>
            <a:ext cx="91440" cy="9144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" name="Shape 4"/>
          <p:cNvSpPr/>
          <p:nvPr/>
        </p:nvSpPr>
        <p:spPr>
          <a:xfrm>
            <a:off x="9098280" y="2057400"/>
            <a:ext cx="2331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2011680"/>
            <a:ext cx="91440" cy="91440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3291840"/>
            <a:ext cx="2011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0" y="3246120"/>
            <a:ext cx="91440" cy="9144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4526280"/>
            <a:ext cx="1691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480560"/>
            <a:ext cx="91440" cy="91440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8280" y="5760720"/>
            <a:ext cx="1371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5715000"/>
            <a:ext cx="91440" cy="9144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464040" y="3017520"/>
            <a:ext cx="1737360" cy="1737360"/>
          </a:xfrm>
          <a:prstGeom prst="ellipse">
            <a:avLst/>
          </a:prstGeom>
          <a:ln w="19050">
            <a:solidFill>
              <a:srgbClr val="E400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29800" y="3383280"/>
            <a:ext cx="1005840" cy="1005840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04120" y="3657600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MODELOS PREDICTIVOS · UNIDAD 2 ]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2860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Supervisados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Básicos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una máquina aprende a predecir, explicado de forma simple.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AGENDA DE LA UNIDAD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que veremos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5856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 modelo predictivo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7432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modelo, y por qué se le puede llamar "un adivino entrenado con ejemplos".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25856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219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independientes y dependientes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7432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pista (X) y qué es la respuesta que queremos adivinar (Y).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49884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622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algoritmos básicos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98348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"cerebros" más simples: regresión lineal, árbol de decisión y KNN.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20624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49884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4622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 para modelado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98348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hay que "lavar y picar" los datos antes de cocinar el modelo.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CONCEPTO DE MODELO PREDICTIVO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modelo predictivo?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predictivo es, en el fondo,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adivino entrenado con ejemplos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 mostramos casos pasados donde ya sabemos qué pasó, y aprende un patrón para adivinar qué pasará en casos nuevos.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imagina un médico con muchos años de experiencia — ha visto tantos casos que, con solo un par de síntomas, ya intuye el diagnóstico. El modelo hace lo mismo, pero con números.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75488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MODELO PREDICTIVO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fijas, escritas a mano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43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se decide con reglas que una persona programó, una por una.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3931920"/>
            <a:ext cx="4754880" cy="196596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MODELO PREDICTIVO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 →  Patrón  →  Predicción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4937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descubre el patrón solo, a partir de ejemplos ya resueltos.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CONCEPTO DE MODELO PREDICTIVO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"aprende" un modelo predictivo?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ejemplos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muchos casos pasados junto con su resultado real.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0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1168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patrón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qué combinación de datos suele llevar a cada resultado.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20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01168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casos nuevos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patrón aprendido a datos que nunca había visto.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cotidianas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330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series o música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261104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41330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clima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36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créditos bancarios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764024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4636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estimado de una casa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66944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389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 asistido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5266944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51389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ventas del próximo mes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CONCEPTO DE MODELO PREDICTIVO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predicción no es una certeza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predictivo no tiene una bola de cristal: entrega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estimación basada en patrones pasados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casi siempre expresada como una probabilidad, no como un sí o un no absoluto.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cuando el pronóstico dice "80% de probabilidad de lluvia", no significa que vaya a llover el 80% del día — significa que, en situaciones parecidas, llovió 8 de cada 10 veces.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ninguna predicción se toma como verdad absoluta: siempre conviene medir qué tan seguido acierta el modelo, algo que veremos más adelante como "evaluar el modelo".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49440" y="1737360"/>
            <a:ext cx="475488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 de un modelo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cancelar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2880360"/>
            <a:ext cx="384048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880360"/>
            <a:ext cx="2765146" cy="45720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NO cancelar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3977640"/>
            <a:ext cx="384048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977640"/>
            <a:ext cx="107533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754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dice "cancela" o "no cancela": entrega estos dos porcentajes, y nosotros decidimos a partir de qué probabilidad actuamos.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CONCEPTO DE MODELO PREDICTIVO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trabajado: ¿qué cliente va a cancelar?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 streaming quiere anticiparse a las cancelaciones. Junta el historial de miles de clientes: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meses llevan activos, cuántas quejas han hecho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si finalmente cancelaron o no.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activo + Quejas  →  Patrón  →  ¿Cancela?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es como notar que los clientes que se quejan seguido y llevan pocos meses son justamente los que más se van — el modelo detecta esa señal sin que se la digamos explícitamente.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37360"/>
            <a:ext cx="4846320" cy="452628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históricos de clientes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377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Quejas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¿Canceló?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1323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nuevo: 2 meses activo, 3 quejas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81160" y="4572000"/>
            <a:ext cx="0" cy="27432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0" y="4937760"/>
            <a:ext cx="3840480" cy="5486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Sí, probablemente cancele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CONCEPTO DE MODELO PREDICTIVO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trabajado: ¿va a llover mañana?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del clima registra, día a día,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humedad y la presión atmosférica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junto con si llovió o no. Con esos ejemplos, el modelo aprende a reconocer el patrón que antecede a la lluvia.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Humedad + Presión  →  Patrón  →  ¿Llueve?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es la misma lógica que usa alguien que, sin saber meteorología, aprende con los años que "cuando el aire se siente pesado y húmedo, casi siempre llueve".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37360"/>
            <a:ext cx="4846320" cy="452628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 de días anteriores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377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¿Llovió?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1005 hPa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1020 hPa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 hPa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1015 hPa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1323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88% de humedad, 1003 hPa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81160" y="4572000"/>
            <a:ext cx="0" cy="27432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0" y="4937760"/>
            <a:ext cx="3840480" cy="5486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Sí, probablemente llueva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VARIABLES INDEPENDIENTES Y DEPENDIENTES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pistas (X) y la respuesta (Y)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 (X)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86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pista que le damos al modelo: información que ya conocemos de antemano.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852160" cy="123444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(Y)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703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que queremos predecir: lo que todavía no sabemos.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si quieres adivinar el precio de una casa (Y), sus metros cuadrados y su ubicación son las pistas (X).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1783080"/>
            <a:ext cx="484632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Ejemplo: dataset de casas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514600"/>
          <a:ext cx="41148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9281160" y="4069080"/>
            <a:ext cx="0" cy="32004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52360" y="4480560"/>
            <a:ext cx="34747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52360" y="4480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independientes (X)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5120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 cuadrados, Habitaciones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5532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(Y): Precio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VARIABLES INDEPENDIENTES Y DEPENDIENTES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con lo que pones en 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dato puede ser X en un problema y Y en otro.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una casa es Y cuando queremos calcularlo, pero puede ser X cuando queremos predecir si un comprador la va a visitar.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X e Y no son etiquetas fijas de una columna — dependen de la pregunta que estés haciendo en ese momento.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otro cuidado todavía más importante: no incluir en X información que, en la práctica, no existiría todavía al momento de predecir.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737360"/>
            <a:ext cx="475488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COMÚN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información "del futuro"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743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cancelación usando como X "recibió correo de despedida" — ese dato solo existe después de que el cliente ya canceló.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0" y="3931920"/>
            <a:ext cx="4754880" cy="196596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BUENA PRÁCTICA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solo lo que ya se sabe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937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meses activo y número de quejas — datos que sí existen antes de que el cliente decida cancelar o no.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VARIABLES INDEPENDIENTES Y DEPENDIENTES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Identificando X e Y en la vida real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  <a:gridCol w="3383280"/>
              </a:tblGrid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independientes 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dependiente (Y)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un carro usado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Año, kilometraje, 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correo es spam o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Palabras del mensaje, remitente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 spam?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del próximo 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en publicidad, temporada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Aprobar un préstamo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Ingreso, historial de pago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aprueba?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de una enfermedad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Síntomas, resultados de exámenes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¿Tiene la enfermedad?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VARIABLES INDEPENDIENTES Y DEPENDIENTES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trabajado: precio de un teléfono usado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vender un teléfono usado,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meses de uso y el estado de la batería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las pistas (X); el precio de reventa es lo que queremos calcular (Y).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de uso + Batería  →  Patrón  →  Precio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todos sabemos, sin hacer cálculos, que un teléfono con batería gastada y muchos meses de uso vale menos — el modelo solo pone un número exacto a esa intuición.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37360"/>
            <a:ext cx="4846320" cy="452628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Teléfonos ya vendidos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377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1323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nuevo: 12 meses de uso, 85% de batería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81160" y="4572000"/>
            <a:ext cx="0" cy="27432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0" y="4937760"/>
            <a:ext cx="3840480" cy="5486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$340 aproximadamente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3 "cerebros" más simples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la "línea que mejor ajusta" los puntos, para predecir un número.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49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Predice números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20440" cy="4023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4028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423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decisión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preguntas de sí/no en cadena, como un diagrama de flujo, hasta llegar a una respuesta.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349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Predice categorías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20440" cy="4023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4028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423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 vecinos)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los casos más parecidos ya conocidos y copia la respuesta más común entre ellos.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5349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Categorías o números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KNN es como preguntarle a tus 5 vecinos más parecidos a ti qué opinan, y quedarte con la respuesta de la mayoría.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regresión lineal paso a paso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horas de estudio y nota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48640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de estudio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obtenida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15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los puntos casi forman una línea recta — el modelo solo tiene que encontrar esa línea.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737360"/>
            <a:ext cx="525780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aprendido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 ≈  6 × horas_estudio  +  40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0175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adicional de estudio suma unos 6 puntos a la nota esperada; sin estudiar, el modelo espera un 40 como 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025128" y="4206240"/>
            <a:ext cx="0" cy="27432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75120" y="4572000"/>
            <a:ext cx="4709160" cy="68580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45720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horas de estudio  →  82 puntos estimados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54406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coincide con el dato real de la tabla — señal de que el modelo aprendió bien el patrón.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árbol de decisión paso a paso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banco decide si aprobar un préstamo haciendo preguntas en cadena: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¿Entregó un pago inicial?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</a:t>
            </a:r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</a:t>
            </a:r>
            <a:pPr indent="0" marL="0">
              <a:buNone/>
            </a:pPr>
            <a:r>
              <a:rPr lang="en-US" sz="1300" b="1" dirty="0">
                <a:solidFill>
                  <a:srgbClr val="3C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con la pregunta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106424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57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¿Ingreso mensual mayor a $1,000?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</a:t>
            </a:r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</a:t>
            </a:r>
            <a:pPr indent="0" marL="0">
              <a:buNone/>
            </a:pPr>
            <a:r>
              <a:rPr lang="en-US" sz="1300" b="1" dirty="0">
                <a:solidFill>
                  <a:srgbClr val="3C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con la pregunta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93776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historial de mora?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</a:t>
            </a:r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</a:t>
            </a:r>
            <a:pPr indent="0" marL="0">
              <a:buNone/>
            </a:pPr>
            <a:r>
              <a:rPr lang="en-US" sz="1300" b="1" dirty="0">
                <a:solidFill>
                  <a:srgbClr val="3C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el árbol va descartando casos con preguntas simples, hasta quedarse con una decisión final.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KNN paso a paso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nuevo: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años, $1,300 de ingreso mensual.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Buscamos sus 5 vecinos más parecidos entre los clientes que ya conocemos: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669280" cy="265176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</a:tblGrid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¿Compró?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37360"/>
            <a:ext cx="525780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Votación de los vecinos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compró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75120" y="2834640"/>
            <a:ext cx="2414016" cy="4114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226296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votos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compró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75120" y="3749040"/>
            <a:ext cx="1609344" cy="4114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21624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votos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25128" y="4434840"/>
            <a:ext cx="0" cy="27432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4800600"/>
            <a:ext cx="4709160" cy="6400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0" y="48006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Sí, probablemente compre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5577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sus 5 vecinos más parecidos sí compraron: la mayoría gana.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3 algoritmos, aplicados al mismo caso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cliente nuevo (29 años, $1,300 de ingreso) evaluado con cada "cerebro":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una probabilidad de compra a partir de edad e ingreso.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303520"/>
            <a:ext cx="2971800" cy="50292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→ Compra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52044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60604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decisión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37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¿Ingreso &gt; $1,200? Sí → ¿Edad &gt; 25? Sí 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5303520"/>
            <a:ext cx="2971800" cy="50292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2044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60604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 vecinos)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337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sus 5 clientes más parecidos ya conocidos.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5303520"/>
            <a:ext cx="2971800" cy="50292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5 → Compra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las tres formas de pensar llegan a la misma conclusión con este cliente — eso no siempre ocurre, y comparar resultados ayuda a confiar más en la predicción.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algoritmo uso primero?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982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predice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Categorías o números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 de interpretar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es casi una fórmula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fácil: se lee como un diagrama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pero lento con muchos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típico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una casa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aprueba el préstamo?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 qué grupo se parece este cliente?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INTRODUCCIÓN A ALGORITMOS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con el sobreajuste (overfitting)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puede aprender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 bien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ejemplos con los que se entrenó, al punto de memorizarlos en vez de entender el patrón general.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es como un estudiante que memorizó las respuestas exactas de los ejercicios de práctica — en el examen real, con preguntas distintas, no sabe qué hacer.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más adelante siempre se evalúa un modelo con datos que no vio durante el entrenamiento.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49440" y="1737360"/>
            <a:ext cx="475488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SOBREAJUSTADO (MEMORIZA)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100% de aciertos... solo en lo ya conocido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34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hasta los detalles y errores de los datos de entrenamiento, y falla con datos nuevos.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0" y="3931920"/>
            <a:ext cx="4754880" cy="196596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BIEN AJUSTADO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menos perfecto... pero mucho más confiable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5029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la tendencia general sin memorizar cada detalle, y predice bien incluso con datos nuevos.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4. PREPARACIÓN DE DATOS PARA MODELADO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modelar: "lavar y picar" los datos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datos faltantes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42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qué columnas tienen huecos (valores nulos) antes de seguir.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errores y valores imposibles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542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Arreglar duplicados o valores absurdos (ej. una edad de 300 años).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las variables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3708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todas las variables en una escala parecida, para que ninguna domine solo por su tamaño.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39496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88620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en entrenamiento y prueba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3708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datos: una parte para que el modelo aprenda, otra para comprobar si aprendió bien.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es como lavar y picar los ingredientes antes de cocinar — si los datos están sucios, ni el mejor algoritmo va a dar un buen resultado.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4. PREPARACIÓN DE DATOS PARA MODELADO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separar entrenamiento y prueba?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un modelo con los mismos datos que usó para aprender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calificar un examen con las mismas preguntas que el estudiante ya había practicado con las respuestas incluidas: parecería perfecto, pero no sabemos si realmente entendió.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8851392" cy="82296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Shape 4"/>
          <p:cNvSpPr/>
          <p:nvPr/>
        </p:nvSpPr>
        <p:spPr>
          <a:xfrm>
            <a:off x="9400032" y="3200400"/>
            <a:ext cx="2212848" cy="8229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8851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· ENTRENAMIENTO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400032" y="32004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 · PRUEBA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8577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de estos datos: puede verlos las veces que sea necesario para encontrar el patrón.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400032" y="425196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solo para medir qué tan bien predice — nunca para entrenar.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nunca le hagas la prueba final a alguien con las mismas preguntas que ya practicó — necesitas preguntas nuevas para saber si realmente aprendió.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4. PREPARACIÓN DE DATOS PARA MODELADO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antes y después de preparar los datos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datos sucios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4846320" cy="201168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4526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3: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faltante  ·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4: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duplicada  ·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5: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imposible (300)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DESPUÉS: datos preparados</a:t>
            </a:r>
            <a:endParaRPr lang="en-US" sz="12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331720"/>
          <a:ext cx="4846320" cy="173736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53796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faltante →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rellenada con la mediana (30)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Duplicada →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eliminada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imposible →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corregida a 45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menos filas, pero datos en los que sí se puede confiar — eso es preferible a tener más datos poco fiables.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4. PREPARACIÓN DE DATOS PARA MODELADO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escalar variables antes de modelar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escalas muy distintas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4846320" cy="137160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40233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ingreso (cientos de miles) opacaría por completo a la edad (decenas) solo por ser un número mucho más grande — aunque la edad importe igual o más.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DESPUÉS: escala 0 a 1</a:t>
            </a:r>
            <a:endParaRPr lang="en-US" sz="125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331720"/>
          <a:ext cx="4846320" cy="137160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537960" y="40233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ambas columnas van de 0 a 1: ninguna variable domina al modelo solo por tener números más grandes.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 escalar es como convertir todo a la misma unidad antes de comparar — así todas las variables compiten en igualdad de condiciones.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HERRAMIENTAS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vamos a trabajar en la práctica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0040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 principal para ciencia de datos y ML.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931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para cargar, explorar y limpiar datos en tablas.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20040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con los algoritmos de regresión, árboles y KNN que usaremos.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0859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0859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donde escribimos y ejecutamos el código, sin instalar nada.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E400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2377440"/>
            <a:ext cx="1737360" cy="1737360"/>
          </a:xfrm>
          <a:prstGeom prst="ellipse">
            <a:avLst/>
          </a:prstGeom>
          <a:ln w="19050">
            <a:solidFill>
              <a:srgbClr val="E400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2743200"/>
            <a:ext cx="1005840" cy="1005840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04120" y="3017520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7" name="Shape 5"/>
          <p:cNvSpPr/>
          <p:nvPr/>
        </p:nvSpPr>
        <p:spPr>
          <a:xfrm>
            <a:off x="9098280" y="4663440"/>
            <a:ext cx="2651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0" y="5120640"/>
            <a:ext cx="2331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5577840"/>
            <a:ext cx="2011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6035040"/>
            <a:ext cx="1691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PARA CERRAR 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1945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 sobre lo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vimos hoy?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2026-09-21T03:57:38Z</dcterms:created>
  <dcterms:modified xsi:type="dcterms:W3CDTF">2026-09-21T03:57:39Z</dcterms:modified>
</cp:coreProperties>
</file>