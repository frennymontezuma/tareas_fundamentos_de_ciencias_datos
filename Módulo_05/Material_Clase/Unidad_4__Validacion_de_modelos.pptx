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12" d="100"/>
          <a:sy n="112" d="100"/>
        </p:scale>
        <p:origin x="516"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notesMaster" Target="notesMasters/notesMaster1.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94980506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Bienvenida a la Unidad 4. En la Unidad 3 construimos modelos de regresión y clasificación; ahora aprendemos a decidir si podemos confiar en ellos. La curva roja de la portada es un modelo que memorizó los datos: pasa por todos los puntos pero hace zigzags absurdos. Al final de la unidad sabrán reconocerlo.</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Presentar la unidad como un recorrido de cuatro preguntas. Cada sesión de 2 horas tiene teoría con analogías (unos 45 minutos) y un cuaderno de Colab para practicar (unos 75 minutos).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Hacer la pregunta en voz alta y dejar que respondan. La respuesta esperada: no, hay que ponerle un examen con preguntas nuevas. Toda la unidad se construye sobre esta idea.</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Muchos términos de machine learning se usan en inglés porque así aparecen en el código y en la documentación (por ejemplo, accuracy_score o recall_score en scikit-learn). Por eso en la unidad usamos las dos palabras: la de inglés para reconocerla en Colab y la de español para entenderla. Sugerencia: pedir a los estudiantes que copien este glosario en su cuaderno y lo completen con sus propios ejemplos a lo largo de la unidad.</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Otros términos que aparecen en el código: score = puntaje o nota; fit = entrenar; predict = predecir; KNN (K-Nearest Neighbors) = K vecinos más cercanos; StandardScaler = escalador estándar; n_estimators = número de árboles; max_depth = profundidad máxima; min_samples_leaf = mínimo de muestras por hoja; random_state = semilla, un número que hace que los resultados salgan siempre iguales.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Inicio de la sesión 1. Cuaderno de apoyo: U4_Ejemplo1_Metricas.ipynb.</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Repaso de la Unidad 3: train_test_split separa los datos en práctica y examen. test_size=0.3 guarda el 30 % para el examen y random_state=42 hace que la división sea siempre la misma, para que todos obtengan los mismos resultados.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Nombres técnicos: verdadero negativo (5), falso positivo o falsa alarma (1), falso negativo o «se le escapó» (1) y verdadero positivo (3). En Colab, confusion_matrix(reales, predichos) imprime exactamente [[5 1] [1 3]] con este orden.</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Truco para recordar los nombres: la segunda palabra (positivo o negativo) es lo que DIJO el modelo; la primera (verdadero o falso) dice si ACERTÓ. Falso positivo = dijo «positivo» y se equivocó. «Positivo» no significa «bueno»: es simplemente la clase que queremos detectar (spam, tumor maligno, fraude). Las fórmulas de abajo son exactamente lo que calculan accuracy_score, precision_score y recall_score en Colab.</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Hacer las cuentas en la pizarra con la matriz de la diapositiva anterior. Truco para recordarlas: la precisión mira la columna de lo que el modelo DIJO que era spam (3 + 1); el recall mira la fila de lo que REALMENTE era spam (1 + 3). En Colab: accuracy_score, precision_score y recall_score.</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MAE significa error absoluto medio y RMSE, raíz del error cuadrático medio. MAE = (10 + 5 + 10 + 10 + 5) ÷ 5 = 8. RMSE: se elevan los errores al cuadrado (100 + 25 + 100 + 100 + 25 = 350), se promedian (70) y se saca la raíz: 8,37. Como eleva al cuadrado, un error de 50 pesa muchísimo más que cinco errores de 10. Actividad del cuaderno: cambiar una predicción para que falle por 50 y ver cuál de las dos métricas sube más.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¿Por qué quitar el signo? Si el lunes el modelo se pasa por 10 (−10) y el martes se queda corto por 10 (+10), el promedio con signo daría 0 y parecería perfecto, aunque falló los dos días. No existe un MAE «bueno» en abstracto: un error de 8 ventas es poco si la cafetería vende 1000 al día, pero mucho si vende 20. En Colab: mean_absolute_error(reales, predichos).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Cuenta del caso «después»: errores 10, 5, 10, 10 y 50. MAE = 85 ÷ 5 = 17. Cuadrados: 100 + 25 + 100 + 100 + 2500 = 2825; promedio 565; raíz 23,77. Truco: el RMSE siempre es mayor o igual que el MAE. Si los dos están parecidos (8 y 8,37), los errores son parejos; si el RMSE es mucho más alto, hay algunos errores muy grandes escondidos. Al paso 3 (el promedio de los cuadrados) se le llama MSE, error cuadrático medio. Ejemplo de cuándo usar RMSE: predecir inventario, donde quedarse muy corto un solo día es grave. En Colab: np.sqrt(mean_squared_error(reales, predichos)).</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Datos: conjunto de cáncer de mama que viene incluido en scikit-learn (load_breast_cancer), 569 pacientes con 30 medidas de cada tumor. En el cuaderno cambiamos las etiquetas para que 1 = maligno, que es lo que queremos detectar. Matriz de confusión obtenida: 106 benignos bien clasificados, 1 falsa alarma, 9 malignos que se escaparon y 55 malignos detectados. Preguntar: en este problema, ¿qué error es más grave, la falsa alarma o el que se escapa?</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 el examen hay 107 benignos y 64 malignos: decir siempre «benigno» acierta 107 de 171, es decir 62,6 %. Ejemplo cotidiano: un detector de fraudes que dice siempre «no es fraude» acertaría casi siempre, porque la gran mayoría de las compras no son fraude, y aun así no serviría para nada.</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Actividad de 5 minutos: dar a los estudiantes tres casos (aprobar un préstamo, detectar un producto defectuoso en una fábrica, predecir el precio de una casa) y que decidan en parejas qué métrica usarían y por qué.</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Inicio de la sesión 2. Cuaderno de apoyo: U4_Ejemplo2_Overfitting_Underfitting.ipynb. En español se dice sobreajuste (overfitting) y subajuste (underfitting).</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Preguntar a la clase: ¿quién ha memorizado para un examen y luego se bloqueó porque el profesor cambió la pregunta? Ese es el overfitting. El modelo que memoriza aprende hasta el «ruido» de los datos: detalles que son pura casualidad y no se repiten en datos nuevos.</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Los puntos siguen una onda con algo de ruido. El «grado» es la complejidad de la curva: grado 1 es una recta y grado 15 es una curva con muchísimas vueltas. El error es el error cuadrático medio: en la práctica, con los 20 puntos con los que aprendió; en el examen, con 50 puntos nuevos. En la gráfica, la curva de grado 15 se sale del cuadro en los extremos: ahí es donde falla con los datos nuevos. Estos números salen de ejecutar el cuaderno 2 tal cual.</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Datos de tumores del cuaderno 1. La profundidad es cuántas preguntas seguidas puede hacer el árbol. Con 8 o más preguntas se aprende de memoria a todos los pacientes de práctica (1,000), pero en el examen saca 0,901: menos que con 3 preguntas (0,918). La línea punteada del gráfico marca la profundidad 3. Las líneas guía horizontales están en 0,90, 0,95 y 1,00.</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 Colab, la nota de práctica es modelo.score(X_train, y_train) y la de examen es modelo.score(X_test, y_test). Una diferencia de unos pocos puntos es normal; una diferencia grande es señal de overfitting. En la sesión 4 veremos cómo encontrar automáticamente la complejidad correcta.</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Transición hacia la validación cruzada. Dejar la pregunta abierta antes de pasar a la sesión 3.</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Inicio de la sesión 3. Cuaderno de apoyo: U4_Ejemplo3_Validacion_Cruzada.ipynb.</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 el cuaderno 3 repetimos train_test_split con random_state del 1 al 5. Las barras empiezan en 0,85 para que se note la diferencia. Casi 6 puntos de diferencia solo por la suerte del reparto: si hubiéramos presentado solo la división 2, habríamos prometido más de lo real.</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cada grupo se le llama pliegue (fold, en inglés); por eso se habla de «validación cruzada de 5 pliegues» o «5-fold». Analogía: un profesor que en lugar de un solo quiz pone cinco, cada uno sobre una parte distinta del temario, y promedia. Nadie aprueba ni reprueba por suerte.</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variación (desviación estándar) dice qué tan estable es el modelo: la regresión logística no solo tiene el mejor promedio, también es la más estable (± 0,007). El árbol cambia más según el grupo de datos (± 0,022). La regresión logística y KNN se usan con los datos escalados; eso lo explicamos en la sesión 4. Reto del cuaderno: cambiar cv=5 por cv=10 y scoring por «recall».</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Inicio de la sesión 4. Cuaderno de apoyo: U4_Ejemplo4_Mejora_de_Modelos.ipynb. Regla de oro de esta sección: todas las pruebas se hacen con validación cruzada sobre los datos de práctica, y el examen final se usa una sola vez, al final.</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KNN decide mirando a los pacientes más parecidos, es decir, midiendo distancias. Sin escalar, una diferencia de 500 en el área pesa muchísimo más que cualquier diferencia en la suavidad, que nunca pasa de 0,1. StandardScaler deja cada variable con promedio 0 y desviación 1. make_pipeline junta el escalado y el modelo para que el escalado se aprenda solo con los datos de práctica. Los árboles de decisión no necesitan escalado, porque solo hacen preguntas del tipo «¿es mayor que…?». Código del cuaderno: knn_escalado = make_pipeline(StandardScaler(), KNeighborsClassifier()).</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Código del cuaderno: perillas = {"max_depth": [...], "min_samples_leaf": [...], "criterion": [...]} y busqueda = GridSearchCV(DecisionTreeClassifier(random_state=42), perillas, cv=5). Después de busqueda.fit(X_train, y_train), busqueda.best_params_ da la mejor receta y busqueda.best_score_ su nota. «Mínimo por hoja» (min_samples_leaf) obliga al árbol a no crear reglas para un solo paciente: es una forma de evitar que memorice. Conectar con la sesión 2: esto es buscar automáticamente la complejidad justa.</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n_estimators es la cantidad de árboles. Cada árbol se entrena con una muestra distinta de pacientes y de variables, así que se equivocan en cosas diferentes y, al votar, los errores se compensan. Es el mismo principio de «la sabiduría de la multitud». Reto del cuaderno: probar con 50 y con 500 árboles. Código del cuaderno: bosque = RandomForestClassifier(n_estimators=200, random_state=42).</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Son los mismos 171 pacientes de examen de la sesión 1. Punto de discusión: el árbol ajustado se buscó maximizando accuracy, no recall. Si en este problema lo más importante es no dejar escapar tumores, en GridSearchCV habría que usar scoring="recall"; ese es el primer reto del cuaderno 4. La lección: primero decide qué métrica importa (sesión 1) y luego mejora el modelo para esa métrica.</a:t>
            </a:r>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Resumen de toda la unidad en cinco pasos. El paso 5 reúne las sesiones 1 y 3: medir con la métrica correcta y con validación cruzada. ¿Por qué el examen final solo una vez? Si lo usamos para elegir, poco a poco lo vamos «memorizando» nosotros y deja de ser un examen honesto.</a:t>
            </a:r>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Cada cuaderno tiene explicaciones en español antes de cada celda, una conclusión y ejercicios para practicar. Todos usan random_state fijo, así que los resultados coinciden con los de estas diapositivas.</a:t>
            </a:r>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9.xml"/><Relationship Id="rId1" Type="http://schemas.openxmlformats.org/officeDocument/2006/relationships/slideLayout" Target="../slideLayouts/slideLayout1.xml"/><Relationship Id="rId5" Type="http://schemas.openxmlformats.org/officeDocument/2006/relationships/image" Target="../media/image1.png"/><Relationship Id="rId4" Type="http://schemas.openxmlformats.org/officeDocument/2006/relationships/image" Target="../media/image4.png"/></Relationships>
</file>

<file path=ppt/slides/_rels/slide2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0B0D"/>
        </a:solidFill>
        <a:effectLst/>
      </p:bgPr>
    </p:bg>
    <p:spTree>
      <p:nvGrpSpPr>
        <p:cNvPr id="1" name=""/>
        <p:cNvGrpSpPr/>
        <p:nvPr/>
      </p:nvGrpSpPr>
      <p:grpSpPr>
        <a:xfrm>
          <a:off x="0" y="0"/>
          <a:ext cx="0" cy="0"/>
          <a:chOff x="0" y="0"/>
          <a:chExt cx="0" cy="0"/>
        </a:xfrm>
      </p:grpSpPr>
      <p:pic>
        <p:nvPicPr>
          <p:cNvPr id="2" name="Image 0" descr="Una curva en zigzag que pasa por todos los puntos: un modelo que memorizó"/>
          <p:cNvPicPr>
            <a:picLocks noChangeAspect="1"/>
          </p:cNvPicPr>
          <p:nvPr/>
        </p:nvPicPr>
        <p:blipFill>
          <a:blip r:embed="rId3"/>
          <a:srcRect/>
          <a:stretch/>
        </p:blipFill>
        <p:spPr>
          <a:xfrm>
            <a:off x="8204200" y="812800"/>
            <a:ext cx="3175000" cy="1651000"/>
          </a:xfrm>
          <a:prstGeom prst="rect">
            <a:avLst/>
          </a:prstGeom>
        </p:spPr>
      </p:pic>
      <p:sp>
        <p:nvSpPr>
          <p:cNvPr id="3" name="Text 0"/>
          <p:cNvSpPr/>
          <p:nvPr/>
        </p:nvSpPr>
        <p:spPr>
          <a:xfrm>
            <a:off x="812800" y="2550418"/>
            <a:ext cx="7194550" cy="256480"/>
          </a:xfrm>
          <a:prstGeom prst="rect">
            <a:avLst/>
          </a:prstGeom>
          <a:noFill/>
          <a:ln/>
        </p:spPr>
        <p:txBody>
          <a:bodyPr wrap="square" lIns="0" tIns="0" rIns="0" bIns="0" rtlCol="0" anchor="t">
            <a:normAutofit/>
          </a:bodyPr>
          <a:lstStyle/>
          <a:p>
            <a:pPr marL="0" indent="0" algn="l">
              <a:lnSpc>
                <a:spcPts val="1820"/>
              </a:lnSpc>
              <a:buNone/>
            </a:pPr>
            <a:r>
              <a:rPr lang="en-US" sz="1300" b="1" kern="0" spc="200" dirty="0">
                <a:solidFill>
                  <a:srgbClr val="E4002B"/>
                </a:solidFill>
                <a:latin typeface="Courier New" pitchFamily="34" charset="0"/>
                <a:ea typeface="Courier New" pitchFamily="34" charset="-122"/>
                <a:cs typeface="Courier New" pitchFamily="34" charset="-120"/>
              </a:rPr>
              <a:t>UNIDAD 4 · MACHINE LEARNING ·</a:t>
            </a:r>
            <a:endParaRPr lang="en-US" sz="1300" dirty="0"/>
          </a:p>
        </p:txBody>
      </p:sp>
      <p:sp>
        <p:nvSpPr>
          <p:cNvPr id="4" name="Text 1"/>
          <p:cNvSpPr/>
          <p:nvPr/>
        </p:nvSpPr>
        <p:spPr>
          <a:xfrm>
            <a:off x="812800" y="2959298"/>
            <a:ext cx="7194550" cy="1651000"/>
          </a:xfrm>
          <a:prstGeom prst="rect">
            <a:avLst/>
          </a:prstGeom>
          <a:noFill/>
          <a:ln/>
        </p:spPr>
        <p:txBody>
          <a:bodyPr wrap="square" lIns="0" tIns="0" rIns="0" bIns="0" rtlCol="0" anchor="t">
            <a:normAutofit/>
          </a:bodyPr>
          <a:lstStyle/>
          <a:p>
            <a:pPr marL="0" indent="0" algn="l">
              <a:lnSpc>
                <a:spcPts val="6400"/>
              </a:lnSpc>
              <a:buNone/>
            </a:pPr>
            <a:r>
              <a:rPr lang="en-US" sz="6400" b="1" kern="0" spc="-150" dirty="0">
                <a:solidFill>
                  <a:srgbClr val="F4F4F5"/>
                </a:solidFill>
                <a:latin typeface="Arial" pitchFamily="34" charset="0"/>
                <a:ea typeface="Arial" pitchFamily="34" charset="-122"/>
                <a:cs typeface="Arial" pitchFamily="34" charset="-120"/>
              </a:rPr>
              <a:t>Validación</a:t>
            </a:r>
            <a:endParaRPr lang="en-US" sz="6400" dirty="0"/>
          </a:p>
          <a:p>
            <a:pPr marL="0" indent="0" algn="l">
              <a:lnSpc>
                <a:spcPts val="6400"/>
              </a:lnSpc>
              <a:buNone/>
            </a:pPr>
            <a:r>
              <a:rPr lang="en-US" sz="6400" b="1" kern="0" spc="-150" dirty="0">
                <a:solidFill>
                  <a:srgbClr val="E4002B"/>
                </a:solidFill>
                <a:latin typeface="Arial" pitchFamily="34" charset="0"/>
                <a:ea typeface="Arial" pitchFamily="34" charset="-122"/>
                <a:cs typeface="Arial" pitchFamily="34" charset="-120"/>
              </a:rPr>
              <a:t>de modelos</a:t>
            </a:r>
            <a:endParaRPr lang="en-US" sz="6400" dirty="0"/>
          </a:p>
        </p:txBody>
      </p:sp>
      <p:sp>
        <p:nvSpPr>
          <p:cNvPr id="5" name="Text 2"/>
          <p:cNvSpPr/>
          <p:nvPr/>
        </p:nvSpPr>
        <p:spPr>
          <a:xfrm>
            <a:off x="812800" y="4762698"/>
            <a:ext cx="7194550" cy="614561"/>
          </a:xfrm>
          <a:prstGeom prst="rect">
            <a:avLst/>
          </a:prstGeom>
          <a:noFill/>
          <a:ln/>
        </p:spPr>
        <p:txBody>
          <a:bodyPr wrap="square" lIns="0" tIns="0" rIns="0" bIns="0" rtlCol="0" anchor="t">
            <a:normAutofit/>
          </a:bodyPr>
          <a:lstStyle/>
          <a:p>
            <a:pPr marL="0" indent="0" algn="l">
              <a:lnSpc>
                <a:spcPts val="2320"/>
              </a:lnSpc>
              <a:buNone/>
            </a:pPr>
            <a:r>
              <a:rPr lang="en-US" sz="1600" dirty="0">
                <a:solidFill>
                  <a:srgbClr val="A1A1AA"/>
                </a:solidFill>
                <a:latin typeface="Arial" pitchFamily="34" charset="0"/>
                <a:ea typeface="Arial" pitchFamily="34" charset="-122"/>
                <a:cs typeface="Arial" pitchFamily="34" charset="-120"/>
              </a:rPr>
              <a:t>Un modelo que acierta en la práctica no siempre acierta en la vida real. Aquí aprendemos a comprobarlo.</a:t>
            </a:r>
            <a:endParaRPr lang="en-US" sz="1600" dirty="0"/>
          </a:p>
        </p:txBody>
      </p:sp>
      <p:sp>
        <p:nvSpPr>
          <p:cNvPr id="6" name="Text 3"/>
          <p:cNvSpPr/>
          <p:nvPr/>
        </p:nvSpPr>
        <p:spPr>
          <a:xfrm>
            <a:off x="812800" y="5529659"/>
            <a:ext cx="7194550" cy="540941"/>
          </a:xfrm>
          <a:prstGeom prst="rect">
            <a:avLst/>
          </a:prstGeom>
          <a:noFill/>
          <a:ln/>
        </p:spPr>
        <p:txBody>
          <a:bodyPr wrap="square" lIns="0" tIns="0" rIns="0" bIns="0" rtlCol="0" anchor="t">
            <a:normAutofit/>
          </a:bodyPr>
          <a:lstStyle/>
          <a:p>
            <a:pPr marL="0" indent="0" algn="l">
              <a:lnSpc>
                <a:spcPts val="2030"/>
              </a:lnSpc>
              <a:buNone/>
            </a:pPr>
            <a:r>
              <a:rPr lang="en-US" sz="1400" dirty="0">
                <a:solidFill>
                  <a:srgbClr val="D4D4D8"/>
                </a:solidFill>
                <a:latin typeface="Arial" pitchFamily="34" charset="0"/>
                <a:ea typeface="Arial" pitchFamily="34" charset="-122"/>
                <a:cs typeface="Arial" pitchFamily="34" charset="-120"/>
              </a:rPr>
              <a:t>Mediremos modelos, detectaremos cuándo memorizan, los evaluaremos de forma justa y los mejoraremos en Colab.</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B0B0D"/>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marL="0" indent="0" algn="l">
              <a:lnSpc>
                <a:spcPts val="1820"/>
              </a:lnSpc>
              <a:buNone/>
            </a:pPr>
            <a:r>
              <a:rPr lang="en-US" sz="1300" b="1" kern="0" spc="200" dirty="0">
                <a:solidFill>
                  <a:srgbClr val="E4002B"/>
                </a:solidFill>
                <a:latin typeface="Courier New" pitchFamily="34" charset="0"/>
                <a:ea typeface="Courier New" pitchFamily="34" charset="-122"/>
                <a:cs typeface="Courier New" pitchFamily="34" charset="-120"/>
              </a:rPr>
              <a:t>MAPA DE LA UNIDAD</a:t>
            </a:r>
            <a:endParaRPr lang="en-US" sz="1300" dirty="0"/>
          </a:p>
        </p:txBody>
      </p:sp>
      <p:sp>
        <p:nvSpPr>
          <p:cNvPr id="3" name="Text 1"/>
          <p:cNvSpPr/>
          <p:nvPr/>
        </p:nvSpPr>
        <p:spPr>
          <a:xfrm>
            <a:off x="812800" y="1145480"/>
            <a:ext cx="10883392" cy="472380"/>
          </a:xfrm>
          <a:prstGeom prst="rect">
            <a:avLst/>
          </a:prstGeom>
          <a:noFill/>
          <a:ln/>
        </p:spPr>
        <p:txBody>
          <a:bodyPr wrap="square" lIns="0" tIns="0" rIns="0" bIns="0" rtlCol="0" anchor="t">
            <a:normAutofit/>
          </a:bodyPr>
          <a:lstStyle/>
          <a:p>
            <a:pPr marL="0" indent="0" algn="l">
              <a:lnSpc>
                <a:spcPts val="3520"/>
              </a:lnSpc>
              <a:buNone/>
            </a:pPr>
            <a:r>
              <a:rPr lang="en-US" sz="3200" b="1" kern="0" spc="-50" dirty="0">
                <a:solidFill>
                  <a:srgbClr val="F4F4F5"/>
                </a:solidFill>
                <a:latin typeface="Arial" pitchFamily="34" charset="0"/>
                <a:ea typeface="Arial" pitchFamily="34" charset="-122"/>
                <a:cs typeface="Arial" pitchFamily="34" charset="-120"/>
              </a:rPr>
              <a:t>Cuatro preguntas, cuatro sesiones</a:t>
            </a:r>
            <a:endParaRPr lang="en-US" sz="3200" dirty="0"/>
          </a:p>
        </p:txBody>
      </p:sp>
      <p:sp>
        <p:nvSpPr>
          <p:cNvPr id="4" name="Shape 2"/>
          <p:cNvSpPr/>
          <p:nvPr/>
        </p:nvSpPr>
        <p:spPr>
          <a:xfrm>
            <a:off x="819150" y="1852811"/>
            <a:ext cx="2514600" cy="1964531"/>
          </a:xfrm>
          <a:prstGeom prst="roundRect">
            <a:avLst>
              <a:gd name="adj" fmla="val 6141"/>
            </a:avLst>
          </a:prstGeom>
          <a:solidFill>
            <a:srgbClr val="1A1A1F"/>
          </a:solidFill>
          <a:ln w="12700">
            <a:solidFill>
              <a:srgbClr val="2C2C33"/>
            </a:solidFill>
            <a:prstDash val="solid"/>
          </a:ln>
        </p:spPr>
        <p:txBody>
          <a:bodyPr/>
          <a:lstStyle/>
          <a:p>
            <a:endParaRPr lang="es-CO"/>
          </a:p>
        </p:txBody>
      </p:sp>
      <p:sp>
        <p:nvSpPr>
          <p:cNvPr id="5" name="Text 3"/>
          <p:cNvSpPr/>
          <p:nvPr/>
        </p:nvSpPr>
        <p:spPr>
          <a:xfrm>
            <a:off x="1028700" y="2062361"/>
            <a:ext cx="2158365" cy="431800"/>
          </a:xfrm>
          <a:prstGeom prst="rect">
            <a:avLst/>
          </a:prstGeom>
          <a:noFill/>
          <a:ln/>
        </p:spPr>
        <p:txBody>
          <a:bodyPr wrap="square" lIns="0" tIns="0" rIns="0" bIns="0" rtlCol="0" anchor="t">
            <a:normAutofit/>
          </a:bodyPr>
          <a:lstStyle/>
          <a:p>
            <a:pPr marL="0" indent="0" algn="l">
              <a:lnSpc>
                <a:spcPts val="3200"/>
              </a:lnSpc>
              <a:buNone/>
            </a:pPr>
            <a:r>
              <a:rPr lang="en-US" sz="3200" b="1" dirty="0">
                <a:solidFill>
                  <a:srgbClr val="E4002B"/>
                </a:solidFill>
                <a:latin typeface="Courier New" pitchFamily="34" charset="0"/>
                <a:ea typeface="Courier New" pitchFamily="34" charset="-122"/>
                <a:cs typeface="Courier New" pitchFamily="34" charset="-120"/>
              </a:rPr>
              <a:t>01</a:t>
            </a:r>
            <a:endParaRPr lang="en-US" sz="3200" dirty="0"/>
          </a:p>
        </p:txBody>
      </p:sp>
      <p:sp>
        <p:nvSpPr>
          <p:cNvPr id="6" name="Text 4"/>
          <p:cNvSpPr/>
          <p:nvPr/>
        </p:nvSpPr>
        <p:spPr>
          <a:xfrm>
            <a:off x="1028700" y="2570361"/>
            <a:ext cx="2158365"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F4F4F5"/>
                </a:solidFill>
                <a:latin typeface="Arial" pitchFamily="34" charset="0"/>
                <a:ea typeface="Arial" pitchFamily="34" charset="-122"/>
                <a:cs typeface="Arial" pitchFamily="34" charset="-120"/>
              </a:rPr>
              <a:t>Métricas de evaluación</a:t>
            </a:r>
            <a:endParaRPr lang="en-US" sz="1500" dirty="0"/>
          </a:p>
        </p:txBody>
      </p:sp>
      <p:sp>
        <p:nvSpPr>
          <p:cNvPr id="7" name="Text 5"/>
          <p:cNvSpPr/>
          <p:nvPr/>
        </p:nvSpPr>
        <p:spPr>
          <a:xfrm>
            <a:off x="1028700" y="2900561"/>
            <a:ext cx="2158365" cy="504031"/>
          </a:xfrm>
          <a:prstGeom prst="rect">
            <a:avLst/>
          </a:prstGeom>
          <a:noFill/>
          <a:ln/>
        </p:spPr>
        <p:txBody>
          <a:bodyPr wrap="square" lIns="0" tIns="0" rIns="0" bIns="0" rtlCol="0" anchor="t">
            <a:normAutofit/>
          </a:bodyPr>
          <a:lstStyle/>
          <a:p>
            <a:pPr marL="0" indent="0" algn="l">
              <a:lnSpc>
                <a:spcPts val="1885"/>
              </a:lnSpc>
              <a:buNone/>
            </a:pPr>
            <a:r>
              <a:rPr lang="en-US" sz="1300" dirty="0">
                <a:solidFill>
                  <a:srgbClr val="D4D4D8"/>
                </a:solidFill>
                <a:latin typeface="Arial" pitchFamily="34" charset="0"/>
                <a:ea typeface="Arial" pitchFamily="34" charset="-122"/>
                <a:cs typeface="Arial" pitchFamily="34" charset="-120"/>
              </a:rPr>
              <a:t>¿Qué tan bueno es mi modelo?</a:t>
            </a:r>
            <a:endParaRPr lang="en-US" sz="1300" dirty="0"/>
          </a:p>
        </p:txBody>
      </p:sp>
      <p:sp>
        <p:nvSpPr>
          <p:cNvPr id="8" name="Shape 6"/>
          <p:cNvSpPr/>
          <p:nvPr/>
        </p:nvSpPr>
        <p:spPr>
          <a:xfrm>
            <a:off x="3498850" y="1852811"/>
            <a:ext cx="2514600" cy="1964531"/>
          </a:xfrm>
          <a:prstGeom prst="roundRect">
            <a:avLst>
              <a:gd name="adj" fmla="val 6141"/>
            </a:avLst>
          </a:prstGeom>
          <a:solidFill>
            <a:srgbClr val="1A1A1F"/>
          </a:solidFill>
          <a:ln w="12700">
            <a:solidFill>
              <a:srgbClr val="2C2C33"/>
            </a:solidFill>
            <a:prstDash val="solid"/>
          </a:ln>
        </p:spPr>
        <p:txBody>
          <a:bodyPr/>
          <a:lstStyle/>
          <a:p>
            <a:endParaRPr lang="es-CO"/>
          </a:p>
        </p:txBody>
      </p:sp>
      <p:sp>
        <p:nvSpPr>
          <p:cNvPr id="9" name="Text 7"/>
          <p:cNvSpPr/>
          <p:nvPr/>
        </p:nvSpPr>
        <p:spPr>
          <a:xfrm>
            <a:off x="3708400" y="2062361"/>
            <a:ext cx="2158365" cy="431800"/>
          </a:xfrm>
          <a:prstGeom prst="rect">
            <a:avLst/>
          </a:prstGeom>
          <a:noFill/>
          <a:ln/>
        </p:spPr>
        <p:txBody>
          <a:bodyPr wrap="square" lIns="0" tIns="0" rIns="0" bIns="0" rtlCol="0" anchor="t">
            <a:normAutofit/>
          </a:bodyPr>
          <a:lstStyle/>
          <a:p>
            <a:pPr marL="0" indent="0" algn="l">
              <a:lnSpc>
                <a:spcPts val="3200"/>
              </a:lnSpc>
              <a:buNone/>
            </a:pPr>
            <a:r>
              <a:rPr lang="en-US" sz="3200" b="1" dirty="0">
                <a:solidFill>
                  <a:srgbClr val="E4002B"/>
                </a:solidFill>
                <a:latin typeface="Courier New" pitchFamily="34" charset="0"/>
                <a:ea typeface="Courier New" pitchFamily="34" charset="-122"/>
                <a:cs typeface="Courier New" pitchFamily="34" charset="-120"/>
              </a:rPr>
              <a:t>02</a:t>
            </a:r>
            <a:endParaRPr lang="en-US" sz="3200" dirty="0"/>
          </a:p>
        </p:txBody>
      </p:sp>
      <p:sp>
        <p:nvSpPr>
          <p:cNvPr id="10" name="Text 8"/>
          <p:cNvSpPr/>
          <p:nvPr/>
        </p:nvSpPr>
        <p:spPr>
          <a:xfrm>
            <a:off x="3708400" y="2570361"/>
            <a:ext cx="2158365" cy="4826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F4F4F5"/>
                </a:solidFill>
                <a:latin typeface="Arial" pitchFamily="34" charset="0"/>
                <a:ea typeface="Arial" pitchFamily="34" charset="-122"/>
                <a:cs typeface="Arial" pitchFamily="34" charset="-120"/>
              </a:rPr>
              <a:t>Overfitting vs. underfitting</a:t>
            </a:r>
            <a:endParaRPr lang="en-US" sz="1500" dirty="0"/>
          </a:p>
        </p:txBody>
      </p:sp>
      <p:sp>
        <p:nvSpPr>
          <p:cNvPr id="11" name="Text 9"/>
          <p:cNvSpPr/>
          <p:nvPr/>
        </p:nvSpPr>
        <p:spPr>
          <a:xfrm>
            <a:off x="3708400" y="3129161"/>
            <a:ext cx="2158365" cy="504031"/>
          </a:xfrm>
          <a:prstGeom prst="rect">
            <a:avLst/>
          </a:prstGeom>
          <a:noFill/>
          <a:ln/>
        </p:spPr>
        <p:txBody>
          <a:bodyPr wrap="square" lIns="0" tIns="0" rIns="0" bIns="0" rtlCol="0" anchor="t">
            <a:normAutofit/>
          </a:bodyPr>
          <a:lstStyle/>
          <a:p>
            <a:pPr marL="0" indent="0" algn="l">
              <a:lnSpc>
                <a:spcPts val="1885"/>
              </a:lnSpc>
              <a:buNone/>
            </a:pPr>
            <a:r>
              <a:rPr lang="en-US" sz="1300" dirty="0">
                <a:solidFill>
                  <a:srgbClr val="D4D4D8"/>
                </a:solidFill>
                <a:latin typeface="Arial" pitchFamily="34" charset="0"/>
                <a:ea typeface="Arial" pitchFamily="34" charset="-122"/>
                <a:cs typeface="Arial" pitchFamily="34" charset="-120"/>
              </a:rPr>
              <a:t>¿Aprendió o solo memorizó?</a:t>
            </a:r>
            <a:endParaRPr lang="en-US" sz="1300" dirty="0"/>
          </a:p>
        </p:txBody>
      </p:sp>
      <p:sp>
        <p:nvSpPr>
          <p:cNvPr id="12" name="Shape 10"/>
          <p:cNvSpPr/>
          <p:nvPr/>
        </p:nvSpPr>
        <p:spPr>
          <a:xfrm>
            <a:off x="6178550" y="1852811"/>
            <a:ext cx="2514600" cy="1964531"/>
          </a:xfrm>
          <a:prstGeom prst="roundRect">
            <a:avLst>
              <a:gd name="adj" fmla="val 6141"/>
            </a:avLst>
          </a:prstGeom>
          <a:solidFill>
            <a:srgbClr val="1A1A1F"/>
          </a:solidFill>
          <a:ln w="12700">
            <a:solidFill>
              <a:srgbClr val="2C2C33"/>
            </a:solidFill>
            <a:prstDash val="solid"/>
          </a:ln>
        </p:spPr>
        <p:txBody>
          <a:bodyPr/>
          <a:lstStyle/>
          <a:p>
            <a:endParaRPr lang="es-CO"/>
          </a:p>
        </p:txBody>
      </p:sp>
      <p:sp>
        <p:nvSpPr>
          <p:cNvPr id="13" name="Text 11"/>
          <p:cNvSpPr/>
          <p:nvPr/>
        </p:nvSpPr>
        <p:spPr>
          <a:xfrm>
            <a:off x="6388100" y="2062361"/>
            <a:ext cx="2158365" cy="431800"/>
          </a:xfrm>
          <a:prstGeom prst="rect">
            <a:avLst/>
          </a:prstGeom>
          <a:noFill/>
          <a:ln/>
        </p:spPr>
        <p:txBody>
          <a:bodyPr wrap="square" lIns="0" tIns="0" rIns="0" bIns="0" rtlCol="0" anchor="t">
            <a:normAutofit/>
          </a:bodyPr>
          <a:lstStyle/>
          <a:p>
            <a:pPr marL="0" indent="0" algn="l">
              <a:lnSpc>
                <a:spcPts val="3200"/>
              </a:lnSpc>
              <a:buNone/>
            </a:pPr>
            <a:r>
              <a:rPr lang="en-US" sz="3200" b="1" dirty="0">
                <a:solidFill>
                  <a:srgbClr val="E4002B"/>
                </a:solidFill>
                <a:latin typeface="Courier New" pitchFamily="34" charset="0"/>
                <a:ea typeface="Courier New" pitchFamily="34" charset="-122"/>
                <a:cs typeface="Courier New" pitchFamily="34" charset="-120"/>
              </a:rPr>
              <a:t>03</a:t>
            </a:r>
            <a:endParaRPr lang="en-US" sz="3200" dirty="0"/>
          </a:p>
        </p:txBody>
      </p:sp>
      <p:sp>
        <p:nvSpPr>
          <p:cNvPr id="14" name="Text 12"/>
          <p:cNvSpPr/>
          <p:nvPr/>
        </p:nvSpPr>
        <p:spPr>
          <a:xfrm>
            <a:off x="6388100" y="2570361"/>
            <a:ext cx="2158365"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F4F4F5"/>
                </a:solidFill>
                <a:latin typeface="Arial" pitchFamily="34" charset="0"/>
                <a:ea typeface="Arial" pitchFamily="34" charset="-122"/>
                <a:cs typeface="Arial" pitchFamily="34" charset="-120"/>
              </a:rPr>
              <a:t>Validación cruzada</a:t>
            </a:r>
            <a:endParaRPr lang="en-US" sz="1500" dirty="0"/>
          </a:p>
        </p:txBody>
      </p:sp>
      <p:sp>
        <p:nvSpPr>
          <p:cNvPr id="15" name="Text 13"/>
          <p:cNvSpPr/>
          <p:nvPr/>
        </p:nvSpPr>
        <p:spPr>
          <a:xfrm>
            <a:off x="6388100" y="2900561"/>
            <a:ext cx="2158365" cy="504031"/>
          </a:xfrm>
          <a:prstGeom prst="rect">
            <a:avLst/>
          </a:prstGeom>
          <a:noFill/>
          <a:ln/>
        </p:spPr>
        <p:txBody>
          <a:bodyPr wrap="square" lIns="0" tIns="0" rIns="0" bIns="0" rtlCol="0" anchor="t">
            <a:normAutofit/>
          </a:bodyPr>
          <a:lstStyle/>
          <a:p>
            <a:pPr marL="0" indent="0" algn="l">
              <a:lnSpc>
                <a:spcPts val="1885"/>
              </a:lnSpc>
              <a:buNone/>
            </a:pPr>
            <a:r>
              <a:rPr lang="en-US" sz="1300" dirty="0">
                <a:solidFill>
                  <a:srgbClr val="D4D4D8"/>
                </a:solidFill>
                <a:latin typeface="Arial" pitchFamily="34" charset="0"/>
                <a:ea typeface="Arial" pitchFamily="34" charset="-122"/>
                <a:cs typeface="Arial" pitchFamily="34" charset="-120"/>
              </a:rPr>
              <a:t>¿La buena nota fue pura suerte?</a:t>
            </a:r>
            <a:endParaRPr lang="en-US" sz="1300" dirty="0"/>
          </a:p>
        </p:txBody>
      </p:sp>
      <p:sp>
        <p:nvSpPr>
          <p:cNvPr id="16" name="Shape 14"/>
          <p:cNvSpPr/>
          <p:nvPr/>
        </p:nvSpPr>
        <p:spPr>
          <a:xfrm>
            <a:off x="8858250" y="1852811"/>
            <a:ext cx="2514600" cy="1964531"/>
          </a:xfrm>
          <a:prstGeom prst="roundRect">
            <a:avLst>
              <a:gd name="adj" fmla="val 6141"/>
            </a:avLst>
          </a:prstGeom>
          <a:solidFill>
            <a:srgbClr val="1A1A1F"/>
          </a:solidFill>
          <a:ln w="12700">
            <a:solidFill>
              <a:srgbClr val="2C2C33"/>
            </a:solidFill>
            <a:prstDash val="solid"/>
          </a:ln>
        </p:spPr>
        <p:txBody>
          <a:bodyPr/>
          <a:lstStyle/>
          <a:p>
            <a:endParaRPr lang="es-CO"/>
          </a:p>
        </p:txBody>
      </p:sp>
      <p:sp>
        <p:nvSpPr>
          <p:cNvPr id="17" name="Text 15"/>
          <p:cNvSpPr/>
          <p:nvPr/>
        </p:nvSpPr>
        <p:spPr>
          <a:xfrm>
            <a:off x="9067800" y="2062361"/>
            <a:ext cx="2158365" cy="431800"/>
          </a:xfrm>
          <a:prstGeom prst="rect">
            <a:avLst/>
          </a:prstGeom>
          <a:noFill/>
          <a:ln/>
        </p:spPr>
        <p:txBody>
          <a:bodyPr wrap="square" lIns="0" tIns="0" rIns="0" bIns="0" rtlCol="0" anchor="t">
            <a:normAutofit/>
          </a:bodyPr>
          <a:lstStyle/>
          <a:p>
            <a:pPr marL="0" indent="0" algn="l">
              <a:lnSpc>
                <a:spcPts val="3200"/>
              </a:lnSpc>
              <a:buNone/>
            </a:pPr>
            <a:r>
              <a:rPr lang="en-US" sz="3200" b="1" dirty="0">
                <a:solidFill>
                  <a:srgbClr val="E4002B"/>
                </a:solidFill>
                <a:latin typeface="Courier New" pitchFamily="34" charset="0"/>
                <a:ea typeface="Courier New" pitchFamily="34" charset="-122"/>
                <a:cs typeface="Courier New" pitchFamily="34" charset="-120"/>
              </a:rPr>
              <a:t>04</a:t>
            </a:r>
            <a:endParaRPr lang="en-US" sz="3200" dirty="0"/>
          </a:p>
        </p:txBody>
      </p:sp>
      <p:sp>
        <p:nvSpPr>
          <p:cNvPr id="18" name="Text 16"/>
          <p:cNvSpPr/>
          <p:nvPr/>
        </p:nvSpPr>
        <p:spPr>
          <a:xfrm>
            <a:off x="9067800" y="2570361"/>
            <a:ext cx="2158365"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F4F4F5"/>
                </a:solidFill>
                <a:latin typeface="Arial" pitchFamily="34" charset="0"/>
                <a:ea typeface="Arial" pitchFamily="34" charset="-122"/>
                <a:cs typeface="Arial" pitchFamily="34" charset="-120"/>
              </a:rPr>
              <a:t>Mejora de modelos</a:t>
            </a:r>
            <a:endParaRPr lang="en-US" sz="1500" dirty="0"/>
          </a:p>
        </p:txBody>
      </p:sp>
      <p:sp>
        <p:nvSpPr>
          <p:cNvPr id="19" name="Text 17"/>
          <p:cNvSpPr/>
          <p:nvPr/>
        </p:nvSpPr>
        <p:spPr>
          <a:xfrm>
            <a:off x="9067800" y="2900561"/>
            <a:ext cx="2158365" cy="264716"/>
          </a:xfrm>
          <a:prstGeom prst="rect">
            <a:avLst/>
          </a:prstGeom>
          <a:noFill/>
          <a:ln/>
        </p:spPr>
        <p:txBody>
          <a:bodyPr wrap="square" lIns="0" tIns="0" rIns="0" bIns="0" rtlCol="0" anchor="t">
            <a:normAutofit/>
          </a:bodyPr>
          <a:lstStyle/>
          <a:p>
            <a:pPr marL="0" indent="0" algn="l">
              <a:lnSpc>
                <a:spcPts val="1885"/>
              </a:lnSpc>
              <a:buNone/>
            </a:pPr>
            <a:r>
              <a:rPr lang="en-US" sz="1300" dirty="0">
                <a:solidFill>
                  <a:srgbClr val="D4D4D8"/>
                </a:solidFill>
                <a:latin typeface="Arial" pitchFamily="34" charset="0"/>
                <a:ea typeface="Arial" pitchFamily="34" charset="-122"/>
                <a:cs typeface="Arial" pitchFamily="34" charset="-120"/>
              </a:rPr>
              <a:t>¿Cómo lo hago mejor?</a:t>
            </a:r>
            <a:endParaRPr lang="en-US" sz="1300" dirty="0"/>
          </a:p>
        </p:txBody>
      </p:sp>
      <p:sp>
        <p:nvSpPr>
          <p:cNvPr id="20" name="Shape 18"/>
          <p:cNvSpPr/>
          <p:nvPr/>
        </p:nvSpPr>
        <p:spPr>
          <a:xfrm>
            <a:off x="819150" y="4084042"/>
            <a:ext cx="10553700" cy="871736"/>
          </a:xfrm>
          <a:prstGeom prst="roundRect">
            <a:avLst>
              <a:gd name="adj" fmla="val 13840"/>
            </a:avLst>
          </a:prstGeom>
          <a:solidFill>
            <a:srgbClr val="1F0A0F"/>
          </a:solidFill>
          <a:ln w="12700">
            <a:solidFill>
              <a:srgbClr val="E4002B"/>
            </a:solidFill>
            <a:prstDash val="solid"/>
          </a:ln>
        </p:spPr>
        <p:txBody>
          <a:bodyPr/>
          <a:lstStyle/>
          <a:p>
            <a:endParaRPr lang="es-CO"/>
          </a:p>
        </p:txBody>
      </p:sp>
      <p:sp>
        <p:nvSpPr>
          <p:cNvPr id="21" name="Text 19"/>
          <p:cNvSpPr/>
          <p:nvPr/>
        </p:nvSpPr>
        <p:spPr>
          <a:xfrm>
            <a:off x="1079500" y="4268192"/>
            <a:ext cx="10333990"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E4002B"/>
                </a:solidFill>
                <a:latin typeface="Courier New" pitchFamily="34" charset="0"/>
                <a:ea typeface="Courier New" pitchFamily="34" charset="-122"/>
                <a:cs typeface="Courier New" pitchFamily="34" charset="-120"/>
              </a:rPr>
              <a:t>EN PALABRAS SIMPLES</a:t>
            </a:r>
            <a:endParaRPr lang="en-US" sz="1200" dirty="0"/>
          </a:p>
        </p:txBody>
      </p:sp>
      <p:sp>
        <p:nvSpPr>
          <p:cNvPr id="22" name="Text 20"/>
          <p:cNvSpPr/>
          <p:nvPr/>
        </p:nvSpPr>
        <p:spPr>
          <a:xfrm>
            <a:off x="1079500" y="4532313"/>
            <a:ext cx="10333990" cy="264716"/>
          </a:xfrm>
          <a:prstGeom prst="rect">
            <a:avLst/>
          </a:prstGeom>
          <a:noFill/>
          <a:ln/>
        </p:spPr>
        <p:txBody>
          <a:bodyPr wrap="square" lIns="0" tIns="0" rIns="0" bIns="0" rtlCol="0" anchor="t">
            <a:normAutofit/>
          </a:bodyPr>
          <a:lstStyle/>
          <a:p>
            <a:pPr marL="0" indent="0" algn="l">
              <a:lnSpc>
                <a:spcPts val="1885"/>
              </a:lnSpc>
              <a:buNone/>
            </a:pPr>
            <a:r>
              <a:rPr lang="en-US" sz="1300" dirty="0">
                <a:solidFill>
                  <a:srgbClr val="F4F4F5"/>
                </a:solidFill>
                <a:latin typeface="Arial" pitchFamily="34" charset="0"/>
                <a:ea typeface="Arial" pitchFamily="34" charset="-122"/>
                <a:cs typeface="Arial" pitchFamily="34" charset="-120"/>
              </a:rPr>
              <a:t>Al terminar la unidad sabrás decir si un modelo es confiable, por qué y qué hacer para mejorarlo.</a:t>
            </a:r>
            <a:endParaRPr lang="en-US" sz="1300" dirty="0"/>
          </a:p>
        </p:txBody>
      </p:sp>
      <p:sp>
        <p:nvSpPr>
          <p:cNvPr id="23" name="Text 21"/>
          <p:cNvSpPr/>
          <p:nvPr/>
        </p:nvSpPr>
        <p:spPr>
          <a:xfrm>
            <a:off x="812800" y="6238280"/>
            <a:ext cx="7848600" cy="238720"/>
          </a:xfrm>
          <a:prstGeom prst="rect">
            <a:avLst/>
          </a:prstGeom>
          <a:noFill/>
          <a:ln/>
        </p:spPr>
        <p:txBody>
          <a:bodyPr wrap="square" lIns="0" tIns="0" rIns="0" bIns="0" rtlCol="0" anchor="t">
            <a:normAutofit/>
          </a:bodyPr>
          <a:lstStyle/>
          <a:p>
            <a:pPr marL="0" indent="0" algn="l">
              <a:lnSpc>
                <a:spcPts val="1680"/>
              </a:lnSpc>
              <a:buNone/>
            </a:pPr>
            <a:r>
              <a:rPr lang="en-US" sz="1200" kern="0" spc="100" dirty="0">
                <a:solidFill>
                  <a:srgbClr val="71717A"/>
                </a:solidFill>
                <a:latin typeface="Courier New" pitchFamily="34" charset="0"/>
                <a:ea typeface="Courier New" pitchFamily="34" charset="-122"/>
                <a:cs typeface="Courier New" pitchFamily="34" charset="-120"/>
              </a:rPr>
              <a:t>UNIDAD 4 · VALIDACIÓN DE MODELOS</a:t>
            </a:r>
            <a:endParaRPr lang="en-US" sz="1200" dirty="0"/>
          </a:p>
        </p:txBody>
      </p:sp>
      <p:sp>
        <p:nvSpPr>
          <p:cNvPr id="24" name="Text 22"/>
          <p:cNvSpPr/>
          <p:nvPr/>
        </p:nvSpPr>
        <p:spPr>
          <a:xfrm>
            <a:off x="10058400" y="6238280"/>
            <a:ext cx="1320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71717A"/>
                </a:solidFill>
                <a:latin typeface="Courier New" pitchFamily="34" charset="0"/>
                <a:ea typeface="Courier New" pitchFamily="34" charset="-122"/>
                <a:cs typeface="Courier New" pitchFamily="34" charset="-120"/>
              </a:rPr>
              <a:t>02</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41417"/>
        </a:solidFill>
        <a:effectLst/>
      </p:bgPr>
    </p:bg>
    <p:spTree>
      <p:nvGrpSpPr>
        <p:cNvPr id="1" name=""/>
        <p:cNvGrpSpPr/>
        <p:nvPr/>
      </p:nvGrpSpPr>
      <p:grpSpPr>
        <a:xfrm>
          <a:off x="0" y="0"/>
          <a:ext cx="0" cy="0"/>
          <a:chOff x="0" y="0"/>
          <a:chExt cx="0" cy="0"/>
        </a:xfrm>
      </p:grpSpPr>
      <p:sp>
        <p:nvSpPr>
          <p:cNvPr id="2" name="Text 0"/>
          <p:cNvSpPr/>
          <p:nvPr/>
        </p:nvSpPr>
        <p:spPr>
          <a:xfrm>
            <a:off x="812800" y="1817489"/>
            <a:ext cx="10883392" cy="256480"/>
          </a:xfrm>
          <a:prstGeom prst="rect">
            <a:avLst/>
          </a:prstGeom>
          <a:noFill/>
          <a:ln/>
        </p:spPr>
        <p:txBody>
          <a:bodyPr wrap="square" lIns="0" tIns="0" rIns="0" bIns="0" rtlCol="0" anchor="t">
            <a:normAutofit/>
          </a:bodyPr>
          <a:lstStyle/>
          <a:p>
            <a:pPr marL="0" indent="0" algn="l">
              <a:lnSpc>
                <a:spcPts val="1820"/>
              </a:lnSpc>
              <a:buNone/>
            </a:pPr>
            <a:r>
              <a:rPr lang="en-US" sz="1300" b="1" kern="0" spc="200" dirty="0">
                <a:solidFill>
                  <a:srgbClr val="E4002B"/>
                </a:solidFill>
                <a:latin typeface="Courier New" pitchFamily="34" charset="0"/>
                <a:ea typeface="Courier New" pitchFamily="34" charset="-122"/>
                <a:cs typeface="Courier New" pitchFamily="34" charset="-120"/>
              </a:rPr>
              <a:t>LA PREGUNTA DE LA UNIDAD</a:t>
            </a:r>
            <a:endParaRPr lang="en-US" sz="1300" dirty="0"/>
          </a:p>
        </p:txBody>
      </p:sp>
      <p:sp>
        <p:nvSpPr>
          <p:cNvPr id="3" name="Text 1"/>
          <p:cNvSpPr/>
          <p:nvPr/>
        </p:nvSpPr>
        <p:spPr>
          <a:xfrm>
            <a:off x="812800" y="2302570"/>
            <a:ext cx="10203180" cy="1869380"/>
          </a:xfrm>
          <a:prstGeom prst="rect">
            <a:avLst/>
          </a:prstGeom>
          <a:noFill/>
          <a:ln/>
        </p:spPr>
        <p:txBody>
          <a:bodyPr wrap="square" lIns="0" tIns="0" rIns="0" bIns="0" rtlCol="0" anchor="t">
            <a:normAutofit/>
          </a:bodyPr>
          <a:lstStyle/>
          <a:p>
            <a:pPr marL="0" indent="0" algn="l">
              <a:lnSpc>
                <a:spcPts val="4840"/>
              </a:lnSpc>
              <a:buNone/>
            </a:pPr>
            <a:r>
              <a:rPr lang="en-US" sz="4400" b="1" kern="0" spc="-100" dirty="0">
                <a:solidFill>
                  <a:srgbClr val="F4F4F5"/>
                </a:solidFill>
                <a:latin typeface="Arial" pitchFamily="34" charset="0"/>
                <a:ea typeface="Arial" pitchFamily="34" charset="-122"/>
                <a:cs typeface="Arial" pitchFamily="34" charset="-120"/>
              </a:rPr>
              <a:t>¿Aprobarías a un estudiante solo porque se sabe de memoria las respuestas del cuaderno?</a:t>
            </a:r>
            <a:endParaRPr lang="en-US" sz="4400" dirty="0"/>
          </a:p>
        </p:txBody>
      </p:sp>
      <p:sp>
        <p:nvSpPr>
          <p:cNvPr id="4" name="Text 2"/>
          <p:cNvSpPr/>
          <p:nvPr/>
        </p:nvSpPr>
        <p:spPr>
          <a:xfrm>
            <a:off x="812800" y="4400550"/>
            <a:ext cx="9156700" cy="665361"/>
          </a:xfrm>
          <a:prstGeom prst="rect">
            <a:avLst/>
          </a:prstGeom>
          <a:noFill/>
          <a:ln/>
        </p:spPr>
        <p:txBody>
          <a:bodyPr wrap="square" lIns="0" tIns="0" rIns="0" bIns="0" rtlCol="0" anchor="t">
            <a:normAutofit/>
          </a:bodyPr>
          <a:lstStyle/>
          <a:p>
            <a:pPr marL="0" indent="0" algn="l">
              <a:lnSpc>
                <a:spcPts val="2520"/>
              </a:lnSpc>
              <a:buNone/>
            </a:pPr>
            <a:r>
              <a:rPr lang="en-US" sz="1800" dirty="0">
                <a:solidFill>
                  <a:srgbClr val="A1A1AA"/>
                </a:solidFill>
                <a:latin typeface="Arial" pitchFamily="34" charset="0"/>
                <a:ea typeface="Arial" pitchFamily="34" charset="-122"/>
                <a:cs typeface="Arial" pitchFamily="34" charset="-120"/>
              </a:rPr>
              <a:t>Con los modelos pasa igual: lo que importa es cómo les va con datos que </a:t>
            </a:r>
            <a:r>
              <a:rPr lang="en-US" sz="1800" dirty="0">
                <a:solidFill>
                  <a:srgbClr val="E4002B"/>
                </a:solidFill>
                <a:latin typeface="Arial" pitchFamily="34" charset="0"/>
                <a:ea typeface="Arial" pitchFamily="34" charset="-122"/>
                <a:cs typeface="Arial" pitchFamily="34" charset="-120"/>
              </a:rPr>
              <a:t>nunca vieron</a:t>
            </a:r>
            <a:r>
              <a:rPr lang="en-US" sz="1800" dirty="0">
                <a:solidFill>
                  <a:srgbClr val="A1A1AA"/>
                </a:solidFill>
                <a:latin typeface="Arial" pitchFamily="34" charset="0"/>
                <a:ea typeface="Arial" pitchFamily="34" charset="-122"/>
                <a:cs typeface="Arial" pitchFamily="34" charset="-120"/>
              </a:rPr>
              <a:t>.</a:t>
            </a:r>
            <a:endParaRPr lang="en-US" sz="1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B0B0D"/>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marL="0" indent="0" algn="l">
              <a:lnSpc>
                <a:spcPts val="1820"/>
              </a:lnSpc>
              <a:buNone/>
            </a:pPr>
            <a:r>
              <a:rPr lang="en-US" sz="1300" b="1" kern="0" spc="200" dirty="0">
                <a:solidFill>
                  <a:srgbClr val="E4002B"/>
                </a:solidFill>
                <a:latin typeface="Courier New" pitchFamily="34" charset="0"/>
                <a:ea typeface="Courier New" pitchFamily="34" charset="-122"/>
                <a:cs typeface="Courier New" pitchFamily="34" charset="-120"/>
              </a:rPr>
              <a:t>GLOSARIO · PARTE 1 DE 2</a:t>
            </a:r>
            <a:endParaRPr lang="en-US" sz="1300" dirty="0"/>
          </a:p>
        </p:txBody>
      </p:sp>
      <p:sp>
        <p:nvSpPr>
          <p:cNvPr id="3" name="Text 1"/>
          <p:cNvSpPr/>
          <p:nvPr/>
        </p:nvSpPr>
        <p:spPr>
          <a:xfrm>
            <a:off x="812800" y="1145480"/>
            <a:ext cx="10883392" cy="472380"/>
          </a:xfrm>
          <a:prstGeom prst="rect">
            <a:avLst/>
          </a:prstGeom>
          <a:noFill/>
          <a:ln/>
        </p:spPr>
        <p:txBody>
          <a:bodyPr wrap="square" lIns="0" tIns="0" rIns="0" bIns="0" rtlCol="0" anchor="t">
            <a:normAutofit/>
          </a:bodyPr>
          <a:lstStyle/>
          <a:p>
            <a:pPr marL="0" indent="0" algn="l">
              <a:lnSpc>
                <a:spcPts val="3520"/>
              </a:lnSpc>
              <a:buNone/>
            </a:pPr>
            <a:r>
              <a:rPr lang="en-US" sz="3200" b="1" kern="0" spc="-50" dirty="0">
                <a:solidFill>
                  <a:srgbClr val="F4F4F5"/>
                </a:solidFill>
                <a:latin typeface="Arial" pitchFamily="34" charset="0"/>
                <a:ea typeface="Arial" pitchFamily="34" charset="-122"/>
                <a:cs typeface="Arial" pitchFamily="34" charset="-120"/>
              </a:rPr>
              <a:t>Palabras en inglés para medir modelos</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808361"/>
          <a:ext cx="10553700" cy="2874168"/>
        </p:xfrm>
        <a:graphic>
          <a:graphicData uri="http://schemas.openxmlformats.org/drawingml/2006/table">
            <a:tbl>
              <a:tblPr/>
              <a:tblGrid>
                <a:gridCol w="2532888">
                  <a:extLst>
                    <a:ext uri="{9D8B030D-6E8A-4147-A177-3AD203B41FA5}">
                      <a16:colId xmlns:a16="http://schemas.microsoft.com/office/drawing/2014/main" val="20000"/>
                    </a:ext>
                  </a:extLst>
                </a:gridCol>
                <a:gridCol w="3166110">
                  <a:extLst>
                    <a:ext uri="{9D8B030D-6E8A-4147-A177-3AD203B41FA5}">
                      <a16:colId xmlns:a16="http://schemas.microsoft.com/office/drawing/2014/main" val="20001"/>
                    </a:ext>
                  </a:extLst>
                </a:gridCol>
                <a:gridCol w="4854702">
                  <a:extLst>
                    <a:ext uri="{9D8B030D-6E8A-4147-A177-3AD203B41FA5}">
                      <a16:colId xmlns:a16="http://schemas.microsoft.com/office/drawing/2014/main" val="20002"/>
                    </a:ext>
                  </a:extLst>
                </a:gridCol>
              </a:tblGrid>
              <a:tr h="359271">
                <a:tc>
                  <a:txBody>
                    <a:bodyPr/>
                    <a:lstStyle/>
                    <a:p>
                      <a:pPr marL="0" indent="0">
                        <a:lnSpc>
                          <a:spcPts val="1820"/>
                        </a:lnSpc>
                        <a:buNone/>
                      </a:pPr>
                      <a:r>
                        <a:rPr lang="en-US" sz="1300" b="1" dirty="0">
                          <a:solidFill>
                            <a:srgbClr val="E4E4E7"/>
                          </a:solidFill>
                          <a:latin typeface="Arial" pitchFamily="34" charset="0"/>
                          <a:ea typeface="Arial" pitchFamily="34" charset="-122"/>
                          <a:cs typeface="Arial" pitchFamily="34" charset="-120"/>
                        </a:rPr>
                        <a:t>En inglés</a:t>
                      </a:r>
                      <a:endParaRPr lang="en-US" sz="1300" dirty="0">
                        <a:latin typeface="Arial" charset="0"/>
                        <a:ea typeface="Arial" charset="0"/>
                        <a:cs typeface="Arial" charset="0"/>
                      </a:endParaRPr>
                    </a:p>
                  </a:txBody>
                  <a:tcPr marL="57785" marR="57785" marT="57785" marB="57785">
                    <a:lnL w="12700" cap="flat" cmpd="sng" algn="ctr">
                      <a:solidFill>
                        <a:srgbClr val="403F40"/>
                      </a:solidFill>
                      <a:prstDash val="solid"/>
                      <a:round/>
                      <a:headEnd type="none" w="med" len="med"/>
                      <a:tailEnd type="none" w="med" len="med"/>
                    </a:lnL>
                    <a:lnR w="12700" cap="flat" cmpd="sng" algn="ctr">
                      <a:solidFill>
                        <a:srgbClr val="4E4E4F"/>
                      </a:solidFill>
                      <a:prstDash val="solid"/>
                      <a:round/>
                      <a:headEnd type="none" w="med" len="med"/>
                      <a:tailEnd type="none" w="med" len="med"/>
                    </a:lnR>
                    <a:lnT w="12700" cap="flat" cmpd="sng" algn="ctr">
                      <a:solidFill>
                        <a:srgbClr val="403F40"/>
                      </a:solidFill>
                      <a:prstDash val="solid"/>
                      <a:round/>
                      <a:headEnd type="none" w="med" len="med"/>
                      <a:tailEnd type="none" w="med" len="med"/>
                    </a:lnT>
                    <a:lnB w="12700" cap="flat" cmpd="sng" algn="ctr">
                      <a:solidFill>
                        <a:srgbClr val="4E4E4F"/>
                      </a:solidFill>
                      <a:prstDash val="solid"/>
                      <a:round/>
                      <a:headEnd type="none" w="med" len="med"/>
                      <a:tailEnd type="none" w="med" len="med"/>
                    </a:lnB>
                    <a:solidFill>
                      <a:srgbClr val="1E1E20"/>
                    </a:solidFill>
                  </a:tcPr>
                </a:tc>
                <a:tc>
                  <a:txBody>
                    <a:bodyPr/>
                    <a:lstStyle/>
                    <a:p>
                      <a:pPr marL="0" indent="0">
                        <a:lnSpc>
                          <a:spcPts val="1820"/>
                        </a:lnSpc>
                        <a:buNone/>
                      </a:pPr>
                      <a:r>
                        <a:rPr lang="en-US" sz="1300" b="1" dirty="0">
                          <a:solidFill>
                            <a:srgbClr val="E4E4E7"/>
                          </a:solidFill>
                          <a:latin typeface="Arial" pitchFamily="34" charset="0"/>
                          <a:ea typeface="Arial" pitchFamily="34" charset="-122"/>
                          <a:cs typeface="Arial" pitchFamily="34" charset="-120"/>
                        </a:rPr>
                        <a:t>En español</a:t>
                      </a:r>
                      <a:endParaRPr lang="en-US" sz="1300" dirty="0">
                        <a:latin typeface="Arial" charset="0"/>
                        <a:ea typeface="Arial" charset="0"/>
                        <a:cs typeface="Arial" charset="0"/>
                      </a:endParaRPr>
                    </a:p>
                  </a:txBody>
                  <a:tcPr marL="57785" marR="57785" marT="57785" marB="57785">
                    <a:lnL w="12700" cap="flat" cmpd="sng" algn="ctr">
                      <a:solidFill>
                        <a:srgbClr val="4E4E4F"/>
                      </a:solidFill>
                      <a:prstDash val="solid"/>
                      <a:round/>
                      <a:headEnd type="none" w="med" len="med"/>
                      <a:tailEnd type="none" w="med" len="med"/>
                    </a:lnL>
                    <a:lnR w="12700" cap="flat" cmpd="sng" algn="ctr">
                      <a:solidFill>
                        <a:srgbClr val="4E4E4F"/>
                      </a:solidFill>
                      <a:prstDash val="solid"/>
                      <a:round/>
                      <a:headEnd type="none" w="med" len="med"/>
                      <a:tailEnd type="none" w="med" len="med"/>
                    </a:lnR>
                    <a:lnT w="12700" cap="flat" cmpd="sng" algn="ctr">
                      <a:solidFill>
                        <a:srgbClr val="403F40"/>
                      </a:solidFill>
                      <a:prstDash val="solid"/>
                      <a:round/>
                      <a:headEnd type="none" w="med" len="med"/>
                      <a:tailEnd type="none" w="med" len="med"/>
                    </a:lnT>
                    <a:lnB w="12700" cap="flat" cmpd="sng" algn="ctr">
                      <a:solidFill>
                        <a:srgbClr val="4E4E4F"/>
                      </a:solidFill>
                      <a:prstDash val="solid"/>
                      <a:round/>
                      <a:headEnd type="none" w="med" len="med"/>
                      <a:tailEnd type="none" w="med" len="med"/>
                    </a:lnB>
                    <a:solidFill>
                      <a:srgbClr val="1E1E20"/>
                    </a:solidFill>
                  </a:tcPr>
                </a:tc>
                <a:tc>
                  <a:txBody>
                    <a:bodyPr/>
                    <a:lstStyle/>
                    <a:p>
                      <a:pPr marL="0" indent="0">
                        <a:lnSpc>
                          <a:spcPts val="1820"/>
                        </a:lnSpc>
                        <a:buNone/>
                      </a:pPr>
                      <a:r>
                        <a:rPr lang="en-US" sz="1300" b="1" dirty="0">
                          <a:solidFill>
                            <a:srgbClr val="E4E4E7"/>
                          </a:solidFill>
                          <a:latin typeface="Arial" pitchFamily="34" charset="0"/>
                          <a:ea typeface="Arial" pitchFamily="34" charset="-122"/>
                          <a:cs typeface="Arial" pitchFamily="34" charset="-120"/>
                        </a:rPr>
                        <a:t>Qué significa</a:t>
                      </a:r>
                      <a:endParaRPr lang="en-US" sz="1300" dirty="0">
                        <a:latin typeface="Arial" charset="0"/>
                        <a:ea typeface="Arial" charset="0"/>
                        <a:cs typeface="Arial" charset="0"/>
                      </a:endParaRPr>
                    </a:p>
                  </a:txBody>
                  <a:tcPr marL="57785" marR="57785" marT="57785" marB="57785">
                    <a:lnL w="12700" cap="flat" cmpd="sng" algn="ctr">
                      <a:solidFill>
                        <a:srgbClr val="4E4E4F"/>
                      </a:solidFill>
                      <a:prstDash val="solid"/>
                      <a:round/>
                      <a:headEnd type="none" w="med" len="med"/>
                      <a:tailEnd type="none" w="med" len="med"/>
                    </a:lnL>
                    <a:lnR w="12700" cap="flat" cmpd="sng" algn="ctr">
                      <a:solidFill>
                        <a:srgbClr val="4E4E4F"/>
                      </a:solidFill>
                      <a:prstDash val="solid"/>
                      <a:round/>
                      <a:headEnd type="none" w="med" len="med"/>
                      <a:tailEnd type="none" w="med" len="med"/>
                    </a:lnR>
                    <a:lnT w="12700" cap="flat" cmpd="sng" algn="ctr">
                      <a:solidFill>
                        <a:srgbClr val="403F40"/>
                      </a:solidFill>
                      <a:prstDash val="solid"/>
                      <a:round/>
                      <a:headEnd type="none" w="med" len="med"/>
                      <a:tailEnd type="none" w="med" len="med"/>
                    </a:lnT>
                    <a:lnB w="12700" cap="flat" cmpd="sng" algn="ctr">
                      <a:solidFill>
                        <a:srgbClr val="4E4E4F"/>
                      </a:solidFill>
                      <a:prstDash val="solid"/>
                      <a:round/>
                      <a:headEnd type="none" w="med" len="med"/>
                      <a:tailEnd type="none" w="med" len="med"/>
                    </a:lnB>
                    <a:solidFill>
                      <a:srgbClr val="1E1E20"/>
                    </a:solidFill>
                  </a:tcPr>
                </a:tc>
                <a:extLst>
                  <a:ext uri="{0D108BD9-81ED-4DB2-BD59-A6C34878D82A}">
                    <a16:rowId xmlns:a16="http://schemas.microsoft.com/office/drawing/2014/main" val="10000"/>
                  </a:ext>
                </a:extLst>
              </a:tr>
              <a:tr h="359271">
                <a:tc>
                  <a:txBody>
                    <a:bodyPr/>
                    <a:lstStyle/>
                    <a:p>
                      <a:pPr marL="0" indent="0">
                        <a:lnSpc>
                          <a:spcPts val="1820"/>
                        </a:lnSpc>
                        <a:buNone/>
                      </a:pPr>
                      <a:r>
                        <a:rPr lang="en-US" sz="1300" dirty="0">
                          <a:solidFill>
                            <a:srgbClr val="FF5C77"/>
                          </a:solidFill>
                          <a:latin typeface="Arial" pitchFamily="34" charset="0"/>
                          <a:ea typeface="Arial" pitchFamily="34" charset="-122"/>
                          <a:cs typeface="Arial" pitchFamily="34" charset="-120"/>
                        </a:rPr>
                        <a:t>Accuracy</a:t>
                      </a:r>
                      <a:endParaRPr lang="en-US" sz="1300" dirty="0">
                        <a:latin typeface="Arial" charset="0"/>
                        <a:ea typeface="Arial" charset="0"/>
                        <a:cs typeface="Arial" charset="0"/>
                      </a:endParaRPr>
                    </a:p>
                  </a:txBody>
                  <a:tcPr marL="57785" marR="57785" marT="57785" marB="57785">
                    <a:lnL w="12700" cap="flat" cmpd="sng" algn="ctr">
                      <a:solidFill>
                        <a:srgbClr val="403F40"/>
                      </a:solidFill>
                      <a:prstDash val="solid"/>
                      <a:round/>
                      <a:headEnd type="none" w="med" len="med"/>
                      <a:tailEnd type="none" w="med" len="med"/>
                    </a:lnL>
                    <a:lnR w="12700" cap="flat" cmpd="sng" algn="ctr">
                      <a:solidFill>
                        <a:srgbClr val="403F40"/>
                      </a:solidFill>
                      <a:prstDash val="solid"/>
                      <a:round/>
                      <a:headEnd type="none" w="med" len="med"/>
                      <a:tailEnd type="none" w="med" len="med"/>
                    </a:lnR>
                    <a:lnT w="12700" cap="flat" cmpd="sng" algn="ctr">
                      <a:solidFill>
                        <a:srgbClr val="4E4E4F"/>
                      </a:solidFill>
                      <a:prstDash val="solid"/>
                      <a:round/>
                      <a:headEnd type="none" w="med" len="med"/>
                      <a:tailEnd type="none" w="med" len="med"/>
                    </a:lnT>
                    <a:lnB w="12700" cap="flat" cmpd="sng" algn="ctr">
                      <a:solidFill>
                        <a:srgbClr val="403F40"/>
                      </a:solidFill>
                      <a:prstDash val="solid"/>
                      <a:round/>
                      <a:headEnd type="none" w="med" len="med"/>
                      <a:tailEnd type="none" w="med" len="med"/>
                    </a:lnB>
                  </a:tcPr>
                </a:tc>
                <a:tc>
                  <a:txBody>
                    <a:bodyPr/>
                    <a:lstStyle/>
                    <a:p>
                      <a:pPr marL="0" indent="0">
                        <a:lnSpc>
                          <a:spcPts val="1820"/>
                        </a:lnSpc>
                        <a:buNone/>
                      </a:pPr>
                      <a:r>
                        <a:rPr lang="en-US" sz="1300" dirty="0">
                          <a:solidFill>
                            <a:srgbClr val="E4E4E7"/>
                          </a:solidFill>
                          <a:latin typeface="Arial" pitchFamily="34" charset="0"/>
                          <a:ea typeface="Arial" pitchFamily="34" charset="-122"/>
                          <a:cs typeface="Arial" pitchFamily="34" charset="-120"/>
                        </a:rPr>
                        <a:t>Exactitud</a:t>
                      </a:r>
                      <a:endParaRPr lang="en-US" sz="1300" dirty="0">
                        <a:latin typeface="Arial" charset="0"/>
                        <a:ea typeface="Arial" charset="0"/>
                        <a:cs typeface="Arial" charset="0"/>
                      </a:endParaRPr>
                    </a:p>
                  </a:txBody>
                  <a:tcPr marL="57785" marR="57785" marT="57785" marB="57785">
                    <a:lnL w="12700" cap="flat" cmpd="sng" algn="ctr">
                      <a:solidFill>
                        <a:srgbClr val="403F40"/>
                      </a:solidFill>
                      <a:prstDash val="solid"/>
                      <a:round/>
                      <a:headEnd type="none" w="med" len="med"/>
                      <a:tailEnd type="none" w="med" len="med"/>
                    </a:lnL>
                    <a:lnR w="12700" cap="flat" cmpd="sng" algn="ctr">
                      <a:solidFill>
                        <a:srgbClr val="403F40"/>
                      </a:solidFill>
                      <a:prstDash val="solid"/>
                      <a:round/>
                      <a:headEnd type="none" w="med" len="med"/>
                      <a:tailEnd type="none" w="med" len="med"/>
                    </a:lnR>
                    <a:lnT w="12700" cap="flat" cmpd="sng" algn="ctr">
                      <a:solidFill>
                        <a:srgbClr val="4E4E4F"/>
                      </a:solidFill>
                      <a:prstDash val="solid"/>
                      <a:round/>
                      <a:headEnd type="none" w="med" len="med"/>
                      <a:tailEnd type="none" w="med" len="med"/>
                    </a:lnT>
                    <a:lnB w="12700" cap="flat" cmpd="sng" algn="ctr">
                      <a:solidFill>
                        <a:srgbClr val="403F40"/>
                      </a:solidFill>
                      <a:prstDash val="solid"/>
                      <a:round/>
                      <a:headEnd type="none" w="med" len="med"/>
                      <a:tailEnd type="none" w="med" len="med"/>
                    </a:lnB>
                  </a:tcPr>
                </a:tc>
                <a:tc>
                  <a:txBody>
                    <a:bodyPr/>
                    <a:lstStyle/>
                    <a:p>
                      <a:pPr marL="0" indent="0">
                        <a:lnSpc>
                          <a:spcPts val="1820"/>
                        </a:lnSpc>
                        <a:buNone/>
                      </a:pPr>
                      <a:r>
                        <a:rPr lang="en-US" sz="1300" dirty="0">
                          <a:solidFill>
                            <a:srgbClr val="E4E4E7"/>
                          </a:solidFill>
                          <a:latin typeface="Arial" pitchFamily="34" charset="0"/>
                          <a:ea typeface="Arial" pitchFamily="34" charset="-122"/>
                          <a:cs typeface="Arial" pitchFamily="34" charset="-120"/>
                        </a:rPr>
                        <a:t>Porcentaje de respuestas correctas</a:t>
                      </a:r>
                      <a:endParaRPr lang="en-US" sz="1300" dirty="0">
                        <a:latin typeface="Arial" charset="0"/>
                        <a:ea typeface="Arial" charset="0"/>
                        <a:cs typeface="Arial" charset="0"/>
                      </a:endParaRPr>
                    </a:p>
                  </a:txBody>
                  <a:tcPr marL="57785" marR="57785" marT="57785" marB="57785">
                    <a:lnL w="12700" cap="flat" cmpd="sng" algn="ctr">
                      <a:solidFill>
                        <a:srgbClr val="403F40"/>
                      </a:solidFill>
                      <a:prstDash val="solid"/>
                      <a:round/>
                      <a:headEnd type="none" w="med" len="med"/>
                      <a:tailEnd type="none" w="med" len="med"/>
                    </a:lnL>
                    <a:lnR w="12700" cap="flat" cmpd="sng" algn="ctr">
                      <a:solidFill>
                        <a:srgbClr val="403F40"/>
                      </a:solidFill>
                      <a:prstDash val="solid"/>
                      <a:round/>
                      <a:headEnd type="none" w="med" len="med"/>
                      <a:tailEnd type="none" w="med" len="med"/>
                    </a:lnR>
                    <a:lnT w="12700" cap="flat" cmpd="sng" algn="ctr">
                      <a:solidFill>
                        <a:srgbClr val="4E4E4F"/>
                      </a:solidFill>
                      <a:prstDash val="solid"/>
                      <a:round/>
                      <a:headEnd type="none" w="med" len="med"/>
                      <a:tailEnd type="none" w="med" len="med"/>
                    </a:lnT>
                    <a:lnB w="12700" cap="flat" cmpd="sng" algn="ctr">
                      <a:solidFill>
                        <a:srgbClr val="403F40"/>
                      </a:solidFill>
                      <a:prstDash val="solid"/>
                      <a:round/>
                      <a:headEnd type="none" w="med" len="med"/>
                      <a:tailEnd type="none" w="med" len="med"/>
                    </a:lnB>
                  </a:tcPr>
                </a:tc>
                <a:extLst>
                  <a:ext uri="{0D108BD9-81ED-4DB2-BD59-A6C34878D82A}">
                    <a16:rowId xmlns:a16="http://schemas.microsoft.com/office/drawing/2014/main" val="10001"/>
                  </a:ext>
                </a:extLst>
              </a:tr>
              <a:tr h="359271">
                <a:tc>
                  <a:txBody>
                    <a:bodyPr/>
                    <a:lstStyle/>
                    <a:p>
                      <a:pPr marL="0" indent="0">
                        <a:lnSpc>
                          <a:spcPts val="1820"/>
                        </a:lnSpc>
                        <a:buNone/>
                      </a:pPr>
                      <a:r>
                        <a:rPr lang="en-US" sz="1300" dirty="0">
                          <a:solidFill>
                            <a:srgbClr val="FF5C77"/>
                          </a:solidFill>
                          <a:latin typeface="Arial" pitchFamily="34" charset="0"/>
                          <a:ea typeface="Arial" pitchFamily="34" charset="-122"/>
                          <a:cs typeface="Arial" pitchFamily="34" charset="-120"/>
                        </a:rPr>
                        <a:t>Precision</a:t>
                      </a:r>
                      <a:endParaRPr lang="en-US" sz="1300" dirty="0">
                        <a:latin typeface="Arial" charset="0"/>
                        <a:ea typeface="Arial" charset="0"/>
                        <a:cs typeface="Arial" charset="0"/>
                      </a:endParaRPr>
                    </a:p>
                  </a:txBody>
                  <a:tcPr marL="57785" marR="57785" marT="57785" marB="57785">
                    <a:lnL w="12700" cap="flat" cmpd="sng" algn="ctr">
                      <a:solidFill>
                        <a:srgbClr val="403F40"/>
                      </a:solidFill>
                      <a:prstDash val="solid"/>
                      <a:round/>
                      <a:headEnd type="none" w="med" len="med"/>
                      <a:tailEnd type="none" w="med" len="med"/>
                    </a:lnL>
                    <a:lnR w="12700" cap="flat" cmpd="sng" algn="ctr">
                      <a:solidFill>
                        <a:srgbClr val="403F40"/>
                      </a:solidFill>
                      <a:prstDash val="solid"/>
                      <a:round/>
                      <a:headEnd type="none" w="med" len="med"/>
                      <a:tailEnd type="none" w="med" len="med"/>
                    </a:lnR>
                    <a:lnT w="12700" cap="flat" cmpd="sng" algn="ctr">
                      <a:solidFill>
                        <a:srgbClr val="403F40"/>
                      </a:solidFill>
                      <a:prstDash val="solid"/>
                      <a:round/>
                      <a:headEnd type="none" w="med" len="med"/>
                      <a:tailEnd type="none" w="med" len="med"/>
                    </a:lnT>
                    <a:lnB w="12700" cap="flat" cmpd="sng" algn="ctr">
                      <a:solidFill>
                        <a:srgbClr val="403F40"/>
                      </a:solidFill>
                      <a:prstDash val="solid"/>
                      <a:round/>
                      <a:headEnd type="none" w="med" len="med"/>
                      <a:tailEnd type="none" w="med" len="med"/>
                    </a:lnB>
                  </a:tcPr>
                </a:tc>
                <a:tc>
                  <a:txBody>
                    <a:bodyPr/>
                    <a:lstStyle/>
                    <a:p>
                      <a:pPr marL="0" indent="0">
                        <a:lnSpc>
                          <a:spcPts val="1820"/>
                        </a:lnSpc>
                        <a:buNone/>
                      </a:pPr>
                      <a:r>
                        <a:rPr lang="en-US" sz="1300" dirty="0">
                          <a:solidFill>
                            <a:srgbClr val="E4E4E7"/>
                          </a:solidFill>
                          <a:latin typeface="Arial" pitchFamily="34" charset="0"/>
                          <a:ea typeface="Arial" pitchFamily="34" charset="-122"/>
                          <a:cs typeface="Arial" pitchFamily="34" charset="-120"/>
                        </a:rPr>
                        <a:t>Precisión</a:t>
                      </a:r>
                      <a:endParaRPr lang="en-US" sz="1300" dirty="0">
                        <a:latin typeface="Arial" charset="0"/>
                        <a:ea typeface="Arial" charset="0"/>
                        <a:cs typeface="Arial" charset="0"/>
                      </a:endParaRPr>
                    </a:p>
                  </a:txBody>
                  <a:tcPr marL="57785" marR="57785" marT="57785" marB="57785">
                    <a:lnL w="12700" cap="flat" cmpd="sng" algn="ctr">
                      <a:solidFill>
                        <a:srgbClr val="403F40"/>
                      </a:solidFill>
                      <a:prstDash val="solid"/>
                      <a:round/>
                      <a:headEnd type="none" w="med" len="med"/>
                      <a:tailEnd type="none" w="med" len="med"/>
                    </a:lnL>
                    <a:lnR w="12700" cap="flat" cmpd="sng" algn="ctr">
                      <a:solidFill>
                        <a:srgbClr val="403F40"/>
                      </a:solidFill>
                      <a:prstDash val="solid"/>
                      <a:round/>
                      <a:headEnd type="none" w="med" len="med"/>
                      <a:tailEnd type="none" w="med" len="med"/>
                    </a:lnR>
                    <a:lnT w="12700" cap="flat" cmpd="sng" algn="ctr">
                      <a:solidFill>
                        <a:srgbClr val="403F40"/>
                      </a:solidFill>
                      <a:prstDash val="solid"/>
                      <a:round/>
                      <a:headEnd type="none" w="med" len="med"/>
                      <a:tailEnd type="none" w="med" len="med"/>
                    </a:lnT>
                    <a:lnB w="12700" cap="flat" cmpd="sng" algn="ctr">
                      <a:solidFill>
                        <a:srgbClr val="403F40"/>
                      </a:solidFill>
                      <a:prstDash val="solid"/>
                      <a:round/>
                      <a:headEnd type="none" w="med" len="med"/>
                      <a:tailEnd type="none" w="med" len="med"/>
                    </a:lnB>
                  </a:tcPr>
                </a:tc>
                <a:tc>
                  <a:txBody>
                    <a:bodyPr/>
                    <a:lstStyle/>
                    <a:p>
                      <a:pPr marL="0" indent="0">
                        <a:lnSpc>
                          <a:spcPts val="1820"/>
                        </a:lnSpc>
                        <a:buNone/>
                      </a:pPr>
                      <a:r>
                        <a:rPr lang="en-US" sz="1300" dirty="0">
                          <a:solidFill>
                            <a:srgbClr val="E4E4E7"/>
                          </a:solidFill>
                          <a:latin typeface="Arial" pitchFamily="34" charset="0"/>
                          <a:ea typeface="Arial" pitchFamily="34" charset="-122"/>
                          <a:cs typeface="Arial" pitchFamily="34" charset="-120"/>
                        </a:rPr>
                        <a:t>Cuando dice «sí», cuántas veces acierta</a:t>
                      </a:r>
                      <a:endParaRPr lang="en-US" sz="1300" dirty="0">
                        <a:latin typeface="Arial" charset="0"/>
                        <a:ea typeface="Arial" charset="0"/>
                        <a:cs typeface="Arial" charset="0"/>
                      </a:endParaRPr>
                    </a:p>
                  </a:txBody>
                  <a:tcPr marL="57785" marR="57785" marT="57785" marB="57785">
                    <a:lnL w="12700" cap="flat" cmpd="sng" algn="ctr">
                      <a:solidFill>
                        <a:srgbClr val="403F40"/>
                      </a:solidFill>
                      <a:prstDash val="solid"/>
                      <a:round/>
                      <a:headEnd type="none" w="med" len="med"/>
                      <a:tailEnd type="none" w="med" len="med"/>
                    </a:lnL>
                    <a:lnR w="12700" cap="flat" cmpd="sng" algn="ctr">
                      <a:solidFill>
                        <a:srgbClr val="403F40"/>
                      </a:solidFill>
                      <a:prstDash val="solid"/>
                      <a:round/>
                      <a:headEnd type="none" w="med" len="med"/>
                      <a:tailEnd type="none" w="med" len="med"/>
                    </a:lnR>
                    <a:lnT w="12700" cap="flat" cmpd="sng" algn="ctr">
                      <a:solidFill>
                        <a:srgbClr val="403F40"/>
                      </a:solidFill>
                      <a:prstDash val="solid"/>
                      <a:round/>
                      <a:headEnd type="none" w="med" len="med"/>
                      <a:tailEnd type="none" w="med" len="med"/>
                    </a:lnT>
                    <a:lnB w="12700" cap="flat" cmpd="sng" algn="ctr">
                      <a:solidFill>
                        <a:srgbClr val="403F40"/>
                      </a:solidFill>
                      <a:prstDash val="solid"/>
                      <a:round/>
                      <a:headEnd type="none" w="med" len="med"/>
                      <a:tailEnd type="none" w="med" len="med"/>
                    </a:lnB>
                  </a:tcPr>
                </a:tc>
                <a:extLst>
                  <a:ext uri="{0D108BD9-81ED-4DB2-BD59-A6C34878D82A}">
                    <a16:rowId xmlns:a16="http://schemas.microsoft.com/office/drawing/2014/main" val="10002"/>
                  </a:ext>
                </a:extLst>
              </a:tr>
              <a:tr h="359271">
                <a:tc>
                  <a:txBody>
                    <a:bodyPr/>
                    <a:lstStyle/>
                    <a:p>
                      <a:pPr marL="0" indent="0">
                        <a:lnSpc>
                          <a:spcPts val="1820"/>
                        </a:lnSpc>
                        <a:buNone/>
                      </a:pPr>
                      <a:r>
                        <a:rPr lang="en-US" sz="1300" dirty="0">
                          <a:solidFill>
                            <a:srgbClr val="FF5C77"/>
                          </a:solidFill>
                          <a:latin typeface="Arial" pitchFamily="34" charset="0"/>
                          <a:ea typeface="Arial" pitchFamily="34" charset="-122"/>
                          <a:cs typeface="Arial" pitchFamily="34" charset="-120"/>
                        </a:rPr>
                        <a:t>Recall</a:t>
                      </a:r>
                      <a:endParaRPr lang="en-US" sz="1300" dirty="0">
                        <a:latin typeface="Arial" charset="0"/>
                        <a:ea typeface="Arial" charset="0"/>
                        <a:cs typeface="Arial" charset="0"/>
                      </a:endParaRPr>
                    </a:p>
                  </a:txBody>
                  <a:tcPr marL="57785" marR="57785" marT="57785" marB="57785">
                    <a:lnL w="12700" cap="flat" cmpd="sng" algn="ctr">
                      <a:solidFill>
                        <a:srgbClr val="403F40"/>
                      </a:solidFill>
                      <a:prstDash val="solid"/>
                      <a:round/>
                      <a:headEnd type="none" w="med" len="med"/>
                      <a:tailEnd type="none" w="med" len="med"/>
                    </a:lnL>
                    <a:lnR w="12700" cap="flat" cmpd="sng" algn="ctr">
                      <a:solidFill>
                        <a:srgbClr val="403F40"/>
                      </a:solidFill>
                      <a:prstDash val="solid"/>
                      <a:round/>
                      <a:headEnd type="none" w="med" len="med"/>
                      <a:tailEnd type="none" w="med" len="med"/>
                    </a:lnR>
                    <a:lnT w="12700" cap="flat" cmpd="sng" algn="ctr">
                      <a:solidFill>
                        <a:srgbClr val="403F40"/>
                      </a:solidFill>
                      <a:prstDash val="solid"/>
                      <a:round/>
                      <a:headEnd type="none" w="med" len="med"/>
                      <a:tailEnd type="none" w="med" len="med"/>
                    </a:lnT>
                    <a:lnB w="12700" cap="flat" cmpd="sng" algn="ctr">
                      <a:solidFill>
                        <a:srgbClr val="403F40"/>
                      </a:solidFill>
                      <a:prstDash val="solid"/>
                      <a:round/>
                      <a:headEnd type="none" w="med" len="med"/>
                      <a:tailEnd type="none" w="med" len="med"/>
                    </a:lnB>
                  </a:tcPr>
                </a:tc>
                <a:tc>
                  <a:txBody>
                    <a:bodyPr/>
                    <a:lstStyle/>
                    <a:p>
                      <a:pPr marL="0" indent="0">
                        <a:lnSpc>
                          <a:spcPts val="1820"/>
                        </a:lnSpc>
                        <a:buNone/>
                      </a:pPr>
                      <a:r>
                        <a:rPr lang="en-US" sz="1300" dirty="0">
                          <a:solidFill>
                            <a:srgbClr val="E4E4E7"/>
                          </a:solidFill>
                          <a:latin typeface="Arial" pitchFamily="34" charset="0"/>
                          <a:ea typeface="Arial" pitchFamily="34" charset="-122"/>
                          <a:cs typeface="Arial" pitchFamily="34" charset="-120"/>
                        </a:rPr>
                        <a:t>Sensibilidad o exhaustividad</a:t>
                      </a:r>
                      <a:endParaRPr lang="en-US" sz="1300" dirty="0">
                        <a:latin typeface="Arial" charset="0"/>
                        <a:ea typeface="Arial" charset="0"/>
                        <a:cs typeface="Arial" charset="0"/>
                      </a:endParaRPr>
                    </a:p>
                  </a:txBody>
                  <a:tcPr marL="57785" marR="57785" marT="57785" marB="57785">
                    <a:lnL w="12700" cap="flat" cmpd="sng" algn="ctr">
                      <a:solidFill>
                        <a:srgbClr val="403F40"/>
                      </a:solidFill>
                      <a:prstDash val="solid"/>
                      <a:round/>
                      <a:headEnd type="none" w="med" len="med"/>
                      <a:tailEnd type="none" w="med" len="med"/>
                    </a:lnL>
                    <a:lnR w="12700" cap="flat" cmpd="sng" algn="ctr">
                      <a:solidFill>
                        <a:srgbClr val="403F40"/>
                      </a:solidFill>
                      <a:prstDash val="solid"/>
                      <a:round/>
                      <a:headEnd type="none" w="med" len="med"/>
                      <a:tailEnd type="none" w="med" len="med"/>
                    </a:lnR>
                    <a:lnT w="12700" cap="flat" cmpd="sng" algn="ctr">
                      <a:solidFill>
                        <a:srgbClr val="403F40"/>
                      </a:solidFill>
                      <a:prstDash val="solid"/>
                      <a:round/>
                      <a:headEnd type="none" w="med" len="med"/>
                      <a:tailEnd type="none" w="med" len="med"/>
                    </a:lnT>
                    <a:lnB w="12700" cap="flat" cmpd="sng" algn="ctr">
                      <a:solidFill>
                        <a:srgbClr val="403F40"/>
                      </a:solidFill>
                      <a:prstDash val="solid"/>
                      <a:round/>
                      <a:headEnd type="none" w="med" len="med"/>
                      <a:tailEnd type="none" w="med" len="med"/>
                    </a:lnB>
                  </a:tcPr>
                </a:tc>
                <a:tc>
                  <a:txBody>
                    <a:bodyPr/>
                    <a:lstStyle/>
                    <a:p>
                      <a:pPr marL="0" indent="0">
                        <a:lnSpc>
                          <a:spcPts val="1820"/>
                        </a:lnSpc>
                        <a:buNone/>
                      </a:pPr>
                      <a:r>
                        <a:rPr lang="en-US" sz="1300" dirty="0">
                          <a:solidFill>
                            <a:srgbClr val="E4E4E7"/>
                          </a:solidFill>
                          <a:latin typeface="Arial" pitchFamily="34" charset="0"/>
                          <a:ea typeface="Arial" pitchFamily="34" charset="-122"/>
                          <a:cs typeface="Arial" pitchFamily="34" charset="-120"/>
                        </a:rPr>
                        <a:t>De todos los «sí» reales, cuántos encontró</a:t>
                      </a:r>
                      <a:endParaRPr lang="en-US" sz="1300" dirty="0">
                        <a:latin typeface="Arial" charset="0"/>
                        <a:ea typeface="Arial" charset="0"/>
                        <a:cs typeface="Arial" charset="0"/>
                      </a:endParaRPr>
                    </a:p>
                  </a:txBody>
                  <a:tcPr marL="57785" marR="57785" marT="57785" marB="57785">
                    <a:lnL w="12700" cap="flat" cmpd="sng" algn="ctr">
                      <a:solidFill>
                        <a:srgbClr val="403F40"/>
                      </a:solidFill>
                      <a:prstDash val="solid"/>
                      <a:round/>
                      <a:headEnd type="none" w="med" len="med"/>
                      <a:tailEnd type="none" w="med" len="med"/>
                    </a:lnL>
                    <a:lnR w="12700" cap="flat" cmpd="sng" algn="ctr">
                      <a:solidFill>
                        <a:srgbClr val="403F40"/>
                      </a:solidFill>
                      <a:prstDash val="solid"/>
                      <a:round/>
                      <a:headEnd type="none" w="med" len="med"/>
                      <a:tailEnd type="none" w="med" len="med"/>
                    </a:lnR>
                    <a:lnT w="12700" cap="flat" cmpd="sng" algn="ctr">
                      <a:solidFill>
                        <a:srgbClr val="403F40"/>
                      </a:solidFill>
                      <a:prstDash val="solid"/>
                      <a:round/>
                      <a:headEnd type="none" w="med" len="med"/>
                      <a:tailEnd type="none" w="med" len="med"/>
                    </a:lnT>
                    <a:lnB w="12700" cap="flat" cmpd="sng" algn="ctr">
                      <a:solidFill>
                        <a:srgbClr val="403F40"/>
                      </a:solidFill>
                      <a:prstDash val="solid"/>
                      <a:round/>
                      <a:headEnd type="none" w="med" len="med"/>
                      <a:tailEnd type="none" w="med" len="med"/>
                    </a:lnB>
                  </a:tcPr>
                </a:tc>
                <a:extLst>
                  <a:ext uri="{0D108BD9-81ED-4DB2-BD59-A6C34878D82A}">
                    <a16:rowId xmlns:a16="http://schemas.microsoft.com/office/drawing/2014/main" val="10003"/>
                  </a:ext>
                </a:extLst>
              </a:tr>
              <a:tr h="359271">
                <a:tc>
                  <a:txBody>
                    <a:bodyPr/>
                    <a:lstStyle/>
                    <a:p>
                      <a:pPr marL="0" indent="0">
                        <a:lnSpc>
                          <a:spcPts val="1820"/>
                        </a:lnSpc>
                        <a:buNone/>
                      </a:pPr>
                      <a:r>
                        <a:rPr lang="en-US" sz="1300" dirty="0">
                          <a:solidFill>
                            <a:srgbClr val="FF5C77"/>
                          </a:solidFill>
                          <a:latin typeface="Arial" pitchFamily="34" charset="0"/>
                          <a:ea typeface="Arial" pitchFamily="34" charset="-122"/>
                          <a:cs typeface="Arial" pitchFamily="34" charset="-120"/>
                        </a:rPr>
                        <a:t>Confusion matrix</a:t>
                      </a:r>
                      <a:endParaRPr lang="en-US" sz="1300" dirty="0">
                        <a:latin typeface="Arial" charset="0"/>
                        <a:ea typeface="Arial" charset="0"/>
                        <a:cs typeface="Arial" charset="0"/>
                      </a:endParaRPr>
                    </a:p>
                  </a:txBody>
                  <a:tcPr marL="57785" marR="57785" marT="57785" marB="57785">
                    <a:lnL w="12700" cap="flat" cmpd="sng" algn="ctr">
                      <a:solidFill>
                        <a:srgbClr val="403F40"/>
                      </a:solidFill>
                      <a:prstDash val="solid"/>
                      <a:round/>
                      <a:headEnd type="none" w="med" len="med"/>
                      <a:tailEnd type="none" w="med" len="med"/>
                    </a:lnL>
                    <a:lnR w="12700" cap="flat" cmpd="sng" algn="ctr">
                      <a:solidFill>
                        <a:srgbClr val="403F40"/>
                      </a:solidFill>
                      <a:prstDash val="solid"/>
                      <a:round/>
                      <a:headEnd type="none" w="med" len="med"/>
                      <a:tailEnd type="none" w="med" len="med"/>
                    </a:lnR>
                    <a:lnT w="12700" cap="flat" cmpd="sng" algn="ctr">
                      <a:solidFill>
                        <a:srgbClr val="403F40"/>
                      </a:solidFill>
                      <a:prstDash val="solid"/>
                      <a:round/>
                      <a:headEnd type="none" w="med" len="med"/>
                      <a:tailEnd type="none" w="med" len="med"/>
                    </a:lnT>
                    <a:lnB w="12700" cap="flat" cmpd="sng" algn="ctr">
                      <a:solidFill>
                        <a:srgbClr val="403F40"/>
                      </a:solidFill>
                      <a:prstDash val="solid"/>
                      <a:round/>
                      <a:headEnd type="none" w="med" len="med"/>
                      <a:tailEnd type="none" w="med" len="med"/>
                    </a:lnB>
                  </a:tcPr>
                </a:tc>
                <a:tc>
                  <a:txBody>
                    <a:bodyPr/>
                    <a:lstStyle/>
                    <a:p>
                      <a:pPr marL="0" indent="0">
                        <a:lnSpc>
                          <a:spcPts val="1820"/>
                        </a:lnSpc>
                        <a:buNone/>
                      </a:pPr>
                      <a:r>
                        <a:rPr lang="en-US" sz="1300" dirty="0">
                          <a:solidFill>
                            <a:srgbClr val="E4E4E7"/>
                          </a:solidFill>
                          <a:latin typeface="Arial" pitchFamily="34" charset="0"/>
                          <a:ea typeface="Arial" pitchFamily="34" charset="-122"/>
                          <a:cs typeface="Arial" pitchFamily="34" charset="-120"/>
                        </a:rPr>
                        <a:t>Matriz de confusión</a:t>
                      </a:r>
                      <a:endParaRPr lang="en-US" sz="1300" dirty="0">
                        <a:latin typeface="Arial" charset="0"/>
                        <a:ea typeface="Arial" charset="0"/>
                        <a:cs typeface="Arial" charset="0"/>
                      </a:endParaRPr>
                    </a:p>
                  </a:txBody>
                  <a:tcPr marL="57785" marR="57785" marT="57785" marB="57785">
                    <a:lnL w="12700" cap="flat" cmpd="sng" algn="ctr">
                      <a:solidFill>
                        <a:srgbClr val="403F40"/>
                      </a:solidFill>
                      <a:prstDash val="solid"/>
                      <a:round/>
                      <a:headEnd type="none" w="med" len="med"/>
                      <a:tailEnd type="none" w="med" len="med"/>
                    </a:lnL>
                    <a:lnR w="12700" cap="flat" cmpd="sng" algn="ctr">
                      <a:solidFill>
                        <a:srgbClr val="403F40"/>
                      </a:solidFill>
                      <a:prstDash val="solid"/>
                      <a:round/>
                      <a:headEnd type="none" w="med" len="med"/>
                      <a:tailEnd type="none" w="med" len="med"/>
                    </a:lnR>
                    <a:lnT w="12700" cap="flat" cmpd="sng" algn="ctr">
                      <a:solidFill>
                        <a:srgbClr val="403F40"/>
                      </a:solidFill>
                      <a:prstDash val="solid"/>
                      <a:round/>
                      <a:headEnd type="none" w="med" len="med"/>
                      <a:tailEnd type="none" w="med" len="med"/>
                    </a:lnT>
                    <a:lnB w="12700" cap="flat" cmpd="sng" algn="ctr">
                      <a:solidFill>
                        <a:srgbClr val="403F40"/>
                      </a:solidFill>
                      <a:prstDash val="solid"/>
                      <a:round/>
                      <a:headEnd type="none" w="med" len="med"/>
                      <a:tailEnd type="none" w="med" len="med"/>
                    </a:lnB>
                  </a:tcPr>
                </a:tc>
                <a:tc>
                  <a:txBody>
                    <a:bodyPr/>
                    <a:lstStyle/>
                    <a:p>
                      <a:pPr marL="0" indent="0">
                        <a:lnSpc>
                          <a:spcPts val="1820"/>
                        </a:lnSpc>
                        <a:buNone/>
                      </a:pPr>
                      <a:r>
                        <a:rPr lang="en-US" sz="1300" dirty="0">
                          <a:solidFill>
                            <a:srgbClr val="E4E4E7"/>
                          </a:solidFill>
                          <a:latin typeface="Arial" pitchFamily="34" charset="0"/>
                          <a:ea typeface="Arial" pitchFamily="34" charset="-122"/>
                          <a:cs typeface="Arial" pitchFamily="34" charset="-120"/>
                        </a:rPr>
                        <a:t>Tabla que cuenta aciertos y errores</a:t>
                      </a:r>
                      <a:endParaRPr lang="en-US" sz="1300" dirty="0">
                        <a:latin typeface="Arial" charset="0"/>
                        <a:ea typeface="Arial" charset="0"/>
                        <a:cs typeface="Arial" charset="0"/>
                      </a:endParaRPr>
                    </a:p>
                  </a:txBody>
                  <a:tcPr marL="57785" marR="57785" marT="57785" marB="57785">
                    <a:lnL w="12700" cap="flat" cmpd="sng" algn="ctr">
                      <a:solidFill>
                        <a:srgbClr val="403F40"/>
                      </a:solidFill>
                      <a:prstDash val="solid"/>
                      <a:round/>
                      <a:headEnd type="none" w="med" len="med"/>
                      <a:tailEnd type="none" w="med" len="med"/>
                    </a:lnL>
                    <a:lnR w="12700" cap="flat" cmpd="sng" algn="ctr">
                      <a:solidFill>
                        <a:srgbClr val="403F40"/>
                      </a:solidFill>
                      <a:prstDash val="solid"/>
                      <a:round/>
                      <a:headEnd type="none" w="med" len="med"/>
                      <a:tailEnd type="none" w="med" len="med"/>
                    </a:lnR>
                    <a:lnT w="12700" cap="flat" cmpd="sng" algn="ctr">
                      <a:solidFill>
                        <a:srgbClr val="403F40"/>
                      </a:solidFill>
                      <a:prstDash val="solid"/>
                      <a:round/>
                      <a:headEnd type="none" w="med" len="med"/>
                      <a:tailEnd type="none" w="med" len="med"/>
                    </a:lnT>
                    <a:lnB w="12700" cap="flat" cmpd="sng" algn="ctr">
                      <a:solidFill>
                        <a:srgbClr val="403F40"/>
                      </a:solidFill>
                      <a:prstDash val="solid"/>
                      <a:round/>
                      <a:headEnd type="none" w="med" len="med"/>
                      <a:tailEnd type="none" w="med" len="med"/>
                    </a:lnB>
                  </a:tcPr>
                </a:tc>
                <a:extLst>
                  <a:ext uri="{0D108BD9-81ED-4DB2-BD59-A6C34878D82A}">
                    <a16:rowId xmlns:a16="http://schemas.microsoft.com/office/drawing/2014/main" val="10004"/>
                  </a:ext>
                </a:extLst>
              </a:tr>
              <a:tr h="359271">
                <a:tc>
                  <a:txBody>
                    <a:bodyPr/>
                    <a:lstStyle/>
                    <a:p>
                      <a:pPr marL="0" indent="0">
                        <a:lnSpc>
                          <a:spcPts val="1820"/>
                        </a:lnSpc>
                        <a:buNone/>
                      </a:pPr>
                      <a:r>
                        <a:rPr lang="en-US" sz="1300" dirty="0">
                          <a:solidFill>
                            <a:srgbClr val="FF5C77"/>
                          </a:solidFill>
                          <a:latin typeface="Arial" pitchFamily="34" charset="0"/>
                          <a:ea typeface="Arial" pitchFamily="34" charset="-122"/>
                          <a:cs typeface="Arial" pitchFamily="34" charset="-120"/>
                        </a:rPr>
                        <a:t>MAE</a:t>
                      </a:r>
                      <a:endParaRPr lang="en-US" sz="1300" dirty="0">
                        <a:latin typeface="Arial" charset="0"/>
                        <a:ea typeface="Arial" charset="0"/>
                        <a:cs typeface="Arial" charset="0"/>
                      </a:endParaRPr>
                    </a:p>
                  </a:txBody>
                  <a:tcPr marL="57785" marR="57785" marT="57785" marB="57785">
                    <a:lnL w="12700" cap="flat" cmpd="sng" algn="ctr">
                      <a:solidFill>
                        <a:srgbClr val="403F40"/>
                      </a:solidFill>
                      <a:prstDash val="solid"/>
                      <a:round/>
                      <a:headEnd type="none" w="med" len="med"/>
                      <a:tailEnd type="none" w="med" len="med"/>
                    </a:lnL>
                    <a:lnR w="12700" cap="flat" cmpd="sng" algn="ctr">
                      <a:solidFill>
                        <a:srgbClr val="403F40"/>
                      </a:solidFill>
                      <a:prstDash val="solid"/>
                      <a:round/>
                      <a:headEnd type="none" w="med" len="med"/>
                      <a:tailEnd type="none" w="med" len="med"/>
                    </a:lnR>
                    <a:lnT w="12700" cap="flat" cmpd="sng" algn="ctr">
                      <a:solidFill>
                        <a:srgbClr val="403F40"/>
                      </a:solidFill>
                      <a:prstDash val="solid"/>
                      <a:round/>
                      <a:headEnd type="none" w="med" len="med"/>
                      <a:tailEnd type="none" w="med" len="med"/>
                    </a:lnT>
                    <a:lnB w="12700" cap="flat" cmpd="sng" algn="ctr">
                      <a:solidFill>
                        <a:srgbClr val="403F40"/>
                      </a:solidFill>
                      <a:prstDash val="solid"/>
                      <a:round/>
                      <a:headEnd type="none" w="med" len="med"/>
                      <a:tailEnd type="none" w="med" len="med"/>
                    </a:lnB>
                  </a:tcPr>
                </a:tc>
                <a:tc>
                  <a:txBody>
                    <a:bodyPr/>
                    <a:lstStyle/>
                    <a:p>
                      <a:pPr marL="0" indent="0">
                        <a:lnSpc>
                          <a:spcPts val="1820"/>
                        </a:lnSpc>
                        <a:buNone/>
                      </a:pPr>
                      <a:r>
                        <a:rPr lang="en-US" sz="1300" dirty="0">
                          <a:solidFill>
                            <a:srgbClr val="E4E4E7"/>
                          </a:solidFill>
                          <a:latin typeface="Arial" pitchFamily="34" charset="0"/>
                          <a:ea typeface="Arial" pitchFamily="34" charset="-122"/>
                          <a:cs typeface="Arial" pitchFamily="34" charset="-120"/>
                        </a:rPr>
                        <a:t>Error absoluto medio</a:t>
                      </a:r>
                      <a:endParaRPr lang="en-US" sz="1300" dirty="0">
                        <a:latin typeface="Arial" charset="0"/>
                        <a:ea typeface="Arial" charset="0"/>
                        <a:cs typeface="Arial" charset="0"/>
                      </a:endParaRPr>
                    </a:p>
                  </a:txBody>
                  <a:tcPr marL="57785" marR="57785" marT="57785" marB="57785">
                    <a:lnL w="12700" cap="flat" cmpd="sng" algn="ctr">
                      <a:solidFill>
                        <a:srgbClr val="403F40"/>
                      </a:solidFill>
                      <a:prstDash val="solid"/>
                      <a:round/>
                      <a:headEnd type="none" w="med" len="med"/>
                      <a:tailEnd type="none" w="med" len="med"/>
                    </a:lnL>
                    <a:lnR w="12700" cap="flat" cmpd="sng" algn="ctr">
                      <a:solidFill>
                        <a:srgbClr val="403F40"/>
                      </a:solidFill>
                      <a:prstDash val="solid"/>
                      <a:round/>
                      <a:headEnd type="none" w="med" len="med"/>
                      <a:tailEnd type="none" w="med" len="med"/>
                    </a:lnR>
                    <a:lnT w="12700" cap="flat" cmpd="sng" algn="ctr">
                      <a:solidFill>
                        <a:srgbClr val="403F40"/>
                      </a:solidFill>
                      <a:prstDash val="solid"/>
                      <a:round/>
                      <a:headEnd type="none" w="med" len="med"/>
                      <a:tailEnd type="none" w="med" len="med"/>
                    </a:lnT>
                    <a:lnB w="12700" cap="flat" cmpd="sng" algn="ctr">
                      <a:solidFill>
                        <a:srgbClr val="403F40"/>
                      </a:solidFill>
                      <a:prstDash val="solid"/>
                      <a:round/>
                      <a:headEnd type="none" w="med" len="med"/>
                      <a:tailEnd type="none" w="med" len="med"/>
                    </a:lnB>
                  </a:tcPr>
                </a:tc>
                <a:tc>
                  <a:txBody>
                    <a:bodyPr/>
                    <a:lstStyle/>
                    <a:p>
                      <a:pPr marL="0" indent="0">
                        <a:lnSpc>
                          <a:spcPts val="1820"/>
                        </a:lnSpc>
                        <a:buNone/>
                      </a:pPr>
                      <a:r>
                        <a:rPr lang="en-US" sz="1300" dirty="0">
                          <a:solidFill>
                            <a:srgbClr val="E4E4E7"/>
                          </a:solidFill>
                          <a:latin typeface="Arial" pitchFamily="34" charset="0"/>
                          <a:ea typeface="Arial" pitchFamily="34" charset="-122"/>
                          <a:cs typeface="Arial" pitchFamily="34" charset="-120"/>
                        </a:rPr>
                        <a:t>Cuánto falla en promedio, en las mismas unidades</a:t>
                      </a:r>
                      <a:endParaRPr lang="en-US" sz="1300" dirty="0">
                        <a:latin typeface="Arial" charset="0"/>
                        <a:ea typeface="Arial" charset="0"/>
                        <a:cs typeface="Arial" charset="0"/>
                      </a:endParaRPr>
                    </a:p>
                  </a:txBody>
                  <a:tcPr marL="57785" marR="57785" marT="57785" marB="57785">
                    <a:lnL w="12700" cap="flat" cmpd="sng" algn="ctr">
                      <a:solidFill>
                        <a:srgbClr val="403F40"/>
                      </a:solidFill>
                      <a:prstDash val="solid"/>
                      <a:round/>
                      <a:headEnd type="none" w="med" len="med"/>
                      <a:tailEnd type="none" w="med" len="med"/>
                    </a:lnL>
                    <a:lnR w="12700" cap="flat" cmpd="sng" algn="ctr">
                      <a:solidFill>
                        <a:srgbClr val="403F40"/>
                      </a:solidFill>
                      <a:prstDash val="solid"/>
                      <a:round/>
                      <a:headEnd type="none" w="med" len="med"/>
                      <a:tailEnd type="none" w="med" len="med"/>
                    </a:lnR>
                    <a:lnT w="12700" cap="flat" cmpd="sng" algn="ctr">
                      <a:solidFill>
                        <a:srgbClr val="403F40"/>
                      </a:solidFill>
                      <a:prstDash val="solid"/>
                      <a:round/>
                      <a:headEnd type="none" w="med" len="med"/>
                      <a:tailEnd type="none" w="med" len="med"/>
                    </a:lnT>
                    <a:lnB w="12700" cap="flat" cmpd="sng" algn="ctr">
                      <a:solidFill>
                        <a:srgbClr val="403F40"/>
                      </a:solidFill>
                      <a:prstDash val="solid"/>
                      <a:round/>
                      <a:headEnd type="none" w="med" len="med"/>
                      <a:tailEnd type="none" w="med" len="med"/>
                    </a:lnB>
                  </a:tcPr>
                </a:tc>
                <a:extLst>
                  <a:ext uri="{0D108BD9-81ED-4DB2-BD59-A6C34878D82A}">
                    <a16:rowId xmlns:a16="http://schemas.microsoft.com/office/drawing/2014/main" val="10005"/>
                  </a:ext>
                </a:extLst>
              </a:tr>
              <a:tr h="359271">
                <a:tc>
                  <a:txBody>
                    <a:bodyPr/>
                    <a:lstStyle/>
                    <a:p>
                      <a:pPr marL="0" indent="0">
                        <a:lnSpc>
                          <a:spcPts val="1820"/>
                        </a:lnSpc>
                        <a:buNone/>
                      </a:pPr>
                      <a:r>
                        <a:rPr lang="en-US" sz="1300" dirty="0">
                          <a:solidFill>
                            <a:srgbClr val="FF5C77"/>
                          </a:solidFill>
                          <a:latin typeface="Arial" pitchFamily="34" charset="0"/>
                          <a:ea typeface="Arial" pitchFamily="34" charset="-122"/>
                          <a:cs typeface="Arial" pitchFamily="34" charset="-120"/>
                        </a:rPr>
                        <a:t>RMSE</a:t>
                      </a:r>
                      <a:endParaRPr lang="en-US" sz="1300" dirty="0">
                        <a:latin typeface="Arial" charset="0"/>
                        <a:ea typeface="Arial" charset="0"/>
                        <a:cs typeface="Arial" charset="0"/>
                      </a:endParaRPr>
                    </a:p>
                  </a:txBody>
                  <a:tcPr marL="57785" marR="57785" marT="57785" marB="57785">
                    <a:lnL w="12700" cap="flat" cmpd="sng" algn="ctr">
                      <a:solidFill>
                        <a:srgbClr val="403F40"/>
                      </a:solidFill>
                      <a:prstDash val="solid"/>
                      <a:round/>
                      <a:headEnd type="none" w="med" len="med"/>
                      <a:tailEnd type="none" w="med" len="med"/>
                    </a:lnL>
                    <a:lnR w="12700" cap="flat" cmpd="sng" algn="ctr">
                      <a:solidFill>
                        <a:srgbClr val="403F40"/>
                      </a:solidFill>
                      <a:prstDash val="solid"/>
                      <a:round/>
                      <a:headEnd type="none" w="med" len="med"/>
                      <a:tailEnd type="none" w="med" len="med"/>
                    </a:lnR>
                    <a:lnT w="12700" cap="flat" cmpd="sng" algn="ctr">
                      <a:solidFill>
                        <a:srgbClr val="403F40"/>
                      </a:solidFill>
                      <a:prstDash val="solid"/>
                      <a:round/>
                      <a:headEnd type="none" w="med" len="med"/>
                      <a:tailEnd type="none" w="med" len="med"/>
                    </a:lnT>
                    <a:lnB w="12700" cap="flat" cmpd="sng" algn="ctr">
                      <a:solidFill>
                        <a:srgbClr val="403F40"/>
                      </a:solidFill>
                      <a:prstDash val="solid"/>
                      <a:round/>
                      <a:headEnd type="none" w="med" len="med"/>
                      <a:tailEnd type="none" w="med" len="med"/>
                    </a:lnB>
                  </a:tcPr>
                </a:tc>
                <a:tc>
                  <a:txBody>
                    <a:bodyPr/>
                    <a:lstStyle/>
                    <a:p>
                      <a:pPr marL="0" indent="0">
                        <a:lnSpc>
                          <a:spcPts val="1820"/>
                        </a:lnSpc>
                        <a:buNone/>
                      </a:pPr>
                      <a:r>
                        <a:rPr lang="en-US" sz="1300" dirty="0">
                          <a:solidFill>
                            <a:srgbClr val="E4E4E7"/>
                          </a:solidFill>
                          <a:latin typeface="Arial" pitchFamily="34" charset="0"/>
                          <a:ea typeface="Arial" pitchFamily="34" charset="-122"/>
                          <a:cs typeface="Arial" pitchFamily="34" charset="-120"/>
                        </a:rPr>
                        <a:t>Raíz del error cuadrático medio</a:t>
                      </a:r>
                      <a:endParaRPr lang="en-US" sz="1300" dirty="0">
                        <a:latin typeface="Arial" charset="0"/>
                        <a:ea typeface="Arial" charset="0"/>
                        <a:cs typeface="Arial" charset="0"/>
                      </a:endParaRPr>
                    </a:p>
                  </a:txBody>
                  <a:tcPr marL="57785" marR="57785" marT="57785" marB="57785">
                    <a:lnL w="12700" cap="flat" cmpd="sng" algn="ctr">
                      <a:solidFill>
                        <a:srgbClr val="403F40"/>
                      </a:solidFill>
                      <a:prstDash val="solid"/>
                      <a:round/>
                      <a:headEnd type="none" w="med" len="med"/>
                      <a:tailEnd type="none" w="med" len="med"/>
                    </a:lnL>
                    <a:lnR w="12700" cap="flat" cmpd="sng" algn="ctr">
                      <a:solidFill>
                        <a:srgbClr val="403F40"/>
                      </a:solidFill>
                      <a:prstDash val="solid"/>
                      <a:round/>
                      <a:headEnd type="none" w="med" len="med"/>
                      <a:tailEnd type="none" w="med" len="med"/>
                    </a:lnR>
                    <a:lnT w="12700" cap="flat" cmpd="sng" algn="ctr">
                      <a:solidFill>
                        <a:srgbClr val="403F40"/>
                      </a:solidFill>
                      <a:prstDash val="solid"/>
                      <a:round/>
                      <a:headEnd type="none" w="med" len="med"/>
                      <a:tailEnd type="none" w="med" len="med"/>
                    </a:lnT>
                    <a:lnB w="12700" cap="flat" cmpd="sng" algn="ctr">
                      <a:solidFill>
                        <a:srgbClr val="403F40"/>
                      </a:solidFill>
                      <a:prstDash val="solid"/>
                      <a:round/>
                      <a:headEnd type="none" w="med" len="med"/>
                      <a:tailEnd type="none" w="med" len="med"/>
                    </a:lnB>
                  </a:tcPr>
                </a:tc>
                <a:tc>
                  <a:txBody>
                    <a:bodyPr/>
                    <a:lstStyle/>
                    <a:p>
                      <a:pPr marL="0" indent="0">
                        <a:lnSpc>
                          <a:spcPts val="1820"/>
                        </a:lnSpc>
                        <a:buNone/>
                      </a:pPr>
                      <a:r>
                        <a:rPr lang="en-US" sz="1300" dirty="0">
                          <a:solidFill>
                            <a:srgbClr val="E4E4E7"/>
                          </a:solidFill>
                          <a:latin typeface="Arial" pitchFamily="34" charset="0"/>
                          <a:ea typeface="Arial" pitchFamily="34" charset="-122"/>
                          <a:cs typeface="Arial" pitchFamily="34" charset="-120"/>
                        </a:rPr>
                        <a:t>Error promedio que castiga más los errores grandes</a:t>
                      </a:r>
                      <a:endParaRPr lang="en-US" sz="1300" dirty="0">
                        <a:latin typeface="Arial" charset="0"/>
                        <a:ea typeface="Arial" charset="0"/>
                        <a:cs typeface="Arial" charset="0"/>
                      </a:endParaRPr>
                    </a:p>
                  </a:txBody>
                  <a:tcPr marL="57785" marR="57785" marT="57785" marB="57785">
                    <a:lnL w="12700" cap="flat" cmpd="sng" algn="ctr">
                      <a:solidFill>
                        <a:srgbClr val="403F40"/>
                      </a:solidFill>
                      <a:prstDash val="solid"/>
                      <a:round/>
                      <a:headEnd type="none" w="med" len="med"/>
                      <a:tailEnd type="none" w="med" len="med"/>
                    </a:lnL>
                    <a:lnR w="12700" cap="flat" cmpd="sng" algn="ctr">
                      <a:solidFill>
                        <a:srgbClr val="403F40"/>
                      </a:solidFill>
                      <a:prstDash val="solid"/>
                      <a:round/>
                      <a:headEnd type="none" w="med" len="med"/>
                      <a:tailEnd type="none" w="med" len="med"/>
                    </a:lnR>
                    <a:lnT w="12700" cap="flat" cmpd="sng" algn="ctr">
                      <a:solidFill>
                        <a:srgbClr val="403F40"/>
                      </a:solidFill>
                      <a:prstDash val="solid"/>
                      <a:round/>
                      <a:headEnd type="none" w="med" len="med"/>
                      <a:tailEnd type="none" w="med" len="med"/>
                    </a:lnT>
                    <a:lnB w="12700" cap="flat" cmpd="sng" algn="ctr">
                      <a:solidFill>
                        <a:srgbClr val="403F40"/>
                      </a:solidFill>
                      <a:prstDash val="solid"/>
                      <a:round/>
                      <a:headEnd type="none" w="med" len="med"/>
                      <a:tailEnd type="none" w="med" len="med"/>
                    </a:lnB>
                  </a:tcPr>
                </a:tc>
                <a:extLst>
                  <a:ext uri="{0D108BD9-81ED-4DB2-BD59-A6C34878D82A}">
                    <a16:rowId xmlns:a16="http://schemas.microsoft.com/office/drawing/2014/main" val="10006"/>
                  </a:ext>
                </a:extLst>
              </a:tr>
              <a:tr h="359271">
                <a:tc>
                  <a:txBody>
                    <a:bodyPr/>
                    <a:lstStyle/>
                    <a:p>
                      <a:pPr marL="0" indent="0">
                        <a:lnSpc>
                          <a:spcPts val="1820"/>
                        </a:lnSpc>
                        <a:buNone/>
                      </a:pPr>
                      <a:r>
                        <a:rPr lang="en-US" sz="1300" dirty="0">
                          <a:solidFill>
                            <a:srgbClr val="FF5C77"/>
                          </a:solidFill>
                          <a:latin typeface="Arial" pitchFamily="34" charset="0"/>
                          <a:ea typeface="Arial" pitchFamily="34" charset="-122"/>
                          <a:cs typeface="Arial" pitchFamily="34" charset="-120"/>
                        </a:rPr>
                        <a:t>Train / Test</a:t>
                      </a:r>
                      <a:endParaRPr lang="en-US" sz="1300" dirty="0">
                        <a:latin typeface="Arial" charset="0"/>
                        <a:ea typeface="Arial" charset="0"/>
                        <a:cs typeface="Arial" charset="0"/>
                      </a:endParaRPr>
                    </a:p>
                  </a:txBody>
                  <a:tcPr marL="57785" marR="57785" marT="57785" marB="57785">
                    <a:lnL w="12700" cap="flat" cmpd="sng" algn="ctr">
                      <a:solidFill>
                        <a:srgbClr val="403F40"/>
                      </a:solidFill>
                      <a:prstDash val="solid"/>
                      <a:round/>
                      <a:headEnd type="none" w="med" len="med"/>
                      <a:tailEnd type="none" w="med" len="med"/>
                    </a:lnL>
                    <a:lnR w="12700" cap="flat" cmpd="sng" algn="ctr">
                      <a:solidFill>
                        <a:srgbClr val="403F40"/>
                      </a:solidFill>
                      <a:prstDash val="solid"/>
                      <a:round/>
                      <a:headEnd type="none" w="med" len="med"/>
                      <a:tailEnd type="none" w="med" len="med"/>
                    </a:lnR>
                    <a:lnT w="12700" cap="flat" cmpd="sng" algn="ctr">
                      <a:solidFill>
                        <a:srgbClr val="403F40"/>
                      </a:solidFill>
                      <a:prstDash val="solid"/>
                      <a:round/>
                      <a:headEnd type="none" w="med" len="med"/>
                      <a:tailEnd type="none" w="med" len="med"/>
                    </a:lnT>
                    <a:lnB w="12700" cap="flat" cmpd="sng" algn="ctr">
                      <a:solidFill>
                        <a:srgbClr val="403F40"/>
                      </a:solidFill>
                      <a:prstDash val="solid"/>
                      <a:round/>
                      <a:headEnd type="none" w="med" len="med"/>
                      <a:tailEnd type="none" w="med" len="med"/>
                    </a:lnB>
                  </a:tcPr>
                </a:tc>
                <a:tc>
                  <a:txBody>
                    <a:bodyPr/>
                    <a:lstStyle/>
                    <a:p>
                      <a:pPr marL="0" indent="0">
                        <a:lnSpc>
                          <a:spcPts val="1820"/>
                        </a:lnSpc>
                        <a:buNone/>
                      </a:pPr>
                      <a:r>
                        <a:rPr lang="en-US" sz="1300" dirty="0">
                          <a:solidFill>
                            <a:srgbClr val="E4E4E7"/>
                          </a:solidFill>
                          <a:latin typeface="Arial" pitchFamily="34" charset="0"/>
                          <a:ea typeface="Arial" pitchFamily="34" charset="-122"/>
                          <a:cs typeface="Arial" pitchFamily="34" charset="-120"/>
                        </a:rPr>
                        <a:t>Entrenamiento / Prueba</a:t>
                      </a:r>
                      <a:endParaRPr lang="en-US" sz="1300" dirty="0">
                        <a:latin typeface="Arial" charset="0"/>
                        <a:ea typeface="Arial" charset="0"/>
                        <a:cs typeface="Arial" charset="0"/>
                      </a:endParaRPr>
                    </a:p>
                  </a:txBody>
                  <a:tcPr marL="57785" marR="57785" marT="57785" marB="57785">
                    <a:lnL w="12700" cap="flat" cmpd="sng" algn="ctr">
                      <a:solidFill>
                        <a:srgbClr val="403F40"/>
                      </a:solidFill>
                      <a:prstDash val="solid"/>
                      <a:round/>
                      <a:headEnd type="none" w="med" len="med"/>
                      <a:tailEnd type="none" w="med" len="med"/>
                    </a:lnL>
                    <a:lnR w="12700" cap="flat" cmpd="sng" algn="ctr">
                      <a:solidFill>
                        <a:srgbClr val="403F40"/>
                      </a:solidFill>
                      <a:prstDash val="solid"/>
                      <a:round/>
                      <a:headEnd type="none" w="med" len="med"/>
                      <a:tailEnd type="none" w="med" len="med"/>
                    </a:lnR>
                    <a:lnT w="12700" cap="flat" cmpd="sng" algn="ctr">
                      <a:solidFill>
                        <a:srgbClr val="403F40"/>
                      </a:solidFill>
                      <a:prstDash val="solid"/>
                      <a:round/>
                      <a:headEnd type="none" w="med" len="med"/>
                      <a:tailEnd type="none" w="med" len="med"/>
                    </a:lnT>
                    <a:lnB w="12700" cap="flat" cmpd="sng" algn="ctr">
                      <a:solidFill>
                        <a:srgbClr val="403F40"/>
                      </a:solidFill>
                      <a:prstDash val="solid"/>
                      <a:round/>
                      <a:headEnd type="none" w="med" len="med"/>
                      <a:tailEnd type="none" w="med" len="med"/>
                    </a:lnB>
                  </a:tcPr>
                </a:tc>
                <a:tc>
                  <a:txBody>
                    <a:bodyPr/>
                    <a:lstStyle/>
                    <a:p>
                      <a:pPr marL="0" indent="0">
                        <a:lnSpc>
                          <a:spcPts val="1820"/>
                        </a:lnSpc>
                        <a:buNone/>
                      </a:pPr>
                      <a:r>
                        <a:rPr lang="en-US" sz="1300" dirty="0">
                          <a:solidFill>
                            <a:srgbClr val="E4E4E7"/>
                          </a:solidFill>
                          <a:latin typeface="Arial" pitchFamily="34" charset="0"/>
                          <a:ea typeface="Arial" pitchFamily="34" charset="-122"/>
                          <a:cs typeface="Arial" pitchFamily="34" charset="-120"/>
                        </a:rPr>
                        <a:t>Datos para aprender / datos para el examen</a:t>
                      </a:r>
                      <a:endParaRPr lang="en-US" sz="1300" dirty="0">
                        <a:latin typeface="Arial" charset="0"/>
                        <a:ea typeface="Arial" charset="0"/>
                        <a:cs typeface="Arial" charset="0"/>
                      </a:endParaRPr>
                    </a:p>
                  </a:txBody>
                  <a:tcPr marL="57785" marR="57785" marT="57785" marB="57785">
                    <a:lnL w="12700" cap="flat" cmpd="sng" algn="ctr">
                      <a:solidFill>
                        <a:srgbClr val="403F40"/>
                      </a:solidFill>
                      <a:prstDash val="solid"/>
                      <a:round/>
                      <a:headEnd type="none" w="med" len="med"/>
                      <a:tailEnd type="none" w="med" len="med"/>
                    </a:lnL>
                    <a:lnR w="12700" cap="flat" cmpd="sng" algn="ctr">
                      <a:solidFill>
                        <a:srgbClr val="403F40"/>
                      </a:solidFill>
                      <a:prstDash val="solid"/>
                      <a:round/>
                      <a:headEnd type="none" w="med" len="med"/>
                      <a:tailEnd type="none" w="med" len="med"/>
                    </a:lnR>
                    <a:lnT w="12700" cap="flat" cmpd="sng" algn="ctr">
                      <a:solidFill>
                        <a:srgbClr val="403F40"/>
                      </a:solidFill>
                      <a:prstDash val="solid"/>
                      <a:round/>
                      <a:headEnd type="none" w="med" len="med"/>
                      <a:tailEnd type="none" w="med" len="med"/>
                    </a:lnT>
                    <a:lnB w="12700" cap="flat" cmpd="sng" algn="ctr">
                      <a:solidFill>
                        <a:srgbClr val="403F40"/>
                      </a:solidFill>
                      <a:prstDash val="solid"/>
                      <a:round/>
                      <a:headEnd type="none" w="med" len="med"/>
                      <a:tailEnd type="none" w="med" len="med"/>
                    </a:lnB>
                  </a:tcPr>
                </a:tc>
                <a:extLst>
                  <a:ext uri="{0D108BD9-81ED-4DB2-BD59-A6C34878D82A}">
                    <a16:rowId xmlns:a16="http://schemas.microsoft.com/office/drawing/2014/main" val="10007"/>
                  </a:ext>
                </a:extLst>
              </a:tr>
            </a:tbl>
          </a:graphicData>
        </a:graphic>
      </p:graphicFrame>
      <p:sp>
        <p:nvSpPr>
          <p:cNvPr id="5" name="Text 2"/>
          <p:cNvSpPr/>
          <p:nvPr/>
        </p:nvSpPr>
        <p:spPr>
          <a:xfrm>
            <a:off x="812800" y="6238280"/>
            <a:ext cx="7848600" cy="238720"/>
          </a:xfrm>
          <a:prstGeom prst="rect">
            <a:avLst/>
          </a:prstGeom>
          <a:noFill/>
          <a:ln/>
        </p:spPr>
        <p:txBody>
          <a:bodyPr wrap="square" lIns="0" tIns="0" rIns="0" bIns="0" rtlCol="0" anchor="t">
            <a:normAutofit/>
          </a:bodyPr>
          <a:lstStyle/>
          <a:p>
            <a:pPr marL="0" indent="0" algn="l">
              <a:lnSpc>
                <a:spcPts val="1680"/>
              </a:lnSpc>
              <a:buNone/>
            </a:pPr>
            <a:r>
              <a:rPr lang="en-US" sz="1200" kern="0" spc="100" dirty="0">
                <a:solidFill>
                  <a:srgbClr val="71717A"/>
                </a:solidFill>
                <a:latin typeface="Courier New" pitchFamily="34" charset="0"/>
                <a:ea typeface="Courier New" pitchFamily="34" charset="-122"/>
                <a:cs typeface="Courier New" pitchFamily="34" charset="-120"/>
              </a:rPr>
              <a:t>UNIDAD 4 · VALIDACIÓN DE MODELOS</a:t>
            </a:r>
            <a:endParaRPr lang="en-US" sz="1200" dirty="0"/>
          </a:p>
        </p:txBody>
      </p:sp>
      <p:sp>
        <p:nvSpPr>
          <p:cNvPr id="6" name="Text 3"/>
          <p:cNvSpPr/>
          <p:nvPr/>
        </p:nvSpPr>
        <p:spPr>
          <a:xfrm>
            <a:off x="10058400" y="6238280"/>
            <a:ext cx="1320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71717A"/>
                </a:solidFill>
                <a:latin typeface="Courier New" pitchFamily="34" charset="0"/>
                <a:ea typeface="Courier New" pitchFamily="34" charset="-122"/>
                <a:cs typeface="Courier New" pitchFamily="34" charset="-120"/>
              </a:rPr>
              <a:t>04</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B0B0D"/>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marL="0" indent="0" algn="l">
              <a:lnSpc>
                <a:spcPts val="1820"/>
              </a:lnSpc>
              <a:buNone/>
            </a:pPr>
            <a:r>
              <a:rPr lang="en-US" sz="1300" b="1" kern="0" spc="200" dirty="0">
                <a:solidFill>
                  <a:srgbClr val="E4002B"/>
                </a:solidFill>
                <a:latin typeface="Courier New" pitchFamily="34" charset="0"/>
                <a:ea typeface="Courier New" pitchFamily="34" charset="-122"/>
                <a:cs typeface="Courier New" pitchFamily="34" charset="-120"/>
              </a:rPr>
              <a:t>GLOSARIO · PARTE 2 DE 2</a:t>
            </a:r>
            <a:endParaRPr lang="en-US" sz="1300" dirty="0"/>
          </a:p>
        </p:txBody>
      </p:sp>
      <p:sp>
        <p:nvSpPr>
          <p:cNvPr id="3" name="Text 1"/>
          <p:cNvSpPr/>
          <p:nvPr/>
        </p:nvSpPr>
        <p:spPr>
          <a:xfrm>
            <a:off x="812800" y="1145480"/>
            <a:ext cx="10883392" cy="472380"/>
          </a:xfrm>
          <a:prstGeom prst="rect">
            <a:avLst/>
          </a:prstGeom>
          <a:noFill/>
          <a:ln/>
        </p:spPr>
        <p:txBody>
          <a:bodyPr wrap="square" lIns="0" tIns="0" rIns="0" bIns="0" rtlCol="0" anchor="t">
            <a:normAutofit/>
          </a:bodyPr>
          <a:lstStyle/>
          <a:p>
            <a:pPr marL="0" indent="0" algn="l">
              <a:lnSpc>
                <a:spcPts val="3520"/>
              </a:lnSpc>
              <a:buNone/>
            </a:pPr>
            <a:r>
              <a:rPr lang="en-US" sz="3200" b="1" kern="0" spc="-50" dirty="0">
                <a:solidFill>
                  <a:srgbClr val="F4F4F5"/>
                </a:solidFill>
                <a:latin typeface="Arial" pitchFamily="34" charset="0"/>
                <a:ea typeface="Arial" pitchFamily="34" charset="-122"/>
                <a:cs typeface="Arial" pitchFamily="34" charset="-120"/>
              </a:rPr>
              <a:t>Palabras en inglés para validar y mejorar</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808361"/>
          <a:ext cx="10553700" cy="3233439"/>
        </p:xfrm>
        <a:graphic>
          <a:graphicData uri="http://schemas.openxmlformats.org/drawingml/2006/table">
            <a:tbl>
              <a:tblPr/>
              <a:tblGrid>
                <a:gridCol w="2532888">
                  <a:extLst>
                    <a:ext uri="{9D8B030D-6E8A-4147-A177-3AD203B41FA5}">
                      <a16:colId xmlns:a16="http://schemas.microsoft.com/office/drawing/2014/main" val="20000"/>
                    </a:ext>
                  </a:extLst>
                </a:gridCol>
                <a:gridCol w="3166110">
                  <a:extLst>
                    <a:ext uri="{9D8B030D-6E8A-4147-A177-3AD203B41FA5}">
                      <a16:colId xmlns:a16="http://schemas.microsoft.com/office/drawing/2014/main" val="20001"/>
                    </a:ext>
                  </a:extLst>
                </a:gridCol>
                <a:gridCol w="4854702">
                  <a:extLst>
                    <a:ext uri="{9D8B030D-6E8A-4147-A177-3AD203B41FA5}">
                      <a16:colId xmlns:a16="http://schemas.microsoft.com/office/drawing/2014/main" val="20002"/>
                    </a:ext>
                  </a:extLst>
                </a:gridCol>
              </a:tblGrid>
              <a:tr h="359271">
                <a:tc>
                  <a:txBody>
                    <a:bodyPr/>
                    <a:lstStyle/>
                    <a:p>
                      <a:pPr marL="0" indent="0">
                        <a:lnSpc>
                          <a:spcPts val="1820"/>
                        </a:lnSpc>
                        <a:buNone/>
                      </a:pPr>
                      <a:r>
                        <a:rPr lang="en-US" sz="1300" b="1" dirty="0">
                          <a:solidFill>
                            <a:srgbClr val="E4E4E7"/>
                          </a:solidFill>
                          <a:latin typeface="Arial" pitchFamily="34" charset="0"/>
                          <a:ea typeface="Arial" pitchFamily="34" charset="-122"/>
                          <a:cs typeface="Arial" pitchFamily="34" charset="-120"/>
                        </a:rPr>
                        <a:t>En inglés</a:t>
                      </a:r>
                      <a:endParaRPr lang="en-US" sz="1300" dirty="0">
                        <a:latin typeface="Arial" charset="0"/>
                        <a:ea typeface="Arial" charset="0"/>
                        <a:cs typeface="Arial" charset="0"/>
                      </a:endParaRPr>
                    </a:p>
                  </a:txBody>
                  <a:tcPr marL="57785" marR="57785" marT="57785" marB="57785">
                    <a:lnL w="12700" cap="flat" cmpd="sng" algn="ctr">
                      <a:solidFill>
                        <a:srgbClr val="403F40"/>
                      </a:solidFill>
                      <a:prstDash val="solid"/>
                      <a:round/>
                      <a:headEnd type="none" w="med" len="med"/>
                      <a:tailEnd type="none" w="med" len="med"/>
                    </a:lnL>
                    <a:lnR w="12700" cap="flat" cmpd="sng" algn="ctr">
                      <a:solidFill>
                        <a:srgbClr val="4E4E4F"/>
                      </a:solidFill>
                      <a:prstDash val="solid"/>
                      <a:round/>
                      <a:headEnd type="none" w="med" len="med"/>
                      <a:tailEnd type="none" w="med" len="med"/>
                    </a:lnR>
                    <a:lnT w="12700" cap="flat" cmpd="sng" algn="ctr">
                      <a:solidFill>
                        <a:srgbClr val="403F40"/>
                      </a:solidFill>
                      <a:prstDash val="solid"/>
                      <a:round/>
                      <a:headEnd type="none" w="med" len="med"/>
                      <a:tailEnd type="none" w="med" len="med"/>
                    </a:lnT>
                    <a:lnB w="12700" cap="flat" cmpd="sng" algn="ctr">
                      <a:solidFill>
                        <a:srgbClr val="4E4E4F"/>
                      </a:solidFill>
                      <a:prstDash val="solid"/>
                      <a:round/>
                      <a:headEnd type="none" w="med" len="med"/>
                      <a:tailEnd type="none" w="med" len="med"/>
                    </a:lnB>
                    <a:solidFill>
                      <a:srgbClr val="1E1E20"/>
                    </a:solidFill>
                  </a:tcPr>
                </a:tc>
                <a:tc>
                  <a:txBody>
                    <a:bodyPr/>
                    <a:lstStyle/>
                    <a:p>
                      <a:pPr marL="0" indent="0">
                        <a:lnSpc>
                          <a:spcPts val="1820"/>
                        </a:lnSpc>
                        <a:buNone/>
                      </a:pPr>
                      <a:r>
                        <a:rPr lang="en-US" sz="1300" b="1" dirty="0">
                          <a:solidFill>
                            <a:srgbClr val="E4E4E7"/>
                          </a:solidFill>
                          <a:latin typeface="Arial" pitchFamily="34" charset="0"/>
                          <a:ea typeface="Arial" pitchFamily="34" charset="-122"/>
                          <a:cs typeface="Arial" pitchFamily="34" charset="-120"/>
                        </a:rPr>
                        <a:t>En español</a:t>
                      </a:r>
                      <a:endParaRPr lang="en-US" sz="1300" dirty="0">
                        <a:latin typeface="Arial" charset="0"/>
                        <a:ea typeface="Arial" charset="0"/>
                        <a:cs typeface="Arial" charset="0"/>
                      </a:endParaRPr>
                    </a:p>
                  </a:txBody>
                  <a:tcPr marL="57785" marR="57785" marT="57785" marB="57785">
                    <a:lnL w="12700" cap="flat" cmpd="sng" algn="ctr">
                      <a:solidFill>
                        <a:srgbClr val="4E4E4F"/>
                      </a:solidFill>
                      <a:prstDash val="solid"/>
                      <a:round/>
                      <a:headEnd type="none" w="med" len="med"/>
                      <a:tailEnd type="none" w="med" len="med"/>
                    </a:lnL>
                    <a:lnR w="12700" cap="flat" cmpd="sng" algn="ctr">
                      <a:solidFill>
                        <a:srgbClr val="4E4E4F"/>
                      </a:solidFill>
                      <a:prstDash val="solid"/>
                      <a:round/>
                      <a:headEnd type="none" w="med" len="med"/>
                      <a:tailEnd type="none" w="med" len="med"/>
                    </a:lnR>
                    <a:lnT w="12700" cap="flat" cmpd="sng" algn="ctr">
                      <a:solidFill>
                        <a:srgbClr val="403F40"/>
                      </a:solidFill>
                      <a:prstDash val="solid"/>
                      <a:round/>
                      <a:headEnd type="none" w="med" len="med"/>
                      <a:tailEnd type="none" w="med" len="med"/>
                    </a:lnT>
                    <a:lnB w="12700" cap="flat" cmpd="sng" algn="ctr">
                      <a:solidFill>
                        <a:srgbClr val="4E4E4F"/>
                      </a:solidFill>
                      <a:prstDash val="solid"/>
                      <a:round/>
                      <a:headEnd type="none" w="med" len="med"/>
                      <a:tailEnd type="none" w="med" len="med"/>
                    </a:lnB>
                    <a:solidFill>
                      <a:srgbClr val="1E1E20"/>
                    </a:solidFill>
                  </a:tcPr>
                </a:tc>
                <a:tc>
                  <a:txBody>
                    <a:bodyPr/>
                    <a:lstStyle/>
                    <a:p>
                      <a:pPr marL="0" indent="0">
                        <a:lnSpc>
                          <a:spcPts val="1820"/>
                        </a:lnSpc>
                        <a:buNone/>
                      </a:pPr>
                      <a:r>
                        <a:rPr lang="en-US" sz="1300" b="1" dirty="0">
                          <a:solidFill>
                            <a:srgbClr val="E4E4E7"/>
                          </a:solidFill>
                          <a:latin typeface="Arial" pitchFamily="34" charset="0"/>
                          <a:ea typeface="Arial" pitchFamily="34" charset="-122"/>
                          <a:cs typeface="Arial" pitchFamily="34" charset="-120"/>
                        </a:rPr>
                        <a:t>Qué significa</a:t>
                      </a:r>
                      <a:endParaRPr lang="en-US" sz="1300" dirty="0">
                        <a:latin typeface="Arial" charset="0"/>
                        <a:ea typeface="Arial" charset="0"/>
                        <a:cs typeface="Arial" charset="0"/>
                      </a:endParaRPr>
                    </a:p>
                  </a:txBody>
                  <a:tcPr marL="57785" marR="57785" marT="57785" marB="57785">
                    <a:lnL w="12700" cap="flat" cmpd="sng" algn="ctr">
                      <a:solidFill>
                        <a:srgbClr val="4E4E4F"/>
                      </a:solidFill>
                      <a:prstDash val="solid"/>
                      <a:round/>
                      <a:headEnd type="none" w="med" len="med"/>
                      <a:tailEnd type="none" w="med" len="med"/>
                    </a:lnL>
                    <a:lnR w="12700" cap="flat" cmpd="sng" algn="ctr">
                      <a:solidFill>
                        <a:srgbClr val="4E4E4F"/>
                      </a:solidFill>
                      <a:prstDash val="solid"/>
                      <a:round/>
                      <a:headEnd type="none" w="med" len="med"/>
                      <a:tailEnd type="none" w="med" len="med"/>
                    </a:lnR>
                    <a:lnT w="12700" cap="flat" cmpd="sng" algn="ctr">
                      <a:solidFill>
                        <a:srgbClr val="403F40"/>
                      </a:solidFill>
                      <a:prstDash val="solid"/>
                      <a:round/>
                      <a:headEnd type="none" w="med" len="med"/>
                      <a:tailEnd type="none" w="med" len="med"/>
                    </a:lnT>
                    <a:lnB w="12700" cap="flat" cmpd="sng" algn="ctr">
                      <a:solidFill>
                        <a:srgbClr val="4E4E4F"/>
                      </a:solidFill>
                      <a:prstDash val="solid"/>
                      <a:round/>
                      <a:headEnd type="none" w="med" len="med"/>
                      <a:tailEnd type="none" w="med" len="med"/>
                    </a:lnB>
                    <a:solidFill>
                      <a:srgbClr val="1E1E20"/>
                    </a:solidFill>
                  </a:tcPr>
                </a:tc>
                <a:extLst>
                  <a:ext uri="{0D108BD9-81ED-4DB2-BD59-A6C34878D82A}">
                    <a16:rowId xmlns:a16="http://schemas.microsoft.com/office/drawing/2014/main" val="10000"/>
                  </a:ext>
                </a:extLst>
              </a:tr>
              <a:tr h="359271">
                <a:tc>
                  <a:txBody>
                    <a:bodyPr/>
                    <a:lstStyle/>
                    <a:p>
                      <a:pPr marL="0" indent="0">
                        <a:lnSpc>
                          <a:spcPts val="1820"/>
                        </a:lnSpc>
                        <a:buNone/>
                      </a:pPr>
                      <a:r>
                        <a:rPr lang="en-US" sz="1300" dirty="0">
                          <a:solidFill>
                            <a:srgbClr val="FF5C77"/>
                          </a:solidFill>
                          <a:latin typeface="Arial" pitchFamily="34" charset="0"/>
                          <a:ea typeface="Arial" pitchFamily="34" charset="-122"/>
                          <a:cs typeface="Arial" pitchFamily="34" charset="-120"/>
                        </a:rPr>
                        <a:t>Overfitting</a:t>
                      </a:r>
                      <a:endParaRPr lang="en-US" sz="1300" dirty="0">
                        <a:latin typeface="Arial" charset="0"/>
                        <a:ea typeface="Arial" charset="0"/>
                        <a:cs typeface="Arial" charset="0"/>
                      </a:endParaRPr>
                    </a:p>
                  </a:txBody>
                  <a:tcPr marL="57785" marR="57785" marT="57785" marB="57785">
                    <a:lnL w="12700" cap="flat" cmpd="sng" algn="ctr">
                      <a:solidFill>
                        <a:srgbClr val="403F40"/>
                      </a:solidFill>
                      <a:prstDash val="solid"/>
                      <a:round/>
                      <a:headEnd type="none" w="med" len="med"/>
                      <a:tailEnd type="none" w="med" len="med"/>
                    </a:lnL>
                    <a:lnR w="12700" cap="flat" cmpd="sng" algn="ctr">
                      <a:solidFill>
                        <a:srgbClr val="403F40"/>
                      </a:solidFill>
                      <a:prstDash val="solid"/>
                      <a:round/>
                      <a:headEnd type="none" w="med" len="med"/>
                      <a:tailEnd type="none" w="med" len="med"/>
                    </a:lnR>
                    <a:lnT w="12700" cap="flat" cmpd="sng" algn="ctr">
                      <a:solidFill>
                        <a:srgbClr val="4E4E4F"/>
                      </a:solidFill>
                      <a:prstDash val="solid"/>
                      <a:round/>
                      <a:headEnd type="none" w="med" len="med"/>
                      <a:tailEnd type="none" w="med" len="med"/>
                    </a:lnT>
                    <a:lnB w="12700" cap="flat" cmpd="sng" algn="ctr">
                      <a:solidFill>
                        <a:srgbClr val="403F40"/>
                      </a:solidFill>
                      <a:prstDash val="solid"/>
                      <a:round/>
                      <a:headEnd type="none" w="med" len="med"/>
                      <a:tailEnd type="none" w="med" len="med"/>
                    </a:lnB>
                  </a:tcPr>
                </a:tc>
                <a:tc>
                  <a:txBody>
                    <a:bodyPr/>
                    <a:lstStyle/>
                    <a:p>
                      <a:pPr marL="0" indent="0">
                        <a:lnSpc>
                          <a:spcPts val="1820"/>
                        </a:lnSpc>
                        <a:buNone/>
                      </a:pPr>
                      <a:r>
                        <a:rPr lang="en-US" sz="1300" dirty="0">
                          <a:solidFill>
                            <a:srgbClr val="E4E4E7"/>
                          </a:solidFill>
                          <a:latin typeface="Arial" pitchFamily="34" charset="0"/>
                          <a:ea typeface="Arial" pitchFamily="34" charset="-122"/>
                          <a:cs typeface="Arial" pitchFamily="34" charset="-120"/>
                        </a:rPr>
                        <a:t>Sobreajuste</a:t>
                      </a:r>
                      <a:endParaRPr lang="en-US" sz="1300" dirty="0">
                        <a:latin typeface="Arial" charset="0"/>
                        <a:ea typeface="Arial" charset="0"/>
                        <a:cs typeface="Arial" charset="0"/>
                      </a:endParaRPr>
                    </a:p>
                  </a:txBody>
                  <a:tcPr marL="57785" marR="57785" marT="57785" marB="57785">
                    <a:lnL w="12700" cap="flat" cmpd="sng" algn="ctr">
                      <a:solidFill>
                        <a:srgbClr val="403F40"/>
                      </a:solidFill>
                      <a:prstDash val="solid"/>
                      <a:round/>
                      <a:headEnd type="none" w="med" len="med"/>
                      <a:tailEnd type="none" w="med" len="med"/>
                    </a:lnL>
                    <a:lnR w="12700" cap="flat" cmpd="sng" algn="ctr">
                      <a:solidFill>
                        <a:srgbClr val="403F40"/>
                      </a:solidFill>
                      <a:prstDash val="solid"/>
                      <a:round/>
                      <a:headEnd type="none" w="med" len="med"/>
                      <a:tailEnd type="none" w="med" len="med"/>
                    </a:lnR>
                    <a:lnT w="12700" cap="flat" cmpd="sng" algn="ctr">
                      <a:solidFill>
                        <a:srgbClr val="4E4E4F"/>
                      </a:solidFill>
                      <a:prstDash val="solid"/>
                      <a:round/>
                      <a:headEnd type="none" w="med" len="med"/>
                      <a:tailEnd type="none" w="med" len="med"/>
                    </a:lnT>
                    <a:lnB w="12700" cap="flat" cmpd="sng" algn="ctr">
                      <a:solidFill>
                        <a:srgbClr val="403F40"/>
                      </a:solidFill>
                      <a:prstDash val="solid"/>
                      <a:round/>
                      <a:headEnd type="none" w="med" len="med"/>
                      <a:tailEnd type="none" w="med" len="med"/>
                    </a:lnB>
                  </a:tcPr>
                </a:tc>
                <a:tc>
                  <a:txBody>
                    <a:bodyPr/>
                    <a:lstStyle/>
                    <a:p>
                      <a:pPr marL="0" indent="0">
                        <a:lnSpc>
                          <a:spcPts val="1820"/>
                        </a:lnSpc>
                        <a:buNone/>
                      </a:pPr>
                      <a:r>
                        <a:rPr lang="en-US" sz="1300" dirty="0">
                          <a:solidFill>
                            <a:srgbClr val="E4E4E7"/>
                          </a:solidFill>
                          <a:latin typeface="Arial" pitchFamily="34" charset="0"/>
                          <a:ea typeface="Arial" pitchFamily="34" charset="-122"/>
                          <a:cs typeface="Arial" pitchFamily="34" charset="-120"/>
                        </a:rPr>
                        <a:t>El modelo memorizó en vez de aprender</a:t>
                      </a:r>
                      <a:endParaRPr lang="en-US" sz="1300" dirty="0">
                        <a:latin typeface="Arial" charset="0"/>
                        <a:ea typeface="Arial" charset="0"/>
                        <a:cs typeface="Arial" charset="0"/>
                      </a:endParaRPr>
                    </a:p>
                  </a:txBody>
                  <a:tcPr marL="57785" marR="57785" marT="57785" marB="57785">
                    <a:lnL w="12700" cap="flat" cmpd="sng" algn="ctr">
                      <a:solidFill>
                        <a:srgbClr val="403F40"/>
                      </a:solidFill>
                      <a:prstDash val="solid"/>
                      <a:round/>
                      <a:headEnd type="none" w="med" len="med"/>
                      <a:tailEnd type="none" w="med" len="med"/>
                    </a:lnL>
                    <a:lnR w="12700" cap="flat" cmpd="sng" algn="ctr">
                      <a:solidFill>
                        <a:srgbClr val="403F40"/>
                      </a:solidFill>
                      <a:prstDash val="solid"/>
                      <a:round/>
                      <a:headEnd type="none" w="med" len="med"/>
                      <a:tailEnd type="none" w="med" len="med"/>
                    </a:lnR>
                    <a:lnT w="12700" cap="flat" cmpd="sng" algn="ctr">
                      <a:solidFill>
                        <a:srgbClr val="4E4E4F"/>
                      </a:solidFill>
                      <a:prstDash val="solid"/>
                      <a:round/>
                      <a:headEnd type="none" w="med" len="med"/>
                      <a:tailEnd type="none" w="med" len="med"/>
                    </a:lnT>
                    <a:lnB w="12700" cap="flat" cmpd="sng" algn="ctr">
                      <a:solidFill>
                        <a:srgbClr val="403F40"/>
                      </a:solidFill>
                      <a:prstDash val="solid"/>
                      <a:round/>
                      <a:headEnd type="none" w="med" len="med"/>
                      <a:tailEnd type="none" w="med" len="med"/>
                    </a:lnB>
                  </a:tcPr>
                </a:tc>
                <a:extLst>
                  <a:ext uri="{0D108BD9-81ED-4DB2-BD59-A6C34878D82A}">
                    <a16:rowId xmlns:a16="http://schemas.microsoft.com/office/drawing/2014/main" val="10001"/>
                  </a:ext>
                </a:extLst>
              </a:tr>
              <a:tr h="359271">
                <a:tc>
                  <a:txBody>
                    <a:bodyPr/>
                    <a:lstStyle/>
                    <a:p>
                      <a:pPr marL="0" indent="0">
                        <a:lnSpc>
                          <a:spcPts val="1820"/>
                        </a:lnSpc>
                        <a:buNone/>
                      </a:pPr>
                      <a:r>
                        <a:rPr lang="en-US" sz="1300" dirty="0">
                          <a:solidFill>
                            <a:srgbClr val="FF5C77"/>
                          </a:solidFill>
                          <a:latin typeface="Arial" pitchFamily="34" charset="0"/>
                          <a:ea typeface="Arial" pitchFamily="34" charset="-122"/>
                          <a:cs typeface="Arial" pitchFamily="34" charset="-120"/>
                        </a:rPr>
                        <a:t>Underfitting</a:t>
                      </a:r>
                      <a:endParaRPr lang="en-US" sz="1300" dirty="0">
                        <a:latin typeface="Arial" charset="0"/>
                        <a:ea typeface="Arial" charset="0"/>
                        <a:cs typeface="Arial" charset="0"/>
                      </a:endParaRPr>
                    </a:p>
                  </a:txBody>
                  <a:tcPr marL="57785" marR="57785" marT="57785" marB="57785">
                    <a:lnL w="12700" cap="flat" cmpd="sng" algn="ctr">
                      <a:solidFill>
                        <a:srgbClr val="403F40"/>
                      </a:solidFill>
                      <a:prstDash val="solid"/>
                      <a:round/>
                      <a:headEnd type="none" w="med" len="med"/>
                      <a:tailEnd type="none" w="med" len="med"/>
                    </a:lnL>
                    <a:lnR w="12700" cap="flat" cmpd="sng" algn="ctr">
                      <a:solidFill>
                        <a:srgbClr val="403F40"/>
                      </a:solidFill>
                      <a:prstDash val="solid"/>
                      <a:round/>
                      <a:headEnd type="none" w="med" len="med"/>
                      <a:tailEnd type="none" w="med" len="med"/>
                    </a:lnR>
                    <a:lnT w="12700" cap="flat" cmpd="sng" algn="ctr">
                      <a:solidFill>
                        <a:srgbClr val="403F40"/>
                      </a:solidFill>
                      <a:prstDash val="solid"/>
                      <a:round/>
                      <a:headEnd type="none" w="med" len="med"/>
                      <a:tailEnd type="none" w="med" len="med"/>
                    </a:lnT>
                    <a:lnB w="12700" cap="flat" cmpd="sng" algn="ctr">
                      <a:solidFill>
                        <a:srgbClr val="403F40"/>
                      </a:solidFill>
                      <a:prstDash val="solid"/>
                      <a:round/>
                      <a:headEnd type="none" w="med" len="med"/>
                      <a:tailEnd type="none" w="med" len="med"/>
                    </a:lnB>
                  </a:tcPr>
                </a:tc>
                <a:tc>
                  <a:txBody>
                    <a:bodyPr/>
                    <a:lstStyle/>
                    <a:p>
                      <a:pPr marL="0" indent="0">
                        <a:lnSpc>
                          <a:spcPts val="1820"/>
                        </a:lnSpc>
                        <a:buNone/>
                      </a:pPr>
                      <a:r>
                        <a:rPr lang="en-US" sz="1300" dirty="0">
                          <a:solidFill>
                            <a:srgbClr val="E4E4E7"/>
                          </a:solidFill>
                          <a:latin typeface="Arial" pitchFamily="34" charset="0"/>
                          <a:ea typeface="Arial" pitchFamily="34" charset="-122"/>
                          <a:cs typeface="Arial" pitchFamily="34" charset="-120"/>
                        </a:rPr>
                        <a:t>Subajuste</a:t>
                      </a:r>
                      <a:endParaRPr lang="en-US" sz="1300" dirty="0">
                        <a:latin typeface="Arial" charset="0"/>
                        <a:ea typeface="Arial" charset="0"/>
                        <a:cs typeface="Arial" charset="0"/>
                      </a:endParaRPr>
                    </a:p>
                  </a:txBody>
                  <a:tcPr marL="57785" marR="57785" marT="57785" marB="57785">
                    <a:lnL w="12700" cap="flat" cmpd="sng" algn="ctr">
                      <a:solidFill>
                        <a:srgbClr val="403F40"/>
                      </a:solidFill>
                      <a:prstDash val="solid"/>
                      <a:round/>
                      <a:headEnd type="none" w="med" len="med"/>
                      <a:tailEnd type="none" w="med" len="med"/>
                    </a:lnL>
                    <a:lnR w="12700" cap="flat" cmpd="sng" algn="ctr">
                      <a:solidFill>
                        <a:srgbClr val="403F40"/>
                      </a:solidFill>
                      <a:prstDash val="solid"/>
                      <a:round/>
                      <a:headEnd type="none" w="med" len="med"/>
                      <a:tailEnd type="none" w="med" len="med"/>
                    </a:lnR>
                    <a:lnT w="12700" cap="flat" cmpd="sng" algn="ctr">
                      <a:solidFill>
                        <a:srgbClr val="403F40"/>
                      </a:solidFill>
                      <a:prstDash val="solid"/>
                      <a:round/>
                      <a:headEnd type="none" w="med" len="med"/>
                      <a:tailEnd type="none" w="med" len="med"/>
                    </a:lnT>
                    <a:lnB w="12700" cap="flat" cmpd="sng" algn="ctr">
                      <a:solidFill>
                        <a:srgbClr val="403F40"/>
                      </a:solidFill>
                      <a:prstDash val="solid"/>
                      <a:round/>
                      <a:headEnd type="none" w="med" len="med"/>
                      <a:tailEnd type="none" w="med" len="med"/>
                    </a:lnB>
                  </a:tcPr>
                </a:tc>
                <a:tc>
                  <a:txBody>
                    <a:bodyPr/>
                    <a:lstStyle/>
                    <a:p>
                      <a:pPr marL="0" indent="0">
                        <a:lnSpc>
                          <a:spcPts val="1820"/>
                        </a:lnSpc>
                        <a:buNone/>
                      </a:pPr>
                      <a:r>
                        <a:rPr lang="en-US" sz="1300" dirty="0">
                          <a:solidFill>
                            <a:srgbClr val="E4E4E7"/>
                          </a:solidFill>
                          <a:latin typeface="Arial" pitchFamily="34" charset="0"/>
                          <a:ea typeface="Arial" pitchFamily="34" charset="-122"/>
                          <a:cs typeface="Arial" pitchFamily="34" charset="-120"/>
                        </a:rPr>
                        <a:t>El modelo es demasiado simple y no aprendió</a:t>
                      </a:r>
                      <a:endParaRPr lang="en-US" sz="1300" dirty="0">
                        <a:latin typeface="Arial" charset="0"/>
                        <a:ea typeface="Arial" charset="0"/>
                        <a:cs typeface="Arial" charset="0"/>
                      </a:endParaRPr>
                    </a:p>
                  </a:txBody>
                  <a:tcPr marL="57785" marR="57785" marT="57785" marB="57785">
                    <a:lnL w="12700" cap="flat" cmpd="sng" algn="ctr">
                      <a:solidFill>
                        <a:srgbClr val="403F40"/>
                      </a:solidFill>
                      <a:prstDash val="solid"/>
                      <a:round/>
                      <a:headEnd type="none" w="med" len="med"/>
                      <a:tailEnd type="none" w="med" len="med"/>
                    </a:lnL>
                    <a:lnR w="12700" cap="flat" cmpd="sng" algn="ctr">
                      <a:solidFill>
                        <a:srgbClr val="403F40"/>
                      </a:solidFill>
                      <a:prstDash val="solid"/>
                      <a:round/>
                      <a:headEnd type="none" w="med" len="med"/>
                      <a:tailEnd type="none" w="med" len="med"/>
                    </a:lnR>
                    <a:lnT w="12700" cap="flat" cmpd="sng" algn="ctr">
                      <a:solidFill>
                        <a:srgbClr val="403F40"/>
                      </a:solidFill>
                      <a:prstDash val="solid"/>
                      <a:round/>
                      <a:headEnd type="none" w="med" len="med"/>
                      <a:tailEnd type="none" w="med" len="med"/>
                    </a:lnT>
                    <a:lnB w="12700" cap="flat" cmpd="sng" algn="ctr">
                      <a:solidFill>
                        <a:srgbClr val="403F40"/>
                      </a:solidFill>
                      <a:prstDash val="solid"/>
                      <a:round/>
                      <a:headEnd type="none" w="med" len="med"/>
                      <a:tailEnd type="none" w="med" len="med"/>
                    </a:lnB>
                  </a:tcPr>
                </a:tc>
                <a:extLst>
                  <a:ext uri="{0D108BD9-81ED-4DB2-BD59-A6C34878D82A}">
                    <a16:rowId xmlns:a16="http://schemas.microsoft.com/office/drawing/2014/main" val="10002"/>
                  </a:ext>
                </a:extLst>
              </a:tr>
              <a:tr h="359271">
                <a:tc>
                  <a:txBody>
                    <a:bodyPr/>
                    <a:lstStyle/>
                    <a:p>
                      <a:pPr marL="0" indent="0">
                        <a:lnSpc>
                          <a:spcPts val="1820"/>
                        </a:lnSpc>
                        <a:buNone/>
                      </a:pPr>
                      <a:r>
                        <a:rPr lang="en-US" sz="1300" dirty="0">
                          <a:solidFill>
                            <a:srgbClr val="FF5C77"/>
                          </a:solidFill>
                          <a:latin typeface="Arial" pitchFamily="34" charset="0"/>
                          <a:ea typeface="Arial" pitchFamily="34" charset="-122"/>
                          <a:cs typeface="Arial" pitchFamily="34" charset="-120"/>
                        </a:rPr>
                        <a:t>Cross-validation</a:t>
                      </a:r>
                      <a:endParaRPr lang="en-US" sz="1300" dirty="0">
                        <a:latin typeface="Arial" charset="0"/>
                        <a:ea typeface="Arial" charset="0"/>
                        <a:cs typeface="Arial" charset="0"/>
                      </a:endParaRPr>
                    </a:p>
                  </a:txBody>
                  <a:tcPr marL="57785" marR="57785" marT="57785" marB="57785">
                    <a:lnL w="12700" cap="flat" cmpd="sng" algn="ctr">
                      <a:solidFill>
                        <a:srgbClr val="403F40"/>
                      </a:solidFill>
                      <a:prstDash val="solid"/>
                      <a:round/>
                      <a:headEnd type="none" w="med" len="med"/>
                      <a:tailEnd type="none" w="med" len="med"/>
                    </a:lnL>
                    <a:lnR w="12700" cap="flat" cmpd="sng" algn="ctr">
                      <a:solidFill>
                        <a:srgbClr val="403F40"/>
                      </a:solidFill>
                      <a:prstDash val="solid"/>
                      <a:round/>
                      <a:headEnd type="none" w="med" len="med"/>
                      <a:tailEnd type="none" w="med" len="med"/>
                    </a:lnR>
                    <a:lnT w="12700" cap="flat" cmpd="sng" algn="ctr">
                      <a:solidFill>
                        <a:srgbClr val="403F40"/>
                      </a:solidFill>
                      <a:prstDash val="solid"/>
                      <a:round/>
                      <a:headEnd type="none" w="med" len="med"/>
                      <a:tailEnd type="none" w="med" len="med"/>
                    </a:lnT>
                    <a:lnB w="12700" cap="flat" cmpd="sng" algn="ctr">
                      <a:solidFill>
                        <a:srgbClr val="403F40"/>
                      </a:solidFill>
                      <a:prstDash val="solid"/>
                      <a:round/>
                      <a:headEnd type="none" w="med" len="med"/>
                      <a:tailEnd type="none" w="med" len="med"/>
                    </a:lnB>
                  </a:tcPr>
                </a:tc>
                <a:tc>
                  <a:txBody>
                    <a:bodyPr/>
                    <a:lstStyle/>
                    <a:p>
                      <a:pPr marL="0" indent="0">
                        <a:lnSpc>
                          <a:spcPts val="1820"/>
                        </a:lnSpc>
                        <a:buNone/>
                      </a:pPr>
                      <a:r>
                        <a:rPr lang="en-US" sz="1300" dirty="0">
                          <a:solidFill>
                            <a:srgbClr val="E4E4E7"/>
                          </a:solidFill>
                          <a:latin typeface="Arial" pitchFamily="34" charset="0"/>
                          <a:ea typeface="Arial" pitchFamily="34" charset="-122"/>
                          <a:cs typeface="Arial" pitchFamily="34" charset="-120"/>
                        </a:rPr>
                        <a:t>Validación cruzada</a:t>
                      </a:r>
                      <a:endParaRPr lang="en-US" sz="1300" dirty="0">
                        <a:latin typeface="Arial" charset="0"/>
                        <a:ea typeface="Arial" charset="0"/>
                        <a:cs typeface="Arial" charset="0"/>
                      </a:endParaRPr>
                    </a:p>
                  </a:txBody>
                  <a:tcPr marL="57785" marR="57785" marT="57785" marB="57785">
                    <a:lnL w="12700" cap="flat" cmpd="sng" algn="ctr">
                      <a:solidFill>
                        <a:srgbClr val="403F40"/>
                      </a:solidFill>
                      <a:prstDash val="solid"/>
                      <a:round/>
                      <a:headEnd type="none" w="med" len="med"/>
                      <a:tailEnd type="none" w="med" len="med"/>
                    </a:lnL>
                    <a:lnR w="12700" cap="flat" cmpd="sng" algn="ctr">
                      <a:solidFill>
                        <a:srgbClr val="403F40"/>
                      </a:solidFill>
                      <a:prstDash val="solid"/>
                      <a:round/>
                      <a:headEnd type="none" w="med" len="med"/>
                      <a:tailEnd type="none" w="med" len="med"/>
                    </a:lnR>
                    <a:lnT w="12700" cap="flat" cmpd="sng" algn="ctr">
                      <a:solidFill>
                        <a:srgbClr val="403F40"/>
                      </a:solidFill>
                      <a:prstDash val="solid"/>
                      <a:round/>
                      <a:headEnd type="none" w="med" len="med"/>
                      <a:tailEnd type="none" w="med" len="med"/>
                    </a:lnT>
                    <a:lnB w="12700" cap="flat" cmpd="sng" algn="ctr">
                      <a:solidFill>
                        <a:srgbClr val="403F40"/>
                      </a:solidFill>
                      <a:prstDash val="solid"/>
                      <a:round/>
                      <a:headEnd type="none" w="med" len="med"/>
                      <a:tailEnd type="none" w="med" len="med"/>
                    </a:lnB>
                  </a:tcPr>
                </a:tc>
                <a:tc>
                  <a:txBody>
                    <a:bodyPr/>
                    <a:lstStyle/>
                    <a:p>
                      <a:pPr marL="0" indent="0">
                        <a:lnSpc>
                          <a:spcPts val="1820"/>
                        </a:lnSpc>
                        <a:buNone/>
                      </a:pPr>
                      <a:r>
                        <a:rPr lang="en-US" sz="1300" dirty="0">
                          <a:solidFill>
                            <a:srgbClr val="E4E4E7"/>
                          </a:solidFill>
                          <a:latin typeface="Arial" pitchFamily="34" charset="0"/>
                          <a:ea typeface="Arial" pitchFamily="34" charset="-122"/>
                          <a:cs typeface="Arial" pitchFamily="34" charset="-120"/>
                        </a:rPr>
                        <a:t>Hacer varios exámenes distintos y promediar</a:t>
                      </a:r>
                      <a:endParaRPr lang="en-US" sz="1300" dirty="0">
                        <a:latin typeface="Arial" charset="0"/>
                        <a:ea typeface="Arial" charset="0"/>
                        <a:cs typeface="Arial" charset="0"/>
                      </a:endParaRPr>
                    </a:p>
                  </a:txBody>
                  <a:tcPr marL="57785" marR="57785" marT="57785" marB="57785">
                    <a:lnL w="12700" cap="flat" cmpd="sng" algn="ctr">
                      <a:solidFill>
                        <a:srgbClr val="403F40"/>
                      </a:solidFill>
                      <a:prstDash val="solid"/>
                      <a:round/>
                      <a:headEnd type="none" w="med" len="med"/>
                      <a:tailEnd type="none" w="med" len="med"/>
                    </a:lnL>
                    <a:lnR w="12700" cap="flat" cmpd="sng" algn="ctr">
                      <a:solidFill>
                        <a:srgbClr val="403F40"/>
                      </a:solidFill>
                      <a:prstDash val="solid"/>
                      <a:round/>
                      <a:headEnd type="none" w="med" len="med"/>
                      <a:tailEnd type="none" w="med" len="med"/>
                    </a:lnR>
                    <a:lnT w="12700" cap="flat" cmpd="sng" algn="ctr">
                      <a:solidFill>
                        <a:srgbClr val="403F40"/>
                      </a:solidFill>
                      <a:prstDash val="solid"/>
                      <a:round/>
                      <a:headEnd type="none" w="med" len="med"/>
                      <a:tailEnd type="none" w="med" len="med"/>
                    </a:lnT>
                    <a:lnB w="12700" cap="flat" cmpd="sng" algn="ctr">
                      <a:solidFill>
                        <a:srgbClr val="403F40"/>
                      </a:solidFill>
                      <a:prstDash val="solid"/>
                      <a:round/>
                      <a:headEnd type="none" w="med" len="med"/>
                      <a:tailEnd type="none" w="med" len="med"/>
                    </a:lnB>
                  </a:tcPr>
                </a:tc>
                <a:extLst>
                  <a:ext uri="{0D108BD9-81ED-4DB2-BD59-A6C34878D82A}">
                    <a16:rowId xmlns:a16="http://schemas.microsoft.com/office/drawing/2014/main" val="10003"/>
                  </a:ext>
                </a:extLst>
              </a:tr>
              <a:tr h="359271">
                <a:tc>
                  <a:txBody>
                    <a:bodyPr/>
                    <a:lstStyle/>
                    <a:p>
                      <a:pPr marL="0" indent="0">
                        <a:lnSpc>
                          <a:spcPts val="1820"/>
                        </a:lnSpc>
                        <a:buNone/>
                      </a:pPr>
                      <a:r>
                        <a:rPr lang="en-US" sz="1300" dirty="0">
                          <a:solidFill>
                            <a:srgbClr val="FF5C77"/>
                          </a:solidFill>
                          <a:latin typeface="Arial" pitchFamily="34" charset="0"/>
                          <a:ea typeface="Arial" pitchFamily="34" charset="-122"/>
                          <a:cs typeface="Arial" pitchFamily="34" charset="-120"/>
                        </a:rPr>
                        <a:t>Fold</a:t>
                      </a:r>
                      <a:endParaRPr lang="en-US" sz="1300" dirty="0">
                        <a:latin typeface="Arial" charset="0"/>
                        <a:ea typeface="Arial" charset="0"/>
                        <a:cs typeface="Arial" charset="0"/>
                      </a:endParaRPr>
                    </a:p>
                  </a:txBody>
                  <a:tcPr marL="57785" marR="57785" marT="57785" marB="57785">
                    <a:lnL w="12700" cap="flat" cmpd="sng" algn="ctr">
                      <a:solidFill>
                        <a:srgbClr val="403F40"/>
                      </a:solidFill>
                      <a:prstDash val="solid"/>
                      <a:round/>
                      <a:headEnd type="none" w="med" len="med"/>
                      <a:tailEnd type="none" w="med" len="med"/>
                    </a:lnL>
                    <a:lnR w="12700" cap="flat" cmpd="sng" algn="ctr">
                      <a:solidFill>
                        <a:srgbClr val="403F40"/>
                      </a:solidFill>
                      <a:prstDash val="solid"/>
                      <a:round/>
                      <a:headEnd type="none" w="med" len="med"/>
                      <a:tailEnd type="none" w="med" len="med"/>
                    </a:lnR>
                    <a:lnT w="12700" cap="flat" cmpd="sng" algn="ctr">
                      <a:solidFill>
                        <a:srgbClr val="403F40"/>
                      </a:solidFill>
                      <a:prstDash val="solid"/>
                      <a:round/>
                      <a:headEnd type="none" w="med" len="med"/>
                      <a:tailEnd type="none" w="med" len="med"/>
                    </a:lnT>
                    <a:lnB w="12700" cap="flat" cmpd="sng" algn="ctr">
                      <a:solidFill>
                        <a:srgbClr val="403F40"/>
                      </a:solidFill>
                      <a:prstDash val="solid"/>
                      <a:round/>
                      <a:headEnd type="none" w="med" len="med"/>
                      <a:tailEnd type="none" w="med" len="med"/>
                    </a:lnB>
                  </a:tcPr>
                </a:tc>
                <a:tc>
                  <a:txBody>
                    <a:bodyPr/>
                    <a:lstStyle/>
                    <a:p>
                      <a:pPr marL="0" indent="0">
                        <a:lnSpc>
                          <a:spcPts val="1820"/>
                        </a:lnSpc>
                        <a:buNone/>
                      </a:pPr>
                      <a:r>
                        <a:rPr lang="en-US" sz="1300" dirty="0">
                          <a:solidFill>
                            <a:srgbClr val="E4E4E7"/>
                          </a:solidFill>
                          <a:latin typeface="Arial" pitchFamily="34" charset="0"/>
                          <a:ea typeface="Arial" pitchFamily="34" charset="-122"/>
                          <a:cs typeface="Arial" pitchFamily="34" charset="-120"/>
                        </a:rPr>
                        <a:t>Pliegue</a:t>
                      </a:r>
                      <a:endParaRPr lang="en-US" sz="1300" dirty="0">
                        <a:latin typeface="Arial" charset="0"/>
                        <a:ea typeface="Arial" charset="0"/>
                        <a:cs typeface="Arial" charset="0"/>
                      </a:endParaRPr>
                    </a:p>
                  </a:txBody>
                  <a:tcPr marL="57785" marR="57785" marT="57785" marB="57785">
                    <a:lnL w="12700" cap="flat" cmpd="sng" algn="ctr">
                      <a:solidFill>
                        <a:srgbClr val="403F40"/>
                      </a:solidFill>
                      <a:prstDash val="solid"/>
                      <a:round/>
                      <a:headEnd type="none" w="med" len="med"/>
                      <a:tailEnd type="none" w="med" len="med"/>
                    </a:lnL>
                    <a:lnR w="12700" cap="flat" cmpd="sng" algn="ctr">
                      <a:solidFill>
                        <a:srgbClr val="403F40"/>
                      </a:solidFill>
                      <a:prstDash val="solid"/>
                      <a:round/>
                      <a:headEnd type="none" w="med" len="med"/>
                      <a:tailEnd type="none" w="med" len="med"/>
                    </a:lnR>
                    <a:lnT w="12700" cap="flat" cmpd="sng" algn="ctr">
                      <a:solidFill>
                        <a:srgbClr val="403F40"/>
                      </a:solidFill>
                      <a:prstDash val="solid"/>
                      <a:round/>
                      <a:headEnd type="none" w="med" len="med"/>
                      <a:tailEnd type="none" w="med" len="med"/>
                    </a:lnT>
                    <a:lnB w="12700" cap="flat" cmpd="sng" algn="ctr">
                      <a:solidFill>
                        <a:srgbClr val="403F40"/>
                      </a:solidFill>
                      <a:prstDash val="solid"/>
                      <a:round/>
                      <a:headEnd type="none" w="med" len="med"/>
                      <a:tailEnd type="none" w="med" len="med"/>
                    </a:lnB>
                  </a:tcPr>
                </a:tc>
                <a:tc>
                  <a:txBody>
                    <a:bodyPr/>
                    <a:lstStyle/>
                    <a:p>
                      <a:pPr marL="0" indent="0">
                        <a:lnSpc>
                          <a:spcPts val="1820"/>
                        </a:lnSpc>
                        <a:buNone/>
                      </a:pPr>
                      <a:r>
                        <a:rPr lang="en-US" sz="1300" dirty="0">
                          <a:solidFill>
                            <a:srgbClr val="E4E4E7"/>
                          </a:solidFill>
                          <a:latin typeface="Arial" pitchFamily="34" charset="0"/>
                          <a:ea typeface="Arial" pitchFamily="34" charset="-122"/>
                          <a:cs typeface="Arial" pitchFamily="34" charset="-120"/>
                        </a:rPr>
                        <a:t>Cada grupo en que se parten los datos</a:t>
                      </a:r>
                      <a:endParaRPr lang="en-US" sz="1300" dirty="0">
                        <a:latin typeface="Arial" charset="0"/>
                        <a:ea typeface="Arial" charset="0"/>
                        <a:cs typeface="Arial" charset="0"/>
                      </a:endParaRPr>
                    </a:p>
                  </a:txBody>
                  <a:tcPr marL="57785" marR="57785" marT="57785" marB="57785">
                    <a:lnL w="12700" cap="flat" cmpd="sng" algn="ctr">
                      <a:solidFill>
                        <a:srgbClr val="403F40"/>
                      </a:solidFill>
                      <a:prstDash val="solid"/>
                      <a:round/>
                      <a:headEnd type="none" w="med" len="med"/>
                      <a:tailEnd type="none" w="med" len="med"/>
                    </a:lnL>
                    <a:lnR w="12700" cap="flat" cmpd="sng" algn="ctr">
                      <a:solidFill>
                        <a:srgbClr val="403F40"/>
                      </a:solidFill>
                      <a:prstDash val="solid"/>
                      <a:round/>
                      <a:headEnd type="none" w="med" len="med"/>
                      <a:tailEnd type="none" w="med" len="med"/>
                    </a:lnR>
                    <a:lnT w="12700" cap="flat" cmpd="sng" algn="ctr">
                      <a:solidFill>
                        <a:srgbClr val="403F40"/>
                      </a:solidFill>
                      <a:prstDash val="solid"/>
                      <a:round/>
                      <a:headEnd type="none" w="med" len="med"/>
                      <a:tailEnd type="none" w="med" len="med"/>
                    </a:lnT>
                    <a:lnB w="12700" cap="flat" cmpd="sng" algn="ctr">
                      <a:solidFill>
                        <a:srgbClr val="403F40"/>
                      </a:solidFill>
                      <a:prstDash val="solid"/>
                      <a:round/>
                      <a:headEnd type="none" w="med" len="med"/>
                      <a:tailEnd type="none" w="med" len="med"/>
                    </a:lnB>
                  </a:tcPr>
                </a:tc>
                <a:extLst>
                  <a:ext uri="{0D108BD9-81ED-4DB2-BD59-A6C34878D82A}">
                    <a16:rowId xmlns:a16="http://schemas.microsoft.com/office/drawing/2014/main" val="10004"/>
                  </a:ext>
                </a:extLst>
              </a:tr>
              <a:tr h="359271">
                <a:tc>
                  <a:txBody>
                    <a:bodyPr/>
                    <a:lstStyle/>
                    <a:p>
                      <a:pPr marL="0" indent="0">
                        <a:lnSpc>
                          <a:spcPts val="1820"/>
                        </a:lnSpc>
                        <a:buNone/>
                      </a:pPr>
                      <a:r>
                        <a:rPr lang="en-US" sz="1300" dirty="0">
                          <a:solidFill>
                            <a:srgbClr val="FF5C77"/>
                          </a:solidFill>
                          <a:latin typeface="Arial" pitchFamily="34" charset="0"/>
                          <a:ea typeface="Arial" pitchFamily="34" charset="-122"/>
                          <a:cs typeface="Arial" pitchFamily="34" charset="-120"/>
                        </a:rPr>
                        <a:t>Hyperparameter</a:t>
                      </a:r>
                      <a:endParaRPr lang="en-US" sz="1300" dirty="0">
                        <a:latin typeface="Arial" charset="0"/>
                        <a:ea typeface="Arial" charset="0"/>
                        <a:cs typeface="Arial" charset="0"/>
                      </a:endParaRPr>
                    </a:p>
                  </a:txBody>
                  <a:tcPr marL="57785" marR="57785" marT="57785" marB="57785">
                    <a:lnL w="12700" cap="flat" cmpd="sng" algn="ctr">
                      <a:solidFill>
                        <a:srgbClr val="403F40"/>
                      </a:solidFill>
                      <a:prstDash val="solid"/>
                      <a:round/>
                      <a:headEnd type="none" w="med" len="med"/>
                      <a:tailEnd type="none" w="med" len="med"/>
                    </a:lnL>
                    <a:lnR w="12700" cap="flat" cmpd="sng" algn="ctr">
                      <a:solidFill>
                        <a:srgbClr val="403F40"/>
                      </a:solidFill>
                      <a:prstDash val="solid"/>
                      <a:round/>
                      <a:headEnd type="none" w="med" len="med"/>
                      <a:tailEnd type="none" w="med" len="med"/>
                    </a:lnR>
                    <a:lnT w="12700" cap="flat" cmpd="sng" algn="ctr">
                      <a:solidFill>
                        <a:srgbClr val="403F40"/>
                      </a:solidFill>
                      <a:prstDash val="solid"/>
                      <a:round/>
                      <a:headEnd type="none" w="med" len="med"/>
                      <a:tailEnd type="none" w="med" len="med"/>
                    </a:lnT>
                    <a:lnB w="12700" cap="flat" cmpd="sng" algn="ctr">
                      <a:solidFill>
                        <a:srgbClr val="403F40"/>
                      </a:solidFill>
                      <a:prstDash val="solid"/>
                      <a:round/>
                      <a:headEnd type="none" w="med" len="med"/>
                      <a:tailEnd type="none" w="med" len="med"/>
                    </a:lnB>
                  </a:tcPr>
                </a:tc>
                <a:tc>
                  <a:txBody>
                    <a:bodyPr/>
                    <a:lstStyle/>
                    <a:p>
                      <a:pPr marL="0" indent="0">
                        <a:lnSpc>
                          <a:spcPts val="1820"/>
                        </a:lnSpc>
                        <a:buNone/>
                      </a:pPr>
                      <a:r>
                        <a:rPr lang="en-US" sz="1300" dirty="0">
                          <a:solidFill>
                            <a:srgbClr val="E4E4E7"/>
                          </a:solidFill>
                          <a:latin typeface="Arial" pitchFamily="34" charset="0"/>
                          <a:ea typeface="Arial" pitchFamily="34" charset="-122"/>
                          <a:cs typeface="Arial" pitchFamily="34" charset="-120"/>
                        </a:rPr>
                        <a:t>Hiperparámetro</a:t>
                      </a:r>
                      <a:endParaRPr lang="en-US" sz="1300" dirty="0">
                        <a:latin typeface="Arial" charset="0"/>
                        <a:ea typeface="Arial" charset="0"/>
                        <a:cs typeface="Arial" charset="0"/>
                      </a:endParaRPr>
                    </a:p>
                  </a:txBody>
                  <a:tcPr marL="57785" marR="57785" marT="57785" marB="57785">
                    <a:lnL w="12700" cap="flat" cmpd="sng" algn="ctr">
                      <a:solidFill>
                        <a:srgbClr val="403F40"/>
                      </a:solidFill>
                      <a:prstDash val="solid"/>
                      <a:round/>
                      <a:headEnd type="none" w="med" len="med"/>
                      <a:tailEnd type="none" w="med" len="med"/>
                    </a:lnL>
                    <a:lnR w="12700" cap="flat" cmpd="sng" algn="ctr">
                      <a:solidFill>
                        <a:srgbClr val="403F40"/>
                      </a:solidFill>
                      <a:prstDash val="solid"/>
                      <a:round/>
                      <a:headEnd type="none" w="med" len="med"/>
                      <a:tailEnd type="none" w="med" len="med"/>
                    </a:lnR>
                    <a:lnT w="12700" cap="flat" cmpd="sng" algn="ctr">
                      <a:solidFill>
                        <a:srgbClr val="403F40"/>
                      </a:solidFill>
                      <a:prstDash val="solid"/>
                      <a:round/>
                      <a:headEnd type="none" w="med" len="med"/>
                      <a:tailEnd type="none" w="med" len="med"/>
                    </a:lnT>
                    <a:lnB w="12700" cap="flat" cmpd="sng" algn="ctr">
                      <a:solidFill>
                        <a:srgbClr val="403F40"/>
                      </a:solidFill>
                      <a:prstDash val="solid"/>
                      <a:round/>
                      <a:headEnd type="none" w="med" len="med"/>
                      <a:tailEnd type="none" w="med" len="med"/>
                    </a:lnB>
                  </a:tcPr>
                </a:tc>
                <a:tc>
                  <a:txBody>
                    <a:bodyPr/>
                    <a:lstStyle/>
                    <a:p>
                      <a:pPr marL="0" indent="0">
                        <a:lnSpc>
                          <a:spcPts val="1820"/>
                        </a:lnSpc>
                        <a:buNone/>
                      </a:pPr>
                      <a:r>
                        <a:rPr lang="en-US" sz="1300" dirty="0">
                          <a:solidFill>
                            <a:srgbClr val="E4E4E7"/>
                          </a:solidFill>
                          <a:latin typeface="Arial" pitchFamily="34" charset="0"/>
                          <a:ea typeface="Arial" pitchFamily="34" charset="-122"/>
                          <a:cs typeface="Arial" pitchFamily="34" charset="-120"/>
                        </a:rPr>
                        <a:t>Configuración que eliges antes de entrenar</a:t>
                      </a:r>
                      <a:endParaRPr lang="en-US" sz="1300" dirty="0">
                        <a:latin typeface="Arial" charset="0"/>
                        <a:ea typeface="Arial" charset="0"/>
                        <a:cs typeface="Arial" charset="0"/>
                      </a:endParaRPr>
                    </a:p>
                  </a:txBody>
                  <a:tcPr marL="57785" marR="57785" marT="57785" marB="57785">
                    <a:lnL w="12700" cap="flat" cmpd="sng" algn="ctr">
                      <a:solidFill>
                        <a:srgbClr val="403F40"/>
                      </a:solidFill>
                      <a:prstDash val="solid"/>
                      <a:round/>
                      <a:headEnd type="none" w="med" len="med"/>
                      <a:tailEnd type="none" w="med" len="med"/>
                    </a:lnL>
                    <a:lnR w="12700" cap="flat" cmpd="sng" algn="ctr">
                      <a:solidFill>
                        <a:srgbClr val="403F40"/>
                      </a:solidFill>
                      <a:prstDash val="solid"/>
                      <a:round/>
                      <a:headEnd type="none" w="med" len="med"/>
                      <a:tailEnd type="none" w="med" len="med"/>
                    </a:lnR>
                    <a:lnT w="12700" cap="flat" cmpd="sng" algn="ctr">
                      <a:solidFill>
                        <a:srgbClr val="403F40"/>
                      </a:solidFill>
                      <a:prstDash val="solid"/>
                      <a:round/>
                      <a:headEnd type="none" w="med" len="med"/>
                      <a:tailEnd type="none" w="med" len="med"/>
                    </a:lnT>
                    <a:lnB w="12700" cap="flat" cmpd="sng" algn="ctr">
                      <a:solidFill>
                        <a:srgbClr val="403F40"/>
                      </a:solidFill>
                      <a:prstDash val="solid"/>
                      <a:round/>
                      <a:headEnd type="none" w="med" len="med"/>
                      <a:tailEnd type="none" w="med" len="med"/>
                    </a:lnB>
                  </a:tcPr>
                </a:tc>
                <a:extLst>
                  <a:ext uri="{0D108BD9-81ED-4DB2-BD59-A6C34878D82A}">
                    <a16:rowId xmlns:a16="http://schemas.microsoft.com/office/drawing/2014/main" val="10005"/>
                  </a:ext>
                </a:extLst>
              </a:tr>
              <a:tr h="359271">
                <a:tc>
                  <a:txBody>
                    <a:bodyPr/>
                    <a:lstStyle/>
                    <a:p>
                      <a:pPr marL="0" indent="0">
                        <a:lnSpc>
                          <a:spcPts val="1820"/>
                        </a:lnSpc>
                        <a:buNone/>
                      </a:pPr>
                      <a:r>
                        <a:rPr lang="en-US" sz="1300" dirty="0">
                          <a:solidFill>
                            <a:srgbClr val="FF5C77"/>
                          </a:solidFill>
                          <a:latin typeface="Arial" pitchFamily="34" charset="0"/>
                          <a:ea typeface="Arial" pitchFamily="34" charset="-122"/>
                          <a:cs typeface="Arial" pitchFamily="34" charset="-120"/>
                        </a:rPr>
                        <a:t>Grid search</a:t>
                      </a:r>
                      <a:endParaRPr lang="en-US" sz="1300" dirty="0">
                        <a:latin typeface="Arial" charset="0"/>
                        <a:ea typeface="Arial" charset="0"/>
                        <a:cs typeface="Arial" charset="0"/>
                      </a:endParaRPr>
                    </a:p>
                  </a:txBody>
                  <a:tcPr marL="57785" marR="57785" marT="57785" marB="57785">
                    <a:lnL w="12700" cap="flat" cmpd="sng" algn="ctr">
                      <a:solidFill>
                        <a:srgbClr val="403F40"/>
                      </a:solidFill>
                      <a:prstDash val="solid"/>
                      <a:round/>
                      <a:headEnd type="none" w="med" len="med"/>
                      <a:tailEnd type="none" w="med" len="med"/>
                    </a:lnL>
                    <a:lnR w="12700" cap="flat" cmpd="sng" algn="ctr">
                      <a:solidFill>
                        <a:srgbClr val="403F40"/>
                      </a:solidFill>
                      <a:prstDash val="solid"/>
                      <a:round/>
                      <a:headEnd type="none" w="med" len="med"/>
                      <a:tailEnd type="none" w="med" len="med"/>
                    </a:lnR>
                    <a:lnT w="12700" cap="flat" cmpd="sng" algn="ctr">
                      <a:solidFill>
                        <a:srgbClr val="403F40"/>
                      </a:solidFill>
                      <a:prstDash val="solid"/>
                      <a:round/>
                      <a:headEnd type="none" w="med" len="med"/>
                      <a:tailEnd type="none" w="med" len="med"/>
                    </a:lnT>
                    <a:lnB w="12700" cap="flat" cmpd="sng" algn="ctr">
                      <a:solidFill>
                        <a:srgbClr val="403F40"/>
                      </a:solidFill>
                      <a:prstDash val="solid"/>
                      <a:round/>
                      <a:headEnd type="none" w="med" len="med"/>
                      <a:tailEnd type="none" w="med" len="med"/>
                    </a:lnB>
                  </a:tcPr>
                </a:tc>
                <a:tc>
                  <a:txBody>
                    <a:bodyPr/>
                    <a:lstStyle/>
                    <a:p>
                      <a:pPr marL="0" indent="0">
                        <a:lnSpc>
                          <a:spcPts val="1820"/>
                        </a:lnSpc>
                        <a:buNone/>
                      </a:pPr>
                      <a:r>
                        <a:rPr lang="en-US" sz="1300" dirty="0">
                          <a:solidFill>
                            <a:srgbClr val="E4E4E7"/>
                          </a:solidFill>
                          <a:latin typeface="Arial" pitchFamily="34" charset="0"/>
                          <a:ea typeface="Arial" pitchFamily="34" charset="-122"/>
                          <a:cs typeface="Arial" pitchFamily="34" charset="-120"/>
                        </a:rPr>
                        <a:t>Búsqueda en rejilla</a:t>
                      </a:r>
                      <a:endParaRPr lang="en-US" sz="1300" dirty="0">
                        <a:latin typeface="Arial" charset="0"/>
                        <a:ea typeface="Arial" charset="0"/>
                        <a:cs typeface="Arial" charset="0"/>
                      </a:endParaRPr>
                    </a:p>
                  </a:txBody>
                  <a:tcPr marL="57785" marR="57785" marT="57785" marB="57785">
                    <a:lnL w="12700" cap="flat" cmpd="sng" algn="ctr">
                      <a:solidFill>
                        <a:srgbClr val="403F40"/>
                      </a:solidFill>
                      <a:prstDash val="solid"/>
                      <a:round/>
                      <a:headEnd type="none" w="med" len="med"/>
                      <a:tailEnd type="none" w="med" len="med"/>
                    </a:lnL>
                    <a:lnR w="12700" cap="flat" cmpd="sng" algn="ctr">
                      <a:solidFill>
                        <a:srgbClr val="403F40"/>
                      </a:solidFill>
                      <a:prstDash val="solid"/>
                      <a:round/>
                      <a:headEnd type="none" w="med" len="med"/>
                      <a:tailEnd type="none" w="med" len="med"/>
                    </a:lnR>
                    <a:lnT w="12700" cap="flat" cmpd="sng" algn="ctr">
                      <a:solidFill>
                        <a:srgbClr val="403F40"/>
                      </a:solidFill>
                      <a:prstDash val="solid"/>
                      <a:round/>
                      <a:headEnd type="none" w="med" len="med"/>
                      <a:tailEnd type="none" w="med" len="med"/>
                    </a:lnT>
                    <a:lnB w="12700" cap="flat" cmpd="sng" algn="ctr">
                      <a:solidFill>
                        <a:srgbClr val="403F40"/>
                      </a:solidFill>
                      <a:prstDash val="solid"/>
                      <a:round/>
                      <a:headEnd type="none" w="med" len="med"/>
                      <a:tailEnd type="none" w="med" len="med"/>
                    </a:lnB>
                  </a:tcPr>
                </a:tc>
                <a:tc>
                  <a:txBody>
                    <a:bodyPr/>
                    <a:lstStyle/>
                    <a:p>
                      <a:pPr marL="0" indent="0">
                        <a:lnSpc>
                          <a:spcPts val="1820"/>
                        </a:lnSpc>
                        <a:buNone/>
                      </a:pPr>
                      <a:r>
                        <a:rPr lang="en-US" sz="1300" dirty="0">
                          <a:solidFill>
                            <a:srgbClr val="E4E4E7"/>
                          </a:solidFill>
                          <a:latin typeface="Arial" pitchFamily="34" charset="0"/>
                          <a:ea typeface="Arial" pitchFamily="34" charset="-122"/>
                          <a:cs typeface="Arial" pitchFamily="34" charset="-120"/>
                        </a:rPr>
                        <a:t>Probar todas las combinaciones de configuraciones</a:t>
                      </a:r>
                      <a:endParaRPr lang="en-US" sz="1300" dirty="0">
                        <a:latin typeface="Arial" charset="0"/>
                        <a:ea typeface="Arial" charset="0"/>
                        <a:cs typeface="Arial" charset="0"/>
                      </a:endParaRPr>
                    </a:p>
                  </a:txBody>
                  <a:tcPr marL="57785" marR="57785" marT="57785" marB="57785">
                    <a:lnL w="12700" cap="flat" cmpd="sng" algn="ctr">
                      <a:solidFill>
                        <a:srgbClr val="403F40"/>
                      </a:solidFill>
                      <a:prstDash val="solid"/>
                      <a:round/>
                      <a:headEnd type="none" w="med" len="med"/>
                      <a:tailEnd type="none" w="med" len="med"/>
                    </a:lnL>
                    <a:lnR w="12700" cap="flat" cmpd="sng" algn="ctr">
                      <a:solidFill>
                        <a:srgbClr val="403F40"/>
                      </a:solidFill>
                      <a:prstDash val="solid"/>
                      <a:round/>
                      <a:headEnd type="none" w="med" len="med"/>
                      <a:tailEnd type="none" w="med" len="med"/>
                    </a:lnR>
                    <a:lnT w="12700" cap="flat" cmpd="sng" algn="ctr">
                      <a:solidFill>
                        <a:srgbClr val="403F40"/>
                      </a:solidFill>
                      <a:prstDash val="solid"/>
                      <a:round/>
                      <a:headEnd type="none" w="med" len="med"/>
                      <a:tailEnd type="none" w="med" len="med"/>
                    </a:lnT>
                    <a:lnB w="12700" cap="flat" cmpd="sng" algn="ctr">
                      <a:solidFill>
                        <a:srgbClr val="403F40"/>
                      </a:solidFill>
                      <a:prstDash val="solid"/>
                      <a:round/>
                      <a:headEnd type="none" w="med" len="med"/>
                      <a:tailEnd type="none" w="med" len="med"/>
                    </a:lnB>
                  </a:tcPr>
                </a:tc>
                <a:extLst>
                  <a:ext uri="{0D108BD9-81ED-4DB2-BD59-A6C34878D82A}">
                    <a16:rowId xmlns:a16="http://schemas.microsoft.com/office/drawing/2014/main" val="10006"/>
                  </a:ext>
                </a:extLst>
              </a:tr>
              <a:tr h="359271">
                <a:tc>
                  <a:txBody>
                    <a:bodyPr/>
                    <a:lstStyle/>
                    <a:p>
                      <a:pPr marL="0" indent="0">
                        <a:lnSpc>
                          <a:spcPts val="1820"/>
                        </a:lnSpc>
                        <a:buNone/>
                      </a:pPr>
                      <a:r>
                        <a:rPr lang="en-US" sz="1300" dirty="0">
                          <a:solidFill>
                            <a:srgbClr val="FF5C77"/>
                          </a:solidFill>
                          <a:latin typeface="Arial" pitchFamily="34" charset="0"/>
                          <a:ea typeface="Arial" pitchFamily="34" charset="-122"/>
                          <a:cs typeface="Arial" pitchFamily="34" charset="-120"/>
                        </a:rPr>
                        <a:t>Scaling</a:t>
                      </a:r>
                      <a:endParaRPr lang="en-US" sz="1300" dirty="0">
                        <a:latin typeface="Arial" charset="0"/>
                        <a:ea typeface="Arial" charset="0"/>
                        <a:cs typeface="Arial" charset="0"/>
                      </a:endParaRPr>
                    </a:p>
                  </a:txBody>
                  <a:tcPr marL="57785" marR="57785" marT="57785" marB="57785">
                    <a:lnL w="12700" cap="flat" cmpd="sng" algn="ctr">
                      <a:solidFill>
                        <a:srgbClr val="403F40"/>
                      </a:solidFill>
                      <a:prstDash val="solid"/>
                      <a:round/>
                      <a:headEnd type="none" w="med" len="med"/>
                      <a:tailEnd type="none" w="med" len="med"/>
                    </a:lnL>
                    <a:lnR w="12700" cap="flat" cmpd="sng" algn="ctr">
                      <a:solidFill>
                        <a:srgbClr val="403F40"/>
                      </a:solidFill>
                      <a:prstDash val="solid"/>
                      <a:round/>
                      <a:headEnd type="none" w="med" len="med"/>
                      <a:tailEnd type="none" w="med" len="med"/>
                    </a:lnR>
                    <a:lnT w="12700" cap="flat" cmpd="sng" algn="ctr">
                      <a:solidFill>
                        <a:srgbClr val="403F40"/>
                      </a:solidFill>
                      <a:prstDash val="solid"/>
                      <a:round/>
                      <a:headEnd type="none" w="med" len="med"/>
                      <a:tailEnd type="none" w="med" len="med"/>
                    </a:lnT>
                    <a:lnB w="12700" cap="flat" cmpd="sng" algn="ctr">
                      <a:solidFill>
                        <a:srgbClr val="403F40"/>
                      </a:solidFill>
                      <a:prstDash val="solid"/>
                      <a:round/>
                      <a:headEnd type="none" w="med" len="med"/>
                      <a:tailEnd type="none" w="med" len="med"/>
                    </a:lnB>
                  </a:tcPr>
                </a:tc>
                <a:tc>
                  <a:txBody>
                    <a:bodyPr/>
                    <a:lstStyle/>
                    <a:p>
                      <a:pPr marL="0" indent="0">
                        <a:lnSpc>
                          <a:spcPts val="1820"/>
                        </a:lnSpc>
                        <a:buNone/>
                      </a:pPr>
                      <a:r>
                        <a:rPr lang="en-US" sz="1300" dirty="0">
                          <a:solidFill>
                            <a:srgbClr val="E4E4E7"/>
                          </a:solidFill>
                          <a:latin typeface="Arial" pitchFamily="34" charset="0"/>
                          <a:ea typeface="Arial" pitchFamily="34" charset="-122"/>
                          <a:cs typeface="Arial" pitchFamily="34" charset="-120"/>
                        </a:rPr>
                        <a:t>Escalado</a:t>
                      </a:r>
                      <a:endParaRPr lang="en-US" sz="1300" dirty="0">
                        <a:latin typeface="Arial" charset="0"/>
                        <a:ea typeface="Arial" charset="0"/>
                        <a:cs typeface="Arial" charset="0"/>
                      </a:endParaRPr>
                    </a:p>
                  </a:txBody>
                  <a:tcPr marL="57785" marR="57785" marT="57785" marB="57785">
                    <a:lnL w="12700" cap="flat" cmpd="sng" algn="ctr">
                      <a:solidFill>
                        <a:srgbClr val="403F40"/>
                      </a:solidFill>
                      <a:prstDash val="solid"/>
                      <a:round/>
                      <a:headEnd type="none" w="med" len="med"/>
                      <a:tailEnd type="none" w="med" len="med"/>
                    </a:lnL>
                    <a:lnR w="12700" cap="flat" cmpd="sng" algn="ctr">
                      <a:solidFill>
                        <a:srgbClr val="403F40"/>
                      </a:solidFill>
                      <a:prstDash val="solid"/>
                      <a:round/>
                      <a:headEnd type="none" w="med" len="med"/>
                      <a:tailEnd type="none" w="med" len="med"/>
                    </a:lnR>
                    <a:lnT w="12700" cap="flat" cmpd="sng" algn="ctr">
                      <a:solidFill>
                        <a:srgbClr val="403F40"/>
                      </a:solidFill>
                      <a:prstDash val="solid"/>
                      <a:round/>
                      <a:headEnd type="none" w="med" len="med"/>
                      <a:tailEnd type="none" w="med" len="med"/>
                    </a:lnT>
                    <a:lnB w="12700" cap="flat" cmpd="sng" algn="ctr">
                      <a:solidFill>
                        <a:srgbClr val="403F40"/>
                      </a:solidFill>
                      <a:prstDash val="solid"/>
                      <a:round/>
                      <a:headEnd type="none" w="med" len="med"/>
                      <a:tailEnd type="none" w="med" len="med"/>
                    </a:lnB>
                  </a:tcPr>
                </a:tc>
                <a:tc>
                  <a:txBody>
                    <a:bodyPr/>
                    <a:lstStyle/>
                    <a:p>
                      <a:pPr marL="0" indent="0">
                        <a:lnSpc>
                          <a:spcPts val="1820"/>
                        </a:lnSpc>
                        <a:buNone/>
                      </a:pPr>
                      <a:r>
                        <a:rPr lang="en-US" sz="1300" dirty="0">
                          <a:solidFill>
                            <a:srgbClr val="E4E4E7"/>
                          </a:solidFill>
                          <a:latin typeface="Arial" pitchFamily="34" charset="0"/>
                          <a:ea typeface="Arial" pitchFamily="34" charset="-122"/>
                          <a:cs typeface="Arial" pitchFamily="34" charset="-120"/>
                        </a:rPr>
                        <a:t>Poner todas las variables en la misma escala</a:t>
                      </a:r>
                      <a:endParaRPr lang="en-US" sz="1300" dirty="0">
                        <a:latin typeface="Arial" charset="0"/>
                        <a:ea typeface="Arial" charset="0"/>
                        <a:cs typeface="Arial" charset="0"/>
                      </a:endParaRPr>
                    </a:p>
                  </a:txBody>
                  <a:tcPr marL="57785" marR="57785" marT="57785" marB="57785">
                    <a:lnL w="12700" cap="flat" cmpd="sng" algn="ctr">
                      <a:solidFill>
                        <a:srgbClr val="403F40"/>
                      </a:solidFill>
                      <a:prstDash val="solid"/>
                      <a:round/>
                      <a:headEnd type="none" w="med" len="med"/>
                      <a:tailEnd type="none" w="med" len="med"/>
                    </a:lnL>
                    <a:lnR w="12700" cap="flat" cmpd="sng" algn="ctr">
                      <a:solidFill>
                        <a:srgbClr val="403F40"/>
                      </a:solidFill>
                      <a:prstDash val="solid"/>
                      <a:round/>
                      <a:headEnd type="none" w="med" len="med"/>
                      <a:tailEnd type="none" w="med" len="med"/>
                    </a:lnR>
                    <a:lnT w="12700" cap="flat" cmpd="sng" algn="ctr">
                      <a:solidFill>
                        <a:srgbClr val="403F40"/>
                      </a:solidFill>
                      <a:prstDash val="solid"/>
                      <a:round/>
                      <a:headEnd type="none" w="med" len="med"/>
                      <a:tailEnd type="none" w="med" len="med"/>
                    </a:lnT>
                    <a:lnB w="12700" cap="flat" cmpd="sng" algn="ctr">
                      <a:solidFill>
                        <a:srgbClr val="403F40"/>
                      </a:solidFill>
                      <a:prstDash val="solid"/>
                      <a:round/>
                      <a:headEnd type="none" w="med" len="med"/>
                      <a:tailEnd type="none" w="med" len="med"/>
                    </a:lnB>
                  </a:tcPr>
                </a:tc>
                <a:extLst>
                  <a:ext uri="{0D108BD9-81ED-4DB2-BD59-A6C34878D82A}">
                    <a16:rowId xmlns:a16="http://schemas.microsoft.com/office/drawing/2014/main" val="10007"/>
                  </a:ext>
                </a:extLst>
              </a:tr>
              <a:tr h="359271">
                <a:tc>
                  <a:txBody>
                    <a:bodyPr/>
                    <a:lstStyle/>
                    <a:p>
                      <a:pPr marL="0" indent="0">
                        <a:lnSpc>
                          <a:spcPts val="1820"/>
                        </a:lnSpc>
                        <a:buNone/>
                      </a:pPr>
                      <a:r>
                        <a:rPr lang="en-US" sz="1300" dirty="0">
                          <a:solidFill>
                            <a:srgbClr val="FF5C77"/>
                          </a:solidFill>
                          <a:latin typeface="Arial" pitchFamily="34" charset="0"/>
                          <a:ea typeface="Arial" pitchFamily="34" charset="-122"/>
                          <a:cs typeface="Arial" pitchFamily="34" charset="-120"/>
                        </a:rPr>
                        <a:t>Random Forest</a:t>
                      </a:r>
                      <a:endParaRPr lang="en-US" sz="1300" dirty="0">
                        <a:latin typeface="Arial" charset="0"/>
                        <a:ea typeface="Arial" charset="0"/>
                        <a:cs typeface="Arial" charset="0"/>
                      </a:endParaRPr>
                    </a:p>
                  </a:txBody>
                  <a:tcPr marL="57785" marR="57785" marT="57785" marB="57785">
                    <a:lnL w="12700" cap="flat" cmpd="sng" algn="ctr">
                      <a:solidFill>
                        <a:srgbClr val="403F40"/>
                      </a:solidFill>
                      <a:prstDash val="solid"/>
                      <a:round/>
                      <a:headEnd type="none" w="med" len="med"/>
                      <a:tailEnd type="none" w="med" len="med"/>
                    </a:lnL>
                    <a:lnR w="12700" cap="flat" cmpd="sng" algn="ctr">
                      <a:solidFill>
                        <a:srgbClr val="403F40"/>
                      </a:solidFill>
                      <a:prstDash val="solid"/>
                      <a:round/>
                      <a:headEnd type="none" w="med" len="med"/>
                      <a:tailEnd type="none" w="med" len="med"/>
                    </a:lnR>
                    <a:lnT w="12700" cap="flat" cmpd="sng" algn="ctr">
                      <a:solidFill>
                        <a:srgbClr val="403F40"/>
                      </a:solidFill>
                      <a:prstDash val="solid"/>
                      <a:round/>
                      <a:headEnd type="none" w="med" len="med"/>
                      <a:tailEnd type="none" w="med" len="med"/>
                    </a:lnT>
                    <a:lnB w="12700" cap="flat" cmpd="sng" algn="ctr">
                      <a:solidFill>
                        <a:srgbClr val="403F40"/>
                      </a:solidFill>
                      <a:prstDash val="solid"/>
                      <a:round/>
                      <a:headEnd type="none" w="med" len="med"/>
                      <a:tailEnd type="none" w="med" len="med"/>
                    </a:lnB>
                  </a:tcPr>
                </a:tc>
                <a:tc>
                  <a:txBody>
                    <a:bodyPr/>
                    <a:lstStyle/>
                    <a:p>
                      <a:pPr marL="0" indent="0">
                        <a:lnSpc>
                          <a:spcPts val="1820"/>
                        </a:lnSpc>
                        <a:buNone/>
                      </a:pPr>
                      <a:r>
                        <a:rPr lang="en-US" sz="1300" dirty="0">
                          <a:solidFill>
                            <a:srgbClr val="E4E4E7"/>
                          </a:solidFill>
                          <a:latin typeface="Arial" pitchFamily="34" charset="0"/>
                          <a:ea typeface="Arial" pitchFamily="34" charset="-122"/>
                          <a:cs typeface="Arial" pitchFamily="34" charset="-120"/>
                        </a:rPr>
                        <a:t>Bosque aleatorio</a:t>
                      </a:r>
                      <a:endParaRPr lang="en-US" sz="1300" dirty="0">
                        <a:latin typeface="Arial" charset="0"/>
                        <a:ea typeface="Arial" charset="0"/>
                        <a:cs typeface="Arial" charset="0"/>
                      </a:endParaRPr>
                    </a:p>
                  </a:txBody>
                  <a:tcPr marL="57785" marR="57785" marT="57785" marB="57785">
                    <a:lnL w="12700" cap="flat" cmpd="sng" algn="ctr">
                      <a:solidFill>
                        <a:srgbClr val="403F40"/>
                      </a:solidFill>
                      <a:prstDash val="solid"/>
                      <a:round/>
                      <a:headEnd type="none" w="med" len="med"/>
                      <a:tailEnd type="none" w="med" len="med"/>
                    </a:lnL>
                    <a:lnR w="12700" cap="flat" cmpd="sng" algn="ctr">
                      <a:solidFill>
                        <a:srgbClr val="403F40"/>
                      </a:solidFill>
                      <a:prstDash val="solid"/>
                      <a:round/>
                      <a:headEnd type="none" w="med" len="med"/>
                      <a:tailEnd type="none" w="med" len="med"/>
                    </a:lnR>
                    <a:lnT w="12700" cap="flat" cmpd="sng" algn="ctr">
                      <a:solidFill>
                        <a:srgbClr val="403F40"/>
                      </a:solidFill>
                      <a:prstDash val="solid"/>
                      <a:round/>
                      <a:headEnd type="none" w="med" len="med"/>
                      <a:tailEnd type="none" w="med" len="med"/>
                    </a:lnT>
                    <a:lnB w="12700" cap="flat" cmpd="sng" algn="ctr">
                      <a:solidFill>
                        <a:srgbClr val="403F40"/>
                      </a:solidFill>
                      <a:prstDash val="solid"/>
                      <a:round/>
                      <a:headEnd type="none" w="med" len="med"/>
                      <a:tailEnd type="none" w="med" len="med"/>
                    </a:lnB>
                  </a:tcPr>
                </a:tc>
                <a:tc>
                  <a:txBody>
                    <a:bodyPr/>
                    <a:lstStyle/>
                    <a:p>
                      <a:pPr marL="0" indent="0">
                        <a:lnSpc>
                          <a:spcPts val="1820"/>
                        </a:lnSpc>
                        <a:buNone/>
                      </a:pPr>
                      <a:r>
                        <a:rPr lang="en-US" sz="1300" dirty="0">
                          <a:solidFill>
                            <a:srgbClr val="E4E4E7"/>
                          </a:solidFill>
                          <a:latin typeface="Arial" pitchFamily="34" charset="0"/>
                          <a:ea typeface="Arial" pitchFamily="34" charset="-122"/>
                          <a:cs typeface="Arial" pitchFamily="34" charset="-120"/>
                        </a:rPr>
                        <a:t>Muchos árboles de decisión que votan juntos</a:t>
                      </a:r>
                      <a:endParaRPr lang="en-US" sz="1300" dirty="0">
                        <a:latin typeface="Arial" charset="0"/>
                        <a:ea typeface="Arial" charset="0"/>
                        <a:cs typeface="Arial" charset="0"/>
                      </a:endParaRPr>
                    </a:p>
                  </a:txBody>
                  <a:tcPr marL="57785" marR="57785" marT="57785" marB="57785">
                    <a:lnL w="12700" cap="flat" cmpd="sng" algn="ctr">
                      <a:solidFill>
                        <a:srgbClr val="403F40"/>
                      </a:solidFill>
                      <a:prstDash val="solid"/>
                      <a:round/>
                      <a:headEnd type="none" w="med" len="med"/>
                      <a:tailEnd type="none" w="med" len="med"/>
                    </a:lnL>
                    <a:lnR w="12700" cap="flat" cmpd="sng" algn="ctr">
                      <a:solidFill>
                        <a:srgbClr val="403F40"/>
                      </a:solidFill>
                      <a:prstDash val="solid"/>
                      <a:round/>
                      <a:headEnd type="none" w="med" len="med"/>
                      <a:tailEnd type="none" w="med" len="med"/>
                    </a:lnR>
                    <a:lnT w="12700" cap="flat" cmpd="sng" algn="ctr">
                      <a:solidFill>
                        <a:srgbClr val="403F40"/>
                      </a:solidFill>
                      <a:prstDash val="solid"/>
                      <a:round/>
                      <a:headEnd type="none" w="med" len="med"/>
                      <a:tailEnd type="none" w="med" len="med"/>
                    </a:lnT>
                    <a:lnB w="12700" cap="flat" cmpd="sng" algn="ctr">
                      <a:solidFill>
                        <a:srgbClr val="403F40"/>
                      </a:solidFill>
                      <a:prstDash val="solid"/>
                      <a:round/>
                      <a:headEnd type="none" w="med" len="med"/>
                      <a:tailEnd type="none" w="med" len="med"/>
                    </a:lnB>
                  </a:tcPr>
                </a:tc>
                <a:extLst>
                  <a:ext uri="{0D108BD9-81ED-4DB2-BD59-A6C34878D82A}">
                    <a16:rowId xmlns:a16="http://schemas.microsoft.com/office/drawing/2014/main" val="10008"/>
                  </a:ext>
                </a:extLst>
              </a:tr>
            </a:tbl>
          </a:graphicData>
        </a:graphic>
      </p:graphicFrame>
      <p:sp>
        <p:nvSpPr>
          <p:cNvPr id="5" name="Text 2"/>
          <p:cNvSpPr/>
          <p:nvPr/>
        </p:nvSpPr>
        <p:spPr>
          <a:xfrm>
            <a:off x="812800" y="6238280"/>
            <a:ext cx="7848600" cy="238720"/>
          </a:xfrm>
          <a:prstGeom prst="rect">
            <a:avLst/>
          </a:prstGeom>
          <a:noFill/>
          <a:ln/>
        </p:spPr>
        <p:txBody>
          <a:bodyPr wrap="square" lIns="0" tIns="0" rIns="0" bIns="0" rtlCol="0" anchor="t">
            <a:normAutofit/>
          </a:bodyPr>
          <a:lstStyle/>
          <a:p>
            <a:pPr marL="0" indent="0" algn="l">
              <a:lnSpc>
                <a:spcPts val="1680"/>
              </a:lnSpc>
              <a:buNone/>
            </a:pPr>
            <a:r>
              <a:rPr lang="en-US" sz="1200" kern="0" spc="100" dirty="0">
                <a:solidFill>
                  <a:srgbClr val="71717A"/>
                </a:solidFill>
                <a:latin typeface="Courier New" pitchFamily="34" charset="0"/>
                <a:ea typeface="Courier New" pitchFamily="34" charset="-122"/>
                <a:cs typeface="Courier New" pitchFamily="34" charset="-120"/>
              </a:rPr>
              <a:t>UNIDAD 4 · VALIDACIÓN DE MODELOS</a:t>
            </a:r>
            <a:endParaRPr lang="en-US" sz="1200" dirty="0"/>
          </a:p>
        </p:txBody>
      </p:sp>
      <p:sp>
        <p:nvSpPr>
          <p:cNvPr id="6" name="Text 3"/>
          <p:cNvSpPr/>
          <p:nvPr/>
        </p:nvSpPr>
        <p:spPr>
          <a:xfrm>
            <a:off x="10058400" y="6238280"/>
            <a:ext cx="1320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71717A"/>
                </a:solidFill>
                <a:latin typeface="Courier New" pitchFamily="34" charset="0"/>
                <a:ea typeface="Courier New" pitchFamily="34" charset="-122"/>
                <a:cs typeface="Courier New" pitchFamily="34" charset="-120"/>
              </a:rPr>
              <a:t>05</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41417"/>
        </a:solidFill>
        <a:effectLst/>
      </p:bgPr>
    </p:bg>
    <p:spTree>
      <p:nvGrpSpPr>
        <p:cNvPr id="1" name=""/>
        <p:cNvGrpSpPr/>
        <p:nvPr/>
      </p:nvGrpSpPr>
      <p:grpSpPr>
        <a:xfrm>
          <a:off x="0" y="0"/>
          <a:ext cx="0" cy="0"/>
          <a:chOff x="0" y="0"/>
          <a:chExt cx="0" cy="0"/>
        </a:xfrm>
      </p:grpSpPr>
      <p:sp>
        <p:nvSpPr>
          <p:cNvPr id="2" name="Text 0"/>
          <p:cNvSpPr/>
          <p:nvPr/>
        </p:nvSpPr>
        <p:spPr>
          <a:xfrm>
            <a:off x="812800" y="1606649"/>
            <a:ext cx="10883392" cy="256480"/>
          </a:xfrm>
          <a:prstGeom prst="rect">
            <a:avLst/>
          </a:prstGeom>
          <a:noFill/>
          <a:ln/>
        </p:spPr>
        <p:txBody>
          <a:bodyPr wrap="square" lIns="0" tIns="0" rIns="0" bIns="0" rtlCol="0" anchor="t">
            <a:normAutofit/>
          </a:bodyPr>
          <a:lstStyle/>
          <a:p>
            <a:pPr marL="0" indent="0" algn="l">
              <a:lnSpc>
                <a:spcPts val="1820"/>
              </a:lnSpc>
              <a:buNone/>
            </a:pPr>
            <a:r>
              <a:rPr lang="en-US" sz="1300" b="1" kern="0" spc="200" dirty="0">
                <a:solidFill>
                  <a:srgbClr val="E4002B"/>
                </a:solidFill>
                <a:latin typeface="Courier New" pitchFamily="34" charset="0"/>
                <a:ea typeface="Courier New" pitchFamily="34" charset="-122"/>
                <a:cs typeface="Courier New" pitchFamily="34" charset="-120"/>
              </a:rPr>
              <a:t>SECCIÓN 01 DE 04</a:t>
            </a:r>
            <a:endParaRPr lang="en-US" sz="1300" dirty="0"/>
          </a:p>
        </p:txBody>
      </p:sp>
      <p:sp>
        <p:nvSpPr>
          <p:cNvPr id="3" name="Text 1"/>
          <p:cNvSpPr/>
          <p:nvPr/>
        </p:nvSpPr>
        <p:spPr>
          <a:xfrm>
            <a:off x="812800" y="1990130"/>
            <a:ext cx="10883392" cy="1549400"/>
          </a:xfrm>
          <a:prstGeom prst="rect">
            <a:avLst/>
          </a:prstGeom>
          <a:noFill/>
          <a:ln/>
        </p:spPr>
        <p:txBody>
          <a:bodyPr wrap="square" lIns="0" tIns="0" rIns="0" bIns="0" rtlCol="0" anchor="t">
            <a:normAutofit/>
          </a:bodyPr>
          <a:lstStyle/>
          <a:p>
            <a:pPr marL="0" indent="0" algn="l">
              <a:lnSpc>
                <a:spcPts val="12000"/>
              </a:lnSpc>
              <a:buNone/>
            </a:pPr>
            <a:r>
              <a:rPr lang="en-US" sz="12000" b="1" dirty="0">
                <a:solidFill>
                  <a:srgbClr val="E4002B"/>
                </a:solidFill>
                <a:latin typeface="Courier New" pitchFamily="34" charset="0"/>
                <a:ea typeface="Courier New" pitchFamily="34" charset="-122"/>
                <a:cs typeface="Courier New" pitchFamily="34" charset="-120"/>
              </a:rPr>
              <a:t>01</a:t>
            </a:r>
            <a:endParaRPr lang="en-US" sz="12000" dirty="0"/>
          </a:p>
        </p:txBody>
      </p:sp>
      <p:sp>
        <p:nvSpPr>
          <p:cNvPr id="4" name="Text 2"/>
          <p:cNvSpPr/>
          <p:nvPr/>
        </p:nvSpPr>
        <p:spPr>
          <a:xfrm>
            <a:off x="812800" y="3666530"/>
            <a:ext cx="10883392" cy="665460"/>
          </a:xfrm>
          <a:prstGeom prst="rect">
            <a:avLst/>
          </a:prstGeom>
          <a:noFill/>
          <a:ln/>
        </p:spPr>
        <p:txBody>
          <a:bodyPr wrap="square" lIns="0" tIns="0" rIns="0" bIns="0" rtlCol="0" anchor="t">
            <a:normAutofit/>
          </a:bodyPr>
          <a:lstStyle/>
          <a:p>
            <a:pPr marL="0" indent="0" algn="l">
              <a:lnSpc>
                <a:spcPts val="5040"/>
              </a:lnSpc>
              <a:buNone/>
            </a:pPr>
            <a:r>
              <a:rPr lang="en-US" sz="4800" b="1" kern="0" spc="-100" dirty="0">
                <a:solidFill>
                  <a:srgbClr val="F4F4F5"/>
                </a:solidFill>
                <a:latin typeface="Arial" pitchFamily="34" charset="0"/>
                <a:ea typeface="Arial" pitchFamily="34" charset="-122"/>
                <a:cs typeface="Arial" pitchFamily="34" charset="-120"/>
              </a:rPr>
              <a:t>Métricas de evaluación</a:t>
            </a:r>
            <a:endParaRPr lang="en-US" sz="4800" dirty="0"/>
          </a:p>
        </p:txBody>
      </p:sp>
      <p:sp>
        <p:nvSpPr>
          <p:cNvPr id="5" name="Text 3"/>
          <p:cNvSpPr/>
          <p:nvPr/>
        </p:nvSpPr>
        <p:spPr>
          <a:xfrm>
            <a:off x="812800" y="4458990"/>
            <a:ext cx="7848600" cy="614561"/>
          </a:xfrm>
          <a:prstGeom prst="rect">
            <a:avLst/>
          </a:prstGeom>
          <a:noFill/>
          <a:ln/>
        </p:spPr>
        <p:txBody>
          <a:bodyPr wrap="square" lIns="0" tIns="0" rIns="0" bIns="0" rtlCol="0" anchor="t">
            <a:normAutofit/>
          </a:bodyPr>
          <a:lstStyle/>
          <a:p>
            <a:pPr marL="0" indent="0" algn="l">
              <a:lnSpc>
                <a:spcPts val="2320"/>
              </a:lnSpc>
              <a:buNone/>
            </a:pPr>
            <a:r>
              <a:rPr lang="en-US" sz="1600" dirty="0">
                <a:solidFill>
                  <a:srgbClr val="A1A1AA"/>
                </a:solidFill>
                <a:latin typeface="Arial" pitchFamily="34" charset="0"/>
                <a:ea typeface="Arial" pitchFamily="34" charset="-122"/>
                <a:cs typeface="Arial" pitchFamily="34" charset="-120"/>
              </a:rPr>
              <a:t>Los números que dicen qué tan bueno es un modelo: accuracy (exactitud), precisión, recall (sensibilidad) y error.</a:t>
            </a:r>
            <a:endParaRPr lang="en-US" sz="1600" dirty="0"/>
          </a:p>
        </p:txBody>
      </p:sp>
      <p:sp>
        <p:nvSpPr>
          <p:cNvPr id="6" name="Text 4"/>
          <p:cNvSpPr/>
          <p:nvPr/>
        </p:nvSpPr>
        <p:spPr>
          <a:xfrm>
            <a:off x="812800" y="6238280"/>
            <a:ext cx="7848600" cy="238720"/>
          </a:xfrm>
          <a:prstGeom prst="rect">
            <a:avLst/>
          </a:prstGeom>
          <a:noFill/>
          <a:ln/>
        </p:spPr>
        <p:txBody>
          <a:bodyPr wrap="square" lIns="0" tIns="0" rIns="0" bIns="0" rtlCol="0" anchor="t">
            <a:normAutofit/>
          </a:bodyPr>
          <a:lstStyle/>
          <a:p>
            <a:pPr marL="0" indent="0" algn="l">
              <a:lnSpc>
                <a:spcPts val="1680"/>
              </a:lnSpc>
              <a:buNone/>
            </a:pPr>
            <a:r>
              <a:rPr lang="en-US" sz="1200" kern="0" spc="100" dirty="0">
                <a:solidFill>
                  <a:srgbClr val="71717A"/>
                </a:solidFill>
                <a:latin typeface="Courier New" pitchFamily="34" charset="0"/>
                <a:ea typeface="Courier New" pitchFamily="34" charset="-122"/>
                <a:cs typeface="Courier New" pitchFamily="34" charset="-120"/>
              </a:rPr>
              <a:t>UNIDAD 4 · VALIDACIÓN DE MODELOS</a:t>
            </a:r>
            <a:endParaRPr lang="en-US" sz="1200" dirty="0"/>
          </a:p>
        </p:txBody>
      </p:sp>
      <p:sp>
        <p:nvSpPr>
          <p:cNvPr id="7" name="Text 5"/>
          <p:cNvSpPr/>
          <p:nvPr/>
        </p:nvSpPr>
        <p:spPr>
          <a:xfrm>
            <a:off x="10058400" y="6238280"/>
            <a:ext cx="1320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71717A"/>
                </a:solidFill>
                <a:latin typeface="Courier New" pitchFamily="34" charset="0"/>
                <a:ea typeface="Courier New" pitchFamily="34" charset="-122"/>
                <a:cs typeface="Courier New" pitchFamily="34" charset="-120"/>
              </a:rPr>
              <a:t>06</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B0B0D"/>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marL="0" indent="0" algn="l">
              <a:lnSpc>
                <a:spcPts val="1820"/>
              </a:lnSpc>
              <a:buNone/>
            </a:pPr>
            <a:r>
              <a:rPr lang="en-US" sz="1300" b="1" kern="0" spc="200" dirty="0">
                <a:solidFill>
                  <a:srgbClr val="E4002B"/>
                </a:solidFill>
                <a:latin typeface="Courier New" pitchFamily="34" charset="0"/>
                <a:ea typeface="Courier New" pitchFamily="34" charset="-122"/>
                <a:cs typeface="Courier New" pitchFamily="34" charset="-120"/>
              </a:rPr>
              <a:t>ANTES DE MEDIR</a:t>
            </a:r>
            <a:endParaRPr lang="en-US" sz="1300" dirty="0"/>
          </a:p>
        </p:txBody>
      </p:sp>
      <p:sp>
        <p:nvSpPr>
          <p:cNvPr id="3" name="Text 1"/>
          <p:cNvSpPr/>
          <p:nvPr/>
        </p:nvSpPr>
        <p:spPr>
          <a:xfrm>
            <a:off x="812800" y="1145480"/>
            <a:ext cx="10883392" cy="472380"/>
          </a:xfrm>
          <a:prstGeom prst="rect">
            <a:avLst/>
          </a:prstGeom>
          <a:noFill/>
          <a:ln/>
        </p:spPr>
        <p:txBody>
          <a:bodyPr wrap="square" lIns="0" tIns="0" rIns="0" bIns="0" rtlCol="0" anchor="t">
            <a:normAutofit/>
          </a:bodyPr>
          <a:lstStyle/>
          <a:p>
            <a:pPr marL="0" indent="0" algn="l">
              <a:lnSpc>
                <a:spcPts val="3520"/>
              </a:lnSpc>
              <a:buNone/>
            </a:pPr>
            <a:r>
              <a:rPr lang="en-US" sz="3200" b="1" kern="0" spc="-50" dirty="0">
                <a:solidFill>
                  <a:srgbClr val="F4F4F5"/>
                </a:solidFill>
                <a:latin typeface="Arial" pitchFamily="34" charset="0"/>
                <a:ea typeface="Arial" pitchFamily="34" charset="-122"/>
                <a:cs typeface="Arial" pitchFamily="34" charset="-120"/>
              </a:rPr>
              <a:t>Evaluar es poner un examen con preguntas nuevas</a:t>
            </a:r>
            <a:endParaRPr lang="en-US" sz="3200" dirty="0"/>
          </a:p>
        </p:txBody>
      </p:sp>
      <p:sp>
        <p:nvSpPr>
          <p:cNvPr id="4" name="Shape 2"/>
          <p:cNvSpPr/>
          <p:nvPr/>
        </p:nvSpPr>
        <p:spPr>
          <a:xfrm>
            <a:off x="819150" y="1802011"/>
            <a:ext cx="7104360" cy="1430536"/>
          </a:xfrm>
          <a:prstGeom prst="roundRect">
            <a:avLst>
              <a:gd name="adj" fmla="val 8434"/>
            </a:avLst>
          </a:prstGeom>
          <a:solidFill>
            <a:srgbClr val="1A1A1F"/>
          </a:solidFill>
          <a:ln w="12700">
            <a:solidFill>
              <a:srgbClr val="2C2C33"/>
            </a:solidFill>
            <a:prstDash val="solid"/>
          </a:ln>
        </p:spPr>
        <p:txBody>
          <a:bodyPr/>
          <a:lstStyle/>
          <a:p>
            <a:endParaRPr lang="es-CO"/>
          </a:p>
        </p:txBody>
      </p:sp>
      <p:sp>
        <p:nvSpPr>
          <p:cNvPr id="5" name="Text 3"/>
          <p:cNvSpPr/>
          <p:nvPr/>
        </p:nvSpPr>
        <p:spPr>
          <a:xfrm>
            <a:off x="1028700" y="2011561"/>
            <a:ext cx="6885818" cy="416520"/>
          </a:xfrm>
          <a:prstGeom prst="rect">
            <a:avLst/>
          </a:prstGeom>
          <a:noFill/>
          <a:ln/>
        </p:spPr>
        <p:txBody>
          <a:bodyPr wrap="square" lIns="0" tIns="0" rIns="0" bIns="0" rtlCol="0" anchor="t">
            <a:normAutofit/>
          </a:bodyPr>
          <a:lstStyle/>
          <a:p>
            <a:pPr marL="0" indent="0" algn="l">
              <a:lnSpc>
                <a:spcPts val="3080"/>
              </a:lnSpc>
              <a:buNone/>
            </a:pPr>
            <a:r>
              <a:rPr lang="en-US" sz="2200" b="1" dirty="0">
                <a:solidFill>
                  <a:srgbClr val="A1A1AA"/>
                </a:solidFill>
                <a:latin typeface="Courier New" pitchFamily="34" charset="0"/>
                <a:ea typeface="Courier New" pitchFamily="34" charset="-122"/>
                <a:cs typeface="Courier New" pitchFamily="34" charset="-120"/>
              </a:rPr>
              <a:t>70 %</a:t>
            </a:r>
            <a:endParaRPr lang="en-US" sz="2200" dirty="0"/>
          </a:p>
        </p:txBody>
      </p:sp>
      <p:sp>
        <p:nvSpPr>
          <p:cNvPr id="6" name="Text 4"/>
          <p:cNvSpPr/>
          <p:nvPr/>
        </p:nvSpPr>
        <p:spPr>
          <a:xfrm>
            <a:off x="1028700" y="2478881"/>
            <a:ext cx="6885818"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F4F4F5"/>
                </a:solidFill>
                <a:latin typeface="Arial" pitchFamily="34" charset="0"/>
                <a:ea typeface="Arial" pitchFamily="34" charset="-122"/>
                <a:cs typeface="Arial" pitchFamily="34" charset="-120"/>
              </a:rPr>
              <a:t>Datos de entrenamiento (train)</a:t>
            </a:r>
            <a:endParaRPr lang="en-US" sz="1500" dirty="0"/>
          </a:p>
        </p:txBody>
      </p:sp>
      <p:sp>
        <p:nvSpPr>
          <p:cNvPr id="7" name="Text 5"/>
          <p:cNvSpPr/>
          <p:nvPr/>
        </p:nvSpPr>
        <p:spPr>
          <a:xfrm>
            <a:off x="1028700" y="2783681"/>
            <a:ext cx="6885818" cy="264716"/>
          </a:xfrm>
          <a:prstGeom prst="rect">
            <a:avLst/>
          </a:prstGeom>
          <a:noFill/>
          <a:ln/>
        </p:spPr>
        <p:txBody>
          <a:bodyPr wrap="square" lIns="0" tIns="0" rIns="0" bIns="0" rtlCol="0" anchor="t">
            <a:normAutofit/>
          </a:bodyPr>
          <a:lstStyle/>
          <a:p>
            <a:pPr marL="0" indent="0" algn="l">
              <a:lnSpc>
                <a:spcPts val="1885"/>
              </a:lnSpc>
              <a:buNone/>
            </a:pPr>
            <a:r>
              <a:rPr lang="en-US" sz="1300" dirty="0">
                <a:solidFill>
                  <a:srgbClr val="A1A1AA"/>
                </a:solidFill>
                <a:latin typeface="Arial" pitchFamily="34" charset="0"/>
                <a:ea typeface="Arial" pitchFamily="34" charset="-122"/>
                <a:cs typeface="Arial" pitchFamily="34" charset="-120"/>
              </a:rPr>
              <a:t>El cuaderno de práctica: el modelo aprende con ellos.</a:t>
            </a:r>
            <a:endParaRPr lang="en-US" sz="1300" dirty="0"/>
          </a:p>
        </p:txBody>
      </p:sp>
      <p:sp>
        <p:nvSpPr>
          <p:cNvPr id="8" name="Shape 6"/>
          <p:cNvSpPr/>
          <p:nvPr/>
        </p:nvSpPr>
        <p:spPr>
          <a:xfrm>
            <a:off x="8088610" y="1802011"/>
            <a:ext cx="3284240" cy="1430536"/>
          </a:xfrm>
          <a:prstGeom prst="roundRect">
            <a:avLst>
              <a:gd name="adj" fmla="val 8434"/>
            </a:avLst>
          </a:prstGeom>
          <a:solidFill>
            <a:srgbClr val="1F0A0F"/>
          </a:solidFill>
          <a:ln w="12700">
            <a:solidFill>
              <a:srgbClr val="E4002B"/>
            </a:solidFill>
            <a:prstDash val="solid"/>
          </a:ln>
        </p:spPr>
        <p:txBody>
          <a:bodyPr/>
          <a:lstStyle/>
          <a:p>
            <a:endParaRPr lang="es-CO"/>
          </a:p>
        </p:txBody>
      </p:sp>
      <p:sp>
        <p:nvSpPr>
          <p:cNvPr id="9" name="Text 7"/>
          <p:cNvSpPr/>
          <p:nvPr/>
        </p:nvSpPr>
        <p:spPr>
          <a:xfrm>
            <a:off x="8298160" y="2011561"/>
            <a:ext cx="2951094" cy="416520"/>
          </a:xfrm>
          <a:prstGeom prst="rect">
            <a:avLst/>
          </a:prstGeom>
          <a:noFill/>
          <a:ln/>
        </p:spPr>
        <p:txBody>
          <a:bodyPr wrap="square" lIns="0" tIns="0" rIns="0" bIns="0" rtlCol="0" anchor="t">
            <a:normAutofit/>
          </a:bodyPr>
          <a:lstStyle/>
          <a:p>
            <a:pPr marL="0" indent="0" algn="l">
              <a:lnSpc>
                <a:spcPts val="3080"/>
              </a:lnSpc>
              <a:buNone/>
            </a:pPr>
            <a:r>
              <a:rPr lang="en-US" sz="2200" b="1" dirty="0">
                <a:solidFill>
                  <a:srgbClr val="E4002B"/>
                </a:solidFill>
                <a:latin typeface="Courier New" pitchFamily="34" charset="0"/>
                <a:ea typeface="Courier New" pitchFamily="34" charset="-122"/>
                <a:cs typeface="Courier New" pitchFamily="34" charset="-120"/>
              </a:rPr>
              <a:t>30 %</a:t>
            </a:r>
            <a:endParaRPr lang="en-US" sz="2200" dirty="0"/>
          </a:p>
        </p:txBody>
      </p:sp>
      <p:sp>
        <p:nvSpPr>
          <p:cNvPr id="10" name="Text 8"/>
          <p:cNvSpPr/>
          <p:nvPr/>
        </p:nvSpPr>
        <p:spPr>
          <a:xfrm>
            <a:off x="8298160" y="2478881"/>
            <a:ext cx="2951094"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F4F4F5"/>
                </a:solidFill>
                <a:latin typeface="Arial" pitchFamily="34" charset="0"/>
                <a:ea typeface="Arial" pitchFamily="34" charset="-122"/>
                <a:cs typeface="Arial" pitchFamily="34" charset="-120"/>
              </a:rPr>
              <a:t>Datos de prueba (test)</a:t>
            </a:r>
            <a:endParaRPr lang="en-US" sz="1500" dirty="0"/>
          </a:p>
        </p:txBody>
      </p:sp>
      <p:sp>
        <p:nvSpPr>
          <p:cNvPr id="11" name="Text 9"/>
          <p:cNvSpPr/>
          <p:nvPr/>
        </p:nvSpPr>
        <p:spPr>
          <a:xfrm>
            <a:off x="8298160" y="2783681"/>
            <a:ext cx="2951094" cy="264716"/>
          </a:xfrm>
          <a:prstGeom prst="rect">
            <a:avLst/>
          </a:prstGeom>
          <a:noFill/>
          <a:ln/>
        </p:spPr>
        <p:txBody>
          <a:bodyPr wrap="square" lIns="0" tIns="0" rIns="0" bIns="0" rtlCol="0" anchor="t">
            <a:normAutofit/>
          </a:bodyPr>
          <a:lstStyle/>
          <a:p>
            <a:pPr marL="0" indent="0" algn="l">
              <a:lnSpc>
                <a:spcPts val="1885"/>
              </a:lnSpc>
              <a:buNone/>
            </a:pPr>
            <a:r>
              <a:rPr lang="en-US" sz="1300" dirty="0">
                <a:solidFill>
                  <a:srgbClr val="F4F4F5"/>
                </a:solidFill>
                <a:latin typeface="Arial" pitchFamily="34" charset="0"/>
                <a:ea typeface="Arial" pitchFamily="34" charset="-122"/>
                <a:cs typeface="Arial" pitchFamily="34" charset="-120"/>
              </a:rPr>
              <a:t>El examen: preguntas que nunca vio.</a:t>
            </a:r>
            <a:endParaRPr lang="en-US" sz="1300" dirty="0"/>
          </a:p>
        </p:txBody>
      </p:sp>
      <p:sp>
        <p:nvSpPr>
          <p:cNvPr id="12" name="Shape 10"/>
          <p:cNvSpPr/>
          <p:nvPr/>
        </p:nvSpPr>
        <p:spPr>
          <a:xfrm>
            <a:off x="819150" y="3448447"/>
            <a:ext cx="10553700" cy="896541"/>
          </a:xfrm>
          <a:prstGeom prst="roundRect">
            <a:avLst>
              <a:gd name="adj" fmla="val 10624"/>
            </a:avLst>
          </a:prstGeom>
          <a:solidFill>
            <a:srgbClr val="0F0F12"/>
          </a:solidFill>
          <a:ln w="12700">
            <a:solidFill>
              <a:srgbClr val="2C2C33"/>
            </a:solidFill>
            <a:prstDash val="solid"/>
          </a:ln>
        </p:spPr>
        <p:txBody>
          <a:bodyPr/>
          <a:lstStyle/>
          <a:p>
            <a:endParaRPr lang="es-CO"/>
          </a:p>
        </p:txBody>
      </p:sp>
      <p:sp>
        <p:nvSpPr>
          <p:cNvPr id="13" name="Text 11"/>
          <p:cNvSpPr/>
          <p:nvPr/>
        </p:nvSpPr>
        <p:spPr>
          <a:xfrm>
            <a:off x="1079500" y="3632597"/>
            <a:ext cx="10333990" cy="553641"/>
          </a:xfrm>
          <a:prstGeom prst="rect">
            <a:avLst/>
          </a:prstGeom>
          <a:noFill/>
          <a:ln/>
        </p:spPr>
        <p:txBody>
          <a:bodyPr wrap="square" lIns="0" tIns="0" rIns="0" bIns="0" rtlCol="0" anchor="t">
            <a:normAutofit/>
          </a:bodyPr>
          <a:lstStyle/>
          <a:p>
            <a:pPr marL="0" indent="0" algn="l">
              <a:lnSpc>
                <a:spcPts val="2080"/>
              </a:lnSpc>
              <a:buNone/>
            </a:pPr>
            <a:r>
              <a:rPr lang="en-US" sz="1300" dirty="0">
                <a:solidFill>
                  <a:srgbClr val="E4E4E7"/>
                </a:solidFill>
                <a:latin typeface="Courier New" pitchFamily="34" charset="0"/>
                <a:ea typeface="Courier New" pitchFamily="34" charset="-122"/>
                <a:cs typeface="Courier New" pitchFamily="34" charset="-120"/>
              </a:rPr>
              <a:t>X_train, X_test, y_train, y_test = train_test_split(X, y, test_size=0.3, random_state=42)</a:t>
            </a:r>
            <a:endParaRPr lang="en-US" sz="1300" dirty="0"/>
          </a:p>
          <a:p>
            <a:pPr marL="0" indent="0" algn="l">
              <a:lnSpc>
                <a:spcPts val="2080"/>
              </a:lnSpc>
              <a:buNone/>
            </a:pPr>
            <a:r>
              <a:rPr lang="en-US" sz="1300" dirty="0">
                <a:solidFill>
                  <a:srgbClr val="71717A"/>
                </a:solidFill>
                <a:latin typeface="Courier New" pitchFamily="34" charset="0"/>
                <a:ea typeface="Courier New" pitchFamily="34" charset="-122"/>
                <a:cs typeface="Courier New" pitchFamily="34" charset="-120"/>
              </a:rPr>
              <a:t># test_size=0.3: guarda el 30 % para el examen · random_state=42: la división siempre sale igual</a:t>
            </a:r>
            <a:endParaRPr lang="en-US" sz="1300" dirty="0"/>
          </a:p>
        </p:txBody>
      </p:sp>
      <p:sp>
        <p:nvSpPr>
          <p:cNvPr id="14" name="Shape 12"/>
          <p:cNvSpPr/>
          <p:nvPr/>
        </p:nvSpPr>
        <p:spPr>
          <a:xfrm>
            <a:off x="819150" y="4560888"/>
            <a:ext cx="10553700" cy="871736"/>
          </a:xfrm>
          <a:prstGeom prst="roundRect">
            <a:avLst>
              <a:gd name="adj" fmla="val 13840"/>
            </a:avLst>
          </a:prstGeom>
          <a:solidFill>
            <a:srgbClr val="1F0A0F"/>
          </a:solidFill>
          <a:ln w="12700">
            <a:solidFill>
              <a:srgbClr val="E4002B"/>
            </a:solidFill>
            <a:prstDash val="solid"/>
          </a:ln>
        </p:spPr>
        <p:txBody>
          <a:bodyPr/>
          <a:lstStyle/>
          <a:p>
            <a:endParaRPr lang="es-CO"/>
          </a:p>
        </p:txBody>
      </p:sp>
      <p:sp>
        <p:nvSpPr>
          <p:cNvPr id="15" name="Text 13"/>
          <p:cNvSpPr/>
          <p:nvPr/>
        </p:nvSpPr>
        <p:spPr>
          <a:xfrm>
            <a:off x="1079500" y="4745038"/>
            <a:ext cx="10333990"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E4002B"/>
                </a:solidFill>
                <a:latin typeface="Courier New" pitchFamily="34" charset="0"/>
                <a:ea typeface="Courier New" pitchFamily="34" charset="-122"/>
                <a:cs typeface="Courier New" pitchFamily="34" charset="-120"/>
              </a:rPr>
              <a:t>EN PALABRAS SIMPLES</a:t>
            </a:r>
            <a:endParaRPr lang="en-US" sz="1200" dirty="0"/>
          </a:p>
        </p:txBody>
      </p:sp>
      <p:sp>
        <p:nvSpPr>
          <p:cNvPr id="16" name="Text 14"/>
          <p:cNvSpPr/>
          <p:nvPr/>
        </p:nvSpPr>
        <p:spPr>
          <a:xfrm>
            <a:off x="1079500" y="5009158"/>
            <a:ext cx="10333990" cy="264716"/>
          </a:xfrm>
          <a:prstGeom prst="rect">
            <a:avLst/>
          </a:prstGeom>
          <a:noFill/>
          <a:ln/>
        </p:spPr>
        <p:txBody>
          <a:bodyPr wrap="square" lIns="0" tIns="0" rIns="0" bIns="0" rtlCol="0" anchor="t">
            <a:normAutofit/>
          </a:bodyPr>
          <a:lstStyle/>
          <a:p>
            <a:pPr marL="0" indent="0" algn="l">
              <a:lnSpc>
                <a:spcPts val="1885"/>
              </a:lnSpc>
              <a:buNone/>
            </a:pPr>
            <a:r>
              <a:rPr lang="en-US" sz="1300" dirty="0">
                <a:solidFill>
                  <a:srgbClr val="F4F4F5"/>
                </a:solidFill>
                <a:latin typeface="Arial" pitchFamily="34" charset="0"/>
                <a:ea typeface="Arial" pitchFamily="34" charset="-122"/>
                <a:cs typeface="Arial" pitchFamily="34" charset="-120"/>
              </a:rPr>
              <a:t>Evaluar con los mismos datos del entrenamiento es como llevar las respuestas al examen.</a:t>
            </a:r>
            <a:endParaRPr lang="en-US" sz="1300" dirty="0"/>
          </a:p>
        </p:txBody>
      </p:sp>
      <p:sp>
        <p:nvSpPr>
          <p:cNvPr id="17" name="Text 15"/>
          <p:cNvSpPr/>
          <p:nvPr/>
        </p:nvSpPr>
        <p:spPr>
          <a:xfrm>
            <a:off x="812800" y="6238280"/>
            <a:ext cx="7848600" cy="238720"/>
          </a:xfrm>
          <a:prstGeom prst="rect">
            <a:avLst/>
          </a:prstGeom>
          <a:noFill/>
          <a:ln/>
        </p:spPr>
        <p:txBody>
          <a:bodyPr wrap="square" lIns="0" tIns="0" rIns="0" bIns="0" rtlCol="0" anchor="t">
            <a:normAutofit/>
          </a:bodyPr>
          <a:lstStyle/>
          <a:p>
            <a:pPr marL="0" indent="0" algn="l">
              <a:lnSpc>
                <a:spcPts val="1680"/>
              </a:lnSpc>
              <a:buNone/>
            </a:pPr>
            <a:r>
              <a:rPr lang="en-US" sz="1200" kern="0" spc="100" dirty="0">
                <a:solidFill>
                  <a:srgbClr val="71717A"/>
                </a:solidFill>
                <a:latin typeface="Courier New" pitchFamily="34" charset="0"/>
                <a:ea typeface="Courier New" pitchFamily="34" charset="-122"/>
                <a:cs typeface="Courier New" pitchFamily="34" charset="-120"/>
              </a:rPr>
              <a:t>UNIDAD 4 · VALIDACIÓN DE MODELOS</a:t>
            </a:r>
            <a:endParaRPr lang="en-US" sz="1200" dirty="0"/>
          </a:p>
        </p:txBody>
      </p:sp>
      <p:sp>
        <p:nvSpPr>
          <p:cNvPr id="18" name="Text 16"/>
          <p:cNvSpPr/>
          <p:nvPr/>
        </p:nvSpPr>
        <p:spPr>
          <a:xfrm>
            <a:off x="10058400" y="6238280"/>
            <a:ext cx="1320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71717A"/>
                </a:solidFill>
                <a:latin typeface="Courier New" pitchFamily="34" charset="0"/>
                <a:ea typeface="Courier New" pitchFamily="34" charset="-122"/>
                <a:cs typeface="Courier New" pitchFamily="34" charset="-120"/>
              </a:rPr>
              <a:t>07</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B0B0D"/>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marL="0" indent="0" algn="l">
              <a:lnSpc>
                <a:spcPts val="1820"/>
              </a:lnSpc>
              <a:buNone/>
            </a:pPr>
            <a:r>
              <a:rPr lang="en-US" sz="1300" b="1" kern="0" spc="200" dirty="0">
                <a:solidFill>
                  <a:srgbClr val="E4002B"/>
                </a:solidFill>
                <a:latin typeface="Courier New" pitchFamily="34" charset="0"/>
                <a:ea typeface="Courier New" pitchFamily="34" charset="-122"/>
                <a:cs typeface="Courier New" pitchFamily="34" charset="-120"/>
              </a:rPr>
              <a:t>MATRIZ DE CONFUSIÓN · CONFUSION MATRIX</a:t>
            </a:r>
            <a:endParaRPr lang="en-US" sz="1300" dirty="0"/>
          </a:p>
        </p:txBody>
      </p:sp>
      <p:sp>
        <p:nvSpPr>
          <p:cNvPr id="3" name="Text 1"/>
          <p:cNvSpPr/>
          <p:nvPr/>
        </p:nvSpPr>
        <p:spPr>
          <a:xfrm>
            <a:off x="812800" y="1145480"/>
            <a:ext cx="10883392" cy="472380"/>
          </a:xfrm>
          <a:prstGeom prst="rect">
            <a:avLst/>
          </a:prstGeom>
          <a:noFill/>
          <a:ln/>
        </p:spPr>
        <p:txBody>
          <a:bodyPr wrap="square" lIns="0" tIns="0" rIns="0" bIns="0" rtlCol="0" anchor="t">
            <a:normAutofit/>
          </a:bodyPr>
          <a:lstStyle/>
          <a:p>
            <a:pPr marL="0" indent="0" algn="l">
              <a:lnSpc>
                <a:spcPts val="3520"/>
              </a:lnSpc>
              <a:buNone/>
            </a:pPr>
            <a:r>
              <a:rPr lang="en-US" sz="3200" b="1" kern="0" spc="-50" dirty="0">
                <a:solidFill>
                  <a:srgbClr val="F4F4F5"/>
                </a:solidFill>
                <a:latin typeface="Arial" pitchFamily="34" charset="0"/>
                <a:ea typeface="Arial" pitchFamily="34" charset="-122"/>
                <a:cs typeface="Arial" pitchFamily="34" charset="-120"/>
              </a:rPr>
              <a:t>Aciertos y errores en una sola tabla</a:t>
            </a:r>
            <a:endParaRPr lang="en-US" sz="3200" dirty="0"/>
          </a:p>
        </p:txBody>
      </p:sp>
      <p:sp>
        <p:nvSpPr>
          <p:cNvPr id="4" name="Text 2"/>
          <p:cNvSpPr/>
          <p:nvPr/>
        </p:nvSpPr>
        <p:spPr>
          <a:xfrm>
            <a:off x="2128520" y="1795661"/>
            <a:ext cx="2092960" cy="256480"/>
          </a:xfrm>
          <a:prstGeom prst="rect">
            <a:avLst/>
          </a:prstGeom>
          <a:noFill/>
          <a:ln/>
        </p:spPr>
        <p:txBody>
          <a:bodyPr wrap="square" lIns="0" tIns="0" rIns="0" bIns="0" rtlCol="0" anchor="t">
            <a:normAutofit/>
          </a:bodyPr>
          <a:lstStyle/>
          <a:p>
            <a:pPr marL="0" indent="0" algn="ctr">
              <a:lnSpc>
                <a:spcPts val="1820"/>
              </a:lnSpc>
              <a:buNone/>
            </a:pPr>
            <a:r>
              <a:rPr lang="en-US" sz="1300" b="1" dirty="0">
                <a:solidFill>
                  <a:srgbClr val="D4D4D8"/>
                </a:solidFill>
                <a:latin typeface="Arial" pitchFamily="34" charset="0"/>
                <a:ea typeface="Arial" pitchFamily="34" charset="-122"/>
                <a:cs typeface="Arial" pitchFamily="34" charset="-120"/>
              </a:rPr>
              <a:t>Dijo «no spam»</a:t>
            </a:r>
            <a:endParaRPr lang="en-US" sz="1300" dirty="0"/>
          </a:p>
        </p:txBody>
      </p:sp>
      <p:sp>
        <p:nvSpPr>
          <p:cNvPr id="5" name="Text 3"/>
          <p:cNvSpPr/>
          <p:nvPr/>
        </p:nvSpPr>
        <p:spPr>
          <a:xfrm>
            <a:off x="4236720" y="1795661"/>
            <a:ext cx="2092960" cy="256480"/>
          </a:xfrm>
          <a:prstGeom prst="rect">
            <a:avLst/>
          </a:prstGeom>
          <a:noFill/>
          <a:ln/>
        </p:spPr>
        <p:txBody>
          <a:bodyPr wrap="square" lIns="0" tIns="0" rIns="0" bIns="0" rtlCol="0" anchor="t">
            <a:normAutofit/>
          </a:bodyPr>
          <a:lstStyle/>
          <a:p>
            <a:pPr marL="0" indent="0" algn="ctr">
              <a:lnSpc>
                <a:spcPts val="1820"/>
              </a:lnSpc>
              <a:buNone/>
            </a:pPr>
            <a:r>
              <a:rPr lang="en-US" sz="1300" b="1" dirty="0">
                <a:solidFill>
                  <a:srgbClr val="D4D4D8"/>
                </a:solidFill>
                <a:latin typeface="Arial" pitchFamily="34" charset="0"/>
                <a:ea typeface="Arial" pitchFamily="34" charset="-122"/>
                <a:cs typeface="Arial" pitchFamily="34" charset="-120"/>
              </a:rPr>
              <a:t>Dijo «spam»</a:t>
            </a:r>
            <a:endParaRPr lang="en-US" sz="1300" dirty="0"/>
          </a:p>
        </p:txBody>
      </p:sp>
      <p:sp>
        <p:nvSpPr>
          <p:cNvPr id="6" name="Text 4"/>
          <p:cNvSpPr/>
          <p:nvPr/>
        </p:nvSpPr>
        <p:spPr>
          <a:xfrm>
            <a:off x="812800" y="2500412"/>
            <a:ext cx="1320800" cy="25648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D4D4D8"/>
                </a:solidFill>
                <a:latin typeface="Arial" pitchFamily="34" charset="0"/>
                <a:ea typeface="Arial" pitchFamily="34" charset="-122"/>
                <a:cs typeface="Arial" pitchFamily="34" charset="-120"/>
              </a:rPr>
              <a:t>Era no spam</a:t>
            </a:r>
            <a:endParaRPr lang="en-US" sz="1300" dirty="0"/>
          </a:p>
        </p:txBody>
      </p:sp>
      <p:sp>
        <p:nvSpPr>
          <p:cNvPr id="7" name="Shape 5"/>
          <p:cNvSpPr/>
          <p:nvPr/>
        </p:nvSpPr>
        <p:spPr>
          <a:xfrm>
            <a:off x="2165350" y="2109291"/>
            <a:ext cx="2019300" cy="1013420"/>
          </a:xfrm>
          <a:prstGeom prst="roundRect">
            <a:avLst>
              <a:gd name="adj" fmla="val 9399"/>
            </a:avLst>
          </a:prstGeom>
          <a:solidFill>
            <a:srgbClr val="1A1A1F"/>
          </a:solidFill>
          <a:ln w="12700">
            <a:solidFill>
              <a:srgbClr val="2C2C33"/>
            </a:solidFill>
            <a:prstDash val="solid"/>
          </a:ln>
        </p:spPr>
        <p:txBody>
          <a:bodyPr/>
          <a:lstStyle/>
          <a:p>
            <a:endParaRPr lang="es-CO"/>
          </a:p>
        </p:txBody>
      </p:sp>
      <p:sp>
        <p:nvSpPr>
          <p:cNvPr id="8" name="Text 6"/>
          <p:cNvSpPr/>
          <p:nvPr/>
        </p:nvSpPr>
        <p:spPr>
          <a:xfrm>
            <a:off x="3037780" y="2268041"/>
            <a:ext cx="325239" cy="482600"/>
          </a:xfrm>
          <a:prstGeom prst="rect">
            <a:avLst/>
          </a:prstGeom>
          <a:noFill/>
          <a:ln/>
        </p:spPr>
        <p:txBody>
          <a:bodyPr wrap="square" lIns="0" tIns="0" rIns="0" bIns="0" rtlCol="0" anchor="t">
            <a:normAutofit/>
          </a:bodyPr>
          <a:lstStyle/>
          <a:p>
            <a:pPr marL="0" indent="0" algn="l">
              <a:lnSpc>
                <a:spcPts val="3600"/>
              </a:lnSpc>
              <a:buNone/>
            </a:pPr>
            <a:r>
              <a:rPr lang="en-US" sz="3600" b="1" dirty="0">
                <a:solidFill>
                  <a:srgbClr val="F4F4F5"/>
                </a:solidFill>
                <a:latin typeface="Courier New" pitchFamily="34" charset="0"/>
                <a:ea typeface="Courier New" pitchFamily="34" charset="-122"/>
                <a:cs typeface="Courier New" pitchFamily="34" charset="-120"/>
              </a:rPr>
              <a:t>5</a:t>
            </a:r>
            <a:endParaRPr lang="en-US" sz="3600" dirty="0"/>
          </a:p>
        </p:txBody>
      </p:sp>
      <p:sp>
        <p:nvSpPr>
          <p:cNvPr id="9" name="Text 7"/>
          <p:cNvSpPr/>
          <p:nvPr/>
        </p:nvSpPr>
        <p:spPr>
          <a:xfrm>
            <a:off x="2760067" y="2750641"/>
            <a:ext cx="880666"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A1A1AA"/>
                </a:solidFill>
                <a:latin typeface="Arial" pitchFamily="34" charset="0"/>
                <a:ea typeface="Arial" pitchFamily="34" charset="-122"/>
                <a:cs typeface="Arial" pitchFamily="34" charset="-120"/>
              </a:rPr>
              <a:t>Acierto (VN)</a:t>
            </a:r>
            <a:endParaRPr lang="en-US" sz="1200" dirty="0"/>
          </a:p>
        </p:txBody>
      </p:sp>
      <p:sp>
        <p:nvSpPr>
          <p:cNvPr id="10" name="Shape 8"/>
          <p:cNvSpPr/>
          <p:nvPr/>
        </p:nvSpPr>
        <p:spPr>
          <a:xfrm>
            <a:off x="4273550" y="2109291"/>
            <a:ext cx="2019300" cy="1013420"/>
          </a:xfrm>
          <a:prstGeom prst="roundRect">
            <a:avLst>
              <a:gd name="adj" fmla="val 9399"/>
            </a:avLst>
          </a:prstGeom>
          <a:solidFill>
            <a:srgbClr val="1F0A0F"/>
          </a:solidFill>
          <a:ln w="12700">
            <a:solidFill>
              <a:srgbClr val="E4002B"/>
            </a:solidFill>
            <a:prstDash val="solid"/>
          </a:ln>
        </p:spPr>
        <p:txBody>
          <a:bodyPr/>
          <a:lstStyle/>
          <a:p>
            <a:endParaRPr lang="es-CO"/>
          </a:p>
        </p:txBody>
      </p:sp>
      <p:sp>
        <p:nvSpPr>
          <p:cNvPr id="11" name="Text 9"/>
          <p:cNvSpPr/>
          <p:nvPr/>
        </p:nvSpPr>
        <p:spPr>
          <a:xfrm>
            <a:off x="5145980" y="2268041"/>
            <a:ext cx="325239" cy="482600"/>
          </a:xfrm>
          <a:prstGeom prst="rect">
            <a:avLst/>
          </a:prstGeom>
          <a:noFill/>
          <a:ln/>
        </p:spPr>
        <p:txBody>
          <a:bodyPr wrap="square" lIns="0" tIns="0" rIns="0" bIns="0" rtlCol="0" anchor="t">
            <a:normAutofit/>
          </a:bodyPr>
          <a:lstStyle/>
          <a:p>
            <a:pPr marL="0" indent="0" algn="l">
              <a:lnSpc>
                <a:spcPts val="3600"/>
              </a:lnSpc>
              <a:buNone/>
            </a:pPr>
            <a:r>
              <a:rPr lang="en-US" sz="3600" b="1" dirty="0">
                <a:solidFill>
                  <a:srgbClr val="FF5C77"/>
                </a:solidFill>
                <a:latin typeface="Courier New" pitchFamily="34" charset="0"/>
                <a:ea typeface="Courier New" pitchFamily="34" charset="-122"/>
                <a:cs typeface="Courier New" pitchFamily="34" charset="-120"/>
              </a:rPr>
              <a:t>1</a:t>
            </a:r>
            <a:endParaRPr lang="en-US" sz="3600" dirty="0"/>
          </a:p>
        </p:txBody>
      </p:sp>
      <p:sp>
        <p:nvSpPr>
          <p:cNvPr id="12" name="Text 10"/>
          <p:cNvSpPr/>
          <p:nvPr/>
        </p:nvSpPr>
        <p:spPr>
          <a:xfrm>
            <a:off x="4673402" y="2750641"/>
            <a:ext cx="1270298"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F4F4F5"/>
                </a:solidFill>
                <a:latin typeface="Arial" pitchFamily="34" charset="0"/>
                <a:ea typeface="Arial" pitchFamily="34" charset="-122"/>
                <a:cs typeface="Arial" pitchFamily="34" charset="-120"/>
              </a:rPr>
              <a:t>Falsa alarma (FP)</a:t>
            </a:r>
            <a:endParaRPr lang="en-US" sz="1200" dirty="0"/>
          </a:p>
        </p:txBody>
      </p:sp>
      <p:sp>
        <p:nvSpPr>
          <p:cNvPr id="13" name="Text 11"/>
          <p:cNvSpPr/>
          <p:nvPr/>
        </p:nvSpPr>
        <p:spPr>
          <a:xfrm>
            <a:off x="812800" y="3602732"/>
            <a:ext cx="1320800" cy="25648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D4D4D8"/>
                </a:solidFill>
                <a:latin typeface="Arial" pitchFamily="34" charset="0"/>
                <a:ea typeface="Arial" pitchFamily="34" charset="-122"/>
                <a:cs typeface="Arial" pitchFamily="34" charset="-120"/>
              </a:rPr>
              <a:t>Era spam</a:t>
            </a:r>
            <a:endParaRPr lang="en-US" sz="1300" dirty="0"/>
          </a:p>
        </p:txBody>
      </p:sp>
      <p:sp>
        <p:nvSpPr>
          <p:cNvPr id="14" name="Shape 12"/>
          <p:cNvSpPr/>
          <p:nvPr/>
        </p:nvSpPr>
        <p:spPr>
          <a:xfrm>
            <a:off x="2165350" y="3211612"/>
            <a:ext cx="2019300" cy="1013420"/>
          </a:xfrm>
          <a:prstGeom prst="roundRect">
            <a:avLst>
              <a:gd name="adj" fmla="val 9399"/>
            </a:avLst>
          </a:prstGeom>
          <a:solidFill>
            <a:srgbClr val="1F0A0F"/>
          </a:solidFill>
          <a:ln w="12700">
            <a:solidFill>
              <a:srgbClr val="E4002B"/>
            </a:solidFill>
            <a:prstDash val="solid"/>
          </a:ln>
        </p:spPr>
        <p:txBody>
          <a:bodyPr/>
          <a:lstStyle/>
          <a:p>
            <a:endParaRPr lang="es-CO"/>
          </a:p>
        </p:txBody>
      </p:sp>
      <p:sp>
        <p:nvSpPr>
          <p:cNvPr id="15" name="Text 13"/>
          <p:cNvSpPr/>
          <p:nvPr/>
        </p:nvSpPr>
        <p:spPr>
          <a:xfrm>
            <a:off x="3037780" y="3370362"/>
            <a:ext cx="325239" cy="482600"/>
          </a:xfrm>
          <a:prstGeom prst="rect">
            <a:avLst/>
          </a:prstGeom>
          <a:noFill/>
          <a:ln/>
        </p:spPr>
        <p:txBody>
          <a:bodyPr wrap="square" lIns="0" tIns="0" rIns="0" bIns="0" rtlCol="0" anchor="t">
            <a:normAutofit/>
          </a:bodyPr>
          <a:lstStyle/>
          <a:p>
            <a:pPr marL="0" indent="0" algn="l">
              <a:lnSpc>
                <a:spcPts val="3600"/>
              </a:lnSpc>
              <a:buNone/>
            </a:pPr>
            <a:r>
              <a:rPr lang="en-US" sz="3600" b="1" dirty="0">
                <a:solidFill>
                  <a:srgbClr val="FF5C77"/>
                </a:solidFill>
                <a:latin typeface="Courier New" pitchFamily="34" charset="0"/>
                <a:ea typeface="Courier New" pitchFamily="34" charset="-122"/>
                <a:cs typeface="Courier New" pitchFamily="34" charset="-120"/>
              </a:rPr>
              <a:t>1</a:t>
            </a:r>
            <a:endParaRPr lang="en-US" sz="3600" dirty="0"/>
          </a:p>
        </p:txBody>
      </p:sp>
      <p:sp>
        <p:nvSpPr>
          <p:cNvPr id="16" name="Text 14"/>
          <p:cNvSpPr/>
          <p:nvPr/>
        </p:nvSpPr>
        <p:spPr>
          <a:xfrm>
            <a:off x="2560935" y="3852962"/>
            <a:ext cx="127893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F4F4F5"/>
                </a:solidFill>
                <a:latin typeface="Arial" pitchFamily="34" charset="0"/>
                <a:ea typeface="Arial" pitchFamily="34" charset="-122"/>
                <a:cs typeface="Arial" pitchFamily="34" charset="-120"/>
              </a:rPr>
              <a:t>Se le escapó (FN)</a:t>
            </a:r>
            <a:endParaRPr lang="en-US" sz="1200" dirty="0"/>
          </a:p>
        </p:txBody>
      </p:sp>
      <p:sp>
        <p:nvSpPr>
          <p:cNvPr id="17" name="Shape 15"/>
          <p:cNvSpPr/>
          <p:nvPr/>
        </p:nvSpPr>
        <p:spPr>
          <a:xfrm>
            <a:off x="4273550" y="3211612"/>
            <a:ext cx="2019300" cy="1013420"/>
          </a:xfrm>
          <a:prstGeom prst="roundRect">
            <a:avLst>
              <a:gd name="adj" fmla="val 9399"/>
            </a:avLst>
          </a:prstGeom>
          <a:solidFill>
            <a:srgbClr val="1A1A1F"/>
          </a:solidFill>
          <a:ln w="12700">
            <a:solidFill>
              <a:srgbClr val="2C2C33"/>
            </a:solidFill>
            <a:prstDash val="solid"/>
          </a:ln>
        </p:spPr>
        <p:txBody>
          <a:bodyPr/>
          <a:lstStyle/>
          <a:p>
            <a:endParaRPr lang="es-CO"/>
          </a:p>
        </p:txBody>
      </p:sp>
      <p:sp>
        <p:nvSpPr>
          <p:cNvPr id="18" name="Text 16"/>
          <p:cNvSpPr/>
          <p:nvPr/>
        </p:nvSpPr>
        <p:spPr>
          <a:xfrm>
            <a:off x="5145980" y="3370362"/>
            <a:ext cx="325239" cy="482600"/>
          </a:xfrm>
          <a:prstGeom prst="rect">
            <a:avLst/>
          </a:prstGeom>
          <a:noFill/>
          <a:ln/>
        </p:spPr>
        <p:txBody>
          <a:bodyPr wrap="square" lIns="0" tIns="0" rIns="0" bIns="0" rtlCol="0" anchor="t">
            <a:normAutofit/>
          </a:bodyPr>
          <a:lstStyle/>
          <a:p>
            <a:pPr marL="0" indent="0" algn="l">
              <a:lnSpc>
                <a:spcPts val="3600"/>
              </a:lnSpc>
              <a:buNone/>
            </a:pPr>
            <a:r>
              <a:rPr lang="en-US" sz="3600" b="1" dirty="0">
                <a:solidFill>
                  <a:srgbClr val="F4F4F5"/>
                </a:solidFill>
                <a:latin typeface="Courier New" pitchFamily="34" charset="0"/>
                <a:ea typeface="Courier New" pitchFamily="34" charset="-122"/>
                <a:cs typeface="Courier New" pitchFamily="34" charset="-120"/>
              </a:rPr>
              <a:t>3</a:t>
            </a:r>
            <a:endParaRPr lang="en-US" sz="3600" dirty="0"/>
          </a:p>
        </p:txBody>
      </p:sp>
      <p:sp>
        <p:nvSpPr>
          <p:cNvPr id="19" name="Text 17"/>
          <p:cNvSpPr/>
          <p:nvPr/>
        </p:nvSpPr>
        <p:spPr>
          <a:xfrm>
            <a:off x="4872434" y="3852962"/>
            <a:ext cx="872331"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A1A1AA"/>
                </a:solidFill>
                <a:latin typeface="Arial" pitchFamily="34" charset="0"/>
                <a:ea typeface="Arial" pitchFamily="34" charset="-122"/>
                <a:cs typeface="Arial" pitchFamily="34" charset="-120"/>
              </a:rPr>
              <a:t>Acierto (VP)</a:t>
            </a:r>
            <a:endParaRPr lang="en-US" sz="1200" dirty="0"/>
          </a:p>
        </p:txBody>
      </p:sp>
      <p:sp>
        <p:nvSpPr>
          <p:cNvPr id="20" name="Text 18"/>
          <p:cNvSpPr/>
          <p:nvPr/>
        </p:nvSpPr>
        <p:spPr>
          <a:xfrm>
            <a:off x="6604000" y="2405658"/>
            <a:ext cx="4918456" cy="2691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F4F4F5"/>
                </a:solidFill>
                <a:latin typeface="Arial" pitchFamily="34" charset="0"/>
                <a:ea typeface="Arial" pitchFamily="34" charset="-122"/>
                <a:cs typeface="Arial" pitchFamily="34" charset="-120"/>
              </a:rPr>
              <a:t>Un detector de spam revisa 10 correos</a:t>
            </a:r>
            <a:endParaRPr lang="en-US" sz="1600" dirty="0"/>
          </a:p>
        </p:txBody>
      </p:sp>
      <p:sp>
        <p:nvSpPr>
          <p:cNvPr id="21" name="Text 19"/>
          <p:cNvSpPr/>
          <p:nvPr/>
        </p:nvSpPr>
        <p:spPr>
          <a:xfrm>
            <a:off x="6604000" y="2776438"/>
            <a:ext cx="4918456" cy="264716"/>
          </a:xfrm>
          <a:prstGeom prst="rect">
            <a:avLst/>
          </a:prstGeom>
          <a:noFill/>
          <a:ln/>
        </p:spPr>
        <p:txBody>
          <a:bodyPr wrap="square" lIns="0" tIns="0" rIns="0" bIns="0" rtlCol="0" anchor="t">
            <a:normAutofit/>
          </a:bodyPr>
          <a:lstStyle/>
          <a:p>
            <a:pPr marL="0" indent="0" algn="l">
              <a:lnSpc>
                <a:spcPts val="1885"/>
              </a:lnSpc>
              <a:buNone/>
            </a:pPr>
            <a:r>
              <a:rPr lang="en-US" sz="1300" dirty="0">
                <a:solidFill>
                  <a:srgbClr val="A1A1AA"/>
                </a:solidFill>
                <a:latin typeface="Arial" pitchFamily="34" charset="0"/>
                <a:ea typeface="Arial" pitchFamily="34" charset="-122"/>
                <a:cs typeface="Arial" pitchFamily="34" charset="-120"/>
              </a:rPr>
              <a:t>4 eran spam y 6 no lo eran.</a:t>
            </a:r>
            <a:endParaRPr lang="en-US" sz="1300" dirty="0"/>
          </a:p>
        </p:txBody>
      </p:sp>
      <p:sp>
        <p:nvSpPr>
          <p:cNvPr id="22" name="Text 20"/>
          <p:cNvSpPr/>
          <p:nvPr/>
        </p:nvSpPr>
        <p:spPr>
          <a:xfrm>
            <a:off x="6604000" y="3142754"/>
            <a:ext cx="4918456" cy="504031"/>
          </a:xfrm>
          <a:prstGeom prst="rect">
            <a:avLst/>
          </a:prstGeom>
          <a:noFill/>
          <a:ln/>
        </p:spPr>
        <p:txBody>
          <a:bodyPr wrap="square" lIns="0" tIns="0" rIns="0" bIns="0" rtlCol="0" anchor="t">
            <a:normAutofit/>
          </a:bodyPr>
          <a:lstStyle/>
          <a:p>
            <a:pPr marL="0" indent="0" algn="l">
              <a:lnSpc>
                <a:spcPts val="1885"/>
              </a:lnSpc>
              <a:buNone/>
            </a:pPr>
            <a:r>
              <a:rPr lang="en-US" sz="1300" dirty="0">
                <a:solidFill>
                  <a:srgbClr val="F4F4F5"/>
                </a:solidFill>
                <a:latin typeface="Arial" pitchFamily="34" charset="0"/>
                <a:ea typeface="Arial" pitchFamily="34" charset="-122"/>
                <a:cs typeface="Arial" pitchFamily="34" charset="-120"/>
              </a:rPr>
              <a:t>8 aciertos</a:t>
            </a:r>
            <a:r>
              <a:rPr lang="en-US" sz="1300" dirty="0">
                <a:solidFill>
                  <a:srgbClr val="D4D4D8"/>
                </a:solidFill>
                <a:latin typeface="Arial" pitchFamily="34" charset="0"/>
                <a:ea typeface="Arial" pitchFamily="34" charset="-122"/>
                <a:cs typeface="Arial" pitchFamily="34" charset="-120"/>
              </a:rPr>
              <a:t> (5 + 3) y </a:t>
            </a:r>
            <a:r>
              <a:rPr lang="en-US" sz="1300" dirty="0">
                <a:solidFill>
                  <a:srgbClr val="FF5C77"/>
                </a:solidFill>
                <a:latin typeface="Arial" pitchFamily="34" charset="0"/>
                <a:ea typeface="Arial" pitchFamily="34" charset="-122"/>
                <a:cs typeface="Arial" pitchFamily="34" charset="-120"/>
              </a:rPr>
              <a:t>2 errores</a:t>
            </a:r>
            <a:r>
              <a:rPr lang="en-US" sz="1300" dirty="0">
                <a:solidFill>
                  <a:srgbClr val="D4D4D8"/>
                </a:solidFill>
                <a:latin typeface="Arial" pitchFamily="34" charset="0"/>
                <a:ea typeface="Arial" pitchFamily="34" charset="-122"/>
                <a:cs typeface="Arial" pitchFamily="34" charset="-120"/>
              </a:rPr>
              <a:t>: un correo normal que mandó a spam y un spam que dejó pasar.</a:t>
            </a:r>
            <a:endParaRPr lang="en-US" sz="1300" dirty="0"/>
          </a:p>
        </p:txBody>
      </p:sp>
      <p:sp>
        <p:nvSpPr>
          <p:cNvPr id="23" name="Shape 21"/>
          <p:cNvSpPr/>
          <p:nvPr/>
        </p:nvSpPr>
        <p:spPr>
          <a:xfrm>
            <a:off x="819150" y="4440932"/>
            <a:ext cx="10553700" cy="871736"/>
          </a:xfrm>
          <a:prstGeom prst="roundRect">
            <a:avLst>
              <a:gd name="adj" fmla="val 13840"/>
            </a:avLst>
          </a:prstGeom>
          <a:solidFill>
            <a:srgbClr val="1F0A0F"/>
          </a:solidFill>
          <a:ln w="12700">
            <a:solidFill>
              <a:srgbClr val="E4002B"/>
            </a:solidFill>
            <a:prstDash val="solid"/>
          </a:ln>
        </p:spPr>
        <p:txBody>
          <a:bodyPr/>
          <a:lstStyle/>
          <a:p>
            <a:endParaRPr lang="es-CO"/>
          </a:p>
        </p:txBody>
      </p:sp>
      <p:sp>
        <p:nvSpPr>
          <p:cNvPr id="24" name="Text 22"/>
          <p:cNvSpPr/>
          <p:nvPr/>
        </p:nvSpPr>
        <p:spPr>
          <a:xfrm>
            <a:off x="1079500" y="4625082"/>
            <a:ext cx="10333990"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E4002B"/>
                </a:solidFill>
                <a:latin typeface="Courier New" pitchFamily="34" charset="0"/>
                <a:ea typeface="Courier New" pitchFamily="34" charset="-122"/>
                <a:cs typeface="Courier New" pitchFamily="34" charset="-120"/>
              </a:rPr>
              <a:t>EN PALABRAS SIMPLES</a:t>
            </a:r>
            <a:endParaRPr lang="en-US" sz="1200" dirty="0"/>
          </a:p>
        </p:txBody>
      </p:sp>
      <p:sp>
        <p:nvSpPr>
          <p:cNvPr id="25" name="Text 23"/>
          <p:cNvSpPr/>
          <p:nvPr/>
        </p:nvSpPr>
        <p:spPr>
          <a:xfrm>
            <a:off x="1079500" y="4889202"/>
            <a:ext cx="10333990" cy="264716"/>
          </a:xfrm>
          <a:prstGeom prst="rect">
            <a:avLst/>
          </a:prstGeom>
          <a:noFill/>
          <a:ln/>
        </p:spPr>
        <p:txBody>
          <a:bodyPr wrap="square" lIns="0" tIns="0" rIns="0" bIns="0" rtlCol="0" anchor="t">
            <a:normAutofit/>
          </a:bodyPr>
          <a:lstStyle/>
          <a:p>
            <a:pPr marL="0" indent="0" algn="l">
              <a:lnSpc>
                <a:spcPts val="1885"/>
              </a:lnSpc>
              <a:buNone/>
            </a:pPr>
            <a:r>
              <a:rPr lang="en-US" sz="1300" dirty="0">
                <a:solidFill>
                  <a:srgbClr val="F4F4F5"/>
                </a:solidFill>
                <a:latin typeface="Arial" pitchFamily="34" charset="0"/>
                <a:ea typeface="Arial" pitchFamily="34" charset="-122"/>
                <a:cs typeface="Arial" pitchFamily="34" charset="-120"/>
              </a:rPr>
              <a:t>Todas las métricas que veremos salen de contar estas cuatro cajas. En la siguiente diapositiva, sus nombres.</a:t>
            </a:r>
            <a:endParaRPr lang="en-US" sz="1300" dirty="0"/>
          </a:p>
        </p:txBody>
      </p:sp>
      <p:sp>
        <p:nvSpPr>
          <p:cNvPr id="26" name="Text 24"/>
          <p:cNvSpPr/>
          <p:nvPr/>
        </p:nvSpPr>
        <p:spPr>
          <a:xfrm>
            <a:off x="812800" y="6238280"/>
            <a:ext cx="7848600" cy="238720"/>
          </a:xfrm>
          <a:prstGeom prst="rect">
            <a:avLst/>
          </a:prstGeom>
          <a:noFill/>
          <a:ln/>
        </p:spPr>
        <p:txBody>
          <a:bodyPr wrap="square" lIns="0" tIns="0" rIns="0" bIns="0" rtlCol="0" anchor="t">
            <a:normAutofit/>
          </a:bodyPr>
          <a:lstStyle/>
          <a:p>
            <a:pPr marL="0" indent="0" algn="l">
              <a:lnSpc>
                <a:spcPts val="1680"/>
              </a:lnSpc>
              <a:buNone/>
            </a:pPr>
            <a:r>
              <a:rPr lang="en-US" sz="1200" kern="0" spc="100" dirty="0">
                <a:solidFill>
                  <a:srgbClr val="71717A"/>
                </a:solidFill>
                <a:latin typeface="Courier New" pitchFamily="34" charset="0"/>
                <a:ea typeface="Courier New" pitchFamily="34" charset="-122"/>
                <a:cs typeface="Courier New" pitchFamily="34" charset="-120"/>
              </a:rPr>
              <a:t>UNIDAD 4 · VALIDACIÓN DE MODELOS</a:t>
            </a:r>
            <a:endParaRPr lang="en-US" sz="1200" dirty="0"/>
          </a:p>
        </p:txBody>
      </p:sp>
      <p:sp>
        <p:nvSpPr>
          <p:cNvPr id="27" name="Text 25"/>
          <p:cNvSpPr/>
          <p:nvPr/>
        </p:nvSpPr>
        <p:spPr>
          <a:xfrm>
            <a:off x="10058400" y="6238280"/>
            <a:ext cx="1320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71717A"/>
                </a:solidFill>
                <a:latin typeface="Courier New" pitchFamily="34" charset="0"/>
                <a:ea typeface="Courier New" pitchFamily="34" charset="-122"/>
                <a:cs typeface="Courier New" pitchFamily="34" charset="-120"/>
              </a:rPr>
              <a:t>08</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B0B0D"/>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marL="0" indent="0" algn="l">
              <a:lnSpc>
                <a:spcPts val="1820"/>
              </a:lnSpc>
              <a:buNone/>
            </a:pPr>
            <a:r>
              <a:rPr lang="en-US" sz="1300" b="1" kern="0" spc="200" dirty="0">
                <a:solidFill>
                  <a:srgbClr val="E4002B"/>
                </a:solidFill>
                <a:latin typeface="Courier New" pitchFamily="34" charset="0"/>
                <a:ea typeface="Courier New" pitchFamily="34" charset="-122"/>
                <a:cs typeface="Courier New" pitchFamily="34" charset="-120"/>
              </a:rPr>
              <a:t>LOS NOMBRES TÉCNICOS</a:t>
            </a:r>
            <a:endParaRPr lang="en-US" sz="1300" dirty="0"/>
          </a:p>
        </p:txBody>
      </p:sp>
      <p:sp>
        <p:nvSpPr>
          <p:cNvPr id="3" name="Text 1"/>
          <p:cNvSpPr/>
          <p:nvPr/>
        </p:nvSpPr>
        <p:spPr>
          <a:xfrm>
            <a:off x="812800" y="1145480"/>
            <a:ext cx="10883392" cy="472380"/>
          </a:xfrm>
          <a:prstGeom prst="rect">
            <a:avLst/>
          </a:prstGeom>
          <a:noFill/>
          <a:ln/>
        </p:spPr>
        <p:txBody>
          <a:bodyPr wrap="square" lIns="0" tIns="0" rIns="0" bIns="0" rtlCol="0" anchor="t">
            <a:normAutofit/>
          </a:bodyPr>
          <a:lstStyle/>
          <a:p>
            <a:pPr marL="0" indent="0" algn="l">
              <a:lnSpc>
                <a:spcPts val="3520"/>
              </a:lnSpc>
              <a:buNone/>
            </a:pPr>
            <a:r>
              <a:rPr lang="en-US" sz="3200" b="1" kern="0" spc="-50" dirty="0">
                <a:solidFill>
                  <a:srgbClr val="F4F4F5"/>
                </a:solidFill>
                <a:latin typeface="Arial" pitchFamily="34" charset="0"/>
                <a:ea typeface="Arial" pitchFamily="34" charset="-122"/>
                <a:cs typeface="Arial" pitchFamily="34" charset="-120"/>
              </a:rPr>
              <a:t>Las cuatro cajas tienen nombre propio</a:t>
            </a:r>
            <a:endParaRPr lang="en-US" sz="3200" dirty="0"/>
          </a:p>
        </p:txBody>
      </p:sp>
      <p:sp>
        <p:nvSpPr>
          <p:cNvPr id="4" name="Shape 2"/>
          <p:cNvSpPr/>
          <p:nvPr/>
        </p:nvSpPr>
        <p:spPr>
          <a:xfrm>
            <a:off x="819150" y="1802011"/>
            <a:ext cx="5207000" cy="868660"/>
          </a:xfrm>
          <a:prstGeom prst="roundRect">
            <a:avLst>
              <a:gd name="adj" fmla="val 13889"/>
            </a:avLst>
          </a:prstGeom>
          <a:solidFill>
            <a:srgbClr val="1A1A1F"/>
          </a:solidFill>
          <a:ln w="12700">
            <a:solidFill>
              <a:srgbClr val="2C2C33"/>
            </a:solidFill>
            <a:prstDash val="solid"/>
          </a:ln>
        </p:spPr>
        <p:txBody>
          <a:bodyPr/>
          <a:lstStyle/>
          <a:p>
            <a:endParaRPr lang="es-CO"/>
          </a:p>
        </p:txBody>
      </p:sp>
      <p:sp>
        <p:nvSpPr>
          <p:cNvPr id="5" name="Text 3"/>
          <p:cNvSpPr/>
          <p:nvPr/>
        </p:nvSpPr>
        <p:spPr>
          <a:xfrm>
            <a:off x="1003300" y="1986161"/>
            <a:ext cx="4983861"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F4F4F5"/>
                </a:solidFill>
                <a:latin typeface="Arial" pitchFamily="34" charset="0"/>
                <a:ea typeface="Arial" pitchFamily="34" charset="-122"/>
                <a:cs typeface="Arial" pitchFamily="34" charset="-120"/>
              </a:rPr>
              <a:t>Verdadero positivo · </a:t>
            </a:r>
            <a:r>
              <a:rPr lang="en-US" sz="1500" b="1" dirty="0">
                <a:solidFill>
                  <a:srgbClr val="E4002B"/>
                </a:solidFill>
                <a:latin typeface="Arial" pitchFamily="34" charset="0"/>
                <a:ea typeface="Arial" pitchFamily="34" charset="-122"/>
                <a:cs typeface="Arial" pitchFamily="34" charset="-120"/>
              </a:rPr>
              <a:t>VP</a:t>
            </a:r>
            <a:endParaRPr lang="en-US" sz="1500" dirty="0"/>
          </a:p>
        </p:txBody>
      </p:sp>
      <p:sp>
        <p:nvSpPr>
          <p:cNvPr id="6" name="Text 4"/>
          <p:cNvSpPr/>
          <p:nvPr/>
        </p:nvSpPr>
        <p:spPr>
          <a:xfrm>
            <a:off x="1003300" y="2265561"/>
            <a:ext cx="4983861" cy="246360"/>
          </a:xfrm>
          <a:prstGeom prst="rect">
            <a:avLst/>
          </a:prstGeom>
          <a:noFill/>
          <a:ln/>
        </p:spPr>
        <p:txBody>
          <a:bodyPr wrap="square" lIns="0" tIns="0" rIns="0" bIns="0" rtlCol="0" anchor="t">
            <a:normAutofit/>
          </a:bodyPr>
          <a:lstStyle/>
          <a:p>
            <a:pPr marL="0" indent="0" algn="l">
              <a:lnSpc>
                <a:spcPts val="1740"/>
              </a:lnSpc>
              <a:buNone/>
            </a:pPr>
            <a:r>
              <a:rPr lang="en-US" sz="1200" dirty="0">
                <a:solidFill>
                  <a:srgbClr val="A1A1AA"/>
                </a:solidFill>
                <a:latin typeface="Arial" pitchFamily="34" charset="0"/>
                <a:ea typeface="Arial" pitchFamily="34" charset="-122"/>
                <a:cs typeface="Arial" pitchFamily="34" charset="-120"/>
              </a:rPr>
              <a:t>True Positive (TP). Era spam y dijo spam: acierto. En el ejemplo, 3.</a:t>
            </a:r>
            <a:endParaRPr lang="en-US" sz="1200" dirty="0"/>
          </a:p>
        </p:txBody>
      </p:sp>
      <p:sp>
        <p:nvSpPr>
          <p:cNvPr id="7" name="Shape 5"/>
          <p:cNvSpPr/>
          <p:nvPr/>
        </p:nvSpPr>
        <p:spPr>
          <a:xfrm>
            <a:off x="6165850" y="1802011"/>
            <a:ext cx="5207000" cy="868660"/>
          </a:xfrm>
          <a:prstGeom prst="roundRect">
            <a:avLst>
              <a:gd name="adj" fmla="val 13889"/>
            </a:avLst>
          </a:prstGeom>
          <a:solidFill>
            <a:srgbClr val="1A1A1F"/>
          </a:solidFill>
          <a:ln w="12700">
            <a:solidFill>
              <a:srgbClr val="2C2C33"/>
            </a:solidFill>
            <a:prstDash val="solid"/>
          </a:ln>
        </p:spPr>
        <p:txBody>
          <a:bodyPr/>
          <a:lstStyle/>
          <a:p>
            <a:endParaRPr lang="es-CO"/>
          </a:p>
        </p:txBody>
      </p:sp>
      <p:sp>
        <p:nvSpPr>
          <p:cNvPr id="8" name="Text 6"/>
          <p:cNvSpPr/>
          <p:nvPr/>
        </p:nvSpPr>
        <p:spPr>
          <a:xfrm>
            <a:off x="6350000" y="1986161"/>
            <a:ext cx="4983861"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F4F4F5"/>
                </a:solidFill>
                <a:latin typeface="Arial" pitchFamily="34" charset="0"/>
                <a:ea typeface="Arial" pitchFamily="34" charset="-122"/>
                <a:cs typeface="Arial" pitchFamily="34" charset="-120"/>
              </a:rPr>
              <a:t>Verdadero negativo · </a:t>
            </a:r>
            <a:r>
              <a:rPr lang="en-US" sz="1500" b="1" dirty="0">
                <a:solidFill>
                  <a:srgbClr val="E4002B"/>
                </a:solidFill>
                <a:latin typeface="Arial" pitchFamily="34" charset="0"/>
                <a:ea typeface="Arial" pitchFamily="34" charset="-122"/>
                <a:cs typeface="Arial" pitchFamily="34" charset="-120"/>
              </a:rPr>
              <a:t>VN</a:t>
            </a:r>
            <a:endParaRPr lang="en-US" sz="1500" dirty="0"/>
          </a:p>
        </p:txBody>
      </p:sp>
      <p:sp>
        <p:nvSpPr>
          <p:cNvPr id="9" name="Text 7"/>
          <p:cNvSpPr/>
          <p:nvPr/>
        </p:nvSpPr>
        <p:spPr>
          <a:xfrm>
            <a:off x="6350000" y="2265561"/>
            <a:ext cx="4983861" cy="246360"/>
          </a:xfrm>
          <a:prstGeom prst="rect">
            <a:avLst/>
          </a:prstGeom>
          <a:noFill/>
          <a:ln/>
        </p:spPr>
        <p:txBody>
          <a:bodyPr wrap="square" lIns="0" tIns="0" rIns="0" bIns="0" rtlCol="0" anchor="t">
            <a:normAutofit/>
          </a:bodyPr>
          <a:lstStyle/>
          <a:p>
            <a:pPr marL="0" indent="0" algn="l">
              <a:lnSpc>
                <a:spcPts val="1740"/>
              </a:lnSpc>
              <a:buNone/>
            </a:pPr>
            <a:r>
              <a:rPr lang="en-US" sz="1200" dirty="0">
                <a:solidFill>
                  <a:srgbClr val="A1A1AA"/>
                </a:solidFill>
                <a:latin typeface="Arial" pitchFamily="34" charset="0"/>
                <a:ea typeface="Arial" pitchFamily="34" charset="-122"/>
                <a:cs typeface="Arial" pitchFamily="34" charset="-120"/>
              </a:rPr>
              <a:t>True Negative (TN). Era normal y dijo normal: acierto. En el ejemplo, 5.</a:t>
            </a:r>
            <a:endParaRPr lang="en-US" sz="1200" dirty="0"/>
          </a:p>
        </p:txBody>
      </p:sp>
      <p:sp>
        <p:nvSpPr>
          <p:cNvPr id="10" name="Shape 8"/>
          <p:cNvSpPr/>
          <p:nvPr/>
        </p:nvSpPr>
        <p:spPr>
          <a:xfrm>
            <a:off x="819150" y="2810371"/>
            <a:ext cx="5207000" cy="1089620"/>
          </a:xfrm>
          <a:prstGeom prst="roundRect">
            <a:avLst>
              <a:gd name="adj" fmla="val 11073"/>
            </a:avLst>
          </a:prstGeom>
          <a:solidFill>
            <a:srgbClr val="1F0A0F"/>
          </a:solidFill>
          <a:ln w="12700">
            <a:solidFill>
              <a:srgbClr val="E4002B"/>
            </a:solidFill>
            <a:prstDash val="solid"/>
          </a:ln>
        </p:spPr>
        <p:txBody>
          <a:bodyPr/>
          <a:lstStyle/>
          <a:p>
            <a:endParaRPr lang="es-CO"/>
          </a:p>
        </p:txBody>
      </p:sp>
      <p:sp>
        <p:nvSpPr>
          <p:cNvPr id="11" name="Text 9"/>
          <p:cNvSpPr/>
          <p:nvPr/>
        </p:nvSpPr>
        <p:spPr>
          <a:xfrm>
            <a:off x="1003300" y="2994521"/>
            <a:ext cx="4983861"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F4F4F5"/>
                </a:solidFill>
                <a:latin typeface="Arial" pitchFamily="34" charset="0"/>
                <a:ea typeface="Arial" pitchFamily="34" charset="-122"/>
                <a:cs typeface="Arial" pitchFamily="34" charset="-120"/>
              </a:rPr>
              <a:t>Falso positivo · </a:t>
            </a:r>
            <a:r>
              <a:rPr lang="en-US" sz="1500" b="1" dirty="0">
                <a:solidFill>
                  <a:srgbClr val="FF5C77"/>
                </a:solidFill>
                <a:latin typeface="Arial" pitchFamily="34" charset="0"/>
                <a:ea typeface="Arial" pitchFamily="34" charset="-122"/>
                <a:cs typeface="Arial" pitchFamily="34" charset="-120"/>
              </a:rPr>
              <a:t>FP</a:t>
            </a:r>
            <a:endParaRPr lang="en-US" sz="1500" dirty="0"/>
          </a:p>
        </p:txBody>
      </p:sp>
      <p:sp>
        <p:nvSpPr>
          <p:cNvPr id="12" name="Text 10"/>
          <p:cNvSpPr/>
          <p:nvPr/>
        </p:nvSpPr>
        <p:spPr>
          <a:xfrm>
            <a:off x="1003300" y="3273921"/>
            <a:ext cx="4983861" cy="467320"/>
          </a:xfrm>
          <a:prstGeom prst="rect">
            <a:avLst/>
          </a:prstGeom>
          <a:noFill/>
          <a:ln/>
        </p:spPr>
        <p:txBody>
          <a:bodyPr wrap="square" lIns="0" tIns="0" rIns="0" bIns="0" rtlCol="0" anchor="t">
            <a:normAutofit/>
          </a:bodyPr>
          <a:lstStyle/>
          <a:p>
            <a:pPr marL="0" indent="0" algn="l">
              <a:lnSpc>
                <a:spcPts val="1740"/>
              </a:lnSpc>
              <a:buNone/>
            </a:pPr>
            <a:r>
              <a:rPr lang="en-US" sz="1200" dirty="0">
                <a:solidFill>
                  <a:srgbClr val="F4F4F5"/>
                </a:solidFill>
                <a:latin typeface="Arial" pitchFamily="34" charset="0"/>
                <a:ea typeface="Arial" pitchFamily="34" charset="-122"/>
                <a:cs typeface="Arial" pitchFamily="34" charset="-120"/>
              </a:rPr>
              <a:t>False Positive. Falsa alarma: dijo spam, pero era normal. En el ejemplo, 1.</a:t>
            </a:r>
            <a:endParaRPr lang="en-US" sz="1200" dirty="0"/>
          </a:p>
        </p:txBody>
      </p:sp>
      <p:sp>
        <p:nvSpPr>
          <p:cNvPr id="13" name="Shape 11"/>
          <p:cNvSpPr/>
          <p:nvPr/>
        </p:nvSpPr>
        <p:spPr>
          <a:xfrm>
            <a:off x="6165850" y="2810371"/>
            <a:ext cx="5207000" cy="1089620"/>
          </a:xfrm>
          <a:prstGeom prst="roundRect">
            <a:avLst>
              <a:gd name="adj" fmla="val 11073"/>
            </a:avLst>
          </a:prstGeom>
          <a:solidFill>
            <a:srgbClr val="1F0A0F"/>
          </a:solidFill>
          <a:ln w="12700">
            <a:solidFill>
              <a:srgbClr val="E4002B"/>
            </a:solidFill>
            <a:prstDash val="solid"/>
          </a:ln>
        </p:spPr>
        <p:txBody>
          <a:bodyPr/>
          <a:lstStyle/>
          <a:p>
            <a:endParaRPr lang="es-CO"/>
          </a:p>
        </p:txBody>
      </p:sp>
      <p:sp>
        <p:nvSpPr>
          <p:cNvPr id="14" name="Text 12"/>
          <p:cNvSpPr/>
          <p:nvPr/>
        </p:nvSpPr>
        <p:spPr>
          <a:xfrm>
            <a:off x="6350000" y="2994521"/>
            <a:ext cx="4983861"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F4F4F5"/>
                </a:solidFill>
                <a:latin typeface="Arial" pitchFamily="34" charset="0"/>
                <a:ea typeface="Arial" pitchFamily="34" charset="-122"/>
                <a:cs typeface="Arial" pitchFamily="34" charset="-120"/>
              </a:rPr>
              <a:t>Falso negativo · </a:t>
            </a:r>
            <a:r>
              <a:rPr lang="en-US" sz="1500" b="1" dirty="0">
                <a:solidFill>
                  <a:srgbClr val="FF5C77"/>
                </a:solidFill>
                <a:latin typeface="Arial" pitchFamily="34" charset="0"/>
                <a:ea typeface="Arial" pitchFamily="34" charset="-122"/>
                <a:cs typeface="Arial" pitchFamily="34" charset="-120"/>
              </a:rPr>
              <a:t>FN</a:t>
            </a:r>
            <a:endParaRPr lang="en-US" sz="1500" dirty="0"/>
          </a:p>
        </p:txBody>
      </p:sp>
      <p:sp>
        <p:nvSpPr>
          <p:cNvPr id="15" name="Text 13"/>
          <p:cNvSpPr/>
          <p:nvPr/>
        </p:nvSpPr>
        <p:spPr>
          <a:xfrm>
            <a:off x="6350000" y="3273921"/>
            <a:ext cx="4983861" cy="467320"/>
          </a:xfrm>
          <a:prstGeom prst="rect">
            <a:avLst/>
          </a:prstGeom>
          <a:noFill/>
          <a:ln/>
        </p:spPr>
        <p:txBody>
          <a:bodyPr wrap="square" lIns="0" tIns="0" rIns="0" bIns="0" rtlCol="0" anchor="t">
            <a:normAutofit/>
          </a:bodyPr>
          <a:lstStyle/>
          <a:p>
            <a:pPr marL="0" indent="0" algn="l">
              <a:lnSpc>
                <a:spcPts val="1740"/>
              </a:lnSpc>
              <a:buNone/>
            </a:pPr>
            <a:r>
              <a:rPr lang="en-US" sz="1200" dirty="0">
                <a:solidFill>
                  <a:srgbClr val="F4F4F5"/>
                </a:solidFill>
                <a:latin typeface="Arial" pitchFamily="34" charset="0"/>
                <a:ea typeface="Arial" pitchFamily="34" charset="-122"/>
                <a:cs typeface="Arial" pitchFamily="34" charset="-120"/>
              </a:rPr>
              <a:t>False Negative. Se le escapó: dijo normal, pero era spam. En el ejemplo, 1.</a:t>
            </a:r>
            <a:endParaRPr lang="en-US" sz="1200" dirty="0"/>
          </a:p>
        </p:txBody>
      </p:sp>
      <p:sp>
        <p:nvSpPr>
          <p:cNvPr id="16" name="Shape 14"/>
          <p:cNvSpPr/>
          <p:nvPr/>
        </p:nvSpPr>
        <p:spPr>
          <a:xfrm>
            <a:off x="819150" y="4115891"/>
            <a:ext cx="10553700" cy="1160661"/>
          </a:xfrm>
          <a:prstGeom prst="roundRect">
            <a:avLst>
              <a:gd name="adj" fmla="val 8207"/>
            </a:avLst>
          </a:prstGeom>
          <a:solidFill>
            <a:srgbClr val="0F0F12"/>
          </a:solidFill>
          <a:ln w="12700">
            <a:solidFill>
              <a:srgbClr val="2C2C33"/>
            </a:solidFill>
            <a:prstDash val="solid"/>
          </a:ln>
        </p:spPr>
        <p:txBody>
          <a:bodyPr/>
          <a:lstStyle/>
          <a:p>
            <a:endParaRPr lang="es-CO"/>
          </a:p>
        </p:txBody>
      </p:sp>
      <p:sp>
        <p:nvSpPr>
          <p:cNvPr id="17" name="Text 15"/>
          <p:cNvSpPr/>
          <p:nvPr/>
        </p:nvSpPr>
        <p:spPr>
          <a:xfrm>
            <a:off x="1079500" y="4300041"/>
            <a:ext cx="10333990" cy="817761"/>
          </a:xfrm>
          <a:prstGeom prst="rect">
            <a:avLst/>
          </a:prstGeom>
          <a:noFill/>
          <a:ln/>
        </p:spPr>
        <p:txBody>
          <a:bodyPr wrap="square" lIns="0" tIns="0" rIns="0" bIns="0" rtlCol="0" anchor="t">
            <a:normAutofit/>
          </a:bodyPr>
          <a:lstStyle/>
          <a:p>
            <a:pPr marL="0" indent="0" algn="l">
              <a:lnSpc>
                <a:spcPts val="2080"/>
              </a:lnSpc>
              <a:buNone/>
            </a:pPr>
            <a:r>
              <a:rPr lang="en-US" sz="1300" dirty="0">
                <a:solidFill>
                  <a:srgbClr val="E4E4E7"/>
                </a:solidFill>
                <a:latin typeface="Courier New" pitchFamily="34" charset="0"/>
                <a:ea typeface="Courier New" pitchFamily="34" charset="-122"/>
                <a:cs typeface="Courier New" pitchFamily="34" charset="-120"/>
              </a:rPr>
              <a:t>Accuracy (exactitud)    = (VP + VN) ÷ total    = (3 + 5) ÷ 10 = 0,80</a:t>
            </a:r>
            <a:endParaRPr lang="en-US" sz="1300" dirty="0"/>
          </a:p>
          <a:p>
            <a:pPr marL="0" indent="0" algn="l">
              <a:lnSpc>
                <a:spcPts val="2080"/>
              </a:lnSpc>
              <a:buNone/>
            </a:pPr>
            <a:r>
              <a:rPr lang="en-US" sz="1300" dirty="0">
                <a:solidFill>
                  <a:srgbClr val="E4E4E7"/>
                </a:solidFill>
                <a:latin typeface="Courier New" pitchFamily="34" charset="0"/>
                <a:ea typeface="Courier New" pitchFamily="34" charset="-122"/>
                <a:cs typeface="Courier New" pitchFamily="34" charset="-120"/>
              </a:rPr>
              <a:t>Precisión (precision)   = VP ÷ (VP + FP)       = 3 ÷ (3 + 1)  = 0,75</a:t>
            </a:r>
            <a:endParaRPr lang="en-US" sz="1300" dirty="0"/>
          </a:p>
          <a:p>
            <a:pPr marL="0" indent="0" algn="l">
              <a:lnSpc>
                <a:spcPts val="2080"/>
              </a:lnSpc>
              <a:buNone/>
            </a:pPr>
            <a:r>
              <a:rPr lang="en-US" sz="1300" dirty="0">
                <a:solidFill>
                  <a:srgbClr val="E4E4E7"/>
                </a:solidFill>
                <a:latin typeface="Courier New" pitchFamily="34" charset="0"/>
                <a:ea typeface="Courier New" pitchFamily="34" charset="-122"/>
                <a:cs typeface="Courier New" pitchFamily="34" charset="-120"/>
              </a:rPr>
              <a:t>Recall (sensibilidad)    = VP ÷ (VP + FN)       = 3 ÷ (3 + 1)  = 0,75</a:t>
            </a:r>
            <a:endParaRPr lang="en-US" sz="1300" dirty="0"/>
          </a:p>
        </p:txBody>
      </p:sp>
      <p:sp>
        <p:nvSpPr>
          <p:cNvPr id="18" name="Text 16"/>
          <p:cNvSpPr/>
          <p:nvPr/>
        </p:nvSpPr>
        <p:spPr>
          <a:xfrm>
            <a:off x="812800" y="6238280"/>
            <a:ext cx="7848600" cy="238720"/>
          </a:xfrm>
          <a:prstGeom prst="rect">
            <a:avLst/>
          </a:prstGeom>
          <a:noFill/>
          <a:ln/>
        </p:spPr>
        <p:txBody>
          <a:bodyPr wrap="square" lIns="0" tIns="0" rIns="0" bIns="0" rtlCol="0" anchor="t">
            <a:normAutofit/>
          </a:bodyPr>
          <a:lstStyle/>
          <a:p>
            <a:pPr marL="0" indent="0" algn="l">
              <a:lnSpc>
                <a:spcPts val="1680"/>
              </a:lnSpc>
              <a:buNone/>
            </a:pPr>
            <a:r>
              <a:rPr lang="en-US" sz="1200" kern="0" spc="100" dirty="0">
                <a:solidFill>
                  <a:srgbClr val="71717A"/>
                </a:solidFill>
                <a:latin typeface="Courier New" pitchFamily="34" charset="0"/>
                <a:ea typeface="Courier New" pitchFamily="34" charset="-122"/>
                <a:cs typeface="Courier New" pitchFamily="34" charset="-120"/>
              </a:rPr>
              <a:t>UNIDAD 4 · VALIDACIÓN DE MODELOS</a:t>
            </a:r>
            <a:endParaRPr lang="en-US" sz="1200" dirty="0"/>
          </a:p>
        </p:txBody>
      </p:sp>
      <p:sp>
        <p:nvSpPr>
          <p:cNvPr id="19" name="Text 17"/>
          <p:cNvSpPr/>
          <p:nvPr/>
        </p:nvSpPr>
        <p:spPr>
          <a:xfrm>
            <a:off x="10058400" y="6238280"/>
            <a:ext cx="1320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71717A"/>
                </a:solidFill>
                <a:latin typeface="Courier New" pitchFamily="34" charset="0"/>
                <a:ea typeface="Courier New" pitchFamily="34" charset="-122"/>
                <a:cs typeface="Courier New" pitchFamily="34" charset="-120"/>
              </a:rPr>
              <a:t>09</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B0B0D"/>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marL="0" indent="0" algn="l">
              <a:lnSpc>
                <a:spcPts val="1820"/>
              </a:lnSpc>
              <a:buNone/>
            </a:pPr>
            <a:r>
              <a:rPr lang="en-US" sz="1300" b="1" kern="0" spc="200" dirty="0">
                <a:solidFill>
                  <a:srgbClr val="E4002B"/>
                </a:solidFill>
                <a:latin typeface="Courier New" pitchFamily="34" charset="0"/>
                <a:ea typeface="Courier New" pitchFamily="34" charset="-122"/>
                <a:cs typeface="Courier New" pitchFamily="34" charset="-120"/>
              </a:rPr>
              <a:t>ACCURACY (EXACTITUD), PRECISIÓN Y RECALL (SENSIBILIDAD)</a:t>
            </a:r>
            <a:endParaRPr lang="en-US" sz="1300" dirty="0"/>
          </a:p>
        </p:txBody>
      </p:sp>
      <p:sp>
        <p:nvSpPr>
          <p:cNvPr id="3" name="Text 1"/>
          <p:cNvSpPr/>
          <p:nvPr/>
        </p:nvSpPr>
        <p:spPr>
          <a:xfrm>
            <a:off x="812800" y="1145480"/>
            <a:ext cx="10883392" cy="472380"/>
          </a:xfrm>
          <a:prstGeom prst="rect">
            <a:avLst/>
          </a:prstGeom>
          <a:noFill/>
          <a:ln/>
        </p:spPr>
        <p:txBody>
          <a:bodyPr wrap="square" lIns="0" tIns="0" rIns="0" bIns="0" rtlCol="0" anchor="t">
            <a:normAutofit/>
          </a:bodyPr>
          <a:lstStyle/>
          <a:p>
            <a:pPr marL="0" indent="0" algn="l">
              <a:lnSpc>
                <a:spcPts val="3520"/>
              </a:lnSpc>
              <a:buNone/>
            </a:pPr>
            <a:r>
              <a:rPr lang="en-US" sz="3200" b="1" kern="0" spc="-50" dirty="0">
                <a:solidFill>
                  <a:srgbClr val="F4F4F5"/>
                </a:solidFill>
                <a:latin typeface="Arial" pitchFamily="34" charset="0"/>
                <a:ea typeface="Arial" pitchFamily="34" charset="-122"/>
                <a:cs typeface="Arial" pitchFamily="34" charset="-120"/>
              </a:rPr>
              <a:t>Tres preguntas, tres métricas</a:t>
            </a:r>
            <a:endParaRPr lang="en-US" sz="3200" dirty="0"/>
          </a:p>
        </p:txBody>
      </p:sp>
      <p:sp>
        <p:nvSpPr>
          <p:cNvPr id="4" name="Shape 2"/>
          <p:cNvSpPr/>
          <p:nvPr/>
        </p:nvSpPr>
        <p:spPr>
          <a:xfrm>
            <a:off x="819150" y="1802011"/>
            <a:ext cx="3407767" cy="2254052"/>
          </a:xfrm>
          <a:prstGeom prst="roundRect">
            <a:avLst>
              <a:gd name="adj" fmla="val 5353"/>
            </a:avLst>
          </a:prstGeom>
          <a:solidFill>
            <a:srgbClr val="1A1A1F"/>
          </a:solidFill>
          <a:ln w="12700">
            <a:solidFill>
              <a:srgbClr val="2C2C33"/>
            </a:solidFill>
            <a:prstDash val="solid"/>
          </a:ln>
        </p:spPr>
        <p:txBody>
          <a:bodyPr/>
          <a:lstStyle/>
          <a:p>
            <a:endParaRPr lang="es-CO"/>
          </a:p>
        </p:txBody>
      </p:sp>
      <p:sp>
        <p:nvSpPr>
          <p:cNvPr id="5" name="Text 3"/>
          <p:cNvSpPr/>
          <p:nvPr/>
        </p:nvSpPr>
        <p:spPr>
          <a:xfrm>
            <a:off x="1054100" y="2036961"/>
            <a:ext cx="3026003" cy="584200"/>
          </a:xfrm>
          <a:prstGeom prst="rect">
            <a:avLst/>
          </a:prstGeom>
          <a:noFill/>
          <a:ln/>
        </p:spPr>
        <p:txBody>
          <a:bodyPr wrap="square" lIns="0" tIns="0" rIns="0" bIns="0" rtlCol="0" anchor="t">
            <a:normAutofit/>
          </a:bodyPr>
          <a:lstStyle/>
          <a:p>
            <a:pPr marL="0" indent="0" algn="l">
              <a:lnSpc>
                <a:spcPts val="4400"/>
              </a:lnSpc>
              <a:buNone/>
            </a:pPr>
            <a:r>
              <a:rPr lang="en-US" sz="4400" b="1" dirty="0">
                <a:solidFill>
                  <a:srgbClr val="E4002B"/>
                </a:solidFill>
                <a:latin typeface="Courier New" pitchFamily="34" charset="0"/>
                <a:ea typeface="Courier New" pitchFamily="34" charset="-122"/>
                <a:cs typeface="Courier New" pitchFamily="34" charset="-120"/>
              </a:rPr>
              <a:t>80 %</a:t>
            </a:r>
            <a:endParaRPr lang="en-US" sz="4400" dirty="0"/>
          </a:p>
        </p:txBody>
      </p:sp>
      <p:sp>
        <p:nvSpPr>
          <p:cNvPr id="6" name="Text 4"/>
          <p:cNvSpPr/>
          <p:nvPr/>
        </p:nvSpPr>
        <p:spPr>
          <a:xfrm>
            <a:off x="1054100" y="2697361"/>
            <a:ext cx="3026003"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F4F4F5"/>
                </a:solidFill>
                <a:latin typeface="Arial" pitchFamily="34" charset="0"/>
                <a:ea typeface="Arial" pitchFamily="34" charset="-122"/>
                <a:cs typeface="Arial" pitchFamily="34" charset="-120"/>
              </a:rPr>
              <a:t>Accuracy (exactitud)</a:t>
            </a:r>
            <a:endParaRPr lang="en-US" sz="1500" dirty="0"/>
          </a:p>
        </p:txBody>
      </p:sp>
      <p:sp>
        <p:nvSpPr>
          <p:cNvPr id="7" name="Text 5"/>
          <p:cNvSpPr/>
          <p:nvPr/>
        </p:nvSpPr>
        <p:spPr>
          <a:xfrm>
            <a:off x="1054100" y="3027561"/>
            <a:ext cx="3026003" cy="504031"/>
          </a:xfrm>
          <a:prstGeom prst="rect">
            <a:avLst/>
          </a:prstGeom>
          <a:noFill/>
          <a:ln/>
        </p:spPr>
        <p:txBody>
          <a:bodyPr wrap="square" lIns="0" tIns="0" rIns="0" bIns="0" rtlCol="0" anchor="t">
            <a:normAutofit/>
          </a:bodyPr>
          <a:lstStyle/>
          <a:p>
            <a:pPr marL="0" indent="0" algn="l">
              <a:lnSpc>
                <a:spcPts val="1885"/>
              </a:lnSpc>
              <a:buNone/>
            </a:pPr>
            <a:r>
              <a:rPr lang="en-US" sz="1300" dirty="0">
                <a:solidFill>
                  <a:srgbClr val="D4D4D8"/>
                </a:solidFill>
                <a:latin typeface="Arial" pitchFamily="34" charset="0"/>
                <a:ea typeface="Arial" pitchFamily="34" charset="-122"/>
                <a:cs typeface="Arial" pitchFamily="34" charset="-120"/>
              </a:rPr>
              <a:t>De todas las respuestas, ¿cuántas acertó?</a:t>
            </a:r>
            <a:endParaRPr lang="en-US" sz="1300" dirty="0"/>
          </a:p>
        </p:txBody>
      </p:sp>
      <p:sp>
        <p:nvSpPr>
          <p:cNvPr id="8" name="Text 6"/>
          <p:cNvSpPr/>
          <p:nvPr/>
        </p:nvSpPr>
        <p:spPr>
          <a:xfrm>
            <a:off x="1054100" y="3607792"/>
            <a:ext cx="3026003"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A1A1AA"/>
                </a:solidFill>
                <a:latin typeface="Courier New" pitchFamily="34" charset="0"/>
                <a:ea typeface="Courier New" pitchFamily="34" charset="-122"/>
                <a:cs typeface="Courier New" pitchFamily="34" charset="-120"/>
              </a:rPr>
              <a:t>8 aciertos ÷ 10 correos</a:t>
            </a:r>
            <a:endParaRPr lang="en-US" sz="1200" dirty="0"/>
          </a:p>
        </p:txBody>
      </p:sp>
      <p:sp>
        <p:nvSpPr>
          <p:cNvPr id="9" name="Shape 7"/>
          <p:cNvSpPr/>
          <p:nvPr/>
        </p:nvSpPr>
        <p:spPr>
          <a:xfrm>
            <a:off x="4392017" y="1802011"/>
            <a:ext cx="3407866" cy="2254052"/>
          </a:xfrm>
          <a:prstGeom prst="roundRect">
            <a:avLst>
              <a:gd name="adj" fmla="val 5353"/>
            </a:avLst>
          </a:prstGeom>
          <a:solidFill>
            <a:srgbClr val="1A1A1F"/>
          </a:solidFill>
          <a:ln w="12700">
            <a:solidFill>
              <a:srgbClr val="2C2C33"/>
            </a:solidFill>
            <a:prstDash val="solid"/>
          </a:ln>
        </p:spPr>
        <p:txBody>
          <a:bodyPr/>
          <a:lstStyle/>
          <a:p>
            <a:endParaRPr lang="es-CO"/>
          </a:p>
        </p:txBody>
      </p:sp>
      <p:sp>
        <p:nvSpPr>
          <p:cNvPr id="10" name="Text 8"/>
          <p:cNvSpPr/>
          <p:nvPr/>
        </p:nvSpPr>
        <p:spPr>
          <a:xfrm>
            <a:off x="4626967" y="2036961"/>
            <a:ext cx="3026105" cy="584200"/>
          </a:xfrm>
          <a:prstGeom prst="rect">
            <a:avLst/>
          </a:prstGeom>
          <a:noFill/>
          <a:ln/>
        </p:spPr>
        <p:txBody>
          <a:bodyPr wrap="square" lIns="0" tIns="0" rIns="0" bIns="0" rtlCol="0" anchor="t">
            <a:normAutofit/>
          </a:bodyPr>
          <a:lstStyle/>
          <a:p>
            <a:pPr marL="0" indent="0" algn="l">
              <a:lnSpc>
                <a:spcPts val="4400"/>
              </a:lnSpc>
              <a:buNone/>
            </a:pPr>
            <a:r>
              <a:rPr lang="en-US" sz="4400" b="1" dirty="0">
                <a:solidFill>
                  <a:srgbClr val="E4002B"/>
                </a:solidFill>
                <a:latin typeface="Courier New" pitchFamily="34" charset="0"/>
                <a:ea typeface="Courier New" pitchFamily="34" charset="-122"/>
                <a:cs typeface="Courier New" pitchFamily="34" charset="-120"/>
              </a:rPr>
              <a:t>75 %</a:t>
            </a:r>
            <a:endParaRPr lang="en-US" sz="4400" dirty="0"/>
          </a:p>
        </p:txBody>
      </p:sp>
      <p:sp>
        <p:nvSpPr>
          <p:cNvPr id="11" name="Text 9"/>
          <p:cNvSpPr/>
          <p:nvPr/>
        </p:nvSpPr>
        <p:spPr>
          <a:xfrm>
            <a:off x="4626967" y="2697361"/>
            <a:ext cx="3026105"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F4F4F5"/>
                </a:solidFill>
                <a:latin typeface="Arial" pitchFamily="34" charset="0"/>
                <a:ea typeface="Arial" pitchFamily="34" charset="-122"/>
                <a:cs typeface="Arial" pitchFamily="34" charset="-120"/>
              </a:rPr>
              <a:t>Precisión (precision)</a:t>
            </a:r>
            <a:endParaRPr lang="en-US" sz="1500" dirty="0"/>
          </a:p>
        </p:txBody>
      </p:sp>
      <p:sp>
        <p:nvSpPr>
          <p:cNvPr id="12" name="Text 10"/>
          <p:cNvSpPr/>
          <p:nvPr/>
        </p:nvSpPr>
        <p:spPr>
          <a:xfrm>
            <a:off x="4626967" y="3027561"/>
            <a:ext cx="3026105" cy="504031"/>
          </a:xfrm>
          <a:prstGeom prst="rect">
            <a:avLst/>
          </a:prstGeom>
          <a:noFill/>
          <a:ln/>
        </p:spPr>
        <p:txBody>
          <a:bodyPr wrap="square" lIns="0" tIns="0" rIns="0" bIns="0" rtlCol="0" anchor="t">
            <a:normAutofit/>
          </a:bodyPr>
          <a:lstStyle/>
          <a:p>
            <a:pPr marL="0" indent="0" algn="l">
              <a:lnSpc>
                <a:spcPts val="1885"/>
              </a:lnSpc>
              <a:buNone/>
            </a:pPr>
            <a:r>
              <a:rPr lang="en-US" sz="1300" dirty="0">
                <a:solidFill>
                  <a:srgbClr val="D4D4D8"/>
                </a:solidFill>
                <a:latin typeface="Arial" pitchFamily="34" charset="0"/>
                <a:ea typeface="Arial" pitchFamily="34" charset="-122"/>
                <a:cs typeface="Arial" pitchFamily="34" charset="-120"/>
              </a:rPr>
              <a:t>Cuando dice «spam», ¿cuántas veces tiene razón?</a:t>
            </a:r>
            <a:endParaRPr lang="en-US" sz="1300" dirty="0"/>
          </a:p>
        </p:txBody>
      </p:sp>
      <p:sp>
        <p:nvSpPr>
          <p:cNvPr id="13" name="Text 11"/>
          <p:cNvSpPr/>
          <p:nvPr/>
        </p:nvSpPr>
        <p:spPr>
          <a:xfrm>
            <a:off x="4626967" y="3607792"/>
            <a:ext cx="3026105"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A1A1AA"/>
                </a:solidFill>
                <a:latin typeface="Courier New" pitchFamily="34" charset="0"/>
                <a:ea typeface="Courier New" pitchFamily="34" charset="-122"/>
                <a:cs typeface="Courier New" pitchFamily="34" charset="-120"/>
              </a:rPr>
              <a:t>3 ÷ 4 veces que dijo spam</a:t>
            </a:r>
            <a:endParaRPr lang="en-US" sz="1200" dirty="0"/>
          </a:p>
        </p:txBody>
      </p:sp>
      <p:sp>
        <p:nvSpPr>
          <p:cNvPr id="14" name="Shape 12"/>
          <p:cNvSpPr/>
          <p:nvPr/>
        </p:nvSpPr>
        <p:spPr>
          <a:xfrm>
            <a:off x="7964984" y="1802011"/>
            <a:ext cx="3407866" cy="2254052"/>
          </a:xfrm>
          <a:prstGeom prst="roundRect">
            <a:avLst>
              <a:gd name="adj" fmla="val 5353"/>
            </a:avLst>
          </a:prstGeom>
          <a:solidFill>
            <a:srgbClr val="1A1A1F"/>
          </a:solidFill>
          <a:ln w="12700">
            <a:solidFill>
              <a:srgbClr val="2C2C33"/>
            </a:solidFill>
            <a:prstDash val="solid"/>
          </a:ln>
        </p:spPr>
        <p:txBody>
          <a:bodyPr/>
          <a:lstStyle/>
          <a:p>
            <a:endParaRPr lang="es-CO"/>
          </a:p>
        </p:txBody>
      </p:sp>
      <p:sp>
        <p:nvSpPr>
          <p:cNvPr id="15" name="Text 13"/>
          <p:cNvSpPr/>
          <p:nvPr/>
        </p:nvSpPr>
        <p:spPr>
          <a:xfrm>
            <a:off x="8199934" y="2036961"/>
            <a:ext cx="3026105" cy="584200"/>
          </a:xfrm>
          <a:prstGeom prst="rect">
            <a:avLst/>
          </a:prstGeom>
          <a:noFill/>
          <a:ln/>
        </p:spPr>
        <p:txBody>
          <a:bodyPr wrap="square" lIns="0" tIns="0" rIns="0" bIns="0" rtlCol="0" anchor="t">
            <a:normAutofit/>
          </a:bodyPr>
          <a:lstStyle/>
          <a:p>
            <a:pPr marL="0" indent="0" algn="l">
              <a:lnSpc>
                <a:spcPts val="4400"/>
              </a:lnSpc>
              <a:buNone/>
            </a:pPr>
            <a:r>
              <a:rPr lang="en-US" sz="4400" b="1" dirty="0">
                <a:solidFill>
                  <a:srgbClr val="E4002B"/>
                </a:solidFill>
                <a:latin typeface="Courier New" pitchFamily="34" charset="0"/>
                <a:ea typeface="Courier New" pitchFamily="34" charset="-122"/>
                <a:cs typeface="Courier New" pitchFamily="34" charset="-120"/>
              </a:rPr>
              <a:t>75 %</a:t>
            </a:r>
            <a:endParaRPr lang="en-US" sz="4400" dirty="0"/>
          </a:p>
        </p:txBody>
      </p:sp>
      <p:sp>
        <p:nvSpPr>
          <p:cNvPr id="16" name="Text 14"/>
          <p:cNvSpPr/>
          <p:nvPr/>
        </p:nvSpPr>
        <p:spPr>
          <a:xfrm>
            <a:off x="8199934" y="2697361"/>
            <a:ext cx="3026105"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F4F4F5"/>
                </a:solidFill>
                <a:latin typeface="Arial" pitchFamily="34" charset="0"/>
                <a:ea typeface="Arial" pitchFamily="34" charset="-122"/>
                <a:cs typeface="Arial" pitchFamily="34" charset="-120"/>
              </a:rPr>
              <a:t>Recall (sensibilidad)</a:t>
            </a:r>
            <a:endParaRPr lang="en-US" sz="1500" dirty="0"/>
          </a:p>
        </p:txBody>
      </p:sp>
      <p:sp>
        <p:nvSpPr>
          <p:cNvPr id="17" name="Text 15"/>
          <p:cNvSpPr/>
          <p:nvPr/>
        </p:nvSpPr>
        <p:spPr>
          <a:xfrm>
            <a:off x="8199934" y="3027561"/>
            <a:ext cx="3026105" cy="504031"/>
          </a:xfrm>
          <a:prstGeom prst="rect">
            <a:avLst/>
          </a:prstGeom>
          <a:noFill/>
          <a:ln/>
        </p:spPr>
        <p:txBody>
          <a:bodyPr wrap="square" lIns="0" tIns="0" rIns="0" bIns="0" rtlCol="0" anchor="t">
            <a:normAutofit/>
          </a:bodyPr>
          <a:lstStyle/>
          <a:p>
            <a:pPr marL="0" indent="0" algn="l">
              <a:lnSpc>
                <a:spcPts val="1885"/>
              </a:lnSpc>
              <a:buNone/>
            </a:pPr>
            <a:r>
              <a:rPr lang="en-US" sz="1300" dirty="0">
                <a:solidFill>
                  <a:srgbClr val="D4D4D8"/>
                </a:solidFill>
                <a:latin typeface="Arial" pitchFamily="34" charset="0"/>
                <a:ea typeface="Arial" pitchFamily="34" charset="-122"/>
                <a:cs typeface="Arial" pitchFamily="34" charset="-120"/>
              </a:rPr>
              <a:t>De todos los spam reales, ¿cuántos atrapó?</a:t>
            </a:r>
            <a:endParaRPr lang="en-US" sz="1300" dirty="0"/>
          </a:p>
        </p:txBody>
      </p:sp>
      <p:sp>
        <p:nvSpPr>
          <p:cNvPr id="18" name="Text 16"/>
          <p:cNvSpPr/>
          <p:nvPr/>
        </p:nvSpPr>
        <p:spPr>
          <a:xfrm>
            <a:off x="8199934" y="3607792"/>
            <a:ext cx="3026105"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A1A1AA"/>
                </a:solidFill>
                <a:latin typeface="Courier New" pitchFamily="34" charset="0"/>
                <a:ea typeface="Courier New" pitchFamily="34" charset="-122"/>
                <a:cs typeface="Courier New" pitchFamily="34" charset="-120"/>
              </a:rPr>
              <a:t>3 ÷ 4 spam reales</a:t>
            </a:r>
            <a:endParaRPr lang="en-US" sz="1200" dirty="0"/>
          </a:p>
        </p:txBody>
      </p:sp>
      <p:sp>
        <p:nvSpPr>
          <p:cNvPr id="19" name="Shape 17"/>
          <p:cNvSpPr/>
          <p:nvPr/>
        </p:nvSpPr>
        <p:spPr>
          <a:xfrm>
            <a:off x="819150" y="4271963"/>
            <a:ext cx="10553700" cy="871736"/>
          </a:xfrm>
          <a:prstGeom prst="roundRect">
            <a:avLst>
              <a:gd name="adj" fmla="val 13840"/>
            </a:avLst>
          </a:prstGeom>
          <a:solidFill>
            <a:srgbClr val="1F0A0F"/>
          </a:solidFill>
          <a:ln w="12700">
            <a:solidFill>
              <a:srgbClr val="E4002B"/>
            </a:solidFill>
            <a:prstDash val="solid"/>
          </a:ln>
        </p:spPr>
        <p:txBody>
          <a:bodyPr/>
          <a:lstStyle/>
          <a:p>
            <a:endParaRPr lang="es-CO"/>
          </a:p>
        </p:txBody>
      </p:sp>
      <p:sp>
        <p:nvSpPr>
          <p:cNvPr id="20" name="Text 18"/>
          <p:cNvSpPr/>
          <p:nvPr/>
        </p:nvSpPr>
        <p:spPr>
          <a:xfrm>
            <a:off x="1079500" y="4456113"/>
            <a:ext cx="10333990"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E4002B"/>
                </a:solidFill>
                <a:latin typeface="Courier New" pitchFamily="34" charset="0"/>
                <a:ea typeface="Courier New" pitchFamily="34" charset="-122"/>
                <a:cs typeface="Courier New" pitchFamily="34" charset="-120"/>
              </a:rPr>
              <a:t>EN PALABRAS SIMPLES</a:t>
            </a:r>
            <a:endParaRPr lang="en-US" sz="1200" dirty="0"/>
          </a:p>
        </p:txBody>
      </p:sp>
      <p:sp>
        <p:nvSpPr>
          <p:cNvPr id="21" name="Text 19"/>
          <p:cNvSpPr/>
          <p:nvPr/>
        </p:nvSpPr>
        <p:spPr>
          <a:xfrm>
            <a:off x="1079500" y="4720233"/>
            <a:ext cx="10333990" cy="264716"/>
          </a:xfrm>
          <a:prstGeom prst="rect">
            <a:avLst/>
          </a:prstGeom>
          <a:noFill/>
          <a:ln/>
        </p:spPr>
        <p:txBody>
          <a:bodyPr wrap="square" lIns="0" tIns="0" rIns="0" bIns="0" rtlCol="0" anchor="t">
            <a:normAutofit/>
          </a:bodyPr>
          <a:lstStyle/>
          <a:p>
            <a:pPr marL="0" indent="0" algn="l">
              <a:lnSpc>
                <a:spcPts val="1885"/>
              </a:lnSpc>
              <a:buNone/>
            </a:pPr>
            <a:r>
              <a:rPr lang="en-US" sz="1300" dirty="0">
                <a:solidFill>
                  <a:srgbClr val="F4F4F5"/>
                </a:solidFill>
                <a:latin typeface="Arial" pitchFamily="34" charset="0"/>
                <a:ea typeface="Arial" pitchFamily="34" charset="-122"/>
                <a:cs typeface="Arial" pitchFamily="34" charset="-120"/>
              </a:rPr>
              <a:t>Precisión = no dar falsas alarmas. Recall = que no se escape nada.</a:t>
            </a:r>
            <a:endParaRPr lang="en-US" sz="1300" dirty="0"/>
          </a:p>
        </p:txBody>
      </p:sp>
      <p:sp>
        <p:nvSpPr>
          <p:cNvPr id="22" name="Text 20"/>
          <p:cNvSpPr/>
          <p:nvPr/>
        </p:nvSpPr>
        <p:spPr>
          <a:xfrm>
            <a:off x="812800" y="6238280"/>
            <a:ext cx="7848600" cy="238720"/>
          </a:xfrm>
          <a:prstGeom prst="rect">
            <a:avLst/>
          </a:prstGeom>
          <a:noFill/>
          <a:ln/>
        </p:spPr>
        <p:txBody>
          <a:bodyPr wrap="square" lIns="0" tIns="0" rIns="0" bIns="0" rtlCol="0" anchor="t">
            <a:normAutofit/>
          </a:bodyPr>
          <a:lstStyle/>
          <a:p>
            <a:pPr marL="0" indent="0" algn="l">
              <a:lnSpc>
                <a:spcPts val="1680"/>
              </a:lnSpc>
              <a:buNone/>
            </a:pPr>
            <a:r>
              <a:rPr lang="en-US" sz="1200" kern="0" spc="100" dirty="0">
                <a:solidFill>
                  <a:srgbClr val="71717A"/>
                </a:solidFill>
                <a:latin typeface="Courier New" pitchFamily="34" charset="0"/>
                <a:ea typeface="Courier New" pitchFamily="34" charset="-122"/>
                <a:cs typeface="Courier New" pitchFamily="34" charset="-120"/>
              </a:rPr>
              <a:t>UNIDAD 4 · VALIDACIÓN DE MODELOS</a:t>
            </a:r>
            <a:endParaRPr lang="en-US" sz="1200" dirty="0"/>
          </a:p>
        </p:txBody>
      </p:sp>
      <p:sp>
        <p:nvSpPr>
          <p:cNvPr id="23" name="Text 21"/>
          <p:cNvSpPr/>
          <p:nvPr/>
        </p:nvSpPr>
        <p:spPr>
          <a:xfrm>
            <a:off x="10058400" y="6238280"/>
            <a:ext cx="1320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71717A"/>
                </a:solidFill>
                <a:latin typeface="Courier New" pitchFamily="34" charset="0"/>
                <a:ea typeface="Courier New" pitchFamily="34" charset="-122"/>
                <a:cs typeface="Courier New" pitchFamily="34" charset="-120"/>
              </a:rPr>
              <a:t>10</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B0B0D"/>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marL="0" indent="0" algn="l">
              <a:lnSpc>
                <a:spcPts val="1820"/>
              </a:lnSpc>
              <a:buNone/>
            </a:pPr>
            <a:r>
              <a:rPr lang="en-US" sz="1300" b="1" kern="0" spc="200" dirty="0">
                <a:solidFill>
                  <a:srgbClr val="E4002B"/>
                </a:solidFill>
                <a:latin typeface="Courier New" pitchFamily="34" charset="0"/>
                <a:ea typeface="Courier New" pitchFamily="34" charset="-122"/>
                <a:cs typeface="Courier New" pitchFamily="34" charset="-120"/>
              </a:rPr>
              <a:t>ERROR EN REGRESIÓN · MAE Y RMSE</a:t>
            </a:r>
            <a:endParaRPr lang="en-US" sz="1300" dirty="0"/>
          </a:p>
        </p:txBody>
      </p:sp>
      <p:sp>
        <p:nvSpPr>
          <p:cNvPr id="3" name="Text 1"/>
          <p:cNvSpPr/>
          <p:nvPr/>
        </p:nvSpPr>
        <p:spPr>
          <a:xfrm>
            <a:off x="812800" y="1145480"/>
            <a:ext cx="10883392" cy="472380"/>
          </a:xfrm>
          <a:prstGeom prst="rect">
            <a:avLst/>
          </a:prstGeom>
          <a:noFill/>
          <a:ln/>
        </p:spPr>
        <p:txBody>
          <a:bodyPr wrap="square" lIns="0" tIns="0" rIns="0" bIns="0" rtlCol="0" anchor="t">
            <a:normAutofit/>
          </a:bodyPr>
          <a:lstStyle/>
          <a:p>
            <a:pPr marL="0" indent="0" algn="l">
              <a:lnSpc>
                <a:spcPts val="3520"/>
              </a:lnSpc>
              <a:buNone/>
            </a:pPr>
            <a:r>
              <a:rPr lang="en-US" sz="3200" b="1" kern="0" spc="-50" dirty="0">
                <a:solidFill>
                  <a:srgbClr val="F4F4F5"/>
                </a:solidFill>
                <a:latin typeface="Arial" pitchFamily="34" charset="0"/>
                <a:ea typeface="Arial" pitchFamily="34" charset="-122"/>
                <a:cs typeface="Arial" pitchFamily="34" charset="-120"/>
              </a:rPr>
              <a:t>¿Por cuánto se equivoca al predecir números?</a:t>
            </a:r>
            <a:endParaRPr lang="en-US" sz="3200" dirty="0"/>
          </a:p>
        </p:txBody>
      </p:sp>
      <p:sp>
        <p:nvSpPr>
          <p:cNvPr id="4" name="Text 2"/>
          <p:cNvSpPr/>
          <p:nvPr/>
        </p:nvSpPr>
        <p:spPr>
          <a:xfrm>
            <a:off x="812800" y="1795661"/>
            <a:ext cx="5310886" cy="264716"/>
          </a:xfrm>
          <a:prstGeom prst="rect">
            <a:avLst/>
          </a:prstGeom>
          <a:noFill/>
          <a:ln/>
        </p:spPr>
        <p:txBody>
          <a:bodyPr wrap="square" lIns="0" tIns="0" rIns="0" bIns="0" rtlCol="0" anchor="t">
            <a:normAutofit/>
          </a:bodyPr>
          <a:lstStyle/>
          <a:p>
            <a:pPr marL="0" indent="0" algn="l">
              <a:lnSpc>
                <a:spcPts val="1885"/>
              </a:lnSpc>
              <a:buNone/>
            </a:pPr>
            <a:r>
              <a:rPr lang="en-US" sz="1300" dirty="0">
                <a:solidFill>
                  <a:srgbClr val="A1A1AA"/>
                </a:solidFill>
                <a:latin typeface="Arial" pitchFamily="34" charset="0"/>
                <a:ea typeface="Arial" pitchFamily="34" charset="-122"/>
                <a:cs typeface="Arial" pitchFamily="34" charset="-120"/>
              </a:rPr>
              <a:t>Ventas de una cafetería durante 5 días</a:t>
            </a:r>
            <a:endParaRPr lang="en-US" sz="13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825500" y="2123877"/>
          <a:ext cx="5143500" cy="2155626"/>
        </p:xfrm>
        <a:graphic>
          <a:graphicData uri="http://schemas.openxmlformats.org/drawingml/2006/table">
            <a:tbl>
              <a:tblPr/>
              <a:tblGrid>
                <a:gridCol w="1285875">
                  <a:extLst>
                    <a:ext uri="{9D8B030D-6E8A-4147-A177-3AD203B41FA5}">
                      <a16:colId xmlns:a16="http://schemas.microsoft.com/office/drawing/2014/main" val="20000"/>
                    </a:ext>
                  </a:extLst>
                </a:gridCol>
                <a:gridCol w="1285875">
                  <a:extLst>
                    <a:ext uri="{9D8B030D-6E8A-4147-A177-3AD203B41FA5}">
                      <a16:colId xmlns:a16="http://schemas.microsoft.com/office/drawing/2014/main" val="20001"/>
                    </a:ext>
                  </a:extLst>
                </a:gridCol>
                <a:gridCol w="1285875">
                  <a:extLst>
                    <a:ext uri="{9D8B030D-6E8A-4147-A177-3AD203B41FA5}">
                      <a16:colId xmlns:a16="http://schemas.microsoft.com/office/drawing/2014/main" val="20002"/>
                    </a:ext>
                  </a:extLst>
                </a:gridCol>
                <a:gridCol w="1285875">
                  <a:extLst>
                    <a:ext uri="{9D8B030D-6E8A-4147-A177-3AD203B41FA5}">
                      <a16:colId xmlns:a16="http://schemas.microsoft.com/office/drawing/2014/main" val="20003"/>
                    </a:ext>
                  </a:extLst>
                </a:gridCol>
              </a:tblGrid>
              <a:tr h="359271">
                <a:tc>
                  <a:txBody>
                    <a:bodyPr/>
                    <a:lstStyle/>
                    <a:p>
                      <a:pPr marL="0" indent="0">
                        <a:lnSpc>
                          <a:spcPts val="1820"/>
                        </a:lnSpc>
                        <a:buNone/>
                      </a:pPr>
                      <a:r>
                        <a:rPr lang="en-US" sz="1300" b="1" dirty="0">
                          <a:solidFill>
                            <a:srgbClr val="E4E4E7"/>
                          </a:solidFill>
                          <a:latin typeface="Arial" pitchFamily="34" charset="0"/>
                          <a:ea typeface="Arial" pitchFamily="34" charset="-122"/>
                          <a:cs typeface="Arial" pitchFamily="34" charset="-120"/>
                        </a:rPr>
                        <a:t>Día</a:t>
                      </a:r>
                      <a:endParaRPr lang="en-US" sz="1300" dirty="0">
                        <a:latin typeface="Arial" charset="0"/>
                        <a:ea typeface="Arial" charset="0"/>
                        <a:cs typeface="Arial" charset="0"/>
                      </a:endParaRPr>
                    </a:p>
                  </a:txBody>
                  <a:tcPr marL="57785" marR="57785" marT="57785" marB="57785">
                    <a:lnL w="12700" cap="flat" cmpd="sng" algn="ctr">
                      <a:solidFill>
                        <a:srgbClr val="403F40"/>
                      </a:solidFill>
                      <a:prstDash val="solid"/>
                      <a:round/>
                      <a:headEnd type="none" w="med" len="med"/>
                      <a:tailEnd type="none" w="med" len="med"/>
                    </a:lnL>
                    <a:lnR w="12700" cap="flat" cmpd="sng" algn="ctr">
                      <a:solidFill>
                        <a:srgbClr val="4E4E4F"/>
                      </a:solidFill>
                      <a:prstDash val="solid"/>
                      <a:round/>
                      <a:headEnd type="none" w="med" len="med"/>
                      <a:tailEnd type="none" w="med" len="med"/>
                    </a:lnR>
                    <a:lnT w="12700" cap="flat" cmpd="sng" algn="ctr">
                      <a:solidFill>
                        <a:srgbClr val="403F40"/>
                      </a:solidFill>
                      <a:prstDash val="solid"/>
                      <a:round/>
                      <a:headEnd type="none" w="med" len="med"/>
                      <a:tailEnd type="none" w="med" len="med"/>
                    </a:lnT>
                    <a:lnB w="12700" cap="flat" cmpd="sng" algn="ctr">
                      <a:solidFill>
                        <a:srgbClr val="4E4E4F"/>
                      </a:solidFill>
                      <a:prstDash val="solid"/>
                      <a:round/>
                      <a:headEnd type="none" w="med" len="med"/>
                      <a:tailEnd type="none" w="med" len="med"/>
                    </a:lnB>
                    <a:solidFill>
                      <a:srgbClr val="1E1E20"/>
                    </a:solidFill>
                  </a:tcPr>
                </a:tc>
                <a:tc>
                  <a:txBody>
                    <a:bodyPr/>
                    <a:lstStyle/>
                    <a:p>
                      <a:pPr marL="0" indent="0" algn="ctr">
                        <a:lnSpc>
                          <a:spcPts val="1820"/>
                        </a:lnSpc>
                        <a:buNone/>
                      </a:pPr>
                      <a:r>
                        <a:rPr lang="en-US" sz="1300" b="1" dirty="0">
                          <a:solidFill>
                            <a:srgbClr val="E4E4E7"/>
                          </a:solidFill>
                          <a:latin typeface="Arial" pitchFamily="34" charset="0"/>
                          <a:ea typeface="Arial" pitchFamily="34" charset="-122"/>
                          <a:cs typeface="Arial" pitchFamily="34" charset="-120"/>
                        </a:rPr>
                        <a:t>Real</a:t>
                      </a:r>
                      <a:endParaRPr lang="en-US" sz="1300" dirty="0">
                        <a:latin typeface="Arial" charset="0"/>
                        <a:ea typeface="Arial" charset="0"/>
                        <a:cs typeface="Arial" charset="0"/>
                      </a:endParaRPr>
                    </a:p>
                  </a:txBody>
                  <a:tcPr marL="57785" marR="57785" marT="57785" marB="57785">
                    <a:lnL w="12700" cap="flat" cmpd="sng" algn="ctr">
                      <a:solidFill>
                        <a:srgbClr val="4E4E4F"/>
                      </a:solidFill>
                      <a:prstDash val="solid"/>
                      <a:round/>
                      <a:headEnd type="none" w="med" len="med"/>
                      <a:tailEnd type="none" w="med" len="med"/>
                    </a:lnL>
                    <a:lnR w="12700" cap="flat" cmpd="sng" algn="ctr">
                      <a:solidFill>
                        <a:srgbClr val="4E4E4F"/>
                      </a:solidFill>
                      <a:prstDash val="solid"/>
                      <a:round/>
                      <a:headEnd type="none" w="med" len="med"/>
                      <a:tailEnd type="none" w="med" len="med"/>
                    </a:lnR>
                    <a:lnT w="12700" cap="flat" cmpd="sng" algn="ctr">
                      <a:solidFill>
                        <a:srgbClr val="403F40"/>
                      </a:solidFill>
                      <a:prstDash val="solid"/>
                      <a:round/>
                      <a:headEnd type="none" w="med" len="med"/>
                      <a:tailEnd type="none" w="med" len="med"/>
                    </a:lnT>
                    <a:lnB w="12700" cap="flat" cmpd="sng" algn="ctr">
                      <a:solidFill>
                        <a:srgbClr val="4E4E4F"/>
                      </a:solidFill>
                      <a:prstDash val="solid"/>
                      <a:round/>
                      <a:headEnd type="none" w="med" len="med"/>
                      <a:tailEnd type="none" w="med" len="med"/>
                    </a:lnB>
                    <a:solidFill>
                      <a:srgbClr val="1E1E20"/>
                    </a:solidFill>
                  </a:tcPr>
                </a:tc>
                <a:tc>
                  <a:txBody>
                    <a:bodyPr/>
                    <a:lstStyle/>
                    <a:p>
                      <a:pPr marL="0" indent="0" algn="ctr">
                        <a:lnSpc>
                          <a:spcPts val="1820"/>
                        </a:lnSpc>
                        <a:buNone/>
                      </a:pPr>
                      <a:r>
                        <a:rPr lang="en-US" sz="1300" b="1" dirty="0">
                          <a:solidFill>
                            <a:srgbClr val="E4E4E7"/>
                          </a:solidFill>
                          <a:latin typeface="Arial" pitchFamily="34" charset="0"/>
                          <a:ea typeface="Arial" pitchFamily="34" charset="-122"/>
                          <a:cs typeface="Arial" pitchFamily="34" charset="-120"/>
                        </a:rPr>
                        <a:t>Predicho</a:t>
                      </a:r>
                      <a:endParaRPr lang="en-US" sz="1300" dirty="0">
                        <a:latin typeface="Arial" charset="0"/>
                        <a:ea typeface="Arial" charset="0"/>
                        <a:cs typeface="Arial" charset="0"/>
                      </a:endParaRPr>
                    </a:p>
                  </a:txBody>
                  <a:tcPr marL="57785" marR="57785" marT="57785" marB="57785">
                    <a:lnL w="12700" cap="flat" cmpd="sng" algn="ctr">
                      <a:solidFill>
                        <a:srgbClr val="4E4E4F"/>
                      </a:solidFill>
                      <a:prstDash val="solid"/>
                      <a:round/>
                      <a:headEnd type="none" w="med" len="med"/>
                      <a:tailEnd type="none" w="med" len="med"/>
                    </a:lnL>
                    <a:lnR w="12700" cap="flat" cmpd="sng" algn="ctr">
                      <a:solidFill>
                        <a:srgbClr val="4E4E4F"/>
                      </a:solidFill>
                      <a:prstDash val="solid"/>
                      <a:round/>
                      <a:headEnd type="none" w="med" len="med"/>
                      <a:tailEnd type="none" w="med" len="med"/>
                    </a:lnR>
                    <a:lnT w="12700" cap="flat" cmpd="sng" algn="ctr">
                      <a:solidFill>
                        <a:srgbClr val="403F40"/>
                      </a:solidFill>
                      <a:prstDash val="solid"/>
                      <a:round/>
                      <a:headEnd type="none" w="med" len="med"/>
                      <a:tailEnd type="none" w="med" len="med"/>
                    </a:lnT>
                    <a:lnB w="12700" cap="flat" cmpd="sng" algn="ctr">
                      <a:solidFill>
                        <a:srgbClr val="4E4E4F"/>
                      </a:solidFill>
                      <a:prstDash val="solid"/>
                      <a:round/>
                      <a:headEnd type="none" w="med" len="med"/>
                      <a:tailEnd type="none" w="med" len="med"/>
                    </a:lnB>
                    <a:solidFill>
                      <a:srgbClr val="1E1E20"/>
                    </a:solidFill>
                  </a:tcPr>
                </a:tc>
                <a:tc>
                  <a:txBody>
                    <a:bodyPr/>
                    <a:lstStyle/>
                    <a:p>
                      <a:pPr marL="0" indent="0" algn="ctr">
                        <a:lnSpc>
                          <a:spcPts val="1820"/>
                        </a:lnSpc>
                        <a:buNone/>
                      </a:pPr>
                      <a:r>
                        <a:rPr lang="en-US" sz="1300" b="1" dirty="0">
                          <a:solidFill>
                            <a:srgbClr val="E4E4E7"/>
                          </a:solidFill>
                          <a:latin typeface="Arial" pitchFamily="34" charset="0"/>
                          <a:ea typeface="Arial" pitchFamily="34" charset="-122"/>
                          <a:cs typeface="Arial" pitchFamily="34" charset="-120"/>
                        </a:rPr>
                        <a:t>Error</a:t>
                      </a:r>
                      <a:endParaRPr lang="en-US" sz="1300" dirty="0">
                        <a:latin typeface="Arial" charset="0"/>
                        <a:ea typeface="Arial" charset="0"/>
                        <a:cs typeface="Arial" charset="0"/>
                      </a:endParaRPr>
                    </a:p>
                  </a:txBody>
                  <a:tcPr marL="57785" marR="57785" marT="57785" marB="57785">
                    <a:lnL w="12700" cap="flat" cmpd="sng" algn="ctr">
                      <a:solidFill>
                        <a:srgbClr val="4E4E4F"/>
                      </a:solidFill>
                      <a:prstDash val="solid"/>
                      <a:round/>
                      <a:headEnd type="none" w="med" len="med"/>
                      <a:tailEnd type="none" w="med" len="med"/>
                    </a:lnL>
                    <a:lnR w="12700" cap="flat" cmpd="sng" algn="ctr">
                      <a:solidFill>
                        <a:srgbClr val="4E4E4F"/>
                      </a:solidFill>
                      <a:prstDash val="solid"/>
                      <a:round/>
                      <a:headEnd type="none" w="med" len="med"/>
                      <a:tailEnd type="none" w="med" len="med"/>
                    </a:lnR>
                    <a:lnT w="12700" cap="flat" cmpd="sng" algn="ctr">
                      <a:solidFill>
                        <a:srgbClr val="403F40"/>
                      </a:solidFill>
                      <a:prstDash val="solid"/>
                      <a:round/>
                      <a:headEnd type="none" w="med" len="med"/>
                      <a:tailEnd type="none" w="med" len="med"/>
                    </a:lnT>
                    <a:lnB w="12700" cap="flat" cmpd="sng" algn="ctr">
                      <a:solidFill>
                        <a:srgbClr val="4E4E4F"/>
                      </a:solidFill>
                      <a:prstDash val="solid"/>
                      <a:round/>
                      <a:headEnd type="none" w="med" len="med"/>
                      <a:tailEnd type="none" w="med" len="med"/>
                    </a:lnB>
                    <a:solidFill>
                      <a:srgbClr val="1E1E20"/>
                    </a:solidFill>
                  </a:tcPr>
                </a:tc>
                <a:extLst>
                  <a:ext uri="{0D108BD9-81ED-4DB2-BD59-A6C34878D82A}">
                    <a16:rowId xmlns:a16="http://schemas.microsoft.com/office/drawing/2014/main" val="10000"/>
                  </a:ext>
                </a:extLst>
              </a:tr>
              <a:tr h="359271">
                <a:tc>
                  <a:txBody>
                    <a:bodyPr/>
                    <a:lstStyle/>
                    <a:p>
                      <a:pPr marL="0" indent="0">
                        <a:lnSpc>
                          <a:spcPts val="1820"/>
                        </a:lnSpc>
                        <a:buNone/>
                      </a:pPr>
                      <a:r>
                        <a:rPr lang="en-US" sz="1300" dirty="0">
                          <a:solidFill>
                            <a:srgbClr val="E4E4E7"/>
                          </a:solidFill>
                          <a:latin typeface="Arial" pitchFamily="34" charset="0"/>
                          <a:ea typeface="Arial" pitchFamily="34" charset="-122"/>
                          <a:cs typeface="Arial" pitchFamily="34" charset="-120"/>
                        </a:rPr>
                        <a:t>Lunes</a:t>
                      </a:r>
                      <a:endParaRPr lang="en-US" sz="1300" dirty="0">
                        <a:latin typeface="Arial" charset="0"/>
                        <a:ea typeface="Arial" charset="0"/>
                        <a:cs typeface="Arial" charset="0"/>
                      </a:endParaRPr>
                    </a:p>
                  </a:txBody>
                  <a:tcPr marL="57785" marR="57785" marT="57785" marB="57785">
                    <a:lnL w="12700" cap="flat" cmpd="sng" algn="ctr">
                      <a:solidFill>
                        <a:srgbClr val="403F40"/>
                      </a:solidFill>
                      <a:prstDash val="solid"/>
                      <a:round/>
                      <a:headEnd type="none" w="med" len="med"/>
                      <a:tailEnd type="none" w="med" len="med"/>
                    </a:lnL>
                    <a:lnR w="12700" cap="flat" cmpd="sng" algn="ctr">
                      <a:solidFill>
                        <a:srgbClr val="403F40"/>
                      </a:solidFill>
                      <a:prstDash val="solid"/>
                      <a:round/>
                      <a:headEnd type="none" w="med" len="med"/>
                      <a:tailEnd type="none" w="med" len="med"/>
                    </a:lnR>
                    <a:lnT w="12700" cap="flat" cmpd="sng" algn="ctr">
                      <a:solidFill>
                        <a:srgbClr val="4E4E4F"/>
                      </a:solidFill>
                      <a:prstDash val="solid"/>
                      <a:round/>
                      <a:headEnd type="none" w="med" len="med"/>
                      <a:tailEnd type="none" w="med" len="med"/>
                    </a:lnT>
                    <a:lnB w="12700" cap="flat" cmpd="sng" algn="ctr">
                      <a:solidFill>
                        <a:srgbClr val="403F40"/>
                      </a:solidFill>
                      <a:prstDash val="solid"/>
                      <a:round/>
                      <a:headEnd type="none" w="med" len="med"/>
                      <a:tailEnd type="none" w="med" len="med"/>
                    </a:lnB>
                  </a:tcPr>
                </a:tc>
                <a:tc>
                  <a:txBody>
                    <a:bodyPr/>
                    <a:lstStyle/>
                    <a:p>
                      <a:pPr marL="0" indent="0" algn="ctr">
                        <a:lnSpc>
                          <a:spcPts val="1820"/>
                        </a:lnSpc>
                        <a:buNone/>
                      </a:pPr>
                      <a:r>
                        <a:rPr lang="en-US" sz="1300" dirty="0">
                          <a:solidFill>
                            <a:srgbClr val="E4E4E7"/>
                          </a:solidFill>
                          <a:latin typeface="Arial" pitchFamily="34" charset="0"/>
                          <a:ea typeface="Arial" pitchFamily="34" charset="-122"/>
                          <a:cs typeface="Arial" pitchFamily="34" charset="-120"/>
                        </a:rPr>
                        <a:t>100</a:t>
                      </a:r>
                      <a:endParaRPr lang="en-US" sz="1300" dirty="0">
                        <a:latin typeface="Arial" charset="0"/>
                        <a:ea typeface="Arial" charset="0"/>
                        <a:cs typeface="Arial" charset="0"/>
                      </a:endParaRPr>
                    </a:p>
                  </a:txBody>
                  <a:tcPr marL="57785" marR="57785" marT="57785" marB="57785">
                    <a:lnL w="12700" cap="flat" cmpd="sng" algn="ctr">
                      <a:solidFill>
                        <a:srgbClr val="403F40"/>
                      </a:solidFill>
                      <a:prstDash val="solid"/>
                      <a:round/>
                      <a:headEnd type="none" w="med" len="med"/>
                      <a:tailEnd type="none" w="med" len="med"/>
                    </a:lnL>
                    <a:lnR w="12700" cap="flat" cmpd="sng" algn="ctr">
                      <a:solidFill>
                        <a:srgbClr val="403F40"/>
                      </a:solidFill>
                      <a:prstDash val="solid"/>
                      <a:round/>
                      <a:headEnd type="none" w="med" len="med"/>
                      <a:tailEnd type="none" w="med" len="med"/>
                    </a:lnR>
                    <a:lnT w="12700" cap="flat" cmpd="sng" algn="ctr">
                      <a:solidFill>
                        <a:srgbClr val="4E4E4F"/>
                      </a:solidFill>
                      <a:prstDash val="solid"/>
                      <a:round/>
                      <a:headEnd type="none" w="med" len="med"/>
                      <a:tailEnd type="none" w="med" len="med"/>
                    </a:lnT>
                    <a:lnB w="12700" cap="flat" cmpd="sng" algn="ctr">
                      <a:solidFill>
                        <a:srgbClr val="403F40"/>
                      </a:solidFill>
                      <a:prstDash val="solid"/>
                      <a:round/>
                      <a:headEnd type="none" w="med" len="med"/>
                      <a:tailEnd type="none" w="med" len="med"/>
                    </a:lnB>
                  </a:tcPr>
                </a:tc>
                <a:tc>
                  <a:txBody>
                    <a:bodyPr/>
                    <a:lstStyle/>
                    <a:p>
                      <a:pPr marL="0" indent="0" algn="ctr">
                        <a:lnSpc>
                          <a:spcPts val="1820"/>
                        </a:lnSpc>
                        <a:buNone/>
                      </a:pPr>
                      <a:r>
                        <a:rPr lang="en-US" sz="1300" dirty="0">
                          <a:solidFill>
                            <a:srgbClr val="E4E4E7"/>
                          </a:solidFill>
                          <a:latin typeface="Arial" pitchFamily="34" charset="0"/>
                          <a:ea typeface="Arial" pitchFamily="34" charset="-122"/>
                          <a:cs typeface="Arial" pitchFamily="34" charset="-120"/>
                        </a:rPr>
                        <a:t>110</a:t>
                      </a:r>
                      <a:endParaRPr lang="en-US" sz="1300" dirty="0">
                        <a:latin typeface="Arial" charset="0"/>
                        <a:ea typeface="Arial" charset="0"/>
                        <a:cs typeface="Arial" charset="0"/>
                      </a:endParaRPr>
                    </a:p>
                  </a:txBody>
                  <a:tcPr marL="57785" marR="57785" marT="57785" marB="57785">
                    <a:lnL w="12700" cap="flat" cmpd="sng" algn="ctr">
                      <a:solidFill>
                        <a:srgbClr val="403F40"/>
                      </a:solidFill>
                      <a:prstDash val="solid"/>
                      <a:round/>
                      <a:headEnd type="none" w="med" len="med"/>
                      <a:tailEnd type="none" w="med" len="med"/>
                    </a:lnL>
                    <a:lnR w="12700" cap="flat" cmpd="sng" algn="ctr">
                      <a:solidFill>
                        <a:srgbClr val="403F40"/>
                      </a:solidFill>
                      <a:prstDash val="solid"/>
                      <a:round/>
                      <a:headEnd type="none" w="med" len="med"/>
                      <a:tailEnd type="none" w="med" len="med"/>
                    </a:lnR>
                    <a:lnT w="12700" cap="flat" cmpd="sng" algn="ctr">
                      <a:solidFill>
                        <a:srgbClr val="4E4E4F"/>
                      </a:solidFill>
                      <a:prstDash val="solid"/>
                      <a:round/>
                      <a:headEnd type="none" w="med" len="med"/>
                      <a:tailEnd type="none" w="med" len="med"/>
                    </a:lnT>
                    <a:lnB w="12700" cap="flat" cmpd="sng" algn="ctr">
                      <a:solidFill>
                        <a:srgbClr val="403F40"/>
                      </a:solidFill>
                      <a:prstDash val="solid"/>
                      <a:round/>
                      <a:headEnd type="none" w="med" len="med"/>
                      <a:tailEnd type="none" w="med" len="med"/>
                    </a:lnB>
                  </a:tcPr>
                </a:tc>
                <a:tc>
                  <a:txBody>
                    <a:bodyPr/>
                    <a:lstStyle/>
                    <a:p>
                      <a:pPr marL="0" indent="0" algn="ctr">
                        <a:lnSpc>
                          <a:spcPts val="1820"/>
                        </a:lnSpc>
                        <a:buNone/>
                      </a:pPr>
                      <a:r>
                        <a:rPr lang="en-US" sz="1300" dirty="0">
                          <a:solidFill>
                            <a:srgbClr val="FF5C77"/>
                          </a:solidFill>
                          <a:latin typeface="Arial" pitchFamily="34" charset="0"/>
                          <a:ea typeface="Arial" pitchFamily="34" charset="-122"/>
                          <a:cs typeface="Arial" pitchFamily="34" charset="-120"/>
                        </a:rPr>
                        <a:t>10</a:t>
                      </a:r>
                      <a:endParaRPr lang="en-US" sz="1300" dirty="0">
                        <a:latin typeface="Arial" charset="0"/>
                        <a:ea typeface="Arial" charset="0"/>
                        <a:cs typeface="Arial" charset="0"/>
                      </a:endParaRPr>
                    </a:p>
                  </a:txBody>
                  <a:tcPr marL="57785" marR="57785" marT="57785" marB="57785">
                    <a:lnL w="12700" cap="flat" cmpd="sng" algn="ctr">
                      <a:solidFill>
                        <a:srgbClr val="403F40"/>
                      </a:solidFill>
                      <a:prstDash val="solid"/>
                      <a:round/>
                      <a:headEnd type="none" w="med" len="med"/>
                      <a:tailEnd type="none" w="med" len="med"/>
                    </a:lnL>
                    <a:lnR w="12700" cap="flat" cmpd="sng" algn="ctr">
                      <a:solidFill>
                        <a:srgbClr val="403F40"/>
                      </a:solidFill>
                      <a:prstDash val="solid"/>
                      <a:round/>
                      <a:headEnd type="none" w="med" len="med"/>
                      <a:tailEnd type="none" w="med" len="med"/>
                    </a:lnR>
                    <a:lnT w="12700" cap="flat" cmpd="sng" algn="ctr">
                      <a:solidFill>
                        <a:srgbClr val="4E4E4F"/>
                      </a:solidFill>
                      <a:prstDash val="solid"/>
                      <a:round/>
                      <a:headEnd type="none" w="med" len="med"/>
                      <a:tailEnd type="none" w="med" len="med"/>
                    </a:lnT>
                    <a:lnB w="12700" cap="flat" cmpd="sng" algn="ctr">
                      <a:solidFill>
                        <a:srgbClr val="403F40"/>
                      </a:solidFill>
                      <a:prstDash val="solid"/>
                      <a:round/>
                      <a:headEnd type="none" w="med" len="med"/>
                      <a:tailEnd type="none" w="med" len="med"/>
                    </a:lnB>
                  </a:tcPr>
                </a:tc>
                <a:extLst>
                  <a:ext uri="{0D108BD9-81ED-4DB2-BD59-A6C34878D82A}">
                    <a16:rowId xmlns:a16="http://schemas.microsoft.com/office/drawing/2014/main" val="10001"/>
                  </a:ext>
                </a:extLst>
              </a:tr>
              <a:tr h="359271">
                <a:tc>
                  <a:txBody>
                    <a:bodyPr/>
                    <a:lstStyle/>
                    <a:p>
                      <a:pPr marL="0" indent="0">
                        <a:lnSpc>
                          <a:spcPts val="1820"/>
                        </a:lnSpc>
                        <a:buNone/>
                      </a:pPr>
                      <a:r>
                        <a:rPr lang="en-US" sz="1300" dirty="0">
                          <a:solidFill>
                            <a:srgbClr val="E4E4E7"/>
                          </a:solidFill>
                          <a:latin typeface="Arial" pitchFamily="34" charset="0"/>
                          <a:ea typeface="Arial" pitchFamily="34" charset="-122"/>
                          <a:cs typeface="Arial" pitchFamily="34" charset="-120"/>
                        </a:rPr>
                        <a:t>Martes</a:t>
                      </a:r>
                      <a:endParaRPr lang="en-US" sz="1300" dirty="0">
                        <a:latin typeface="Arial" charset="0"/>
                        <a:ea typeface="Arial" charset="0"/>
                        <a:cs typeface="Arial" charset="0"/>
                      </a:endParaRPr>
                    </a:p>
                  </a:txBody>
                  <a:tcPr marL="57785" marR="57785" marT="57785" marB="57785">
                    <a:lnL w="12700" cap="flat" cmpd="sng" algn="ctr">
                      <a:solidFill>
                        <a:srgbClr val="403F40"/>
                      </a:solidFill>
                      <a:prstDash val="solid"/>
                      <a:round/>
                      <a:headEnd type="none" w="med" len="med"/>
                      <a:tailEnd type="none" w="med" len="med"/>
                    </a:lnL>
                    <a:lnR w="12700" cap="flat" cmpd="sng" algn="ctr">
                      <a:solidFill>
                        <a:srgbClr val="403F40"/>
                      </a:solidFill>
                      <a:prstDash val="solid"/>
                      <a:round/>
                      <a:headEnd type="none" w="med" len="med"/>
                      <a:tailEnd type="none" w="med" len="med"/>
                    </a:lnR>
                    <a:lnT w="12700" cap="flat" cmpd="sng" algn="ctr">
                      <a:solidFill>
                        <a:srgbClr val="403F40"/>
                      </a:solidFill>
                      <a:prstDash val="solid"/>
                      <a:round/>
                      <a:headEnd type="none" w="med" len="med"/>
                      <a:tailEnd type="none" w="med" len="med"/>
                    </a:lnT>
                    <a:lnB w="12700" cap="flat" cmpd="sng" algn="ctr">
                      <a:solidFill>
                        <a:srgbClr val="403F40"/>
                      </a:solidFill>
                      <a:prstDash val="solid"/>
                      <a:round/>
                      <a:headEnd type="none" w="med" len="med"/>
                      <a:tailEnd type="none" w="med" len="med"/>
                    </a:lnB>
                  </a:tcPr>
                </a:tc>
                <a:tc>
                  <a:txBody>
                    <a:bodyPr/>
                    <a:lstStyle/>
                    <a:p>
                      <a:pPr marL="0" indent="0" algn="ctr">
                        <a:lnSpc>
                          <a:spcPts val="1820"/>
                        </a:lnSpc>
                        <a:buNone/>
                      </a:pPr>
                      <a:r>
                        <a:rPr lang="en-US" sz="1300" dirty="0">
                          <a:solidFill>
                            <a:srgbClr val="E4E4E7"/>
                          </a:solidFill>
                          <a:latin typeface="Arial" pitchFamily="34" charset="0"/>
                          <a:ea typeface="Arial" pitchFamily="34" charset="-122"/>
                          <a:cs typeface="Arial" pitchFamily="34" charset="-120"/>
                        </a:rPr>
                        <a:t>120</a:t>
                      </a:r>
                      <a:endParaRPr lang="en-US" sz="1300" dirty="0">
                        <a:latin typeface="Arial" charset="0"/>
                        <a:ea typeface="Arial" charset="0"/>
                        <a:cs typeface="Arial" charset="0"/>
                      </a:endParaRPr>
                    </a:p>
                  </a:txBody>
                  <a:tcPr marL="57785" marR="57785" marT="57785" marB="57785">
                    <a:lnL w="12700" cap="flat" cmpd="sng" algn="ctr">
                      <a:solidFill>
                        <a:srgbClr val="403F40"/>
                      </a:solidFill>
                      <a:prstDash val="solid"/>
                      <a:round/>
                      <a:headEnd type="none" w="med" len="med"/>
                      <a:tailEnd type="none" w="med" len="med"/>
                    </a:lnL>
                    <a:lnR w="12700" cap="flat" cmpd="sng" algn="ctr">
                      <a:solidFill>
                        <a:srgbClr val="403F40"/>
                      </a:solidFill>
                      <a:prstDash val="solid"/>
                      <a:round/>
                      <a:headEnd type="none" w="med" len="med"/>
                      <a:tailEnd type="none" w="med" len="med"/>
                    </a:lnR>
                    <a:lnT w="12700" cap="flat" cmpd="sng" algn="ctr">
                      <a:solidFill>
                        <a:srgbClr val="403F40"/>
                      </a:solidFill>
                      <a:prstDash val="solid"/>
                      <a:round/>
                      <a:headEnd type="none" w="med" len="med"/>
                      <a:tailEnd type="none" w="med" len="med"/>
                    </a:lnT>
                    <a:lnB w="12700" cap="flat" cmpd="sng" algn="ctr">
                      <a:solidFill>
                        <a:srgbClr val="403F40"/>
                      </a:solidFill>
                      <a:prstDash val="solid"/>
                      <a:round/>
                      <a:headEnd type="none" w="med" len="med"/>
                      <a:tailEnd type="none" w="med" len="med"/>
                    </a:lnB>
                  </a:tcPr>
                </a:tc>
                <a:tc>
                  <a:txBody>
                    <a:bodyPr/>
                    <a:lstStyle/>
                    <a:p>
                      <a:pPr marL="0" indent="0" algn="ctr">
                        <a:lnSpc>
                          <a:spcPts val="1820"/>
                        </a:lnSpc>
                        <a:buNone/>
                      </a:pPr>
                      <a:r>
                        <a:rPr lang="en-US" sz="1300" dirty="0">
                          <a:solidFill>
                            <a:srgbClr val="E4E4E7"/>
                          </a:solidFill>
                          <a:latin typeface="Arial" pitchFamily="34" charset="0"/>
                          <a:ea typeface="Arial" pitchFamily="34" charset="-122"/>
                          <a:cs typeface="Arial" pitchFamily="34" charset="-120"/>
                        </a:rPr>
                        <a:t>115</a:t>
                      </a:r>
                      <a:endParaRPr lang="en-US" sz="1300" dirty="0">
                        <a:latin typeface="Arial" charset="0"/>
                        <a:ea typeface="Arial" charset="0"/>
                        <a:cs typeface="Arial" charset="0"/>
                      </a:endParaRPr>
                    </a:p>
                  </a:txBody>
                  <a:tcPr marL="57785" marR="57785" marT="57785" marB="57785">
                    <a:lnL w="12700" cap="flat" cmpd="sng" algn="ctr">
                      <a:solidFill>
                        <a:srgbClr val="403F40"/>
                      </a:solidFill>
                      <a:prstDash val="solid"/>
                      <a:round/>
                      <a:headEnd type="none" w="med" len="med"/>
                      <a:tailEnd type="none" w="med" len="med"/>
                    </a:lnL>
                    <a:lnR w="12700" cap="flat" cmpd="sng" algn="ctr">
                      <a:solidFill>
                        <a:srgbClr val="403F40"/>
                      </a:solidFill>
                      <a:prstDash val="solid"/>
                      <a:round/>
                      <a:headEnd type="none" w="med" len="med"/>
                      <a:tailEnd type="none" w="med" len="med"/>
                    </a:lnR>
                    <a:lnT w="12700" cap="flat" cmpd="sng" algn="ctr">
                      <a:solidFill>
                        <a:srgbClr val="403F40"/>
                      </a:solidFill>
                      <a:prstDash val="solid"/>
                      <a:round/>
                      <a:headEnd type="none" w="med" len="med"/>
                      <a:tailEnd type="none" w="med" len="med"/>
                    </a:lnT>
                    <a:lnB w="12700" cap="flat" cmpd="sng" algn="ctr">
                      <a:solidFill>
                        <a:srgbClr val="403F40"/>
                      </a:solidFill>
                      <a:prstDash val="solid"/>
                      <a:round/>
                      <a:headEnd type="none" w="med" len="med"/>
                      <a:tailEnd type="none" w="med" len="med"/>
                    </a:lnB>
                  </a:tcPr>
                </a:tc>
                <a:tc>
                  <a:txBody>
                    <a:bodyPr/>
                    <a:lstStyle/>
                    <a:p>
                      <a:pPr marL="0" indent="0" algn="ctr">
                        <a:lnSpc>
                          <a:spcPts val="1820"/>
                        </a:lnSpc>
                        <a:buNone/>
                      </a:pPr>
                      <a:r>
                        <a:rPr lang="en-US" sz="1300" dirty="0">
                          <a:solidFill>
                            <a:srgbClr val="FF5C77"/>
                          </a:solidFill>
                          <a:latin typeface="Arial" pitchFamily="34" charset="0"/>
                          <a:ea typeface="Arial" pitchFamily="34" charset="-122"/>
                          <a:cs typeface="Arial" pitchFamily="34" charset="-120"/>
                        </a:rPr>
                        <a:t>5</a:t>
                      </a:r>
                      <a:endParaRPr lang="en-US" sz="1300" dirty="0">
                        <a:latin typeface="Arial" charset="0"/>
                        <a:ea typeface="Arial" charset="0"/>
                        <a:cs typeface="Arial" charset="0"/>
                      </a:endParaRPr>
                    </a:p>
                  </a:txBody>
                  <a:tcPr marL="57785" marR="57785" marT="57785" marB="57785">
                    <a:lnL w="12700" cap="flat" cmpd="sng" algn="ctr">
                      <a:solidFill>
                        <a:srgbClr val="403F40"/>
                      </a:solidFill>
                      <a:prstDash val="solid"/>
                      <a:round/>
                      <a:headEnd type="none" w="med" len="med"/>
                      <a:tailEnd type="none" w="med" len="med"/>
                    </a:lnL>
                    <a:lnR w="12700" cap="flat" cmpd="sng" algn="ctr">
                      <a:solidFill>
                        <a:srgbClr val="403F40"/>
                      </a:solidFill>
                      <a:prstDash val="solid"/>
                      <a:round/>
                      <a:headEnd type="none" w="med" len="med"/>
                      <a:tailEnd type="none" w="med" len="med"/>
                    </a:lnR>
                    <a:lnT w="12700" cap="flat" cmpd="sng" algn="ctr">
                      <a:solidFill>
                        <a:srgbClr val="403F40"/>
                      </a:solidFill>
                      <a:prstDash val="solid"/>
                      <a:round/>
                      <a:headEnd type="none" w="med" len="med"/>
                      <a:tailEnd type="none" w="med" len="med"/>
                    </a:lnT>
                    <a:lnB w="12700" cap="flat" cmpd="sng" algn="ctr">
                      <a:solidFill>
                        <a:srgbClr val="403F40"/>
                      </a:solidFill>
                      <a:prstDash val="solid"/>
                      <a:round/>
                      <a:headEnd type="none" w="med" len="med"/>
                      <a:tailEnd type="none" w="med" len="med"/>
                    </a:lnB>
                  </a:tcPr>
                </a:tc>
                <a:extLst>
                  <a:ext uri="{0D108BD9-81ED-4DB2-BD59-A6C34878D82A}">
                    <a16:rowId xmlns:a16="http://schemas.microsoft.com/office/drawing/2014/main" val="10002"/>
                  </a:ext>
                </a:extLst>
              </a:tr>
              <a:tr h="359271">
                <a:tc>
                  <a:txBody>
                    <a:bodyPr/>
                    <a:lstStyle/>
                    <a:p>
                      <a:pPr marL="0" indent="0">
                        <a:lnSpc>
                          <a:spcPts val="1820"/>
                        </a:lnSpc>
                        <a:buNone/>
                      </a:pPr>
                      <a:r>
                        <a:rPr lang="en-US" sz="1300" dirty="0">
                          <a:solidFill>
                            <a:srgbClr val="E4E4E7"/>
                          </a:solidFill>
                          <a:latin typeface="Arial" pitchFamily="34" charset="0"/>
                          <a:ea typeface="Arial" pitchFamily="34" charset="-122"/>
                          <a:cs typeface="Arial" pitchFamily="34" charset="-120"/>
                        </a:rPr>
                        <a:t>Miércoles</a:t>
                      </a:r>
                      <a:endParaRPr lang="en-US" sz="1300" dirty="0">
                        <a:latin typeface="Arial" charset="0"/>
                        <a:ea typeface="Arial" charset="0"/>
                        <a:cs typeface="Arial" charset="0"/>
                      </a:endParaRPr>
                    </a:p>
                  </a:txBody>
                  <a:tcPr marL="57785" marR="57785" marT="57785" marB="57785">
                    <a:lnL w="12700" cap="flat" cmpd="sng" algn="ctr">
                      <a:solidFill>
                        <a:srgbClr val="403F40"/>
                      </a:solidFill>
                      <a:prstDash val="solid"/>
                      <a:round/>
                      <a:headEnd type="none" w="med" len="med"/>
                      <a:tailEnd type="none" w="med" len="med"/>
                    </a:lnL>
                    <a:lnR w="12700" cap="flat" cmpd="sng" algn="ctr">
                      <a:solidFill>
                        <a:srgbClr val="403F40"/>
                      </a:solidFill>
                      <a:prstDash val="solid"/>
                      <a:round/>
                      <a:headEnd type="none" w="med" len="med"/>
                      <a:tailEnd type="none" w="med" len="med"/>
                    </a:lnR>
                    <a:lnT w="12700" cap="flat" cmpd="sng" algn="ctr">
                      <a:solidFill>
                        <a:srgbClr val="403F40"/>
                      </a:solidFill>
                      <a:prstDash val="solid"/>
                      <a:round/>
                      <a:headEnd type="none" w="med" len="med"/>
                      <a:tailEnd type="none" w="med" len="med"/>
                    </a:lnT>
                    <a:lnB w="12700" cap="flat" cmpd="sng" algn="ctr">
                      <a:solidFill>
                        <a:srgbClr val="403F40"/>
                      </a:solidFill>
                      <a:prstDash val="solid"/>
                      <a:round/>
                      <a:headEnd type="none" w="med" len="med"/>
                      <a:tailEnd type="none" w="med" len="med"/>
                    </a:lnB>
                  </a:tcPr>
                </a:tc>
                <a:tc>
                  <a:txBody>
                    <a:bodyPr/>
                    <a:lstStyle/>
                    <a:p>
                      <a:pPr marL="0" indent="0" algn="ctr">
                        <a:lnSpc>
                          <a:spcPts val="1820"/>
                        </a:lnSpc>
                        <a:buNone/>
                      </a:pPr>
                      <a:r>
                        <a:rPr lang="en-US" sz="1300" dirty="0">
                          <a:solidFill>
                            <a:srgbClr val="E4E4E7"/>
                          </a:solidFill>
                          <a:latin typeface="Arial" pitchFamily="34" charset="0"/>
                          <a:ea typeface="Arial" pitchFamily="34" charset="-122"/>
                          <a:cs typeface="Arial" pitchFamily="34" charset="-120"/>
                        </a:rPr>
                        <a:t>90</a:t>
                      </a:r>
                      <a:endParaRPr lang="en-US" sz="1300" dirty="0">
                        <a:latin typeface="Arial" charset="0"/>
                        <a:ea typeface="Arial" charset="0"/>
                        <a:cs typeface="Arial" charset="0"/>
                      </a:endParaRPr>
                    </a:p>
                  </a:txBody>
                  <a:tcPr marL="57785" marR="57785" marT="57785" marB="57785">
                    <a:lnL w="12700" cap="flat" cmpd="sng" algn="ctr">
                      <a:solidFill>
                        <a:srgbClr val="403F40"/>
                      </a:solidFill>
                      <a:prstDash val="solid"/>
                      <a:round/>
                      <a:headEnd type="none" w="med" len="med"/>
                      <a:tailEnd type="none" w="med" len="med"/>
                    </a:lnL>
                    <a:lnR w="12700" cap="flat" cmpd="sng" algn="ctr">
                      <a:solidFill>
                        <a:srgbClr val="403F40"/>
                      </a:solidFill>
                      <a:prstDash val="solid"/>
                      <a:round/>
                      <a:headEnd type="none" w="med" len="med"/>
                      <a:tailEnd type="none" w="med" len="med"/>
                    </a:lnR>
                    <a:lnT w="12700" cap="flat" cmpd="sng" algn="ctr">
                      <a:solidFill>
                        <a:srgbClr val="403F40"/>
                      </a:solidFill>
                      <a:prstDash val="solid"/>
                      <a:round/>
                      <a:headEnd type="none" w="med" len="med"/>
                      <a:tailEnd type="none" w="med" len="med"/>
                    </a:lnT>
                    <a:lnB w="12700" cap="flat" cmpd="sng" algn="ctr">
                      <a:solidFill>
                        <a:srgbClr val="403F40"/>
                      </a:solidFill>
                      <a:prstDash val="solid"/>
                      <a:round/>
                      <a:headEnd type="none" w="med" len="med"/>
                      <a:tailEnd type="none" w="med" len="med"/>
                    </a:lnB>
                  </a:tcPr>
                </a:tc>
                <a:tc>
                  <a:txBody>
                    <a:bodyPr/>
                    <a:lstStyle/>
                    <a:p>
                      <a:pPr marL="0" indent="0" algn="ctr">
                        <a:lnSpc>
                          <a:spcPts val="1820"/>
                        </a:lnSpc>
                        <a:buNone/>
                      </a:pPr>
                      <a:r>
                        <a:rPr lang="en-US" sz="1300" dirty="0">
                          <a:solidFill>
                            <a:srgbClr val="E4E4E7"/>
                          </a:solidFill>
                          <a:latin typeface="Arial" pitchFamily="34" charset="0"/>
                          <a:ea typeface="Arial" pitchFamily="34" charset="-122"/>
                          <a:cs typeface="Arial" pitchFamily="34" charset="-120"/>
                        </a:rPr>
                        <a:t>100</a:t>
                      </a:r>
                      <a:endParaRPr lang="en-US" sz="1300" dirty="0">
                        <a:latin typeface="Arial" charset="0"/>
                        <a:ea typeface="Arial" charset="0"/>
                        <a:cs typeface="Arial" charset="0"/>
                      </a:endParaRPr>
                    </a:p>
                  </a:txBody>
                  <a:tcPr marL="57785" marR="57785" marT="57785" marB="57785">
                    <a:lnL w="12700" cap="flat" cmpd="sng" algn="ctr">
                      <a:solidFill>
                        <a:srgbClr val="403F40"/>
                      </a:solidFill>
                      <a:prstDash val="solid"/>
                      <a:round/>
                      <a:headEnd type="none" w="med" len="med"/>
                      <a:tailEnd type="none" w="med" len="med"/>
                    </a:lnL>
                    <a:lnR w="12700" cap="flat" cmpd="sng" algn="ctr">
                      <a:solidFill>
                        <a:srgbClr val="403F40"/>
                      </a:solidFill>
                      <a:prstDash val="solid"/>
                      <a:round/>
                      <a:headEnd type="none" w="med" len="med"/>
                      <a:tailEnd type="none" w="med" len="med"/>
                    </a:lnR>
                    <a:lnT w="12700" cap="flat" cmpd="sng" algn="ctr">
                      <a:solidFill>
                        <a:srgbClr val="403F40"/>
                      </a:solidFill>
                      <a:prstDash val="solid"/>
                      <a:round/>
                      <a:headEnd type="none" w="med" len="med"/>
                      <a:tailEnd type="none" w="med" len="med"/>
                    </a:lnT>
                    <a:lnB w="12700" cap="flat" cmpd="sng" algn="ctr">
                      <a:solidFill>
                        <a:srgbClr val="403F40"/>
                      </a:solidFill>
                      <a:prstDash val="solid"/>
                      <a:round/>
                      <a:headEnd type="none" w="med" len="med"/>
                      <a:tailEnd type="none" w="med" len="med"/>
                    </a:lnB>
                  </a:tcPr>
                </a:tc>
                <a:tc>
                  <a:txBody>
                    <a:bodyPr/>
                    <a:lstStyle/>
                    <a:p>
                      <a:pPr marL="0" indent="0" algn="ctr">
                        <a:lnSpc>
                          <a:spcPts val="1820"/>
                        </a:lnSpc>
                        <a:buNone/>
                      </a:pPr>
                      <a:r>
                        <a:rPr lang="en-US" sz="1300" dirty="0">
                          <a:solidFill>
                            <a:srgbClr val="FF5C77"/>
                          </a:solidFill>
                          <a:latin typeface="Arial" pitchFamily="34" charset="0"/>
                          <a:ea typeface="Arial" pitchFamily="34" charset="-122"/>
                          <a:cs typeface="Arial" pitchFamily="34" charset="-120"/>
                        </a:rPr>
                        <a:t>10</a:t>
                      </a:r>
                      <a:endParaRPr lang="en-US" sz="1300" dirty="0">
                        <a:latin typeface="Arial" charset="0"/>
                        <a:ea typeface="Arial" charset="0"/>
                        <a:cs typeface="Arial" charset="0"/>
                      </a:endParaRPr>
                    </a:p>
                  </a:txBody>
                  <a:tcPr marL="57785" marR="57785" marT="57785" marB="57785">
                    <a:lnL w="12700" cap="flat" cmpd="sng" algn="ctr">
                      <a:solidFill>
                        <a:srgbClr val="403F40"/>
                      </a:solidFill>
                      <a:prstDash val="solid"/>
                      <a:round/>
                      <a:headEnd type="none" w="med" len="med"/>
                      <a:tailEnd type="none" w="med" len="med"/>
                    </a:lnL>
                    <a:lnR w="12700" cap="flat" cmpd="sng" algn="ctr">
                      <a:solidFill>
                        <a:srgbClr val="403F40"/>
                      </a:solidFill>
                      <a:prstDash val="solid"/>
                      <a:round/>
                      <a:headEnd type="none" w="med" len="med"/>
                      <a:tailEnd type="none" w="med" len="med"/>
                    </a:lnR>
                    <a:lnT w="12700" cap="flat" cmpd="sng" algn="ctr">
                      <a:solidFill>
                        <a:srgbClr val="403F40"/>
                      </a:solidFill>
                      <a:prstDash val="solid"/>
                      <a:round/>
                      <a:headEnd type="none" w="med" len="med"/>
                      <a:tailEnd type="none" w="med" len="med"/>
                    </a:lnT>
                    <a:lnB w="12700" cap="flat" cmpd="sng" algn="ctr">
                      <a:solidFill>
                        <a:srgbClr val="403F40"/>
                      </a:solidFill>
                      <a:prstDash val="solid"/>
                      <a:round/>
                      <a:headEnd type="none" w="med" len="med"/>
                      <a:tailEnd type="none" w="med" len="med"/>
                    </a:lnB>
                  </a:tcPr>
                </a:tc>
                <a:extLst>
                  <a:ext uri="{0D108BD9-81ED-4DB2-BD59-A6C34878D82A}">
                    <a16:rowId xmlns:a16="http://schemas.microsoft.com/office/drawing/2014/main" val="10003"/>
                  </a:ext>
                </a:extLst>
              </a:tr>
              <a:tr h="359271">
                <a:tc>
                  <a:txBody>
                    <a:bodyPr/>
                    <a:lstStyle/>
                    <a:p>
                      <a:pPr marL="0" indent="0">
                        <a:lnSpc>
                          <a:spcPts val="1820"/>
                        </a:lnSpc>
                        <a:buNone/>
                      </a:pPr>
                      <a:r>
                        <a:rPr lang="en-US" sz="1300" dirty="0">
                          <a:solidFill>
                            <a:srgbClr val="E4E4E7"/>
                          </a:solidFill>
                          <a:latin typeface="Arial" pitchFamily="34" charset="0"/>
                          <a:ea typeface="Arial" pitchFamily="34" charset="-122"/>
                          <a:cs typeface="Arial" pitchFamily="34" charset="-120"/>
                        </a:rPr>
                        <a:t>Jueves</a:t>
                      </a:r>
                      <a:endParaRPr lang="en-US" sz="1300" dirty="0">
                        <a:latin typeface="Arial" charset="0"/>
                        <a:ea typeface="Arial" charset="0"/>
                        <a:cs typeface="Arial" charset="0"/>
                      </a:endParaRPr>
                    </a:p>
                  </a:txBody>
                  <a:tcPr marL="57785" marR="57785" marT="57785" marB="57785">
                    <a:lnL w="12700" cap="flat" cmpd="sng" algn="ctr">
                      <a:solidFill>
                        <a:srgbClr val="403F40"/>
                      </a:solidFill>
                      <a:prstDash val="solid"/>
                      <a:round/>
                      <a:headEnd type="none" w="med" len="med"/>
                      <a:tailEnd type="none" w="med" len="med"/>
                    </a:lnL>
                    <a:lnR w="12700" cap="flat" cmpd="sng" algn="ctr">
                      <a:solidFill>
                        <a:srgbClr val="403F40"/>
                      </a:solidFill>
                      <a:prstDash val="solid"/>
                      <a:round/>
                      <a:headEnd type="none" w="med" len="med"/>
                      <a:tailEnd type="none" w="med" len="med"/>
                    </a:lnR>
                    <a:lnT w="12700" cap="flat" cmpd="sng" algn="ctr">
                      <a:solidFill>
                        <a:srgbClr val="403F40"/>
                      </a:solidFill>
                      <a:prstDash val="solid"/>
                      <a:round/>
                      <a:headEnd type="none" w="med" len="med"/>
                      <a:tailEnd type="none" w="med" len="med"/>
                    </a:lnT>
                    <a:lnB w="12700" cap="flat" cmpd="sng" algn="ctr">
                      <a:solidFill>
                        <a:srgbClr val="403F40"/>
                      </a:solidFill>
                      <a:prstDash val="solid"/>
                      <a:round/>
                      <a:headEnd type="none" w="med" len="med"/>
                      <a:tailEnd type="none" w="med" len="med"/>
                    </a:lnB>
                  </a:tcPr>
                </a:tc>
                <a:tc>
                  <a:txBody>
                    <a:bodyPr/>
                    <a:lstStyle/>
                    <a:p>
                      <a:pPr marL="0" indent="0" algn="ctr">
                        <a:lnSpc>
                          <a:spcPts val="1820"/>
                        </a:lnSpc>
                        <a:buNone/>
                      </a:pPr>
                      <a:r>
                        <a:rPr lang="en-US" sz="1300" dirty="0">
                          <a:solidFill>
                            <a:srgbClr val="E4E4E7"/>
                          </a:solidFill>
                          <a:latin typeface="Arial" pitchFamily="34" charset="0"/>
                          <a:ea typeface="Arial" pitchFamily="34" charset="-122"/>
                          <a:cs typeface="Arial" pitchFamily="34" charset="-120"/>
                        </a:rPr>
                        <a:t>150</a:t>
                      </a:r>
                      <a:endParaRPr lang="en-US" sz="1300" dirty="0">
                        <a:latin typeface="Arial" charset="0"/>
                        <a:ea typeface="Arial" charset="0"/>
                        <a:cs typeface="Arial" charset="0"/>
                      </a:endParaRPr>
                    </a:p>
                  </a:txBody>
                  <a:tcPr marL="57785" marR="57785" marT="57785" marB="57785">
                    <a:lnL w="12700" cap="flat" cmpd="sng" algn="ctr">
                      <a:solidFill>
                        <a:srgbClr val="403F40"/>
                      </a:solidFill>
                      <a:prstDash val="solid"/>
                      <a:round/>
                      <a:headEnd type="none" w="med" len="med"/>
                      <a:tailEnd type="none" w="med" len="med"/>
                    </a:lnL>
                    <a:lnR w="12700" cap="flat" cmpd="sng" algn="ctr">
                      <a:solidFill>
                        <a:srgbClr val="403F40"/>
                      </a:solidFill>
                      <a:prstDash val="solid"/>
                      <a:round/>
                      <a:headEnd type="none" w="med" len="med"/>
                      <a:tailEnd type="none" w="med" len="med"/>
                    </a:lnR>
                    <a:lnT w="12700" cap="flat" cmpd="sng" algn="ctr">
                      <a:solidFill>
                        <a:srgbClr val="403F40"/>
                      </a:solidFill>
                      <a:prstDash val="solid"/>
                      <a:round/>
                      <a:headEnd type="none" w="med" len="med"/>
                      <a:tailEnd type="none" w="med" len="med"/>
                    </a:lnT>
                    <a:lnB w="12700" cap="flat" cmpd="sng" algn="ctr">
                      <a:solidFill>
                        <a:srgbClr val="403F40"/>
                      </a:solidFill>
                      <a:prstDash val="solid"/>
                      <a:round/>
                      <a:headEnd type="none" w="med" len="med"/>
                      <a:tailEnd type="none" w="med" len="med"/>
                    </a:lnB>
                  </a:tcPr>
                </a:tc>
                <a:tc>
                  <a:txBody>
                    <a:bodyPr/>
                    <a:lstStyle/>
                    <a:p>
                      <a:pPr marL="0" indent="0" algn="ctr">
                        <a:lnSpc>
                          <a:spcPts val="1820"/>
                        </a:lnSpc>
                        <a:buNone/>
                      </a:pPr>
                      <a:r>
                        <a:rPr lang="en-US" sz="1300" dirty="0">
                          <a:solidFill>
                            <a:srgbClr val="E4E4E7"/>
                          </a:solidFill>
                          <a:latin typeface="Arial" pitchFamily="34" charset="0"/>
                          <a:ea typeface="Arial" pitchFamily="34" charset="-122"/>
                          <a:cs typeface="Arial" pitchFamily="34" charset="-120"/>
                        </a:rPr>
                        <a:t>140</a:t>
                      </a:r>
                      <a:endParaRPr lang="en-US" sz="1300" dirty="0">
                        <a:latin typeface="Arial" charset="0"/>
                        <a:ea typeface="Arial" charset="0"/>
                        <a:cs typeface="Arial" charset="0"/>
                      </a:endParaRPr>
                    </a:p>
                  </a:txBody>
                  <a:tcPr marL="57785" marR="57785" marT="57785" marB="57785">
                    <a:lnL w="12700" cap="flat" cmpd="sng" algn="ctr">
                      <a:solidFill>
                        <a:srgbClr val="403F40"/>
                      </a:solidFill>
                      <a:prstDash val="solid"/>
                      <a:round/>
                      <a:headEnd type="none" w="med" len="med"/>
                      <a:tailEnd type="none" w="med" len="med"/>
                    </a:lnL>
                    <a:lnR w="12700" cap="flat" cmpd="sng" algn="ctr">
                      <a:solidFill>
                        <a:srgbClr val="403F40"/>
                      </a:solidFill>
                      <a:prstDash val="solid"/>
                      <a:round/>
                      <a:headEnd type="none" w="med" len="med"/>
                      <a:tailEnd type="none" w="med" len="med"/>
                    </a:lnR>
                    <a:lnT w="12700" cap="flat" cmpd="sng" algn="ctr">
                      <a:solidFill>
                        <a:srgbClr val="403F40"/>
                      </a:solidFill>
                      <a:prstDash val="solid"/>
                      <a:round/>
                      <a:headEnd type="none" w="med" len="med"/>
                      <a:tailEnd type="none" w="med" len="med"/>
                    </a:lnT>
                    <a:lnB w="12700" cap="flat" cmpd="sng" algn="ctr">
                      <a:solidFill>
                        <a:srgbClr val="403F40"/>
                      </a:solidFill>
                      <a:prstDash val="solid"/>
                      <a:round/>
                      <a:headEnd type="none" w="med" len="med"/>
                      <a:tailEnd type="none" w="med" len="med"/>
                    </a:lnB>
                  </a:tcPr>
                </a:tc>
                <a:tc>
                  <a:txBody>
                    <a:bodyPr/>
                    <a:lstStyle/>
                    <a:p>
                      <a:pPr marL="0" indent="0" algn="ctr">
                        <a:lnSpc>
                          <a:spcPts val="1820"/>
                        </a:lnSpc>
                        <a:buNone/>
                      </a:pPr>
                      <a:r>
                        <a:rPr lang="en-US" sz="1300" dirty="0">
                          <a:solidFill>
                            <a:srgbClr val="FF5C77"/>
                          </a:solidFill>
                          <a:latin typeface="Arial" pitchFamily="34" charset="0"/>
                          <a:ea typeface="Arial" pitchFamily="34" charset="-122"/>
                          <a:cs typeface="Arial" pitchFamily="34" charset="-120"/>
                        </a:rPr>
                        <a:t>10</a:t>
                      </a:r>
                      <a:endParaRPr lang="en-US" sz="1300" dirty="0">
                        <a:latin typeface="Arial" charset="0"/>
                        <a:ea typeface="Arial" charset="0"/>
                        <a:cs typeface="Arial" charset="0"/>
                      </a:endParaRPr>
                    </a:p>
                  </a:txBody>
                  <a:tcPr marL="57785" marR="57785" marT="57785" marB="57785">
                    <a:lnL w="12700" cap="flat" cmpd="sng" algn="ctr">
                      <a:solidFill>
                        <a:srgbClr val="403F40"/>
                      </a:solidFill>
                      <a:prstDash val="solid"/>
                      <a:round/>
                      <a:headEnd type="none" w="med" len="med"/>
                      <a:tailEnd type="none" w="med" len="med"/>
                    </a:lnL>
                    <a:lnR w="12700" cap="flat" cmpd="sng" algn="ctr">
                      <a:solidFill>
                        <a:srgbClr val="403F40"/>
                      </a:solidFill>
                      <a:prstDash val="solid"/>
                      <a:round/>
                      <a:headEnd type="none" w="med" len="med"/>
                      <a:tailEnd type="none" w="med" len="med"/>
                    </a:lnR>
                    <a:lnT w="12700" cap="flat" cmpd="sng" algn="ctr">
                      <a:solidFill>
                        <a:srgbClr val="403F40"/>
                      </a:solidFill>
                      <a:prstDash val="solid"/>
                      <a:round/>
                      <a:headEnd type="none" w="med" len="med"/>
                      <a:tailEnd type="none" w="med" len="med"/>
                    </a:lnT>
                    <a:lnB w="12700" cap="flat" cmpd="sng" algn="ctr">
                      <a:solidFill>
                        <a:srgbClr val="403F40"/>
                      </a:solidFill>
                      <a:prstDash val="solid"/>
                      <a:round/>
                      <a:headEnd type="none" w="med" len="med"/>
                      <a:tailEnd type="none" w="med" len="med"/>
                    </a:lnB>
                  </a:tcPr>
                </a:tc>
                <a:extLst>
                  <a:ext uri="{0D108BD9-81ED-4DB2-BD59-A6C34878D82A}">
                    <a16:rowId xmlns:a16="http://schemas.microsoft.com/office/drawing/2014/main" val="10004"/>
                  </a:ext>
                </a:extLst>
              </a:tr>
              <a:tr h="359271">
                <a:tc>
                  <a:txBody>
                    <a:bodyPr/>
                    <a:lstStyle/>
                    <a:p>
                      <a:pPr marL="0" indent="0">
                        <a:lnSpc>
                          <a:spcPts val="1820"/>
                        </a:lnSpc>
                        <a:buNone/>
                      </a:pPr>
                      <a:r>
                        <a:rPr lang="en-US" sz="1300" dirty="0">
                          <a:solidFill>
                            <a:srgbClr val="E4E4E7"/>
                          </a:solidFill>
                          <a:latin typeface="Arial" pitchFamily="34" charset="0"/>
                          <a:ea typeface="Arial" pitchFamily="34" charset="-122"/>
                          <a:cs typeface="Arial" pitchFamily="34" charset="-120"/>
                        </a:rPr>
                        <a:t>Viernes</a:t>
                      </a:r>
                      <a:endParaRPr lang="en-US" sz="1300" dirty="0">
                        <a:latin typeface="Arial" charset="0"/>
                        <a:ea typeface="Arial" charset="0"/>
                        <a:cs typeface="Arial" charset="0"/>
                      </a:endParaRPr>
                    </a:p>
                  </a:txBody>
                  <a:tcPr marL="57785" marR="57785" marT="57785" marB="57785">
                    <a:lnL w="12700" cap="flat" cmpd="sng" algn="ctr">
                      <a:solidFill>
                        <a:srgbClr val="403F40"/>
                      </a:solidFill>
                      <a:prstDash val="solid"/>
                      <a:round/>
                      <a:headEnd type="none" w="med" len="med"/>
                      <a:tailEnd type="none" w="med" len="med"/>
                    </a:lnL>
                    <a:lnR w="12700" cap="flat" cmpd="sng" algn="ctr">
                      <a:solidFill>
                        <a:srgbClr val="403F40"/>
                      </a:solidFill>
                      <a:prstDash val="solid"/>
                      <a:round/>
                      <a:headEnd type="none" w="med" len="med"/>
                      <a:tailEnd type="none" w="med" len="med"/>
                    </a:lnR>
                    <a:lnT w="12700" cap="flat" cmpd="sng" algn="ctr">
                      <a:solidFill>
                        <a:srgbClr val="403F40"/>
                      </a:solidFill>
                      <a:prstDash val="solid"/>
                      <a:round/>
                      <a:headEnd type="none" w="med" len="med"/>
                      <a:tailEnd type="none" w="med" len="med"/>
                    </a:lnT>
                    <a:lnB w="12700" cap="flat" cmpd="sng" algn="ctr">
                      <a:solidFill>
                        <a:srgbClr val="403F40"/>
                      </a:solidFill>
                      <a:prstDash val="solid"/>
                      <a:round/>
                      <a:headEnd type="none" w="med" len="med"/>
                      <a:tailEnd type="none" w="med" len="med"/>
                    </a:lnB>
                  </a:tcPr>
                </a:tc>
                <a:tc>
                  <a:txBody>
                    <a:bodyPr/>
                    <a:lstStyle/>
                    <a:p>
                      <a:pPr marL="0" indent="0" algn="ctr">
                        <a:lnSpc>
                          <a:spcPts val="1820"/>
                        </a:lnSpc>
                        <a:buNone/>
                      </a:pPr>
                      <a:r>
                        <a:rPr lang="en-US" sz="1300" dirty="0">
                          <a:solidFill>
                            <a:srgbClr val="E4E4E7"/>
                          </a:solidFill>
                          <a:latin typeface="Arial" pitchFamily="34" charset="0"/>
                          <a:ea typeface="Arial" pitchFamily="34" charset="-122"/>
                          <a:cs typeface="Arial" pitchFamily="34" charset="-120"/>
                        </a:rPr>
                        <a:t>130</a:t>
                      </a:r>
                      <a:endParaRPr lang="en-US" sz="1300" dirty="0">
                        <a:latin typeface="Arial" charset="0"/>
                        <a:ea typeface="Arial" charset="0"/>
                        <a:cs typeface="Arial" charset="0"/>
                      </a:endParaRPr>
                    </a:p>
                  </a:txBody>
                  <a:tcPr marL="57785" marR="57785" marT="57785" marB="57785">
                    <a:lnL w="12700" cap="flat" cmpd="sng" algn="ctr">
                      <a:solidFill>
                        <a:srgbClr val="403F40"/>
                      </a:solidFill>
                      <a:prstDash val="solid"/>
                      <a:round/>
                      <a:headEnd type="none" w="med" len="med"/>
                      <a:tailEnd type="none" w="med" len="med"/>
                    </a:lnL>
                    <a:lnR w="12700" cap="flat" cmpd="sng" algn="ctr">
                      <a:solidFill>
                        <a:srgbClr val="403F40"/>
                      </a:solidFill>
                      <a:prstDash val="solid"/>
                      <a:round/>
                      <a:headEnd type="none" w="med" len="med"/>
                      <a:tailEnd type="none" w="med" len="med"/>
                    </a:lnR>
                    <a:lnT w="12700" cap="flat" cmpd="sng" algn="ctr">
                      <a:solidFill>
                        <a:srgbClr val="403F40"/>
                      </a:solidFill>
                      <a:prstDash val="solid"/>
                      <a:round/>
                      <a:headEnd type="none" w="med" len="med"/>
                      <a:tailEnd type="none" w="med" len="med"/>
                    </a:lnT>
                    <a:lnB w="12700" cap="flat" cmpd="sng" algn="ctr">
                      <a:solidFill>
                        <a:srgbClr val="403F40"/>
                      </a:solidFill>
                      <a:prstDash val="solid"/>
                      <a:round/>
                      <a:headEnd type="none" w="med" len="med"/>
                      <a:tailEnd type="none" w="med" len="med"/>
                    </a:lnB>
                  </a:tcPr>
                </a:tc>
                <a:tc>
                  <a:txBody>
                    <a:bodyPr/>
                    <a:lstStyle/>
                    <a:p>
                      <a:pPr marL="0" indent="0" algn="ctr">
                        <a:lnSpc>
                          <a:spcPts val="1820"/>
                        </a:lnSpc>
                        <a:buNone/>
                      </a:pPr>
                      <a:r>
                        <a:rPr lang="en-US" sz="1300" dirty="0">
                          <a:solidFill>
                            <a:srgbClr val="E4E4E7"/>
                          </a:solidFill>
                          <a:latin typeface="Arial" pitchFamily="34" charset="0"/>
                          <a:ea typeface="Arial" pitchFamily="34" charset="-122"/>
                          <a:cs typeface="Arial" pitchFamily="34" charset="-120"/>
                        </a:rPr>
                        <a:t>135</a:t>
                      </a:r>
                      <a:endParaRPr lang="en-US" sz="1300" dirty="0">
                        <a:latin typeface="Arial" charset="0"/>
                        <a:ea typeface="Arial" charset="0"/>
                        <a:cs typeface="Arial" charset="0"/>
                      </a:endParaRPr>
                    </a:p>
                  </a:txBody>
                  <a:tcPr marL="57785" marR="57785" marT="57785" marB="57785">
                    <a:lnL w="12700" cap="flat" cmpd="sng" algn="ctr">
                      <a:solidFill>
                        <a:srgbClr val="403F40"/>
                      </a:solidFill>
                      <a:prstDash val="solid"/>
                      <a:round/>
                      <a:headEnd type="none" w="med" len="med"/>
                      <a:tailEnd type="none" w="med" len="med"/>
                    </a:lnL>
                    <a:lnR w="12700" cap="flat" cmpd="sng" algn="ctr">
                      <a:solidFill>
                        <a:srgbClr val="403F40"/>
                      </a:solidFill>
                      <a:prstDash val="solid"/>
                      <a:round/>
                      <a:headEnd type="none" w="med" len="med"/>
                      <a:tailEnd type="none" w="med" len="med"/>
                    </a:lnR>
                    <a:lnT w="12700" cap="flat" cmpd="sng" algn="ctr">
                      <a:solidFill>
                        <a:srgbClr val="403F40"/>
                      </a:solidFill>
                      <a:prstDash val="solid"/>
                      <a:round/>
                      <a:headEnd type="none" w="med" len="med"/>
                      <a:tailEnd type="none" w="med" len="med"/>
                    </a:lnT>
                    <a:lnB w="12700" cap="flat" cmpd="sng" algn="ctr">
                      <a:solidFill>
                        <a:srgbClr val="403F40"/>
                      </a:solidFill>
                      <a:prstDash val="solid"/>
                      <a:round/>
                      <a:headEnd type="none" w="med" len="med"/>
                      <a:tailEnd type="none" w="med" len="med"/>
                    </a:lnB>
                  </a:tcPr>
                </a:tc>
                <a:tc>
                  <a:txBody>
                    <a:bodyPr/>
                    <a:lstStyle/>
                    <a:p>
                      <a:pPr marL="0" indent="0" algn="ctr">
                        <a:lnSpc>
                          <a:spcPts val="1820"/>
                        </a:lnSpc>
                        <a:buNone/>
                      </a:pPr>
                      <a:r>
                        <a:rPr lang="en-US" sz="1300" dirty="0">
                          <a:solidFill>
                            <a:srgbClr val="FF5C77"/>
                          </a:solidFill>
                          <a:latin typeface="Arial" pitchFamily="34" charset="0"/>
                          <a:ea typeface="Arial" pitchFamily="34" charset="-122"/>
                          <a:cs typeface="Arial" pitchFamily="34" charset="-120"/>
                        </a:rPr>
                        <a:t>5</a:t>
                      </a:r>
                      <a:endParaRPr lang="en-US" sz="1300" dirty="0">
                        <a:latin typeface="Arial" charset="0"/>
                        <a:ea typeface="Arial" charset="0"/>
                        <a:cs typeface="Arial" charset="0"/>
                      </a:endParaRPr>
                    </a:p>
                  </a:txBody>
                  <a:tcPr marL="57785" marR="57785" marT="57785" marB="57785">
                    <a:lnL w="12700" cap="flat" cmpd="sng" algn="ctr">
                      <a:solidFill>
                        <a:srgbClr val="403F40"/>
                      </a:solidFill>
                      <a:prstDash val="solid"/>
                      <a:round/>
                      <a:headEnd type="none" w="med" len="med"/>
                      <a:tailEnd type="none" w="med" len="med"/>
                    </a:lnL>
                    <a:lnR w="12700" cap="flat" cmpd="sng" algn="ctr">
                      <a:solidFill>
                        <a:srgbClr val="403F40"/>
                      </a:solidFill>
                      <a:prstDash val="solid"/>
                      <a:round/>
                      <a:headEnd type="none" w="med" len="med"/>
                      <a:tailEnd type="none" w="med" len="med"/>
                    </a:lnR>
                    <a:lnT w="12700" cap="flat" cmpd="sng" algn="ctr">
                      <a:solidFill>
                        <a:srgbClr val="403F40"/>
                      </a:solidFill>
                      <a:prstDash val="solid"/>
                      <a:round/>
                      <a:headEnd type="none" w="med" len="med"/>
                      <a:tailEnd type="none" w="med" len="med"/>
                    </a:lnT>
                    <a:lnB w="12700" cap="flat" cmpd="sng" algn="ctr">
                      <a:solidFill>
                        <a:srgbClr val="403F40"/>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6" name="Shape 3"/>
          <p:cNvSpPr/>
          <p:nvPr/>
        </p:nvSpPr>
        <p:spPr>
          <a:xfrm>
            <a:off x="6229350" y="1802011"/>
            <a:ext cx="5143500" cy="1191816"/>
          </a:xfrm>
          <a:prstGeom prst="roundRect">
            <a:avLst>
              <a:gd name="adj" fmla="val 10123"/>
            </a:avLst>
          </a:prstGeom>
          <a:solidFill>
            <a:srgbClr val="1A1A1F"/>
          </a:solidFill>
          <a:ln w="12700">
            <a:solidFill>
              <a:srgbClr val="2C2C33"/>
            </a:solidFill>
            <a:prstDash val="solid"/>
          </a:ln>
        </p:spPr>
        <p:txBody>
          <a:bodyPr/>
          <a:lstStyle/>
          <a:p>
            <a:endParaRPr lang="es-CO"/>
          </a:p>
        </p:txBody>
      </p:sp>
      <p:sp>
        <p:nvSpPr>
          <p:cNvPr id="7" name="Text 4"/>
          <p:cNvSpPr/>
          <p:nvPr/>
        </p:nvSpPr>
        <p:spPr>
          <a:xfrm>
            <a:off x="6438900" y="2011561"/>
            <a:ext cx="4866132" cy="482600"/>
          </a:xfrm>
          <a:prstGeom prst="rect">
            <a:avLst/>
          </a:prstGeom>
          <a:noFill/>
          <a:ln/>
        </p:spPr>
        <p:txBody>
          <a:bodyPr wrap="square" lIns="0" tIns="0" rIns="0" bIns="0" rtlCol="0" anchor="t">
            <a:normAutofit/>
          </a:bodyPr>
          <a:lstStyle/>
          <a:p>
            <a:pPr marL="0" indent="0" algn="l">
              <a:lnSpc>
                <a:spcPts val="3600"/>
              </a:lnSpc>
              <a:buNone/>
            </a:pPr>
            <a:r>
              <a:rPr lang="en-US" sz="3600" b="1" dirty="0">
                <a:solidFill>
                  <a:srgbClr val="E4002B"/>
                </a:solidFill>
                <a:latin typeface="Courier New" pitchFamily="34" charset="0"/>
                <a:ea typeface="Courier New" pitchFamily="34" charset="-122"/>
                <a:cs typeface="Courier New" pitchFamily="34" charset="-120"/>
              </a:rPr>
              <a:t>MAE = 8</a:t>
            </a:r>
            <a:endParaRPr lang="en-US" sz="3600" dirty="0"/>
          </a:p>
        </p:txBody>
      </p:sp>
      <p:sp>
        <p:nvSpPr>
          <p:cNvPr id="8" name="Text 5"/>
          <p:cNvSpPr/>
          <p:nvPr/>
        </p:nvSpPr>
        <p:spPr>
          <a:xfrm>
            <a:off x="6438900" y="2544961"/>
            <a:ext cx="4866132" cy="264716"/>
          </a:xfrm>
          <a:prstGeom prst="rect">
            <a:avLst/>
          </a:prstGeom>
          <a:noFill/>
          <a:ln/>
        </p:spPr>
        <p:txBody>
          <a:bodyPr wrap="square" lIns="0" tIns="0" rIns="0" bIns="0" rtlCol="0" anchor="t">
            <a:normAutofit/>
          </a:bodyPr>
          <a:lstStyle/>
          <a:p>
            <a:pPr marL="0" indent="0" algn="l">
              <a:lnSpc>
                <a:spcPts val="1885"/>
              </a:lnSpc>
              <a:buNone/>
            </a:pPr>
            <a:r>
              <a:rPr lang="en-US" sz="1300" dirty="0">
                <a:solidFill>
                  <a:srgbClr val="D4D4D8"/>
                </a:solidFill>
                <a:latin typeface="Arial" pitchFamily="34" charset="0"/>
                <a:ea typeface="Arial" pitchFamily="34" charset="-122"/>
                <a:cs typeface="Arial" pitchFamily="34" charset="-120"/>
              </a:rPr>
              <a:t>Falla, en promedio, por 8 ventas al día.</a:t>
            </a:r>
            <a:endParaRPr lang="en-US" sz="1300" dirty="0"/>
          </a:p>
        </p:txBody>
      </p:sp>
      <p:sp>
        <p:nvSpPr>
          <p:cNvPr id="9" name="Shape 6"/>
          <p:cNvSpPr/>
          <p:nvPr/>
        </p:nvSpPr>
        <p:spPr>
          <a:xfrm>
            <a:off x="6229350" y="3158927"/>
            <a:ext cx="5143500" cy="1191816"/>
          </a:xfrm>
          <a:prstGeom prst="roundRect">
            <a:avLst>
              <a:gd name="adj" fmla="val 10123"/>
            </a:avLst>
          </a:prstGeom>
          <a:solidFill>
            <a:srgbClr val="1A1A1F"/>
          </a:solidFill>
          <a:ln w="12700">
            <a:solidFill>
              <a:srgbClr val="2C2C33"/>
            </a:solidFill>
            <a:prstDash val="solid"/>
          </a:ln>
        </p:spPr>
        <p:txBody>
          <a:bodyPr/>
          <a:lstStyle/>
          <a:p>
            <a:endParaRPr lang="es-CO"/>
          </a:p>
        </p:txBody>
      </p:sp>
      <p:sp>
        <p:nvSpPr>
          <p:cNvPr id="10" name="Text 7"/>
          <p:cNvSpPr/>
          <p:nvPr/>
        </p:nvSpPr>
        <p:spPr>
          <a:xfrm>
            <a:off x="6438900" y="3368477"/>
            <a:ext cx="4866132" cy="482600"/>
          </a:xfrm>
          <a:prstGeom prst="rect">
            <a:avLst/>
          </a:prstGeom>
          <a:noFill/>
          <a:ln/>
        </p:spPr>
        <p:txBody>
          <a:bodyPr wrap="square" lIns="0" tIns="0" rIns="0" bIns="0" rtlCol="0" anchor="t">
            <a:normAutofit/>
          </a:bodyPr>
          <a:lstStyle/>
          <a:p>
            <a:pPr marL="0" indent="0" algn="l">
              <a:lnSpc>
                <a:spcPts val="3600"/>
              </a:lnSpc>
              <a:buNone/>
            </a:pPr>
            <a:r>
              <a:rPr lang="en-US" sz="3600" b="1" dirty="0">
                <a:solidFill>
                  <a:srgbClr val="E4002B"/>
                </a:solidFill>
                <a:latin typeface="Courier New" pitchFamily="34" charset="0"/>
                <a:ea typeface="Courier New" pitchFamily="34" charset="-122"/>
                <a:cs typeface="Courier New" pitchFamily="34" charset="-120"/>
              </a:rPr>
              <a:t>RMSE = 8,37</a:t>
            </a:r>
            <a:endParaRPr lang="en-US" sz="3600" dirty="0"/>
          </a:p>
        </p:txBody>
      </p:sp>
      <p:sp>
        <p:nvSpPr>
          <p:cNvPr id="11" name="Text 8"/>
          <p:cNvSpPr/>
          <p:nvPr/>
        </p:nvSpPr>
        <p:spPr>
          <a:xfrm>
            <a:off x="6438900" y="3901877"/>
            <a:ext cx="4866132" cy="264716"/>
          </a:xfrm>
          <a:prstGeom prst="rect">
            <a:avLst/>
          </a:prstGeom>
          <a:noFill/>
          <a:ln/>
        </p:spPr>
        <p:txBody>
          <a:bodyPr wrap="square" lIns="0" tIns="0" rIns="0" bIns="0" rtlCol="0" anchor="t">
            <a:normAutofit/>
          </a:bodyPr>
          <a:lstStyle/>
          <a:p>
            <a:pPr marL="0" indent="0" algn="l">
              <a:lnSpc>
                <a:spcPts val="1885"/>
              </a:lnSpc>
              <a:buNone/>
            </a:pPr>
            <a:r>
              <a:rPr lang="en-US" sz="1300" dirty="0">
                <a:solidFill>
                  <a:srgbClr val="D4D4D8"/>
                </a:solidFill>
                <a:latin typeface="Arial" pitchFamily="34" charset="0"/>
                <a:ea typeface="Arial" pitchFamily="34" charset="-122"/>
                <a:cs typeface="Arial" pitchFamily="34" charset="-120"/>
              </a:rPr>
              <a:t>Castiga más los errores grandes.</a:t>
            </a:r>
            <a:endParaRPr lang="en-US" sz="1300" dirty="0"/>
          </a:p>
        </p:txBody>
      </p:sp>
      <p:sp>
        <p:nvSpPr>
          <p:cNvPr id="12" name="Shape 9"/>
          <p:cNvSpPr/>
          <p:nvPr/>
        </p:nvSpPr>
        <p:spPr>
          <a:xfrm>
            <a:off x="819150" y="4566642"/>
            <a:ext cx="10553700" cy="871736"/>
          </a:xfrm>
          <a:prstGeom prst="roundRect">
            <a:avLst>
              <a:gd name="adj" fmla="val 13840"/>
            </a:avLst>
          </a:prstGeom>
          <a:solidFill>
            <a:srgbClr val="1F0A0F"/>
          </a:solidFill>
          <a:ln w="12700">
            <a:solidFill>
              <a:srgbClr val="E4002B"/>
            </a:solidFill>
            <a:prstDash val="solid"/>
          </a:ln>
        </p:spPr>
        <p:txBody>
          <a:bodyPr/>
          <a:lstStyle/>
          <a:p>
            <a:endParaRPr lang="es-CO"/>
          </a:p>
        </p:txBody>
      </p:sp>
      <p:sp>
        <p:nvSpPr>
          <p:cNvPr id="13" name="Text 10"/>
          <p:cNvSpPr/>
          <p:nvPr/>
        </p:nvSpPr>
        <p:spPr>
          <a:xfrm>
            <a:off x="1079500" y="4750792"/>
            <a:ext cx="10333990"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E4002B"/>
                </a:solidFill>
                <a:latin typeface="Courier New" pitchFamily="34" charset="0"/>
                <a:ea typeface="Courier New" pitchFamily="34" charset="-122"/>
                <a:cs typeface="Courier New" pitchFamily="34" charset="-120"/>
              </a:rPr>
              <a:t>EN PALABRAS SIMPLES</a:t>
            </a:r>
            <a:endParaRPr lang="en-US" sz="1200" dirty="0"/>
          </a:p>
        </p:txBody>
      </p:sp>
      <p:sp>
        <p:nvSpPr>
          <p:cNvPr id="14" name="Text 11"/>
          <p:cNvSpPr/>
          <p:nvPr/>
        </p:nvSpPr>
        <p:spPr>
          <a:xfrm>
            <a:off x="1079500" y="5014913"/>
            <a:ext cx="10333990" cy="264716"/>
          </a:xfrm>
          <a:prstGeom prst="rect">
            <a:avLst/>
          </a:prstGeom>
          <a:noFill/>
          <a:ln/>
        </p:spPr>
        <p:txBody>
          <a:bodyPr wrap="square" lIns="0" tIns="0" rIns="0" bIns="0" rtlCol="0" anchor="t">
            <a:normAutofit/>
          </a:bodyPr>
          <a:lstStyle/>
          <a:p>
            <a:pPr marL="0" indent="0" algn="l">
              <a:lnSpc>
                <a:spcPts val="1885"/>
              </a:lnSpc>
              <a:buNone/>
            </a:pPr>
            <a:r>
              <a:rPr lang="en-US" sz="1300" dirty="0">
                <a:solidFill>
                  <a:srgbClr val="F4F4F5"/>
                </a:solidFill>
                <a:latin typeface="Arial" pitchFamily="34" charset="0"/>
                <a:ea typeface="Arial" pitchFamily="34" charset="-122"/>
                <a:cs typeface="Arial" pitchFamily="34" charset="-120"/>
              </a:rPr>
              <a:t>MAE = error absoluto medio. RMSE = raíz del error cuadrático medio. Las dos siguientes diapositivas las explican paso a paso.</a:t>
            </a:r>
            <a:endParaRPr lang="en-US" sz="1300" dirty="0"/>
          </a:p>
        </p:txBody>
      </p:sp>
      <p:sp>
        <p:nvSpPr>
          <p:cNvPr id="15" name="Text 12"/>
          <p:cNvSpPr/>
          <p:nvPr/>
        </p:nvSpPr>
        <p:spPr>
          <a:xfrm>
            <a:off x="812800" y="6238280"/>
            <a:ext cx="7848600" cy="238720"/>
          </a:xfrm>
          <a:prstGeom prst="rect">
            <a:avLst/>
          </a:prstGeom>
          <a:noFill/>
          <a:ln/>
        </p:spPr>
        <p:txBody>
          <a:bodyPr wrap="square" lIns="0" tIns="0" rIns="0" bIns="0" rtlCol="0" anchor="t">
            <a:normAutofit/>
          </a:bodyPr>
          <a:lstStyle/>
          <a:p>
            <a:pPr marL="0" indent="0" algn="l">
              <a:lnSpc>
                <a:spcPts val="1680"/>
              </a:lnSpc>
              <a:buNone/>
            </a:pPr>
            <a:r>
              <a:rPr lang="en-US" sz="1200" kern="0" spc="100" dirty="0">
                <a:solidFill>
                  <a:srgbClr val="71717A"/>
                </a:solidFill>
                <a:latin typeface="Courier New" pitchFamily="34" charset="0"/>
                <a:ea typeface="Courier New" pitchFamily="34" charset="-122"/>
                <a:cs typeface="Courier New" pitchFamily="34" charset="-120"/>
              </a:rPr>
              <a:t>UNIDAD 4 · VALIDACIÓN DE MODELOS</a:t>
            </a:r>
            <a:endParaRPr lang="en-US" sz="1200" dirty="0"/>
          </a:p>
        </p:txBody>
      </p:sp>
      <p:sp>
        <p:nvSpPr>
          <p:cNvPr id="16" name="Text 13"/>
          <p:cNvSpPr/>
          <p:nvPr/>
        </p:nvSpPr>
        <p:spPr>
          <a:xfrm>
            <a:off x="10058400" y="6238280"/>
            <a:ext cx="1320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71717A"/>
                </a:solidFill>
                <a:latin typeface="Courier New" pitchFamily="34" charset="0"/>
                <a:ea typeface="Courier New" pitchFamily="34" charset="-122"/>
                <a:cs typeface="Courier New" pitchFamily="34" charset="-120"/>
              </a:rPr>
              <a:t>11</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B0B0D"/>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marL="0" indent="0" algn="l">
              <a:lnSpc>
                <a:spcPts val="1820"/>
              </a:lnSpc>
              <a:buNone/>
            </a:pPr>
            <a:r>
              <a:rPr lang="en-US" sz="1300" b="1" kern="0" spc="200" dirty="0">
                <a:solidFill>
                  <a:srgbClr val="E4002B"/>
                </a:solidFill>
                <a:latin typeface="Courier New" pitchFamily="34" charset="0"/>
                <a:ea typeface="Courier New" pitchFamily="34" charset="-122"/>
                <a:cs typeface="Courier New" pitchFamily="34" charset="-120"/>
              </a:rPr>
              <a:t>MAE · MEAN ABSOLUTE ERROR · ERROR ABSOLUTO MEDIO</a:t>
            </a:r>
            <a:endParaRPr lang="en-US" sz="1300" dirty="0"/>
          </a:p>
        </p:txBody>
      </p:sp>
      <p:sp>
        <p:nvSpPr>
          <p:cNvPr id="3" name="Text 1"/>
          <p:cNvSpPr/>
          <p:nvPr/>
        </p:nvSpPr>
        <p:spPr>
          <a:xfrm>
            <a:off x="812800" y="1145480"/>
            <a:ext cx="10883392" cy="472380"/>
          </a:xfrm>
          <a:prstGeom prst="rect">
            <a:avLst/>
          </a:prstGeom>
          <a:noFill/>
          <a:ln/>
        </p:spPr>
        <p:txBody>
          <a:bodyPr wrap="square" lIns="0" tIns="0" rIns="0" bIns="0" rtlCol="0" anchor="t">
            <a:normAutofit/>
          </a:bodyPr>
          <a:lstStyle/>
          <a:p>
            <a:pPr marL="0" indent="0" algn="l">
              <a:lnSpc>
                <a:spcPts val="3520"/>
              </a:lnSpc>
              <a:buNone/>
            </a:pPr>
            <a:r>
              <a:rPr lang="en-US" sz="3200" b="1" kern="0" spc="-50" dirty="0">
                <a:solidFill>
                  <a:srgbClr val="F4F4F5"/>
                </a:solidFill>
                <a:latin typeface="Arial" pitchFamily="34" charset="0"/>
                <a:ea typeface="Arial" pitchFamily="34" charset="-122"/>
                <a:cs typeface="Arial" pitchFamily="34" charset="-120"/>
              </a:rPr>
              <a:t>El MAE paso a paso</a:t>
            </a:r>
            <a:endParaRPr lang="en-US" sz="3200" dirty="0"/>
          </a:p>
        </p:txBody>
      </p:sp>
      <p:sp>
        <p:nvSpPr>
          <p:cNvPr id="4" name="Shape 2"/>
          <p:cNvSpPr/>
          <p:nvPr/>
        </p:nvSpPr>
        <p:spPr>
          <a:xfrm>
            <a:off x="819150" y="1802011"/>
            <a:ext cx="3170734" cy="1582341"/>
          </a:xfrm>
          <a:prstGeom prst="roundRect">
            <a:avLst>
              <a:gd name="adj" fmla="val 7625"/>
            </a:avLst>
          </a:prstGeom>
          <a:solidFill>
            <a:srgbClr val="1A1A1F"/>
          </a:solidFill>
          <a:ln w="12700">
            <a:solidFill>
              <a:srgbClr val="2C2C33"/>
            </a:solidFill>
            <a:prstDash val="solid"/>
          </a:ln>
        </p:spPr>
        <p:txBody>
          <a:bodyPr/>
          <a:lstStyle/>
          <a:p>
            <a:endParaRPr lang="es-CO"/>
          </a:p>
        </p:txBody>
      </p:sp>
      <p:sp>
        <p:nvSpPr>
          <p:cNvPr id="5" name="Text 3"/>
          <p:cNvSpPr/>
          <p:nvPr/>
        </p:nvSpPr>
        <p:spPr>
          <a:xfrm>
            <a:off x="1003300" y="1986161"/>
            <a:ext cx="2886507" cy="416520"/>
          </a:xfrm>
          <a:prstGeom prst="rect">
            <a:avLst/>
          </a:prstGeom>
          <a:noFill/>
          <a:ln/>
        </p:spPr>
        <p:txBody>
          <a:bodyPr wrap="square" lIns="0" tIns="0" rIns="0" bIns="0" rtlCol="0" anchor="t">
            <a:normAutofit/>
          </a:bodyPr>
          <a:lstStyle/>
          <a:p>
            <a:pPr marL="0" indent="0" algn="l">
              <a:lnSpc>
                <a:spcPts val="3080"/>
              </a:lnSpc>
              <a:buNone/>
            </a:pPr>
            <a:r>
              <a:rPr lang="en-US" sz="2200" b="1" dirty="0">
                <a:solidFill>
                  <a:srgbClr val="E4002B"/>
                </a:solidFill>
                <a:latin typeface="Courier New" pitchFamily="34" charset="0"/>
                <a:ea typeface="Courier New" pitchFamily="34" charset="-122"/>
                <a:cs typeface="Courier New" pitchFamily="34" charset="-120"/>
              </a:rPr>
              <a:t>1</a:t>
            </a:r>
            <a:endParaRPr lang="en-US" sz="2200" dirty="0"/>
          </a:p>
        </p:txBody>
      </p:sp>
      <p:sp>
        <p:nvSpPr>
          <p:cNvPr id="6" name="Text 4"/>
          <p:cNvSpPr/>
          <p:nvPr/>
        </p:nvSpPr>
        <p:spPr>
          <a:xfrm>
            <a:off x="1003300" y="2453481"/>
            <a:ext cx="2886507"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F4F4F5"/>
                </a:solidFill>
                <a:latin typeface="Arial" pitchFamily="34" charset="0"/>
                <a:ea typeface="Arial" pitchFamily="34" charset="-122"/>
                <a:cs typeface="Arial" pitchFamily="34" charset="-120"/>
              </a:rPr>
              <a:t>Resta</a:t>
            </a:r>
            <a:endParaRPr lang="en-US" sz="1500" dirty="0"/>
          </a:p>
        </p:txBody>
      </p:sp>
      <p:sp>
        <p:nvSpPr>
          <p:cNvPr id="7" name="Text 5"/>
          <p:cNvSpPr/>
          <p:nvPr/>
        </p:nvSpPr>
        <p:spPr>
          <a:xfrm>
            <a:off x="1003300" y="2758281"/>
            <a:ext cx="2886507" cy="467320"/>
          </a:xfrm>
          <a:prstGeom prst="rect">
            <a:avLst/>
          </a:prstGeom>
          <a:noFill/>
          <a:ln/>
        </p:spPr>
        <p:txBody>
          <a:bodyPr wrap="square" lIns="0" tIns="0" rIns="0" bIns="0" rtlCol="0" anchor="t">
            <a:normAutofit/>
          </a:bodyPr>
          <a:lstStyle/>
          <a:p>
            <a:pPr marL="0" indent="0" algn="l">
              <a:lnSpc>
                <a:spcPts val="1740"/>
              </a:lnSpc>
              <a:buNone/>
            </a:pPr>
            <a:r>
              <a:rPr lang="en-US" sz="1200" dirty="0">
                <a:solidFill>
                  <a:srgbClr val="A1A1AA"/>
                </a:solidFill>
                <a:latin typeface="Arial" pitchFamily="34" charset="0"/>
                <a:ea typeface="Arial" pitchFamily="34" charset="-122"/>
                <a:cs typeface="Arial" pitchFamily="34" charset="-120"/>
              </a:rPr>
              <a:t>Real menos predicho, día por día. Lunes: 100 − 110 = −10.</a:t>
            </a:r>
            <a:endParaRPr lang="en-US" sz="1200" dirty="0"/>
          </a:p>
        </p:txBody>
      </p:sp>
      <p:pic>
        <p:nvPicPr>
          <p:cNvPr id="8" name="Image 0" descr="arrow-right"/>
          <p:cNvPicPr>
            <a:picLocks noChangeAspect="1"/>
          </p:cNvPicPr>
          <p:nvPr/>
        </p:nvPicPr>
        <p:blipFill>
          <a:blip r:embed="rId3"/>
          <a:srcRect/>
          <a:stretch/>
        </p:blipFill>
        <p:spPr>
          <a:xfrm>
            <a:off x="4097834" y="2504281"/>
            <a:ext cx="304800" cy="177800"/>
          </a:xfrm>
          <a:prstGeom prst="rect">
            <a:avLst/>
          </a:prstGeom>
        </p:spPr>
      </p:pic>
      <p:sp>
        <p:nvSpPr>
          <p:cNvPr id="9" name="Shape 6"/>
          <p:cNvSpPr/>
          <p:nvPr/>
        </p:nvSpPr>
        <p:spPr>
          <a:xfrm>
            <a:off x="4510584" y="1802011"/>
            <a:ext cx="3170833" cy="1582341"/>
          </a:xfrm>
          <a:prstGeom prst="roundRect">
            <a:avLst>
              <a:gd name="adj" fmla="val 7625"/>
            </a:avLst>
          </a:prstGeom>
          <a:solidFill>
            <a:srgbClr val="1A1A1F"/>
          </a:solidFill>
          <a:ln w="12700">
            <a:solidFill>
              <a:srgbClr val="2C2C33"/>
            </a:solidFill>
            <a:prstDash val="solid"/>
          </a:ln>
        </p:spPr>
        <p:txBody>
          <a:bodyPr/>
          <a:lstStyle/>
          <a:p>
            <a:endParaRPr lang="es-CO"/>
          </a:p>
        </p:txBody>
      </p:sp>
      <p:sp>
        <p:nvSpPr>
          <p:cNvPr id="10" name="Text 7"/>
          <p:cNvSpPr/>
          <p:nvPr/>
        </p:nvSpPr>
        <p:spPr>
          <a:xfrm>
            <a:off x="4694734" y="1986161"/>
            <a:ext cx="2886609" cy="416520"/>
          </a:xfrm>
          <a:prstGeom prst="rect">
            <a:avLst/>
          </a:prstGeom>
          <a:noFill/>
          <a:ln/>
        </p:spPr>
        <p:txBody>
          <a:bodyPr wrap="square" lIns="0" tIns="0" rIns="0" bIns="0" rtlCol="0" anchor="t">
            <a:normAutofit/>
          </a:bodyPr>
          <a:lstStyle/>
          <a:p>
            <a:pPr marL="0" indent="0" algn="l">
              <a:lnSpc>
                <a:spcPts val="3080"/>
              </a:lnSpc>
              <a:buNone/>
            </a:pPr>
            <a:r>
              <a:rPr lang="en-US" sz="2200" b="1" dirty="0">
                <a:solidFill>
                  <a:srgbClr val="E4002B"/>
                </a:solidFill>
                <a:latin typeface="Courier New" pitchFamily="34" charset="0"/>
                <a:ea typeface="Courier New" pitchFamily="34" charset="-122"/>
                <a:cs typeface="Courier New" pitchFamily="34" charset="-120"/>
              </a:rPr>
              <a:t>2</a:t>
            </a:r>
            <a:endParaRPr lang="en-US" sz="2200" dirty="0"/>
          </a:p>
        </p:txBody>
      </p:sp>
      <p:sp>
        <p:nvSpPr>
          <p:cNvPr id="11" name="Text 8"/>
          <p:cNvSpPr/>
          <p:nvPr/>
        </p:nvSpPr>
        <p:spPr>
          <a:xfrm>
            <a:off x="4694734" y="2453481"/>
            <a:ext cx="2886609"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F4F4F5"/>
                </a:solidFill>
                <a:latin typeface="Arial" pitchFamily="34" charset="0"/>
                <a:ea typeface="Arial" pitchFamily="34" charset="-122"/>
                <a:cs typeface="Arial" pitchFamily="34" charset="-120"/>
              </a:rPr>
              <a:t>Quita el signo</a:t>
            </a:r>
            <a:endParaRPr lang="en-US" sz="1500" dirty="0"/>
          </a:p>
        </p:txBody>
      </p:sp>
      <p:sp>
        <p:nvSpPr>
          <p:cNvPr id="12" name="Text 9"/>
          <p:cNvSpPr/>
          <p:nvPr/>
        </p:nvSpPr>
        <p:spPr>
          <a:xfrm>
            <a:off x="4694734" y="2758281"/>
            <a:ext cx="2886609" cy="467320"/>
          </a:xfrm>
          <a:prstGeom prst="rect">
            <a:avLst/>
          </a:prstGeom>
          <a:noFill/>
          <a:ln/>
        </p:spPr>
        <p:txBody>
          <a:bodyPr wrap="square" lIns="0" tIns="0" rIns="0" bIns="0" rtlCol="0" anchor="t">
            <a:normAutofit/>
          </a:bodyPr>
          <a:lstStyle/>
          <a:p>
            <a:pPr marL="0" indent="0" algn="l">
              <a:lnSpc>
                <a:spcPts val="1740"/>
              </a:lnSpc>
              <a:buNone/>
            </a:pPr>
            <a:r>
              <a:rPr lang="en-US" sz="1200" dirty="0">
                <a:solidFill>
                  <a:srgbClr val="A1A1AA"/>
                </a:solidFill>
                <a:latin typeface="Arial" pitchFamily="34" charset="0"/>
                <a:ea typeface="Arial" pitchFamily="34" charset="-122"/>
                <a:cs typeface="Arial" pitchFamily="34" charset="-120"/>
              </a:rPr>
              <a:t>Eso es el valor absoluto: −10 se vuelve 10. Así los errores no se cancelan.</a:t>
            </a:r>
            <a:endParaRPr lang="en-US" sz="1200" dirty="0"/>
          </a:p>
        </p:txBody>
      </p:sp>
      <p:pic>
        <p:nvPicPr>
          <p:cNvPr id="13" name="Image 1" descr="arrow-right"/>
          <p:cNvPicPr>
            <a:picLocks noChangeAspect="1"/>
          </p:cNvPicPr>
          <p:nvPr/>
        </p:nvPicPr>
        <p:blipFill>
          <a:blip r:embed="rId3"/>
          <a:srcRect/>
          <a:stretch/>
        </p:blipFill>
        <p:spPr>
          <a:xfrm>
            <a:off x="7789366" y="2504281"/>
            <a:ext cx="304800" cy="177800"/>
          </a:xfrm>
          <a:prstGeom prst="rect">
            <a:avLst/>
          </a:prstGeom>
        </p:spPr>
      </p:pic>
      <p:sp>
        <p:nvSpPr>
          <p:cNvPr id="14" name="Shape 10"/>
          <p:cNvSpPr/>
          <p:nvPr/>
        </p:nvSpPr>
        <p:spPr>
          <a:xfrm>
            <a:off x="8202116" y="1802011"/>
            <a:ext cx="3170734" cy="1582341"/>
          </a:xfrm>
          <a:prstGeom prst="roundRect">
            <a:avLst>
              <a:gd name="adj" fmla="val 7625"/>
            </a:avLst>
          </a:prstGeom>
          <a:solidFill>
            <a:srgbClr val="1A1A1F"/>
          </a:solidFill>
          <a:ln w="12700">
            <a:solidFill>
              <a:srgbClr val="2C2C33"/>
            </a:solidFill>
            <a:prstDash val="solid"/>
          </a:ln>
        </p:spPr>
        <p:txBody>
          <a:bodyPr/>
          <a:lstStyle/>
          <a:p>
            <a:endParaRPr lang="es-CO"/>
          </a:p>
        </p:txBody>
      </p:sp>
      <p:sp>
        <p:nvSpPr>
          <p:cNvPr id="15" name="Text 11"/>
          <p:cNvSpPr/>
          <p:nvPr/>
        </p:nvSpPr>
        <p:spPr>
          <a:xfrm>
            <a:off x="8386266" y="1986161"/>
            <a:ext cx="2886507" cy="416520"/>
          </a:xfrm>
          <a:prstGeom prst="rect">
            <a:avLst/>
          </a:prstGeom>
          <a:noFill/>
          <a:ln/>
        </p:spPr>
        <p:txBody>
          <a:bodyPr wrap="square" lIns="0" tIns="0" rIns="0" bIns="0" rtlCol="0" anchor="t">
            <a:normAutofit/>
          </a:bodyPr>
          <a:lstStyle/>
          <a:p>
            <a:pPr marL="0" indent="0" algn="l">
              <a:lnSpc>
                <a:spcPts val="3080"/>
              </a:lnSpc>
              <a:buNone/>
            </a:pPr>
            <a:r>
              <a:rPr lang="en-US" sz="2200" b="1" dirty="0">
                <a:solidFill>
                  <a:srgbClr val="E4002B"/>
                </a:solidFill>
                <a:latin typeface="Courier New" pitchFamily="34" charset="0"/>
                <a:ea typeface="Courier New" pitchFamily="34" charset="-122"/>
                <a:cs typeface="Courier New" pitchFamily="34" charset="-120"/>
              </a:rPr>
              <a:t>3</a:t>
            </a:r>
            <a:endParaRPr lang="en-US" sz="2200" dirty="0"/>
          </a:p>
        </p:txBody>
      </p:sp>
      <p:sp>
        <p:nvSpPr>
          <p:cNvPr id="16" name="Text 12"/>
          <p:cNvSpPr/>
          <p:nvPr/>
        </p:nvSpPr>
        <p:spPr>
          <a:xfrm>
            <a:off x="8386266" y="2453481"/>
            <a:ext cx="2886507"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F4F4F5"/>
                </a:solidFill>
                <a:latin typeface="Arial" pitchFamily="34" charset="0"/>
                <a:ea typeface="Arial" pitchFamily="34" charset="-122"/>
                <a:cs typeface="Arial" pitchFamily="34" charset="-120"/>
              </a:rPr>
              <a:t>Promedia</a:t>
            </a:r>
            <a:endParaRPr lang="en-US" sz="1500" dirty="0"/>
          </a:p>
        </p:txBody>
      </p:sp>
      <p:sp>
        <p:nvSpPr>
          <p:cNvPr id="17" name="Text 13"/>
          <p:cNvSpPr/>
          <p:nvPr/>
        </p:nvSpPr>
        <p:spPr>
          <a:xfrm>
            <a:off x="8386266" y="2758281"/>
            <a:ext cx="2886507" cy="467320"/>
          </a:xfrm>
          <a:prstGeom prst="rect">
            <a:avLst/>
          </a:prstGeom>
          <a:noFill/>
          <a:ln/>
        </p:spPr>
        <p:txBody>
          <a:bodyPr wrap="square" lIns="0" tIns="0" rIns="0" bIns="0" rtlCol="0" anchor="t">
            <a:normAutofit/>
          </a:bodyPr>
          <a:lstStyle/>
          <a:p>
            <a:pPr marL="0" indent="0" algn="l">
              <a:lnSpc>
                <a:spcPts val="1740"/>
              </a:lnSpc>
              <a:buNone/>
            </a:pPr>
            <a:r>
              <a:rPr lang="en-US" sz="1200" dirty="0">
                <a:solidFill>
                  <a:srgbClr val="A1A1AA"/>
                </a:solidFill>
                <a:latin typeface="Arial" pitchFamily="34" charset="0"/>
                <a:ea typeface="Arial" pitchFamily="34" charset="-122"/>
                <a:cs typeface="Arial" pitchFamily="34" charset="-120"/>
              </a:rPr>
              <a:t>Suma todos los errores y divide entre la cantidad de días.</a:t>
            </a:r>
            <a:endParaRPr lang="en-US" sz="1200" dirty="0"/>
          </a:p>
        </p:txBody>
      </p:sp>
      <p:sp>
        <p:nvSpPr>
          <p:cNvPr id="18" name="Shape 14"/>
          <p:cNvSpPr/>
          <p:nvPr/>
        </p:nvSpPr>
        <p:spPr>
          <a:xfrm>
            <a:off x="819150" y="3600252"/>
            <a:ext cx="10553700" cy="937220"/>
          </a:xfrm>
          <a:prstGeom prst="roundRect">
            <a:avLst>
              <a:gd name="adj" fmla="val 10163"/>
            </a:avLst>
          </a:prstGeom>
          <a:solidFill>
            <a:srgbClr val="0F0F12"/>
          </a:solidFill>
          <a:ln w="12700">
            <a:solidFill>
              <a:srgbClr val="2C2C33"/>
            </a:solidFill>
            <a:prstDash val="solid"/>
          </a:ln>
        </p:spPr>
        <p:txBody>
          <a:bodyPr/>
          <a:lstStyle/>
          <a:p>
            <a:endParaRPr lang="es-CO"/>
          </a:p>
        </p:txBody>
      </p:sp>
      <p:sp>
        <p:nvSpPr>
          <p:cNvPr id="19" name="Text 15"/>
          <p:cNvSpPr/>
          <p:nvPr/>
        </p:nvSpPr>
        <p:spPr>
          <a:xfrm>
            <a:off x="1079500" y="3784402"/>
            <a:ext cx="10333990" cy="594320"/>
          </a:xfrm>
          <a:prstGeom prst="rect">
            <a:avLst/>
          </a:prstGeom>
          <a:noFill/>
          <a:ln/>
        </p:spPr>
        <p:txBody>
          <a:bodyPr wrap="square" lIns="0" tIns="0" rIns="0" bIns="0" rtlCol="0" anchor="t">
            <a:normAutofit/>
          </a:bodyPr>
          <a:lstStyle/>
          <a:p>
            <a:pPr marL="0" indent="0" algn="l">
              <a:lnSpc>
                <a:spcPts val="2240"/>
              </a:lnSpc>
              <a:buNone/>
            </a:pPr>
            <a:r>
              <a:rPr lang="en-US" sz="1400" dirty="0">
                <a:solidFill>
                  <a:srgbClr val="E4E4E7"/>
                </a:solidFill>
                <a:latin typeface="Courier New" pitchFamily="34" charset="0"/>
                <a:ea typeface="Courier New" pitchFamily="34" charset="-122"/>
                <a:cs typeface="Courier New" pitchFamily="34" charset="-120"/>
              </a:rPr>
              <a:t>Errores sin signo: 10, 5, 10, 10, 5</a:t>
            </a:r>
            <a:endParaRPr lang="en-US" sz="1400" dirty="0"/>
          </a:p>
          <a:p>
            <a:pPr marL="0" indent="0" algn="l">
              <a:lnSpc>
                <a:spcPts val="2240"/>
              </a:lnSpc>
              <a:buNone/>
            </a:pPr>
            <a:r>
              <a:rPr lang="en-US" sz="1400" dirty="0">
                <a:solidFill>
                  <a:srgbClr val="E4E4E7"/>
                </a:solidFill>
                <a:latin typeface="Courier New" pitchFamily="34" charset="0"/>
                <a:ea typeface="Courier New" pitchFamily="34" charset="-122"/>
                <a:cs typeface="Courier New" pitchFamily="34" charset="-120"/>
              </a:rPr>
              <a:t>MAE = (10 + 5 + 10 + 10 + 5) ÷ 5 = 40 ÷ 5 = </a:t>
            </a:r>
            <a:r>
              <a:rPr lang="en-US" sz="1400" dirty="0">
                <a:solidFill>
                  <a:srgbClr val="FF5C77"/>
                </a:solidFill>
                <a:latin typeface="Courier New" pitchFamily="34" charset="0"/>
                <a:ea typeface="Courier New" pitchFamily="34" charset="-122"/>
                <a:cs typeface="Courier New" pitchFamily="34" charset="-120"/>
              </a:rPr>
              <a:t>8</a:t>
            </a:r>
            <a:endParaRPr lang="en-US" sz="1400" dirty="0"/>
          </a:p>
        </p:txBody>
      </p:sp>
      <p:sp>
        <p:nvSpPr>
          <p:cNvPr id="20" name="Shape 16"/>
          <p:cNvSpPr/>
          <p:nvPr/>
        </p:nvSpPr>
        <p:spPr>
          <a:xfrm>
            <a:off x="819150" y="4753372"/>
            <a:ext cx="10553700" cy="871736"/>
          </a:xfrm>
          <a:prstGeom prst="roundRect">
            <a:avLst>
              <a:gd name="adj" fmla="val 13840"/>
            </a:avLst>
          </a:prstGeom>
          <a:solidFill>
            <a:srgbClr val="1F0A0F"/>
          </a:solidFill>
          <a:ln w="12700">
            <a:solidFill>
              <a:srgbClr val="E4002B"/>
            </a:solidFill>
            <a:prstDash val="solid"/>
          </a:ln>
        </p:spPr>
        <p:txBody>
          <a:bodyPr/>
          <a:lstStyle/>
          <a:p>
            <a:endParaRPr lang="es-CO"/>
          </a:p>
        </p:txBody>
      </p:sp>
      <p:sp>
        <p:nvSpPr>
          <p:cNvPr id="21" name="Text 17"/>
          <p:cNvSpPr/>
          <p:nvPr/>
        </p:nvSpPr>
        <p:spPr>
          <a:xfrm>
            <a:off x="1079500" y="4937522"/>
            <a:ext cx="10333990"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E4002B"/>
                </a:solidFill>
                <a:latin typeface="Courier New" pitchFamily="34" charset="0"/>
                <a:ea typeface="Courier New" pitchFamily="34" charset="-122"/>
                <a:cs typeface="Courier New" pitchFamily="34" charset="-120"/>
              </a:rPr>
              <a:t>EN PALABRAS SIMPLES</a:t>
            </a:r>
            <a:endParaRPr lang="en-US" sz="1200" dirty="0"/>
          </a:p>
        </p:txBody>
      </p:sp>
      <p:sp>
        <p:nvSpPr>
          <p:cNvPr id="22" name="Text 18"/>
          <p:cNvSpPr/>
          <p:nvPr/>
        </p:nvSpPr>
        <p:spPr>
          <a:xfrm>
            <a:off x="1079500" y="5201642"/>
            <a:ext cx="10333990" cy="264716"/>
          </a:xfrm>
          <a:prstGeom prst="rect">
            <a:avLst/>
          </a:prstGeom>
          <a:noFill/>
          <a:ln/>
        </p:spPr>
        <p:txBody>
          <a:bodyPr wrap="square" lIns="0" tIns="0" rIns="0" bIns="0" rtlCol="0" anchor="t">
            <a:normAutofit/>
          </a:bodyPr>
          <a:lstStyle/>
          <a:p>
            <a:pPr marL="0" indent="0" algn="l">
              <a:lnSpc>
                <a:spcPts val="1885"/>
              </a:lnSpc>
              <a:buNone/>
            </a:pPr>
            <a:r>
              <a:rPr lang="en-US" sz="1300" dirty="0">
                <a:solidFill>
                  <a:srgbClr val="F4F4F5"/>
                </a:solidFill>
                <a:latin typeface="Arial" pitchFamily="34" charset="0"/>
                <a:ea typeface="Arial" pitchFamily="34" charset="-122"/>
                <a:cs typeface="Arial" pitchFamily="34" charset="-120"/>
              </a:rPr>
              <a:t>Está en las mismas unidades que lo que predices. Más bajo es mejor.</a:t>
            </a:r>
            <a:endParaRPr lang="en-US" sz="1300" dirty="0"/>
          </a:p>
        </p:txBody>
      </p:sp>
      <p:sp>
        <p:nvSpPr>
          <p:cNvPr id="23" name="Text 19"/>
          <p:cNvSpPr/>
          <p:nvPr/>
        </p:nvSpPr>
        <p:spPr>
          <a:xfrm>
            <a:off x="812800" y="6238280"/>
            <a:ext cx="7848600" cy="238720"/>
          </a:xfrm>
          <a:prstGeom prst="rect">
            <a:avLst/>
          </a:prstGeom>
          <a:noFill/>
          <a:ln/>
        </p:spPr>
        <p:txBody>
          <a:bodyPr wrap="square" lIns="0" tIns="0" rIns="0" bIns="0" rtlCol="0" anchor="t">
            <a:normAutofit/>
          </a:bodyPr>
          <a:lstStyle/>
          <a:p>
            <a:pPr marL="0" indent="0" algn="l">
              <a:lnSpc>
                <a:spcPts val="1680"/>
              </a:lnSpc>
              <a:buNone/>
            </a:pPr>
            <a:r>
              <a:rPr lang="en-US" sz="1200" kern="0" spc="100" dirty="0">
                <a:solidFill>
                  <a:srgbClr val="71717A"/>
                </a:solidFill>
                <a:latin typeface="Courier New" pitchFamily="34" charset="0"/>
                <a:ea typeface="Courier New" pitchFamily="34" charset="-122"/>
                <a:cs typeface="Courier New" pitchFamily="34" charset="-120"/>
              </a:rPr>
              <a:t>UNIDAD 4 · VALIDACIÓN DE MODELOS</a:t>
            </a:r>
            <a:endParaRPr lang="en-US" sz="1200" dirty="0"/>
          </a:p>
        </p:txBody>
      </p:sp>
      <p:sp>
        <p:nvSpPr>
          <p:cNvPr id="24" name="Text 20"/>
          <p:cNvSpPr/>
          <p:nvPr/>
        </p:nvSpPr>
        <p:spPr>
          <a:xfrm>
            <a:off x="10058400" y="6238280"/>
            <a:ext cx="1320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71717A"/>
                </a:solidFill>
                <a:latin typeface="Courier New" pitchFamily="34" charset="0"/>
                <a:ea typeface="Courier New" pitchFamily="34" charset="-122"/>
                <a:cs typeface="Courier New" pitchFamily="34" charset="-120"/>
              </a:rPr>
              <a:t>12</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B0B0D"/>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marL="0" indent="0" algn="l">
              <a:lnSpc>
                <a:spcPts val="1820"/>
              </a:lnSpc>
              <a:buNone/>
            </a:pPr>
            <a:r>
              <a:rPr lang="en-US" sz="1300" b="1" kern="0" spc="200" dirty="0">
                <a:solidFill>
                  <a:srgbClr val="E4002B"/>
                </a:solidFill>
                <a:latin typeface="Courier New" pitchFamily="34" charset="0"/>
                <a:ea typeface="Courier New" pitchFamily="34" charset="-122"/>
                <a:cs typeface="Courier New" pitchFamily="34" charset="-120"/>
              </a:rPr>
              <a:t>RMSE · ROOT MEAN SQUARED ERROR · RAÍZ DEL ERROR CUADRÁTICO MEDIO</a:t>
            </a:r>
            <a:endParaRPr lang="en-US" sz="1300" dirty="0"/>
          </a:p>
        </p:txBody>
      </p:sp>
      <p:sp>
        <p:nvSpPr>
          <p:cNvPr id="3" name="Text 1"/>
          <p:cNvSpPr/>
          <p:nvPr/>
        </p:nvSpPr>
        <p:spPr>
          <a:xfrm>
            <a:off x="812800" y="1145480"/>
            <a:ext cx="10883392" cy="472380"/>
          </a:xfrm>
          <a:prstGeom prst="rect">
            <a:avLst/>
          </a:prstGeom>
          <a:noFill/>
          <a:ln/>
        </p:spPr>
        <p:txBody>
          <a:bodyPr wrap="square" lIns="0" tIns="0" rIns="0" bIns="0" rtlCol="0" anchor="t">
            <a:normAutofit/>
          </a:bodyPr>
          <a:lstStyle/>
          <a:p>
            <a:pPr marL="0" indent="0" algn="l">
              <a:lnSpc>
                <a:spcPts val="3520"/>
              </a:lnSpc>
              <a:buNone/>
            </a:pPr>
            <a:r>
              <a:rPr lang="en-US" sz="3200" b="1" kern="0" spc="-50" dirty="0">
                <a:solidFill>
                  <a:srgbClr val="F4F4F5"/>
                </a:solidFill>
                <a:latin typeface="Arial" pitchFamily="34" charset="0"/>
                <a:ea typeface="Arial" pitchFamily="34" charset="-122"/>
                <a:cs typeface="Arial" pitchFamily="34" charset="-120"/>
              </a:rPr>
              <a:t>El RMSE paso a paso</a:t>
            </a:r>
            <a:endParaRPr lang="en-US" sz="3200" dirty="0"/>
          </a:p>
        </p:txBody>
      </p:sp>
      <p:sp>
        <p:nvSpPr>
          <p:cNvPr id="4" name="Shape 2"/>
          <p:cNvSpPr/>
          <p:nvPr/>
        </p:nvSpPr>
        <p:spPr>
          <a:xfrm>
            <a:off x="819150" y="1802011"/>
            <a:ext cx="5194300" cy="2111573"/>
          </a:xfrm>
          <a:prstGeom prst="roundRect">
            <a:avLst>
              <a:gd name="adj" fmla="val 4511"/>
            </a:avLst>
          </a:prstGeom>
          <a:solidFill>
            <a:srgbClr val="0F0F12"/>
          </a:solidFill>
          <a:ln w="12700">
            <a:solidFill>
              <a:srgbClr val="2C2C33"/>
            </a:solidFill>
            <a:prstDash val="solid"/>
          </a:ln>
        </p:spPr>
        <p:txBody>
          <a:bodyPr/>
          <a:lstStyle/>
          <a:p>
            <a:endParaRPr lang="es-CO"/>
          </a:p>
        </p:txBody>
      </p:sp>
      <p:sp>
        <p:nvSpPr>
          <p:cNvPr id="5" name="Text 3"/>
          <p:cNvSpPr/>
          <p:nvPr/>
        </p:nvSpPr>
        <p:spPr>
          <a:xfrm>
            <a:off x="1079500" y="2011561"/>
            <a:ext cx="4813808"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F4F4F5"/>
                </a:solidFill>
                <a:latin typeface="Arial" pitchFamily="34" charset="0"/>
                <a:ea typeface="Arial" pitchFamily="34" charset="-122"/>
                <a:cs typeface="Arial" pitchFamily="34" charset="-120"/>
              </a:rPr>
              <a:t>Con los mismos 5 días</a:t>
            </a:r>
            <a:endParaRPr lang="en-US" sz="1500" dirty="0"/>
          </a:p>
        </p:txBody>
      </p:sp>
      <p:sp>
        <p:nvSpPr>
          <p:cNvPr id="6" name="Text 4"/>
          <p:cNvSpPr/>
          <p:nvPr/>
        </p:nvSpPr>
        <p:spPr>
          <a:xfrm>
            <a:off x="1079500" y="2316361"/>
            <a:ext cx="4813808" cy="1147763"/>
          </a:xfrm>
          <a:prstGeom prst="rect">
            <a:avLst/>
          </a:prstGeom>
          <a:noFill/>
          <a:ln/>
        </p:spPr>
        <p:txBody>
          <a:bodyPr wrap="square" lIns="0" tIns="0" rIns="0" bIns="0" rtlCol="0" anchor="t">
            <a:normAutofit/>
          </a:bodyPr>
          <a:lstStyle/>
          <a:p>
            <a:pPr marL="0" indent="0" algn="l">
              <a:lnSpc>
                <a:spcPts val="2210"/>
              </a:lnSpc>
              <a:buNone/>
            </a:pPr>
            <a:r>
              <a:rPr lang="en-US" sz="1300" dirty="0">
                <a:solidFill>
                  <a:srgbClr val="E4002B"/>
                </a:solidFill>
                <a:latin typeface="Courier New" pitchFamily="34" charset="0"/>
                <a:ea typeface="Courier New" pitchFamily="34" charset="-122"/>
                <a:cs typeface="Courier New" pitchFamily="34" charset="-120"/>
              </a:rPr>
              <a:t>1</a:t>
            </a:r>
            <a:r>
              <a:rPr lang="en-US" sz="1300" dirty="0">
                <a:solidFill>
                  <a:srgbClr val="E4E4E7"/>
                </a:solidFill>
                <a:latin typeface="Courier New" pitchFamily="34" charset="0"/>
                <a:ea typeface="Courier New" pitchFamily="34" charset="-122"/>
                <a:cs typeface="Courier New" pitchFamily="34" charset="-120"/>
              </a:rPr>
              <a:t> Errores: 10, 5, 10, 10, 5</a:t>
            </a:r>
            <a:endParaRPr lang="en-US" sz="1300" dirty="0"/>
          </a:p>
          <a:p>
            <a:pPr marL="0" indent="0" algn="l">
              <a:lnSpc>
                <a:spcPts val="2210"/>
              </a:lnSpc>
              <a:buNone/>
            </a:pPr>
            <a:r>
              <a:rPr lang="en-US" sz="1300" dirty="0">
                <a:solidFill>
                  <a:srgbClr val="E4002B"/>
                </a:solidFill>
                <a:latin typeface="Courier New" pitchFamily="34" charset="0"/>
                <a:ea typeface="Courier New" pitchFamily="34" charset="-122"/>
                <a:cs typeface="Courier New" pitchFamily="34" charset="-120"/>
              </a:rPr>
              <a:t>2</a:t>
            </a:r>
            <a:r>
              <a:rPr lang="en-US" sz="1300" dirty="0">
                <a:solidFill>
                  <a:srgbClr val="E4E4E7"/>
                </a:solidFill>
                <a:latin typeface="Courier New" pitchFamily="34" charset="0"/>
                <a:ea typeface="Courier New" pitchFamily="34" charset="-122"/>
                <a:cs typeface="Courier New" pitchFamily="34" charset="-120"/>
              </a:rPr>
              <a:t> Al cuadrado: 100, 25, 100, 100, 25</a:t>
            </a:r>
            <a:endParaRPr lang="en-US" sz="1300" dirty="0"/>
          </a:p>
          <a:p>
            <a:pPr marL="0" indent="0" algn="l">
              <a:lnSpc>
                <a:spcPts val="2210"/>
              </a:lnSpc>
              <a:buNone/>
            </a:pPr>
            <a:r>
              <a:rPr lang="en-US" sz="1300" dirty="0">
                <a:solidFill>
                  <a:srgbClr val="E4002B"/>
                </a:solidFill>
                <a:latin typeface="Courier New" pitchFamily="34" charset="0"/>
                <a:ea typeface="Courier New" pitchFamily="34" charset="-122"/>
                <a:cs typeface="Courier New" pitchFamily="34" charset="-120"/>
              </a:rPr>
              <a:t>3</a:t>
            </a:r>
            <a:r>
              <a:rPr lang="en-US" sz="1300" dirty="0">
                <a:solidFill>
                  <a:srgbClr val="E4E4E7"/>
                </a:solidFill>
                <a:latin typeface="Courier New" pitchFamily="34" charset="0"/>
                <a:ea typeface="Courier New" pitchFamily="34" charset="-122"/>
                <a:cs typeface="Courier New" pitchFamily="34" charset="-120"/>
              </a:rPr>
              <a:t> Promedio: 350 ÷ 5 = 70</a:t>
            </a:r>
            <a:endParaRPr lang="en-US" sz="1300" dirty="0"/>
          </a:p>
          <a:p>
            <a:pPr marL="0" indent="0" algn="l">
              <a:lnSpc>
                <a:spcPts val="2210"/>
              </a:lnSpc>
              <a:buNone/>
            </a:pPr>
            <a:r>
              <a:rPr lang="en-US" sz="1300" dirty="0">
                <a:solidFill>
                  <a:srgbClr val="E4002B"/>
                </a:solidFill>
                <a:latin typeface="Courier New" pitchFamily="34" charset="0"/>
                <a:ea typeface="Courier New" pitchFamily="34" charset="-122"/>
                <a:cs typeface="Courier New" pitchFamily="34" charset="-120"/>
              </a:rPr>
              <a:t>4</a:t>
            </a:r>
            <a:r>
              <a:rPr lang="en-US" sz="1300" dirty="0">
                <a:solidFill>
                  <a:srgbClr val="E4E4E7"/>
                </a:solidFill>
                <a:latin typeface="Courier New" pitchFamily="34" charset="0"/>
                <a:ea typeface="Courier New" pitchFamily="34" charset="-122"/>
                <a:cs typeface="Courier New" pitchFamily="34" charset="-120"/>
              </a:rPr>
              <a:t> Raíz: √70 = </a:t>
            </a:r>
            <a:r>
              <a:rPr lang="en-US" sz="1300" dirty="0">
                <a:solidFill>
                  <a:srgbClr val="FF5C77"/>
                </a:solidFill>
                <a:latin typeface="Courier New" pitchFamily="34" charset="0"/>
                <a:ea typeface="Courier New" pitchFamily="34" charset="-122"/>
                <a:cs typeface="Courier New" pitchFamily="34" charset="-120"/>
              </a:rPr>
              <a:t>8,37</a:t>
            </a:r>
            <a:endParaRPr lang="en-US" sz="1300" dirty="0"/>
          </a:p>
        </p:txBody>
      </p:sp>
      <p:sp>
        <p:nvSpPr>
          <p:cNvPr id="7" name="Shape 5"/>
          <p:cNvSpPr/>
          <p:nvPr/>
        </p:nvSpPr>
        <p:spPr>
          <a:xfrm>
            <a:off x="6178550" y="1802011"/>
            <a:ext cx="5194300" cy="2111573"/>
          </a:xfrm>
          <a:prstGeom prst="roundRect">
            <a:avLst>
              <a:gd name="adj" fmla="val 4511"/>
            </a:avLst>
          </a:prstGeom>
          <a:solidFill>
            <a:srgbClr val="1F0A0F"/>
          </a:solidFill>
          <a:ln w="12700">
            <a:solidFill>
              <a:srgbClr val="E4002B"/>
            </a:solidFill>
            <a:prstDash val="solid"/>
          </a:ln>
        </p:spPr>
        <p:txBody>
          <a:bodyPr/>
          <a:lstStyle/>
          <a:p>
            <a:endParaRPr lang="es-CO"/>
          </a:p>
        </p:txBody>
      </p:sp>
      <p:sp>
        <p:nvSpPr>
          <p:cNvPr id="8" name="Text 6"/>
          <p:cNvSpPr/>
          <p:nvPr/>
        </p:nvSpPr>
        <p:spPr>
          <a:xfrm>
            <a:off x="6438900" y="2011561"/>
            <a:ext cx="4813808"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F4F4F5"/>
                </a:solidFill>
                <a:latin typeface="Arial" pitchFamily="34" charset="0"/>
                <a:ea typeface="Arial" pitchFamily="34" charset="-122"/>
                <a:cs typeface="Arial" pitchFamily="34" charset="-120"/>
              </a:rPr>
              <a:t>¿Y si el viernes falla por 50?</a:t>
            </a:r>
            <a:endParaRPr lang="en-US" sz="15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6451600" y="2329061"/>
          <a:ext cx="4660900" cy="1077813"/>
        </p:xfrm>
        <a:graphic>
          <a:graphicData uri="http://schemas.openxmlformats.org/drawingml/2006/table">
            <a:tbl>
              <a:tblPr/>
              <a:tblGrid>
                <a:gridCol w="1584706">
                  <a:extLst>
                    <a:ext uri="{9D8B030D-6E8A-4147-A177-3AD203B41FA5}">
                      <a16:colId xmlns:a16="http://schemas.microsoft.com/office/drawing/2014/main" val="20000"/>
                    </a:ext>
                  </a:extLst>
                </a:gridCol>
                <a:gridCol w="1538097">
                  <a:extLst>
                    <a:ext uri="{9D8B030D-6E8A-4147-A177-3AD203B41FA5}">
                      <a16:colId xmlns:a16="http://schemas.microsoft.com/office/drawing/2014/main" val="20001"/>
                    </a:ext>
                  </a:extLst>
                </a:gridCol>
                <a:gridCol w="1538097">
                  <a:extLst>
                    <a:ext uri="{9D8B030D-6E8A-4147-A177-3AD203B41FA5}">
                      <a16:colId xmlns:a16="http://schemas.microsoft.com/office/drawing/2014/main" val="20002"/>
                    </a:ext>
                  </a:extLst>
                </a:gridCol>
              </a:tblGrid>
              <a:tr h="359271">
                <a:tc>
                  <a:txBody>
                    <a:bodyPr/>
                    <a:lstStyle/>
                    <a:p>
                      <a:pPr marL="0" indent="0">
                        <a:lnSpc>
                          <a:spcPts val="1820"/>
                        </a:lnSpc>
                        <a:buNone/>
                      </a:pPr>
                      <a:endParaRPr lang="en-US" sz="1300" dirty="0">
                        <a:latin typeface="Arial" charset="0"/>
                        <a:ea typeface="Arial" charset="0"/>
                        <a:cs typeface="Arial" charset="0"/>
                      </a:endParaRPr>
                    </a:p>
                  </a:txBody>
                  <a:tcPr marL="57785" marR="57785" marT="57785" marB="57785">
                    <a:lnL w="12700" cap="flat" cmpd="sng" algn="ctr">
                      <a:solidFill>
                        <a:srgbClr val="4F3F42"/>
                      </a:solidFill>
                      <a:prstDash val="solid"/>
                      <a:round/>
                      <a:headEnd type="none" w="med" len="med"/>
                      <a:tailEnd type="none" w="med" len="med"/>
                    </a:lnL>
                    <a:lnR w="12700" cap="flat" cmpd="sng" algn="ctr">
                      <a:solidFill>
                        <a:srgbClr val="5D4D50"/>
                      </a:solidFill>
                      <a:prstDash val="solid"/>
                      <a:round/>
                      <a:headEnd type="none" w="med" len="med"/>
                      <a:tailEnd type="none" w="med" len="med"/>
                    </a:lnR>
                    <a:lnT w="12700" cap="flat" cmpd="sng" algn="ctr">
                      <a:solidFill>
                        <a:srgbClr val="4F3F42"/>
                      </a:solidFill>
                      <a:prstDash val="solid"/>
                      <a:round/>
                      <a:headEnd type="none" w="med" len="med"/>
                      <a:tailEnd type="none" w="med" len="med"/>
                    </a:lnT>
                    <a:lnB w="12700" cap="flat" cmpd="sng" algn="ctr">
                      <a:solidFill>
                        <a:srgbClr val="5D4D50"/>
                      </a:solidFill>
                      <a:prstDash val="solid"/>
                      <a:round/>
                      <a:headEnd type="none" w="med" len="med"/>
                      <a:tailEnd type="none" w="med" len="med"/>
                    </a:lnB>
                    <a:solidFill>
                      <a:srgbClr val="311D21"/>
                    </a:solidFill>
                  </a:tcPr>
                </a:tc>
                <a:tc>
                  <a:txBody>
                    <a:bodyPr/>
                    <a:lstStyle/>
                    <a:p>
                      <a:pPr marL="0" indent="0" algn="ctr">
                        <a:lnSpc>
                          <a:spcPts val="1820"/>
                        </a:lnSpc>
                        <a:buNone/>
                      </a:pPr>
                      <a:r>
                        <a:rPr lang="en-US" sz="1300" b="1" dirty="0">
                          <a:solidFill>
                            <a:srgbClr val="E4E4E7"/>
                          </a:solidFill>
                          <a:latin typeface="Arial" pitchFamily="34" charset="0"/>
                          <a:ea typeface="Arial" pitchFamily="34" charset="-122"/>
                          <a:cs typeface="Arial" pitchFamily="34" charset="-120"/>
                        </a:rPr>
                        <a:t>Antes</a:t>
                      </a:r>
                      <a:endParaRPr lang="en-US" sz="1300" dirty="0">
                        <a:latin typeface="Arial" charset="0"/>
                        <a:ea typeface="Arial" charset="0"/>
                        <a:cs typeface="Arial" charset="0"/>
                      </a:endParaRPr>
                    </a:p>
                  </a:txBody>
                  <a:tcPr marL="57785" marR="57785" marT="57785" marB="57785">
                    <a:lnL w="12700" cap="flat" cmpd="sng" algn="ctr">
                      <a:solidFill>
                        <a:srgbClr val="5D4D50"/>
                      </a:solidFill>
                      <a:prstDash val="solid"/>
                      <a:round/>
                      <a:headEnd type="none" w="med" len="med"/>
                      <a:tailEnd type="none" w="med" len="med"/>
                    </a:lnL>
                    <a:lnR w="12700" cap="flat" cmpd="sng" algn="ctr">
                      <a:solidFill>
                        <a:srgbClr val="5D4D50"/>
                      </a:solidFill>
                      <a:prstDash val="solid"/>
                      <a:round/>
                      <a:headEnd type="none" w="med" len="med"/>
                      <a:tailEnd type="none" w="med" len="med"/>
                    </a:lnR>
                    <a:lnT w="12700" cap="flat" cmpd="sng" algn="ctr">
                      <a:solidFill>
                        <a:srgbClr val="4F3F42"/>
                      </a:solidFill>
                      <a:prstDash val="solid"/>
                      <a:round/>
                      <a:headEnd type="none" w="med" len="med"/>
                      <a:tailEnd type="none" w="med" len="med"/>
                    </a:lnT>
                    <a:lnB w="12700" cap="flat" cmpd="sng" algn="ctr">
                      <a:solidFill>
                        <a:srgbClr val="5D4D50"/>
                      </a:solidFill>
                      <a:prstDash val="solid"/>
                      <a:round/>
                      <a:headEnd type="none" w="med" len="med"/>
                      <a:tailEnd type="none" w="med" len="med"/>
                    </a:lnB>
                    <a:solidFill>
                      <a:srgbClr val="311D21"/>
                    </a:solidFill>
                  </a:tcPr>
                </a:tc>
                <a:tc>
                  <a:txBody>
                    <a:bodyPr/>
                    <a:lstStyle/>
                    <a:p>
                      <a:pPr marL="0" indent="0" algn="ctr">
                        <a:lnSpc>
                          <a:spcPts val="1820"/>
                        </a:lnSpc>
                        <a:buNone/>
                      </a:pPr>
                      <a:r>
                        <a:rPr lang="en-US" sz="1300" b="1" dirty="0">
                          <a:solidFill>
                            <a:srgbClr val="E4E4E7"/>
                          </a:solidFill>
                          <a:latin typeface="Arial" pitchFamily="34" charset="0"/>
                          <a:ea typeface="Arial" pitchFamily="34" charset="-122"/>
                          <a:cs typeface="Arial" pitchFamily="34" charset="-120"/>
                        </a:rPr>
                        <a:t>Después</a:t>
                      </a:r>
                      <a:endParaRPr lang="en-US" sz="1300" dirty="0">
                        <a:latin typeface="Arial" charset="0"/>
                        <a:ea typeface="Arial" charset="0"/>
                        <a:cs typeface="Arial" charset="0"/>
                      </a:endParaRPr>
                    </a:p>
                  </a:txBody>
                  <a:tcPr marL="57785" marR="57785" marT="57785" marB="57785">
                    <a:lnL w="12700" cap="flat" cmpd="sng" algn="ctr">
                      <a:solidFill>
                        <a:srgbClr val="5D4D50"/>
                      </a:solidFill>
                      <a:prstDash val="solid"/>
                      <a:round/>
                      <a:headEnd type="none" w="med" len="med"/>
                      <a:tailEnd type="none" w="med" len="med"/>
                    </a:lnL>
                    <a:lnR w="12700" cap="flat" cmpd="sng" algn="ctr">
                      <a:solidFill>
                        <a:srgbClr val="5D4D50"/>
                      </a:solidFill>
                      <a:prstDash val="solid"/>
                      <a:round/>
                      <a:headEnd type="none" w="med" len="med"/>
                      <a:tailEnd type="none" w="med" len="med"/>
                    </a:lnR>
                    <a:lnT w="12700" cap="flat" cmpd="sng" algn="ctr">
                      <a:solidFill>
                        <a:srgbClr val="4F3F42"/>
                      </a:solidFill>
                      <a:prstDash val="solid"/>
                      <a:round/>
                      <a:headEnd type="none" w="med" len="med"/>
                      <a:tailEnd type="none" w="med" len="med"/>
                    </a:lnT>
                    <a:lnB w="12700" cap="flat" cmpd="sng" algn="ctr">
                      <a:solidFill>
                        <a:srgbClr val="5D4D50"/>
                      </a:solidFill>
                      <a:prstDash val="solid"/>
                      <a:round/>
                      <a:headEnd type="none" w="med" len="med"/>
                      <a:tailEnd type="none" w="med" len="med"/>
                    </a:lnB>
                    <a:solidFill>
                      <a:srgbClr val="311D21"/>
                    </a:solidFill>
                  </a:tcPr>
                </a:tc>
                <a:extLst>
                  <a:ext uri="{0D108BD9-81ED-4DB2-BD59-A6C34878D82A}">
                    <a16:rowId xmlns:a16="http://schemas.microsoft.com/office/drawing/2014/main" val="10000"/>
                  </a:ext>
                </a:extLst>
              </a:tr>
              <a:tr h="359271">
                <a:tc>
                  <a:txBody>
                    <a:bodyPr/>
                    <a:lstStyle/>
                    <a:p>
                      <a:pPr marL="0" indent="0">
                        <a:lnSpc>
                          <a:spcPts val="1820"/>
                        </a:lnSpc>
                        <a:buNone/>
                      </a:pPr>
                      <a:r>
                        <a:rPr lang="en-US" sz="1300" dirty="0">
                          <a:solidFill>
                            <a:srgbClr val="E4E4E7"/>
                          </a:solidFill>
                          <a:latin typeface="Arial" pitchFamily="34" charset="0"/>
                          <a:ea typeface="Arial" pitchFamily="34" charset="-122"/>
                          <a:cs typeface="Arial" pitchFamily="34" charset="-120"/>
                        </a:rPr>
                        <a:t>MAE</a:t>
                      </a:r>
                      <a:endParaRPr lang="en-US" sz="1300" dirty="0">
                        <a:latin typeface="Arial" charset="0"/>
                        <a:ea typeface="Arial" charset="0"/>
                        <a:cs typeface="Arial" charset="0"/>
                      </a:endParaRPr>
                    </a:p>
                  </a:txBody>
                  <a:tcPr marL="57785" marR="57785" marT="57785" marB="57785">
                    <a:lnL w="12700" cap="flat" cmpd="sng" algn="ctr">
                      <a:solidFill>
                        <a:srgbClr val="4F3F42"/>
                      </a:solidFill>
                      <a:prstDash val="solid"/>
                      <a:round/>
                      <a:headEnd type="none" w="med" len="med"/>
                      <a:tailEnd type="none" w="med" len="med"/>
                    </a:lnL>
                    <a:lnR w="12700" cap="flat" cmpd="sng" algn="ctr">
                      <a:solidFill>
                        <a:srgbClr val="4F3F42"/>
                      </a:solidFill>
                      <a:prstDash val="solid"/>
                      <a:round/>
                      <a:headEnd type="none" w="med" len="med"/>
                      <a:tailEnd type="none" w="med" len="med"/>
                    </a:lnR>
                    <a:lnT w="12700" cap="flat" cmpd="sng" algn="ctr">
                      <a:solidFill>
                        <a:srgbClr val="5D4D50"/>
                      </a:solidFill>
                      <a:prstDash val="solid"/>
                      <a:round/>
                      <a:headEnd type="none" w="med" len="med"/>
                      <a:tailEnd type="none" w="med" len="med"/>
                    </a:lnT>
                    <a:lnB w="12700" cap="flat" cmpd="sng" algn="ctr">
                      <a:solidFill>
                        <a:srgbClr val="4F3F42"/>
                      </a:solidFill>
                      <a:prstDash val="solid"/>
                      <a:round/>
                      <a:headEnd type="none" w="med" len="med"/>
                      <a:tailEnd type="none" w="med" len="med"/>
                    </a:lnB>
                  </a:tcPr>
                </a:tc>
                <a:tc>
                  <a:txBody>
                    <a:bodyPr/>
                    <a:lstStyle/>
                    <a:p>
                      <a:pPr marL="0" indent="0" algn="ctr">
                        <a:lnSpc>
                          <a:spcPts val="1820"/>
                        </a:lnSpc>
                        <a:buNone/>
                      </a:pPr>
                      <a:r>
                        <a:rPr lang="en-US" sz="1300" dirty="0">
                          <a:solidFill>
                            <a:srgbClr val="E4E4E7"/>
                          </a:solidFill>
                          <a:latin typeface="Arial" pitchFamily="34" charset="0"/>
                          <a:ea typeface="Arial" pitchFamily="34" charset="-122"/>
                          <a:cs typeface="Arial" pitchFamily="34" charset="-120"/>
                        </a:rPr>
                        <a:t>8</a:t>
                      </a:r>
                      <a:endParaRPr lang="en-US" sz="1300" dirty="0">
                        <a:latin typeface="Arial" charset="0"/>
                        <a:ea typeface="Arial" charset="0"/>
                        <a:cs typeface="Arial" charset="0"/>
                      </a:endParaRPr>
                    </a:p>
                  </a:txBody>
                  <a:tcPr marL="57785" marR="57785" marT="57785" marB="57785">
                    <a:lnL w="12700" cap="flat" cmpd="sng" algn="ctr">
                      <a:solidFill>
                        <a:srgbClr val="4F3F42"/>
                      </a:solidFill>
                      <a:prstDash val="solid"/>
                      <a:round/>
                      <a:headEnd type="none" w="med" len="med"/>
                      <a:tailEnd type="none" w="med" len="med"/>
                    </a:lnL>
                    <a:lnR w="12700" cap="flat" cmpd="sng" algn="ctr">
                      <a:solidFill>
                        <a:srgbClr val="4F3F42"/>
                      </a:solidFill>
                      <a:prstDash val="solid"/>
                      <a:round/>
                      <a:headEnd type="none" w="med" len="med"/>
                      <a:tailEnd type="none" w="med" len="med"/>
                    </a:lnR>
                    <a:lnT w="12700" cap="flat" cmpd="sng" algn="ctr">
                      <a:solidFill>
                        <a:srgbClr val="5D4D50"/>
                      </a:solidFill>
                      <a:prstDash val="solid"/>
                      <a:round/>
                      <a:headEnd type="none" w="med" len="med"/>
                      <a:tailEnd type="none" w="med" len="med"/>
                    </a:lnT>
                    <a:lnB w="12700" cap="flat" cmpd="sng" algn="ctr">
                      <a:solidFill>
                        <a:srgbClr val="4F3F42"/>
                      </a:solidFill>
                      <a:prstDash val="solid"/>
                      <a:round/>
                      <a:headEnd type="none" w="med" len="med"/>
                      <a:tailEnd type="none" w="med" len="med"/>
                    </a:lnB>
                  </a:tcPr>
                </a:tc>
                <a:tc>
                  <a:txBody>
                    <a:bodyPr/>
                    <a:lstStyle/>
                    <a:p>
                      <a:pPr marL="0" indent="0" algn="ctr">
                        <a:lnSpc>
                          <a:spcPts val="1820"/>
                        </a:lnSpc>
                        <a:buNone/>
                      </a:pPr>
                      <a:r>
                        <a:rPr lang="en-US" sz="1300" dirty="0">
                          <a:solidFill>
                            <a:srgbClr val="E4E4E7"/>
                          </a:solidFill>
                          <a:latin typeface="Arial" pitchFamily="34" charset="0"/>
                          <a:ea typeface="Arial" pitchFamily="34" charset="-122"/>
                          <a:cs typeface="Arial" pitchFamily="34" charset="-120"/>
                        </a:rPr>
                        <a:t>17</a:t>
                      </a:r>
                      <a:endParaRPr lang="en-US" sz="1300" dirty="0">
                        <a:latin typeface="Arial" charset="0"/>
                        <a:ea typeface="Arial" charset="0"/>
                        <a:cs typeface="Arial" charset="0"/>
                      </a:endParaRPr>
                    </a:p>
                  </a:txBody>
                  <a:tcPr marL="57785" marR="57785" marT="57785" marB="57785">
                    <a:lnL w="12700" cap="flat" cmpd="sng" algn="ctr">
                      <a:solidFill>
                        <a:srgbClr val="4F3F42"/>
                      </a:solidFill>
                      <a:prstDash val="solid"/>
                      <a:round/>
                      <a:headEnd type="none" w="med" len="med"/>
                      <a:tailEnd type="none" w="med" len="med"/>
                    </a:lnL>
                    <a:lnR w="12700" cap="flat" cmpd="sng" algn="ctr">
                      <a:solidFill>
                        <a:srgbClr val="4F3F42"/>
                      </a:solidFill>
                      <a:prstDash val="solid"/>
                      <a:round/>
                      <a:headEnd type="none" w="med" len="med"/>
                      <a:tailEnd type="none" w="med" len="med"/>
                    </a:lnR>
                    <a:lnT w="12700" cap="flat" cmpd="sng" algn="ctr">
                      <a:solidFill>
                        <a:srgbClr val="5D4D50"/>
                      </a:solidFill>
                      <a:prstDash val="solid"/>
                      <a:round/>
                      <a:headEnd type="none" w="med" len="med"/>
                      <a:tailEnd type="none" w="med" len="med"/>
                    </a:lnT>
                    <a:lnB w="12700" cap="flat" cmpd="sng" algn="ctr">
                      <a:solidFill>
                        <a:srgbClr val="4F3F42"/>
                      </a:solidFill>
                      <a:prstDash val="solid"/>
                      <a:round/>
                      <a:headEnd type="none" w="med" len="med"/>
                      <a:tailEnd type="none" w="med" len="med"/>
                    </a:lnB>
                  </a:tcPr>
                </a:tc>
                <a:extLst>
                  <a:ext uri="{0D108BD9-81ED-4DB2-BD59-A6C34878D82A}">
                    <a16:rowId xmlns:a16="http://schemas.microsoft.com/office/drawing/2014/main" val="10001"/>
                  </a:ext>
                </a:extLst>
              </a:tr>
              <a:tr h="359271">
                <a:tc>
                  <a:txBody>
                    <a:bodyPr/>
                    <a:lstStyle/>
                    <a:p>
                      <a:pPr marL="0" indent="0">
                        <a:lnSpc>
                          <a:spcPts val="1820"/>
                        </a:lnSpc>
                        <a:buNone/>
                      </a:pPr>
                      <a:r>
                        <a:rPr lang="en-US" sz="1300" dirty="0">
                          <a:solidFill>
                            <a:srgbClr val="E4E4E7"/>
                          </a:solidFill>
                          <a:latin typeface="Arial" pitchFamily="34" charset="0"/>
                          <a:ea typeface="Arial" pitchFamily="34" charset="-122"/>
                          <a:cs typeface="Arial" pitchFamily="34" charset="-120"/>
                        </a:rPr>
                        <a:t>RMSE</a:t>
                      </a:r>
                      <a:endParaRPr lang="en-US" sz="1300" dirty="0">
                        <a:latin typeface="Arial" charset="0"/>
                        <a:ea typeface="Arial" charset="0"/>
                        <a:cs typeface="Arial" charset="0"/>
                      </a:endParaRPr>
                    </a:p>
                  </a:txBody>
                  <a:tcPr marL="57785" marR="57785" marT="57785" marB="57785">
                    <a:lnL w="12700" cap="flat" cmpd="sng" algn="ctr">
                      <a:solidFill>
                        <a:srgbClr val="4F3F42"/>
                      </a:solidFill>
                      <a:prstDash val="solid"/>
                      <a:round/>
                      <a:headEnd type="none" w="med" len="med"/>
                      <a:tailEnd type="none" w="med" len="med"/>
                    </a:lnL>
                    <a:lnR w="12700" cap="flat" cmpd="sng" algn="ctr">
                      <a:solidFill>
                        <a:srgbClr val="4F3F42"/>
                      </a:solidFill>
                      <a:prstDash val="solid"/>
                      <a:round/>
                      <a:headEnd type="none" w="med" len="med"/>
                      <a:tailEnd type="none" w="med" len="med"/>
                    </a:lnR>
                    <a:lnT w="12700" cap="flat" cmpd="sng" algn="ctr">
                      <a:solidFill>
                        <a:srgbClr val="4F3F42"/>
                      </a:solidFill>
                      <a:prstDash val="solid"/>
                      <a:round/>
                      <a:headEnd type="none" w="med" len="med"/>
                      <a:tailEnd type="none" w="med" len="med"/>
                    </a:lnT>
                    <a:lnB w="12700" cap="flat" cmpd="sng" algn="ctr">
                      <a:solidFill>
                        <a:srgbClr val="4F3F42"/>
                      </a:solidFill>
                      <a:prstDash val="solid"/>
                      <a:round/>
                      <a:headEnd type="none" w="med" len="med"/>
                      <a:tailEnd type="none" w="med" len="med"/>
                    </a:lnB>
                  </a:tcPr>
                </a:tc>
                <a:tc>
                  <a:txBody>
                    <a:bodyPr/>
                    <a:lstStyle/>
                    <a:p>
                      <a:pPr marL="0" indent="0" algn="ctr">
                        <a:lnSpc>
                          <a:spcPts val="1820"/>
                        </a:lnSpc>
                        <a:buNone/>
                      </a:pPr>
                      <a:r>
                        <a:rPr lang="en-US" sz="1300" dirty="0">
                          <a:solidFill>
                            <a:srgbClr val="E4E4E7"/>
                          </a:solidFill>
                          <a:latin typeface="Arial" pitchFamily="34" charset="0"/>
                          <a:ea typeface="Arial" pitchFamily="34" charset="-122"/>
                          <a:cs typeface="Arial" pitchFamily="34" charset="-120"/>
                        </a:rPr>
                        <a:t>8,37</a:t>
                      </a:r>
                      <a:endParaRPr lang="en-US" sz="1300" dirty="0">
                        <a:latin typeface="Arial" charset="0"/>
                        <a:ea typeface="Arial" charset="0"/>
                        <a:cs typeface="Arial" charset="0"/>
                      </a:endParaRPr>
                    </a:p>
                  </a:txBody>
                  <a:tcPr marL="57785" marR="57785" marT="57785" marB="57785">
                    <a:lnL w="12700" cap="flat" cmpd="sng" algn="ctr">
                      <a:solidFill>
                        <a:srgbClr val="4F3F42"/>
                      </a:solidFill>
                      <a:prstDash val="solid"/>
                      <a:round/>
                      <a:headEnd type="none" w="med" len="med"/>
                      <a:tailEnd type="none" w="med" len="med"/>
                    </a:lnL>
                    <a:lnR w="12700" cap="flat" cmpd="sng" algn="ctr">
                      <a:solidFill>
                        <a:srgbClr val="4F3F42"/>
                      </a:solidFill>
                      <a:prstDash val="solid"/>
                      <a:round/>
                      <a:headEnd type="none" w="med" len="med"/>
                      <a:tailEnd type="none" w="med" len="med"/>
                    </a:lnR>
                    <a:lnT w="12700" cap="flat" cmpd="sng" algn="ctr">
                      <a:solidFill>
                        <a:srgbClr val="4F3F42"/>
                      </a:solidFill>
                      <a:prstDash val="solid"/>
                      <a:round/>
                      <a:headEnd type="none" w="med" len="med"/>
                      <a:tailEnd type="none" w="med" len="med"/>
                    </a:lnT>
                    <a:lnB w="12700" cap="flat" cmpd="sng" algn="ctr">
                      <a:solidFill>
                        <a:srgbClr val="4F3F42"/>
                      </a:solidFill>
                      <a:prstDash val="solid"/>
                      <a:round/>
                      <a:headEnd type="none" w="med" len="med"/>
                      <a:tailEnd type="none" w="med" len="med"/>
                    </a:lnB>
                  </a:tcPr>
                </a:tc>
                <a:tc>
                  <a:txBody>
                    <a:bodyPr/>
                    <a:lstStyle/>
                    <a:p>
                      <a:pPr marL="0" indent="0" algn="ctr">
                        <a:lnSpc>
                          <a:spcPts val="1820"/>
                        </a:lnSpc>
                        <a:buNone/>
                      </a:pPr>
                      <a:r>
                        <a:rPr lang="en-US" sz="1300" dirty="0">
                          <a:solidFill>
                            <a:srgbClr val="FF5C77"/>
                          </a:solidFill>
                          <a:latin typeface="Arial" pitchFamily="34" charset="0"/>
                          <a:ea typeface="Arial" pitchFamily="34" charset="-122"/>
                          <a:cs typeface="Arial" pitchFamily="34" charset="-120"/>
                        </a:rPr>
                        <a:t>23,77</a:t>
                      </a:r>
                      <a:endParaRPr lang="en-US" sz="1300" dirty="0">
                        <a:latin typeface="Arial" charset="0"/>
                        <a:ea typeface="Arial" charset="0"/>
                        <a:cs typeface="Arial" charset="0"/>
                      </a:endParaRPr>
                    </a:p>
                  </a:txBody>
                  <a:tcPr marL="57785" marR="57785" marT="57785" marB="57785">
                    <a:lnL w="12700" cap="flat" cmpd="sng" algn="ctr">
                      <a:solidFill>
                        <a:srgbClr val="4F3F42"/>
                      </a:solidFill>
                      <a:prstDash val="solid"/>
                      <a:round/>
                      <a:headEnd type="none" w="med" len="med"/>
                      <a:tailEnd type="none" w="med" len="med"/>
                    </a:lnL>
                    <a:lnR w="12700" cap="flat" cmpd="sng" algn="ctr">
                      <a:solidFill>
                        <a:srgbClr val="4F3F42"/>
                      </a:solidFill>
                      <a:prstDash val="solid"/>
                      <a:round/>
                      <a:headEnd type="none" w="med" len="med"/>
                      <a:tailEnd type="none" w="med" len="med"/>
                    </a:lnR>
                    <a:lnT w="12700" cap="flat" cmpd="sng" algn="ctr">
                      <a:solidFill>
                        <a:srgbClr val="4F3F42"/>
                      </a:solidFill>
                      <a:prstDash val="solid"/>
                      <a:round/>
                      <a:headEnd type="none" w="med" len="med"/>
                      <a:tailEnd type="none" w="med" len="med"/>
                    </a:lnT>
                    <a:lnB w="12700" cap="flat" cmpd="sng" algn="ctr">
                      <a:solidFill>
                        <a:srgbClr val="4F3F42"/>
                      </a:solidFill>
                      <a:prstDash val="solid"/>
                      <a:round/>
                      <a:headEnd type="none" w="med" len="med"/>
                      <a:tailEnd type="none" w="med" len="med"/>
                    </a:lnB>
                  </a:tcPr>
                </a:tc>
                <a:extLst>
                  <a:ext uri="{0D108BD9-81ED-4DB2-BD59-A6C34878D82A}">
                    <a16:rowId xmlns:a16="http://schemas.microsoft.com/office/drawing/2014/main" val="10002"/>
                  </a:ext>
                </a:extLst>
              </a:tr>
            </a:tbl>
          </a:graphicData>
        </a:graphic>
      </p:graphicFrame>
      <p:sp>
        <p:nvSpPr>
          <p:cNvPr id="10" name="Text 7"/>
          <p:cNvSpPr/>
          <p:nvPr/>
        </p:nvSpPr>
        <p:spPr>
          <a:xfrm>
            <a:off x="6438900" y="3483074"/>
            <a:ext cx="4813808" cy="246360"/>
          </a:xfrm>
          <a:prstGeom prst="rect">
            <a:avLst/>
          </a:prstGeom>
          <a:noFill/>
          <a:ln/>
        </p:spPr>
        <p:txBody>
          <a:bodyPr wrap="square" lIns="0" tIns="0" rIns="0" bIns="0" rtlCol="0" anchor="t">
            <a:normAutofit/>
          </a:bodyPr>
          <a:lstStyle/>
          <a:p>
            <a:pPr marL="0" indent="0" algn="l">
              <a:lnSpc>
                <a:spcPts val="1740"/>
              </a:lnSpc>
              <a:buNone/>
            </a:pPr>
            <a:r>
              <a:rPr lang="en-US" sz="1200" dirty="0">
                <a:solidFill>
                  <a:srgbClr val="F4F4F5"/>
                </a:solidFill>
                <a:latin typeface="Arial" pitchFamily="34" charset="0"/>
                <a:ea typeface="Arial" pitchFamily="34" charset="-122"/>
                <a:cs typeface="Arial" pitchFamily="34" charset="-120"/>
              </a:rPr>
              <a:t>El MAE se duplica; el RMSE casi se triplica.</a:t>
            </a:r>
            <a:endParaRPr lang="en-US" sz="1200" dirty="0"/>
          </a:p>
        </p:txBody>
      </p:sp>
      <p:sp>
        <p:nvSpPr>
          <p:cNvPr id="11" name="Shape 8"/>
          <p:cNvSpPr/>
          <p:nvPr/>
        </p:nvSpPr>
        <p:spPr>
          <a:xfrm>
            <a:off x="819150" y="4129484"/>
            <a:ext cx="10553700" cy="1111052"/>
          </a:xfrm>
          <a:prstGeom prst="roundRect">
            <a:avLst>
              <a:gd name="adj" fmla="val 10859"/>
            </a:avLst>
          </a:prstGeom>
          <a:solidFill>
            <a:srgbClr val="1F0A0F"/>
          </a:solidFill>
          <a:ln w="12700">
            <a:solidFill>
              <a:srgbClr val="E4002B"/>
            </a:solidFill>
            <a:prstDash val="solid"/>
          </a:ln>
        </p:spPr>
        <p:txBody>
          <a:bodyPr/>
          <a:lstStyle/>
          <a:p>
            <a:endParaRPr lang="es-CO"/>
          </a:p>
        </p:txBody>
      </p:sp>
      <p:sp>
        <p:nvSpPr>
          <p:cNvPr id="12" name="Text 9"/>
          <p:cNvSpPr/>
          <p:nvPr/>
        </p:nvSpPr>
        <p:spPr>
          <a:xfrm>
            <a:off x="1079500" y="4313634"/>
            <a:ext cx="10333990"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E4002B"/>
                </a:solidFill>
                <a:latin typeface="Courier New" pitchFamily="34" charset="0"/>
                <a:ea typeface="Courier New" pitchFamily="34" charset="-122"/>
                <a:cs typeface="Courier New" pitchFamily="34" charset="-120"/>
              </a:rPr>
              <a:t>EN PALABRAS SIMPLES</a:t>
            </a:r>
            <a:endParaRPr lang="en-US" sz="1200" dirty="0"/>
          </a:p>
        </p:txBody>
      </p:sp>
      <p:sp>
        <p:nvSpPr>
          <p:cNvPr id="13" name="Text 10"/>
          <p:cNvSpPr/>
          <p:nvPr/>
        </p:nvSpPr>
        <p:spPr>
          <a:xfrm>
            <a:off x="1079500" y="4577755"/>
            <a:ext cx="10333990" cy="504031"/>
          </a:xfrm>
          <a:prstGeom prst="rect">
            <a:avLst/>
          </a:prstGeom>
          <a:noFill/>
          <a:ln/>
        </p:spPr>
        <p:txBody>
          <a:bodyPr wrap="square" lIns="0" tIns="0" rIns="0" bIns="0" rtlCol="0" anchor="t">
            <a:normAutofit/>
          </a:bodyPr>
          <a:lstStyle/>
          <a:p>
            <a:pPr marL="0" indent="0" algn="l">
              <a:lnSpc>
                <a:spcPts val="1885"/>
              </a:lnSpc>
              <a:buNone/>
            </a:pPr>
            <a:r>
              <a:rPr lang="en-US" sz="1300" dirty="0">
                <a:solidFill>
                  <a:srgbClr val="F4F4F5"/>
                </a:solidFill>
                <a:latin typeface="Arial" pitchFamily="34" charset="0"/>
                <a:ea typeface="Arial" pitchFamily="34" charset="-122"/>
                <a:cs typeface="Arial" pitchFamily="34" charset="-120"/>
              </a:rPr>
              <a:t>Al elevar al cuadrado, un error de 50 pesa 2500 y uno de 10 pesa solo 100. Usa RMSE cuando un error grande sea mucho peor que varios pequeños.</a:t>
            </a:r>
            <a:endParaRPr lang="en-US" sz="1300" dirty="0"/>
          </a:p>
        </p:txBody>
      </p:sp>
      <p:sp>
        <p:nvSpPr>
          <p:cNvPr id="14" name="Text 11"/>
          <p:cNvSpPr/>
          <p:nvPr/>
        </p:nvSpPr>
        <p:spPr>
          <a:xfrm>
            <a:off x="812800" y="6238280"/>
            <a:ext cx="7848600" cy="238720"/>
          </a:xfrm>
          <a:prstGeom prst="rect">
            <a:avLst/>
          </a:prstGeom>
          <a:noFill/>
          <a:ln/>
        </p:spPr>
        <p:txBody>
          <a:bodyPr wrap="square" lIns="0" tIns="0" rIns="0" bIns="0" rtlCol="0" anchor="t">
            <a:normAutofit/>
          </a:bodyPr>
          <a:lstStyle/>
          <a:p>
            <a:pPr marL="0" indent="0" algn="l">
              <a:lnSpc>
                <a:spcPts val="1680"/>
              </a:lnSpc>
              <a:buNone/>
            </a:pPr>
            <a:r>
              <a:rPr lang="en-US" sz="1200" kern="0" spc="100" dirty="0">
                <a:solidFill>
                  <a:srgbClr val="71717A"/>
                </a:solidFill>
                <a:latin typeface="Courier New" pitchFamily="34" charset="0"/>
                <a:ea typeface="Courier New" pitchFamily="34" charset="-122"/>
                <a:cs typeface="Courier New" pitchFamily="34" charset="-120"/>
              </a:rPr>
              <a:t>UNIDAD 4 · VALIDACIÓN DE MODELOS</a:t>
            </a:r>
            <a:endParaRPr lang="en-US" sz="1200" dirty="0"/>
          </a:p>
        </p:txBody>
      </p:sp>
      <p:sp>
        <p:nvSpPr>
          <p:cNvPr id="15" name="Text 12"/>
          <p:cNvSpPr/>
          <p:nvPr/>
        </p:nvSpPr>
        <p:spPr>
          <a:xfrm>
            <a:off x="10058400" y="6238280"/>
            <a:ext cx="1320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71717A"/>
                </a:solidFill>
                <a:latin typeface="Courier New" pitchFamily="34" charset="0"/>
                <a:ea typeface="Courier New" pitchFamily="34" charset="-122"/>
                <a:cs typeface="Courier New" pitchFamily="34" charset="-120"/>
              </a:rPr>
              <a:t>13</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B0B0D"/>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marL="0" indent="0" algn="l">
              <a:lnSpc>
                <a:spcPts val="1820"/>
              </a:lnSpc>
              <a:buNone/>
            </a:pPr>
            <a:r>
              <a:rPr lang="en-US" sz="1300" b="1" kern="0" spc="200" dirty="0">
                <a:solidFill>
                  <a:srgbClr val="E4002B"/>
                </a:solidFill>
                <a:latin typeface="Courier New" pitchFamily="34" charset="0"/>
                <a:ea typeface="Courier New" pitchFamily="34" charset="-122"/>
                <a:cs typeface="Courier New" pitchFamily="34" charset="-120"/>
              </a:rPr>
              <a:t>CASO REAL EN COLAB</a:t>
            </a:r>
            <a:endParaRPr lang="en-US" sz="1300" dirty="0"/>
          </a:p>
        </p:txBody>
      </p:sp>
      <p:sp>
        <p:nvSpPr>
          <p:cNvPr id="3" name="Text 1"/>
          <p:cNvSpPr/>
          <p:nvPr/>
        </p:nvSpPr>
        <p:spPr>
          <a:xfrm>
            <a:off x="812800" y="1145480"/>
            <a:ext cx="10883392" cy="472380"/>
          </a:xfrm>
          <a:prstGeom prst="rect">
            <a:avLst/>
          </a:prstGeom>
          <a:noFill/>
          <a:ln/>
        </p:spPr>
        <p:txBody>
          <a:bodyPr wrap="square" lIns="0" tIns="0" rIns="0" bIns="0" rtlCol="0" anchor="t">
            <a:normAutofit/>
          </a:bodyPr>
          <a:lstStyle/>
          <a:p>
            <a:pPr marL="0" indent="0" algn="l">
              <a:lnSpc>
                <a:spcPts val="3520"/>
              </a:lnSpc>
              <a:buNone/>
            </a:pPr>
            <a:r>
              <a:rPr lang="en-US" sz="3200" b="1" kern="0" spc="-50" dirty="0">
                <a:solidFill>
                  <a:srgbClr val="F4F4F5"/>
                </a:solidFill>
                <a:latin typeface="Arial" pitchFamily="34" charset="0"/>
                <a:ea typeface="Arial" pitchFamily="34" charset="-122"/>
                <a:cs typeface="Arial" pitchFamily="34" charset="-120"/>
              </a:rPr>
              <a:t>Un modelo que detecta tumores malignos</a:t>
            </a:r>
            <a:endParaRPr lang="en-US" sz="3200" dirty="0"/>
          </a:p>
        </p:txBody>
      </p:sp>
      <p:sp>
        <p:nvSpPr>
          <p:cNvPr id="4" name="Text 2"/>
          <p:cNvSpPr/>
          <p:nvPr/>
        </p:nvSpPr>
        <p:spPr>
          <a:xfrm>
            <a:off x="812800" y="1795661"/>
            <a:ext cx="10883392" cy="283170"/>
          </a:xfrm>
          <a:prstGeom prst="rect">
            <a:avLst/>
          </a:prstGeom>
          <a:noFill/>
          <a:ln/>
        </p:spPr>
        <p:txBody>
          <a:bodyPr wrap="square" lIns="0" tIns="0" rIns="0" bIns="0" rtlCol="0" anchor="t">
            <a:normAutofit/>
          </a:bodyPr>
          <a:lstStyle/>
          <a:p>
            <a:pPr marL="0" indent="0" algn="l">
              <a:lnSpc>
                <a:spcPts val="2030"/>
              </a:lnSpc>
              <a:buNone/>
            </a:pPr>
            <a:r>
              <a:rPr lang="en-US" sz="1400" dirty="0">
                <a:solidFill>
                  <a:srgbClr val="D4D4D8"/>
                </a:solidFill>
                <a:latin typeface="Arial" pitchFamily="34" charset="0"/>
                <a:ea typeface="Arial" pitchFamily="34" charset="-122"/>
                <a:cs typeface="Arial" pitchFamily="34" charset="-120"/>
              </a:rPr>
              <a:t>Entrenamos una regresión logística con 398 pacientes y la examinamos con 171 nuevos, de los cuales 64 tenían un tumor maligno.</a:t>
            </a:r>
            <a:endParaRPr lang="en-US" sz="1400" dirty="0"/>
          </a:p>
        </p:txBody>
      </p:sp>
      <p:sp>
        <p:nvSpPr>
          <p:cNvPr id="5" name="Shape 3"/>
          <p:cNvSpPr/>
          <p:nvPr/>
        </p:nvSpPr>
        <p:spPr>
          <a:xfrm>
            <a:off x="819150" y="2262981"/>
            <a:ext cx="3407767" cy="1649016"/>
          </a:xfrm>
          <a:prstGeom prst="roundRect">
            <a:avLst>
              <a:gd name="adj" fmla="val 7316"/>
            </a:avLst>
          </a:prstGeom>
          <a:solidFill>
            <a:srgbClr val="1A1A1F"/>
          </a:solidFill>
          <a:ln w="12700">
            <a:solidFill>
              <a:srgbClr val="2C2C33"/>
            </a:solidFill>
            <a:prstDash val="solid"/>
          </a:ln>
        </p:spPr>
        <p:txBody>
          <a:bodyPr/>
          <a:lstStyle/>
          <a:p>
            <a:endParaRPr lang="es-CO"/>
          </a:p>
        </p:txBody>
      </p:sp>
      <p:sp>
        <p:nvSpPr>
          <p:cNvPr id="6" name="Text 4"/>
          <p:cNvSpPr/>
          <p:nvPr/>
        </p:nvSpPr>
        <p:spPr>
          <a:xfrm>
            <a:off x="1054100" y="2497931"/>
            <a:ext cx="3026003" cy="584200"/>
          </a:xfrm>
          <a:prstGeom prst="rect">
            <a:avLst/>
          </a:prstGeom>
          <a:noFill/>
          <a:ln/>
        </p:spPr>
        <p:txBody>
          <a:bodyPr wrap="square" lIns="0" tIns="0" rIns="0" bIns="0" rtlCol="0" anchor="t">
            <a:normAutofit/>
          </a:bodyPr>
          <a:lstStyle/>
          <a:p>
            <a:pPr marL="0" indent="0" algn="l">
              <a:lnSpc>
                <a:spcPts val="4400"/>
              </a:lnSpc>
              <a:buNone/>
            </a:pPr>
            <a:r>
              <a:rPr lang="en-US" sz="4400" b="1" dirty="0">
                <a:solidFill>
                  <a:srgbClr val="E4002B"/>
                </a:solidFill>
                <a:latin typeface="Courier New" pitchFamily="34" charset="0"/>
                <a:ea typeface="Courier New" pitchFamily="34" charset="-122"/>
                <a:cs typeface="Courier New" pitchFamily="34" charset="-120"/>
              </a:rPr>
              <a:t>94,2 %</a:t>
            </a:r>
            <a:endParaRPr lang="en-US" sz="4400" dirty="0"/>
          </a:p>
        </p:txBody>
      </p:sp>
      <p:sp>
        <p:nvSpPr>
          <p:cNvPr id="7" name="Text 5"/>
          <p:cNvSpPr/>
          <p:nvPr/>
        </p:nvSpPr>
        <p:spPr>
          <a:xfrm>
            <a:off x="1054100" y="3132931"/>
            <a:ext cx="3026003"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F4F4F5"/>
                </a:solidFill>
                <a:latin typeface="Arial" pitchFamily="34" charset="0"/>
                <a:ea typeface="Arial" pitchFamily="34" charset="-122"/>
                <a:cs typeface="Arial" pitchFamily="34" charset="-120"/>
              </a:rPr>
              <a:t>Accuracy (exactitud)</a:t>
            </a:r>
            <a:endParaRPr lang="en-US" sz="1500" dirty="0"/>
          </a:p>
        </p:txBody>
      </p:sp>
      <p:sp>
        <p:nvSpPr>
          <p:cNvPr id="8" name="Text 6"/>
          <p:cNvSpPr/>
          <p:nvPr/>
        </p:nvSpPr>
        <p:spPr>
          <a:xfrm>
            <a:off x="1054100" y="3437731"/>
            <a:ext cx="3026003" cy="264716"/>
          </a:xfrm>
          <a:prstGeom prst="rect">
            <a:avLst/>
          </a:prstGeom>
          <a:noFill/>
          <a:ln/>
        </p:spPr>
        <p:txBody>
          <a:bodyPr wrap="square" lIns="0" tIns="0" rIns="0" bIns="0" rtlCol="0" anchor="t">
            <a:normAutofit/>
          </a:bodyPr>
          <a:lstStyle/>
          <a:p>
            <a:pPr marL="0" indent="0" algn="l">
              <a:lnSpc>
                <a:spcPts val="1885"/>
              </a:lnSpc>
              <a:buNone/>
            </a:pPr>
            <a:r>
              <a:rPr lang="en-US" sz="1300" dirty="0">
                <a:solidFill>
                  <a:srgbClr val="A1A1AA"/>
                </a:solidFill>
                <a:latin typeface="Arial" pitchFamily="34" charset="0"/>
                <a:ea typeface="Arial" pitchFamily="34" charset="-122"/>
                <a:cs typeface="Arial" pitchFamily="34" charset="-120"/>
              </a:rPr>
              <a:t>Acertó con 161 de los 171 pacientes.</a:t>
            </a:r>
            <a:endParaRPr lang="en-US" sz="1300" dirty="0"/>
          </a:p>
        </p:txBody>
      </p:sp>
      <p:sp>
        <p:nvSpPr>
          <p:cNvPr id="9" name="Shape 7"/>
          <p:cNvSpPr/>
          <p:nvPr/>
        </p:nvSpPr>
        <p:spPr>
          <a:xfrm>
            <a:off x="4392017" y="2262981"/>
            <a:ext cx="3407866" cy="1649016"/>
          </a:xfrm>
          <a:prstGeom prst="roundRect">
            <a:avLst>
              <a:gd name="adj" fmla="val 7316"/>
            </a:avLst>
          </a:prstGeom>
          <a:solidFill>
            <a:srgbClr val="1A1A1F"/>
          </a:solidFill>
          <a:ln w="12700">
            <a:solidFill>
              <a:srgbClr val="2C2C33"/>
            </a:solidFill>
            <a:prstDash val="solid"/>
          </a:ln>
        </p:spPr>
        <p:txBody>
          <a:bodyPr/>
          <a:lstStyle/>
          <a:p>
            <a:endParaRPr lang="es-CO"/>
          </a:p>
        </p:txBody>
      </p:sp>
      <p:sp>
        <p:nvSpPr>
          <p:cNvPr id="10" name="Text 8"/>
          <p:cNvSpPr/>
          <p:nvPr/>
        </p:nvSpPr>
        <p:spPr>
          <a:xfrm>
            <a:off x="4626967" y="2497931"/>
            <a:ext cx="3026105" cy="584200"/>
          </a:xfrm>
          <a:prstGeom prst="rect">
            <a:avLst/>
          </a:prstGeom>
          <a:noFill/>
          <a:ln/>
        </p:spPr>
        <p:txBody>
          <a:bodyPr wrap="square" lIns="0" tIns="0" rIns="0" bIns="0" rtlCol="0" anchor="t">
            <a:normAutofit/>
          </a:bodyPr>
          <a:lstStyle/>
          <a:p>
            <a:pPr marL="0" indent="0" algn="l">
              <a:lnSpc>
                <a:spcPts val="4400"/>
              </a:lnSpc>
              <a:buNone/>
            </a:pPr>
            <a:r>
              <a:rPr lang="en-US" sz="4400" b="1" dirty="0">
                <a:solidFill>
                  <a:srgbClr val="E4002B"/>
                </a:solidFill>
                <a:latin typeface="Courier New" pitchFamily="34" charset="0"/>
                <a:ea typeface="Courier New" pitchFamily="34" charset="-122"/>
                <a:cs typeface="Courier New" pitchFamily="34" charset="-120"/>
              </a:rPr>
              <a:t>98,2 %</a:t>
            </a:r>
            <a:endParaRPr lang="en-US" sz="4400" dirty="0"/>
          </a:p>
        </p:txBody>
      </p:sp>
      <p:sp>
        <p:nvSpPr>
          <p:cNvPr id="11" name="Text 9"/>
          <p:cNvSpPr/>
          <p:nvPr/>
        </p:nvSpPr>
        <p:spPr>
          <a:xfrm>
            <a:off x="4626967" y="3132931"/>
            <a:ext cx="3026105"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F4F4F5"/>
                </a:solidFill>
                <a:latin typeface="Arial" pitchFamily="34" charset="0"/>
                <a:ea typeface="Arial" pitchFamily="34" charset="-122"/>
                <a:cs typeface="Arial" pitchFamily="34" charset="-120"/>
              </a:rPr>
              <a:t>Precisión (precision)</a:t>
            </a:r>
            <a:endParaRPr lang="en-US" sz="1500" dirty="0"/>
          </a:p>
        </p:txBody>
      </p:sp>
      <p:sp>
        <p:nvSpPr>
          <p:cNvPr id="12" name="Text 10"/>
          <p:cNvSpPr/>
          <p:nvPr/>
        </p:nvSpPr>
        <p:spPr>
          <a:xfrm>
            <a:off x="4626967" y="3437731"/>
            <a:ext cx="3026105" cy="264716"/>
          </a:xfrm>
          <a:prstGeom prst="rect">
            <a:avLst/>
          </a:prstGeom>
          <a:noFill/>
          <a:ln/>
        </p:spPr>
        <p:txBody>
          <a:bodyPr wrap="square" lIns="0" tIns="0" rIns="0" bIns="0" rtlCol="0" anchor="t">
            <a:normAutofit/>
          </a:bodyPr>
          <a:lstStyle/>
          <a:p>
            <a:pPr marL="0" indent="0" algn="l">
              <a:lnSpc>
                <a:spcPts val="1885"/>
              </a:lnSpc>
              <a:buNone/>
            </a:pPr>
            <a:r>
              <a:rPr lang="en-US" sz="1300" dirty="0">
                <a:solidFill>
                  <a:srgbClr val="A1A1AA"/>
                </a:solidFill>
                <a:latin typeface="Arial" pitchFamily="34" charset="0"/>
                <a:ea typeface="Arial" pitchFamily="34" charset="-122"/>
                <a:cs typeface="Arial" pitchFamily="34" charset="-120"/>
              </a:rPr>
              <a:t>Dio una sola falsa alarma.</a:t>
            </a:r>
            <a:endParaRPr lang="en-US" sz="1300" dirty="0"/>
          </a:p>
        </p:txBody>
      </p:sp>
      <p:sp>
        <p:nvSpPr>
          <p:cNvPr id="13" name="Shape 11"/>
          <p:cNvSpPr/>
          <p:nvPr/>
        </p:nvSpPr>
        <p:spPr>
          <a:xfrm>
            <a:off x="7964984" y="2262981"/>
            <a:ext cx="3407866" cy="1649016"/>
          </a:xfrm>
          <a:prstGeom prst="roundRect">
            <a:avLst>
              <a:gd name="adj" fmla="val 7316"/>
            </a:avLst>
          </a:prstGeom>
          <a:solidFill>
            <a:srgbClr val="1F0A0F"/>
          </a:solidFill>
          <a:ln w="12700">
            <a:solidFill>
              <a:srgbClr val="E4002B"/>
            </a:solidFill>
            <a:prstDash val="solid"/>
          </a:ln>
        </p:spPr>
        <p:txBody>
          <a:bodyPr/>
          <a:lstStyle/>
          <a:p>
            <a:endParaRPr lang="es-CO"/>
          </a:p>
        </p:txBody>
      </p:sp>
      <p:sp>
        <p:nvSpPr>
          <p:cNvPr id="14" name="Text 12"/>
          <p:cNvSpPr/>
          <p:nvPr/>
        </p:nvSpPr>
        <p:spPr>
          <a:xfrm>
            <a:off x="8199934" y="2497931"/>
            <a:ext cx="3026105" cy="584200"/>
          </a:xfrm>
          <a:prstGeom prst="rect">
            <a:avLst/>
          </a:prstGeom>
          <a:noFill/>
          <a:ln/>
        </p:spPr>
        <p:txBody>
          <a:bodyPr wrap="square" lIns="0" tIns="0" rIns="0" bIns="0" rtlCol="0" anchor="t">
            <a:normAutofit/>
          </a:bodyPr>
          <a:lstStyle/>
          <a:p>
            <a:pPr marL="0" indent="0" algn="l">
              <a:lnSpc>
                <a:spcPts val="4400"/>
              </a:lnSpc>
              <a:buNone/>
            </a:pPr>
            <a:r>
              <a:rPr lang="en-US" sz="4400" b="1" dirty="0">
                <a:solidFill>
                  <a:srgbClr val="FF5C77"/>
                </a:solidFill>
                <a:latin typeface="Courier New" pitchFamily="34" charset="0"/>
                <a:ea typeface="Courier New" pitchFamily="34" charset="-122"/>
                <a:cs typeface="Courier New" pitchFamily="34" charset="-120"/>
              </a:rPr>
              <a:t>85,9 %</a:t>
            </a:r>
            <a:endParaRPr lang="en-US" sz="4400" dirty="0"/>
          </a:p>
        </p:txBody>
      </p:sp>
      <p:sp>
        <p:nvSpPr>
          <p:cNvPr id="15" name="Text 13"/>
          <p:cNvSpPr/>
          <p:nvPr/>
        </p:nvSpPr>
        <p:spPr>
          <a:xfrm>
            <a:off x="8199934" y="3132931"/>
            <a:ext cx="3026105"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F4F4F5"/>
                </a:solidFill>
                <a:latin typeface="Arial" pitchFamily="34" charset="0"/>
                <a:ea typeface="Arial" pitchFamily="34" charset="-122"/>
                <a:cs typeface="Arial" pitchFamily="34" charset="-120"/>
              </a:rPr>
              <a:t>Recall (sensibilidad)</a:t>
            </a:r>
            <a:endParaRPr lang="en-US" sz="1500" dirty="0"/>
          </a:p>
        </p:txBody>
      </p:sp>
      <p:sp>
        <p:nvSpPr>
          <p:cNvPr id="16" name="Text 14"/>
          <p:cNvSpPr/>
          <p:nvPr/>
        </p:nvSpPr>
        <p:spPr>
          <a:xfrm>
            <a:off x="8199934" y="3437731"/>
            <a:ext cx="3026105" cy="264716"/>
          </a:xfrm>
          <a:prstGeom prst="rect">
            <a:avLst/>
          </a:prstGeom>
          <a:noFill/>
          <a:ln/>
        </p:spPr>
        <p:txBody>
          <a:bodyPr wrap="square" lIns="0" tIns="0" rIns="0" bIns="0" rtlCol="0" anchor="t">
            <a:normAutofit/>
          </a:bodyPr>
          <a:lstStyle/>
          <a:p>
            <a:pPr marL="0" indent="0" algn="l">
              <a:lnSpc>
                <a:spcPts val="1885"/>
              </a:lnSpc>
              <a:buNone/>
            </a:pPr>
            <a:r>
              <a:rPr lang="en-US" sz="1300" dirty="0">
                <a:solidFill>
                  <a:srgbClr val="F4F4F5"/>
                </a:solidFill>
                <a:latin typeface="Arial" pitchFamily="34" charset="0"/>
                <a:ea typeface="Arial" pitchFamily="34" charset="-122"/>
                <a:cs typeface="Arial" pitchFamily="34" charset="-120"/>
              </a:rPr>
              <a:t>Detectó 55 de 64: se le escaparon 9.</a:t>
            </a:r>
            <a:endParaRPr lang="en-US" sz="1300" dirty="0"/>
          </a:p>
        </p:txBody>
      </p:sp>
      <p:sp>
        <p:nvSpPr>
          <p:cNvPr id="17" name="Shape 15"/>
          <p:cNvSpPr/>
          <p:nvPr/>
        </p:nvSpPr>
        <p:spPr>
          <a:xfrm>
            <a:off x="819150" y="4127897"/>
            <a:ext cx="10553700" cy="871736"/>
          </a:xfrm>
          <a:prstGeom prst="roundRect">
            <a:avLst>
              <a:gd name="adj" fmla="val 13840"/>
            </a:avLst>
          </a:prstGeom>
          <a:solidFill>
            <a:srgbClr val="1F0A0F"/>
          </a:solidFill>
          <a:ln w="12700">
            <a:solidFill>
              <a:srgbClr val="E4002B"/>
            </a:solidFill>
            <a:prstDash val="solid"/>
          </a:ln>
        </p:spPr>
        <p:txBody>
          <a:bodyPr/>
          <a:lstStyle/>
          <a:p>
            <a:endParaRPr lang="es-CO"/>
          </a:p>
        </p:txBody>
      </p:sp>
      <p:sp>
        <p:nvSpPr>
          <p:cNvPr id="18" name="Text 16"/>
          <p:cNvSpPr/>
          <p:nvPr/>
        </p:nvSpPr>
        <p:spPr>
          <a:xfrm>
            <a:off x="1079500" y="4312047"/>
            <a:ext cx="10333990"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E4002B"/>
                </a:solidFill>
                <a:latin typeface="Courier New" pitchFamily="34" charset="0"/>
                <a:ea typeface="Courier New" pitchFamily="34" charset="-122"/>
                <a:cs typeface="Courier New" pitchFamily="34" charset="-120"/>
              </a:rPr>
              <a:t>EN PALABRAS SIMPLES</a:t>
            </a:r>
            <a:endParaRPr lang="en-US" sz="1200" dirty="0"/>
          </a:p>
        </p:txBody>
      </p:sp>
      <p:sp>
        <p:nvSpPr>
          <p:cNvPr id="19" name="Text 17"/>
          <p:cNvSpPr/>
          <p:nvPr/>
        </p:nvSpPr>
        <p:spPr>
          <a:xfrm>
            <a:off x="1079500" y="4576167"/>
            <a:ext cx="10333990" cy="264716"/>
          </a:xfrm>
          <a:prstGeom prst="rect">
            <a:avLst/>
          </a:prstGeom>
          <a:noFill/>
          <a:ln/>
        </p:spPr>
        <p:txBody>
          <a:bodyPr wrap="square" lIns="0" tIns="0" rIns="0" bIns="0" rtlCol="0" anchor="t">
            <a:normAutofit/>
          </a:bodyPr>
          <a:lstStyle/>
          <a:p>
            <a:pPr marL="0" indent="0" algn="l">
              <a:lnSpc>
                <a:spcPts val="1885"/>
              </a:lnSpc>
              <a:buNone/>
            </a:pPr>
            <a:r>
              <a:rPr lang="en-US" sz="1300" dirty="0">
                <a:solidFill>
                  <a:srgbClr val="F4F4F5"/>
                </a:solidFill>
                <a:latin typeface="Arial" pitchFamily="34" charset="0"/>
                <a:ea typeface="Arial" pitchFamily="34" charset="-122"/>
                <a:cs typeface="Arial" pitchFamily="34" charset="-120"/>
              </a:rPr>
              <a:t>Un 94 % suena excelente, pero 9 pacientes enfermos se irían a casa sin diagnóstico. Por eso hay que mirar más de una métrica.</a:t>
            </a:r>
            <a:endParaRPr lang="en-US" sz="1300" dirty="0"/>
          </a:p>
        </p:txBody>
      </p:sp>
      <p:sp>
        <p:nvSpPr>
          <p:cNvPr id="20" name="Text 18"/>
          <p:cNvSpPr/>
          <p:nvPr/>
        </p:nvSpPr>
        <p:spPr>
          <a:xfrm>
            <a:off x="812800" y="6238280"/>
            <a:ext cx="7848600" cy="238720"/>
          </a:xfrm>
          <a:prstGeom prst="rect">
            <a:avLst/>
          </a:prstGeom>
          <a:noFill/>
          <a:ln/>
        </p:spPr>
        <p:txBody>
          <a:bodyPr wrap="square" lIns="0" tIns="0" rIns="0" bIns="0" rtlCol="0" anchor="t">
            <a:normAutofit/>
          </a:bodyPr>
          <a:lstStyle/>
          <a:p>
            <a:pPr marL="0" indent="0" algn="l">
              <a:lnSpc>
                <a:spcPts val="1680"/>
              </a:lnSpc>
              <a:buNone/>
            </a:pPr>
            <a:r>
              <a:rPr lang="en-US" sz="1200" kern="0" spc="100" dirty="0">
                <a:solidFill>
                  <a:srgbClr val="71717A"/>
                </a:solidFill>
                <a:latin typeface="Courier New" pitchFamily="34" charset="0"/>
                <a:ea typeface="Courier New" pitchFamily="34" charset="-122"/>
                <a:cs typeface="Courier New" pitchFamily="34" charset="-120"/>
              </a:rPr>
              <a:t>UNIDAD 4 · VALIDACIÓN DE MODELOS</a:t>
            </a:r>
            <a:endParaRPr lang="en-US" sz="1200" dirty="0"/>
          </a:p>
        </p:txBody>
      </p:sp>
      <p:sp>
        <p:nvSpPr>
          <p:cNvPr id="21" name="Text 19"/>
          <p:cNvSpPr/>
          <p:nvPr/>
        </p:nvSpPr>
        <p:spPr>
          <a:xfrm>
            <a:off x="10058400" y="6238280"/>
            <a:ext cx="1320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71717A"/>
                </a:solidFill>
                <a:latin typeface="Courier New" pitchFamily="34" charset="0"/>
                <a:ea typeface="Courier New" pitchFamily="34" charset="-122"/>
                <a:cs typeface="Courier New" pitchFamily="34" charset="-120"/>
              </a:rPr>
              <a:t>14</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B0B0D"/>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marL="0" indent="0" algn="l">
              <a:lnSpc>
                <a:spcPts val="1820"/>
              </a:lnSpc>
              <a:buNone/>
            </a:pPr>
            <a:r>
              <a:rPr lang="en-US" sz="1300" b="1" kern="0" spc="200" dirty="0">
                <a:solidFill>
                  <a:srgbClr val="E4002B"/>
                </a:solidFill>
                <a:latin typeface="Courier New" pitchFamily="34" charset="0"/>
                <a:ea typeface="Courier New" pitchFamily="34" charset="-122"/>
                <a:cs typeface="Courier New" pitchFamily="34" charset="-120"/>
              </a:rPr>
              <a:t>CUIDADO</a:t>
            </a:r>
            <a:endParaRPr lang="en-US" sz="1300" dirty="0"/>
          </a:p>
        </p:txBody>
      </p:sp>
      <p:sp>
        <p:nvSpPr>
          <p:cNvPr id="3" name="Text 1"/>
          <p:cNvSpPr/>
          <p:nvPr/>
        </p:nvSpPr>
        <p:spPr>
          <a:xfrm>
            <a:off x="812800" y="1145480"/>
            <a:ext cx="10883392" cy="472380"/>
          </a:xfrm>
          <a:prstGeom prst="rect">
            <a:avLst/>
          </a:prstGeom>
          <a:noFill/>
          <a:ln/>
        </p:spPr>
        <p:txBody>
          <a:bodyPr wrap="square" lIns="0" tIns="0" rIns="0" bIns="0" rtlCol="0" anchor="t">
            <a:normAutofit/>
          </a:bodyPr>
          <a:lstStyle/>
          <a:p>
            <a:pPr marL="0" indent="0" algn="l">
              <a:lnSpc>
                <a:spcPts val="3520"/>
              </a:lnSpc>
              <a:buNone/>
            </a:pPr>
            <a:r>
              <a:rPr lang="en-US" sz="3200" b="1" kern="0" spc="-50" dirty="0">
                <a:solidFill>
                  <a:srgbClr val="F4F4F5"/>
                </a:solidFill>
                <a:latin typeface="Arial" pitchFamily="34" charset="0"/>
                <a:ea typeface="Arial" pitchFamily="34" charset="-122"/>
                <a:cs typeface="Arial" pitchFamily="34" charset="-120"/>
              </a:rPr>
              <a:t>La trampa del accuracy (exactitud)</a:t>
            </a:r>
            <a:endParaRPr lang="en-US" sz="3200" dirty="0"/>
          </a:p>
        </p:txBody>
      </p:sp>
      <p:sp>
        <p:nvSpPr>
          <p:cNvPr id="4" name="Text 2"/>
          <p:cNvSpPr/>
          <p:nvPr/>
        </p:nvSpPr>
        <p:spPr>
          <a:xfrm>
            <a:off x="812800" y="1795661"/>
            <a:ext cx="10883392" cy="283170"/>
          </a:xfrm>
          <a:prstGeom prst="rect">
            <a:avLst/>
          </a:prstGeom>
          <a:noFill/>
          <a:ln/>
        </p:spPr>
        <p:txBody>
          <a:bodyPr wrap="square" lIns="0" tIns="0" rIns="0" bIns="0" rtlCol="0" anchor="t">
            <a:normAutofit/>
          </a:bodyPr>
          <a:lstStyle/>
          <a:p>
            <a:pPr marL="0" indent="0" algn="l">
              <a:lnSpc>
                <a:spcPts val="2030"/>
              </a:lnSpc>
              <a:buNone/>
            </a:pPr>
            <a:r>
              <a:rPr lang="en-US" sz="1400" dirty="0">
                <a:solidFill>
                  <a:srgbClr val="D4D4D8"/>
                </a:solidFill>
                <a:latin typeface="Arial" pitchFamily="34" charset="0"/>
                <a:ea typeface="Arial" pitchFamily="34" charset="-122"/>
                <a:cs typeface="Arial" pitchFamily="34" charset="-120"/>
              </a:rPr>
              <a:t>Inventamos un «modelo» perezoso que no mira nada y a todos los pacientes les dice: «benigno».</a:t>
            </a:r>
            <a:endParaRPr lang="en-US" sz="1400" dirty="0"/>
          </a:p>
        </p:txBody>
      </p:sp>
      <p:sp>
        <p:nvSpPr>
          <p:cNvPr id="5" name="Shape 3"/>
          <p:cNvSpPr/>
          <p:nvPr/>
        </p:nvSpPr>
        <p:spPr>
          <a:xfrm>
            <a:off x="819150" y="2262981"/>
            <a:ext cx="5194300" cy="1954312"/>
          </a:xfrm>
          <a:prstGeom prst="roundRect">
            <a:avLst>
              <a:gd name="adj" fmla="val 6174"/>
            </a:avLst>
          </a:prstGeom>
          <a:solidFill>
            <a:srgbClr val="1A1A1F"/>
          </a:solidFill>
          <a:ln w="12700">
            <a:solidFill>
              <a:srgbClr val="2C2C33"/>
            </a:solidFill>
            <a:prstDash val="solid"/>
          </a:ln>
        </p:spPr>
        <p:txBody>
          <a:bodyPr/>
          <a:lstStyle/>
          <a:p>
            <a:endParaRPr lang="es-CO"/>
          </a:p>
        </p:txBody>
      </p:sp>
      <p:sp>
        <p:nvSpPr>
          <p:cNvPr id="6" name="Text 4"/>
          <p:cNvSpPr/>
          <p:nvPr/>
        </p:nvSpPr>
        <p:spPr>
          <a:xfrm>
            <a:off x="1028700" y="2472531"/>
            <a:ext cx="4918456" cy="635000"/>
          </a:xfrm>
          <a:prstGeom prst="rect">
            <a:avLst/>
          </a:prstGeom>
          <a:noFill/>
          <a:ln/>
        </p:spPr>
        <p:txBody>
          <a:bodyPr wrap="square" lIns="0" tIns="0" rIns="0" bIns="0" rtlCol="0" anchor="t">
            <a:normAutofit/>
          </a:bodyPr>
          <a:lstStyle/>
          <a:p>
            <a:pPr marL="0" indent="0" algn="l">
              <a:lnSpc>
                <a:spcPts val="4800"/>
              </a:lnSpc>
              <a:buNone/>
            </a:pPr>
            <a:r>
              <a:rPr lang="en-US" sz="4800" b="1" dirty="0">
                <a:solidFill>
                  <a:srgbClr val="F4F4F5"/>
                </a:solidFill>
                <a:latin typeface="Courier New" pitchFamily="34" charset="0"/>
                <a:ea typeface="Courier New" pitchFamily="34" charset="-122"/>
                <a:cs typeface="Courier New" pitchFamily="34" charset="-120"/>
              </a:rPr>
              <a:t>62,6 %</a:t>
            </a:r>
            <a:endParaRPr lang="en-US" sz="4800" dirty="0"/>
          </a:p>
        </p:txBody>
      </p:sp>
      <p:sp>
        <p:nvSpPr>
          <p:cNvPr id="7" name="Text 5"/>
          <p:cNvSpPr/>
          <p:nvPr/>
        </p:nvSpPr>
        <p:spPr>
          <a:xfrm>
            <a:off x="1028700" y="3183731"/>
            <a:ext cx="4918456" cy="2691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F4F4F5"/>
                </a:solidFill>
                <a:latin typeface="Arial" pitchFamily="34" charset="0"/>
                <a:ea typeface="Arial" pitchFamily="34" charset="-122"/>
                <a:cs typeface="Arial" pitchFamily="34" charset="-120"/>
              </a:rPr>
              <a:t>Exactitud del perezoso</a:t>
            </a:r>
            <a:endParaRPr lang="en-US" sz="1600" dirty="0"/>
          </a:p>
        </p:txBody>
      </p:sp>
      <p:sp>
        <p:nvSpPr>
          <p:cNvPr id="8" name="Text 6"/>
          <p:cNvSpPr/>
          <p:nvPr/>
        </p:nvSpPr>
        <p:spPr>
          <a:xfrm>
            <a:off x="1028700" y="3529112"/>
            <a:ext cx="4918456" cy="504031"/>
          </a:xfrm>
          <a:prstGeom prst="rect">
            <a:avLst/>
          </a:prstGeom>
          <a:noFill/>
          <a:ln/>
        </p:spPr>
        <p:txBody>
          <a:bodyPr wrap="square" lIns="0" tIns="0" rIns="0" bIns="0" rtlCol="0" anchor="t">
            <a:normAutofit/>
          </a:bodyPr>
          <a:lstStyle/>
          <a:p>
            <a:pPr marL="0" indent="0" algn="l">
              <a:lnSpc>
                <a:spcPts val="1885"/>
              </a:lnSpc>
              <a:buNone/>
            </a:pPr>
            <a:r>
              <a:rPr lang="en-US" sz="1300" dirty="0">
                <a:solidFill>
                  <a:srgbClr val="A1A1AA"/>
                </a:solidFill>
                <a:latin typeface="Arial" pitchFamily="34" charset="0"/>
                <a:ea typeface="Arial" pitchFamily="34" charset="-122"/>
                <a:cs typeface="Arial" pitchFamily="34" charset="-120"/>
              </a:rPr>
              <a:t>Parece aceptable, porque la mayoría de los pacientes sí tienen un tumor benigno.</a:t>
            </a:r>
            <a:endParaRPr lang="en-US" sz="1300" dirty="0"/>
          </a:p>
        </p:txBody>
      </p:sp>
      <p:sp>
        <p:nvSpPr>
          <p:cNvPr id="9" name="Shape 7"/>
          <p:cNvSpPr/>
          <p:nvPr/>
        </p:nvSpPr>
        <p:spPr>
          <a:xfrm>
            <a:off x="6178550" y="2262981"/>
            <a:ext cx="5194300" cy="1954312"/>
          </a:xfrm>
          <a:prstGeom prst="roundRect">
            <a:avLst>
              <a:gd name="adj" fmla="val 6174"/>
            </a:avLst>
          </a:prstGeom>
          <a:solidFill>
            <a:srgbClr val="1F0A0F"/>
          </a:solidFill>
          <a:ln w="12700">
            <a:solidFill>
              <a:srgbClr val="E4002B"/>
            </a:solidFill>
            <a:prstDash val="solid"/>
          </a:ln>
        </p:spPr>
        <p:txBody>
          <a:bodyPr/>
          <a:lstStyle/>
          <a:p>
            <a:endParaRPr lang="es-CO"/>
          </a:p>
        </p:txBody>
      </p:sp>
      <p:sp>
        <p:nvSpPr>
          <p:cNvPr id="10" name="Text 8"/>
          <p:cNvSpPr/>
          <p:nvPr/>
        </p:nvSpPr>
        <p:spPr>
          <a:xfrm>
            <a:off x="6388100" y="2472531"/>
            <a:ext cx="4918456" cy="635000"/>
          </a:xfrm>
          <a:prstGeom prst="rect">
            <a:avLst/>
          </a:prstGeom>
          <a:noFill/>
          <a:ln/>
        </p:spPr>
        <p:txBody>
          <a:bodyPr wrap="square" lIns="0" tIns="0" rIns="0" bIns="0" rtlCol="0" anchor="t">
            <a:normAutofit/>
          </a:bodyPr>
          <a:lstStyle/>
          <a:p>
            <a:pPr marL="0" indent="0" algn="l">
              <a:lnSpc>
                <a:spcPts val="4800"/>
              </a:lnSpc>
              <a:buNone/>
            </a:pPr>
            <a:r>
              <a:rPr lang="en-US" sz="4800" b="1" dirty="0">
                <a:solidFill>
                  <a:srgbClr val="FF5C77"/>
                </a:solidFill>
                <a:latin typeface="Courier New" pitchFamily="34" charset="0"/>
                <a:ea typeface="Courier New" pitchFamily="34" charset="-122"/>
                <a:cs typeface="Courier New" pitchFamily="34" charset="-120"/>
              </a:rPr>
              <a:t>0 %</a:t>
            </a:r>
            <a:endParaRPr lang="en-US" sz="4800" dirty="0"/>
          </a:p>
        </p:txBody>
      </p:sp>
      <p:sp>
        <p:nvSpPr>
          <p:cNvPr id="11" name="Text 9"/>
          <p:cNvSpPr/>
          <p:nvPr/>
        </p:nvSpPr>
        <p:spPr>
          <a:xfrm>
            <a:off x="6388100" y="3183731"/>
            <a:ext cx="4918456" cy="2691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F4F4F5"/>
                </a:solidFill>
                <a:latin typeface="Arial" pitchFamily="34" charset="0"/>
                <a:ea typeface="Arial" pitchFamily="34" charset="-122"/>
                <a:cs typeface="Arial" pitchFamily="34" charset="-120"/>
              </a:rPr>
              <a:t>Sensibilidad del perezoso</a:t>
            </a:r>
            <a:endParaRPr lang="en-US" sz="1600" dirty="0"/>
          </a:p>
        </p:txBody>
      </p:sp>
      <p:sp>
        <p:nvSpPr>
          <p:cNvPr id="12" name="Text 10"/>
          <p:cNvSpPr/>
          <p:nvPr/>
        </p:nvSpPr>
        <p:spPr>
          <a:xfrm>
            <a:off x="6388100" y="3529112"/>
            <a:ext cx="4918456" cy="264716"/>
          </a:xfrm>
          <a:prstGeom prst="rect">
            <a:avLst/>
          </a:prstGeom>
          <a:noFill/>
          <a:ln/>
        </p:spPr>
        <p:txBody>
          <a:bodyPr wrap="square" lIns="0" tIns="0" rIns="0" bIns="0" rtlCol="0" anchor="t">
            <a:normAutofit/>
          </a:bodyPr>
          <a:lstStyle/>
          <a:p>
            <a:pPr marL="0" indent="0" algn="l">
              <a:lnSpc>
                <a:spcPts val="1885"/>
              </a:lnSpc>
              <a:buNone/>
            </a:pPr>
            <a:r>
              <a:rPr lang="en-US" sz="1300" dirty="0">
                <a:solidFill>
                  <a:srgbClr val="F4F4F5"/>
                </a:solidFill>
                <a:latin typeface="Arial" pitchFamily="34" charset="0"/>
                <a:ea typeface="Arial" pitchFamily="34" charset="-122"/>
                <a:cs typeface="Arial" pitchFamily="34" charset="-120"/>
              </a:rPr>
              <a:t>No detecta ni un solo tumor maligno. Es un modelo inútil.</a:t>
            </a:r>
            <a:endParaRPr lang="en-US" sz="1300" dirty="0"/>
          </a:p>
        </p:txBody>
      </p:sp>
      <p:sp>
        <p:nvSpPr>
          <p:cNvPr id="13" name="Shape 11"/>
          <p:cNvSpPr/>
          <p:nvPr/>
        </p:nvSpPr>
        <p:spPr>
          <a:xfrm>
            <a:off x="819150" y="4433193"/>
            <a:ext cx="10553700" cy="871736"/>
          </a:xfrm>
          <a:prstGeom prst="roundRect">
            <a:avLst>
              <a:gd name="adj" fmla="val 13840"/>
            </a:avLst>
          </a:prstGeom>
          <a:solidFill>
            <a:srgbClr val="1F0A0F"/>
          </a:solidFill>
          <a:ln w="12700">
            <a:solidFill>
              <a:srgbClr val="E4002B"/>
            </a:solidFill>
            <a:prstDash val="solid"/>
          </a:ln>
        </p:spPr>
        <p:txBody>
          <a:bodyPr/>
          <a:lstStyle/>
          <a:p>
            <a:endParaRPr lang="es-CO"/>
          </a:p>
        </p:txBody>
      </p:sp>
      <p:sp>
        <p:nvSpPr>
          <p:cNvPr id="14" name="Text 12"/>
          <p:cNvSpPr/>
          <p:nvPr/>
        </p:nvSpPr>
        <p:spPr>
          <a:xfrm>
            <a:off x="1079500" y="4617343"/>
            <a:ext cx="10333990"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E4002B"/>
                </a:solidFill>
                <a:latin typeface="Courier New" pitchFamily="34" charset="0"/>
                <a:ea typeface="Courier New" pitchFamily="34" charset="-122"/>
                <a:cs typeface="Courier New" pitchFamily="34" charset="-120"/>
              </a:rPr>
              <a:t>EN PALABRAS SIMPLES</a:t>
            </a:r>
            <a:endParaRPr lang="en-US" sz="1200" dirty="0"/>
          </a:p>
        </p:txBody>
      </p:sp>
      <p:sp>
        <p:nvSpPr>
          <p:cNvPr id="15" name="Text 13"/>
          <p:cNvSpPr/>
          <p:nvPr/>
        </p:nvSpPr>
        <p:spPr>
          <a:xfrm>
            <a:off x="1079500" y="4881463"/>
            <a:ext cx="10333990" cy="264716"/>
          </a:xfrm>
          <a:prstGeom prst="rect">
            <a:avLst/>
          </a:prstGeom>
          <a:noFill/>
          <a:ln/>
        </p:spPr>
        <p:txBody>
          <a:bodyPr wrap="square" lIns="0" tIns="0" rIns="0" bIns="0" rtlCol="0" anchor="t">
            <a:normAutofit/>
          </a:bodyPr>
          <a:lstStyle/>
          <a:p>
            <a:pPr marL="0" indent="0" algn="l">
              <a:lnSpc>
                <a:spcPts val="1885"/>
              </a:lnSpc>
              <a:buNone/>
            </a:pPr>
            <a:r>
              <a:rPr lang="en-US" sz="1300" dirty="0">
                <a:solidFill>
                  <a:srgbClr val="F4F4F5"/>
                </a:solidFill>
                <a:latin typeface="Arial" pitchFamily="34" charset="0"/>
                <a:ea typeface="Arial" pitchFamily="34" charset="-122"/>
                <a:cs typeface="Arial" pitchFamily="34" charset="-120"/>
              </a:rPr>
              <a:t>Cuando un caso es mucho más común que el otro, el accuracy (exactitud) engaña. Revisa siempre también la precisión y el recall.</a:t>
            </a:r>
            <a:endParaRPr lang="en-US" sz="1300" dirty="0"/>
          </a:p>
        </p:txBody>
      </p:sp>
      <p:sp>
        <p:nvSpPr>
          <p:cNvPr id="16" name="Text 14"/>
          <p:cNvSpPr/>
          <p:nvPr/>
        </p:nvSpPr>
        <p:spPr>
          <a:xfrm>
            <a:off x="812800" y="6238280"/>
            <a:ext cx="7848600" cy="238720"/>
          </a:xfrm>
          <a:prstGeom prst="rect">
            <a:avLst/>
          </a:prstGeom>
          <a:noFill/>
          <a:ln/>
        </p:spPr>
        <p:txBody>
          <a:bodyPr wrap="square" lIns="0" tIns="0" rIns="0" bIns="0" rtlCol="0" anchor="t">
            <a:normAutofit/>
          </a:bodyPr>
          <a:lstStyle/>
          <a:p>
            <a:pPr marL="0" indent="0" algn="l">
              <a:lnSpc>
                <a:spcPts val="1680"/>
              </a:lnSpc>
              <a:buNone/>
            </a:pPr>
            <a:r>
              <a:rPr lang="en-US" sz="1200" kern="0" spc="100" dirty="0">
                <a:solidFill>
                  <a:srgbClr val="71717A"/>
                </a:solidFill>
                <a:latin typeface="Courier New" pitchFamily="34" charset="0"/>
                <a:ea typeface="Courier New" pitchFamily="34" charset="-122"/>
                <a:cs typeface="Courier New" pitchFamily="34" charset="-120"/>
              </a:rPr>
              <a:t>UNIDAD 4 · VALIDACIÓN DE MODELOS</a:t>
            </a:r>
            <a:endParaRPr lang="en-US" sz="1200" dirty="0"/>
          </a:p>
        </p:txBody>
      </p:sp>
      <p:sp>
        <p:nvSpPr>
          <p:cNvPr id="17" name="Text 15"/>
          <p:cNvSpPr/>
          <p:nvPr/>
        </p:nvSpPr>
        <p:spPr>
          <a:xfrm>
            <a:off x="10058400" y="6238280"/>
            <a:ext cx="1320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71717A"/>
                </a:solidFill>
                <a:latin typeface="Courier New" pitchFamily="34" charset="0"/>
                <a:ea typeface="Courier New" pitchFamily="34" charset="-122"/>
                <a:cs typeface="Courier New" pitchFamily="34" charset="-120"/>
              </a:rPr>
              <a:t>15</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B0B0D"/>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marL="0" indent="0" algn="l">
              <a:lnSpc>
                <a:spcPts val="1820"/>
              </a:lnSpc>
              <a:buNone/>
            </a:pPr>
            <a:r>
              <a:rPr lang="en-US" sz="1300" b="1" kern="0" spc="200" dirty="0">
                <a:solidFill>
                  <a:srgbClr val="E4002B"/>
                </a:solidFill>
                <a:latin typeface="Courier New" pitchFamily="34" charset="0"/>
                <a:ea typeface="Courier New" pitchFamily="34" charset="-122"/>
                <a:cs typeface="Courier New" pitchFamily="34" charset="-120"/>
              </a:rPr>
              <a:t>GUÍA RÁPIDA</a:t>
            </a:r>
            <a:endParaRPr lang="en-US" sz="1300" dirty="0"/>
          </a:p>
        </p:txBody>
      </p:sp>
      <p:sp>
        <p:nvSpPr>
          <p:cNvPr id="3" name="Text 1"/>
          <p:cNvSpPr/>
          <p:nvPr/>
        </p:nvSpPr>
        <p:spPr>
          <a:xfrm>
            <a:off x="812800" y="1145480"/>
            <a:ext cx="10883392" cy="472380"/>
          </a:xfrm>
          <a:prstGeom prst="rect">
            <a:avLst/>
          </a:prstGeom>
          <a:noFill/>
          <a:ln/>
        </p:spPr>
        <p:txBody>
          <a:bodyPr wrap="square" lIns="0" tIns="0" rIns="0" bIns="0" rtlCol="0" anchor="t">
            <a:normAutofit/>
          </a:bodyPr>
          <a:lstStyle/>
          <a:p>
            <a:pPr marL="0" indent="0" algn="l">
              <a:lnSpc>
                <a:spcPts val="3520"/>
              </a:lnSpc>
              <a:buNone/>
            </a:pPr>
            <a:r>
              <a:rPr lang="en-US" sz="3200" b="1" kern="0" spc="-50" dirty="0">
                <a:solidFill>
                  <a:srgbClr val="F4F4F5"/>
                </a:solidFill>
                <a:latin typeface="Arial" pitchFamily="34" charset="0"/>
                <a:ea typeface="Arial" pitchFamily="34" charset="-122"/>
                <a:cs typeface="Arial" pitchFamily="34" charset="-120"/>
              </a:rPr>
              <a:t>¿Qué métrica mirar en cada caso?</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808361"/>
          <a:ext cx="10553700" cy="2427487"/>
        </p:xfrm>
        <a:graphic>
          <a:graphicData uri="http://schemas.openxmlformats.org/drawingml/2006/table">
            <a:tbl>
              <a:tblPr/>
              <a:tblGrid>
                <a:gridCol w="3377184">
                  <a:extLst>
                    <a:ext uri="{9D8B030D-6E8A-4147-A177-3AD203B41FA5}">
                      <a16:colId xmlns:a16="http://schemas.microsoft.com/office/drawing/2014/main" val="20000"/>
                    </a:ext>
                  </a:extLst>
                </a:gridCol>
                <a:gridCol w="2743962">
                  <a:extLst>
                    <a:ext uri="{9D8B030D-6E8A-4147-A177-3AD203B41FA5}">
                      <a16:colId xmlns:a16="http://schemas.microsoft.com/office/drawing/2014/main" val="20001"/>
                    </a:ext>
                  </a:extLst>
                </a:gridCol>
                <a:gridCol w="4432554">
                  <a:extLst>
                    <a:ext uri="{9D8B030D-6E8A-4147-A177-3AD203B41FA5}">
                      <a16:colId xmlns:a16="http://schemas.microsoft.com/office/drawing/2014/main" val="20002"/>
                    </a:ext>
                  </a:extLst>
                </a:gridCol>
              </a:tblGrid>
              <a:tr h="385961">
                <a:tc>
                  <a:txBody>
                    <a:bodyPr/>
                    <a:lstStyle/>
                    <a:p>
                      <a:pPr marL="0" indent="0">
                        <a:lnSpc>
                          <a:spcPts val="1960"/>
                        </a:lnSpc>
                        <a:buNone/>
                      </a:pPr>
                      <a:r>
                        <a:rPr lang="en-US" sz="1400" b="1" dirty="0">
                          <a:solidFill>
                            <a:srgbClr val="E4E4E7"/>
                          </a:solidFill>
                          <a:latin typeface="Arial" pitchFamily="34" charset="0"/>
                          <a:ea typeface="Arial" pitchFamily="34" charset="-122"/>
                          <a:cs typeface="Arial" pitchFamily="34" charset="-120"/>
                        </a:rPr>
                        <a:t>Situación</a:t>
                      </a:r>
                      <a:endParaRPr lang="en-US" sz="1400" dirty="0">
                        <a:latin typeface="Arial" charset="0"/>
                        <a:ea typeface="Arial" charset="0"/>
                        <a:cs typeface="Arial" charset="0"/>
                      </a:endParaRPr>
                    </a:p>
                  </a:txBody>
                  <a:tcPr marL="62230" marR="62230" marT="62230" marB="62230">
                    <a:lnL w="12700" cap="flat" cmpd="sng" algn="ctr">
                      <a:solidFill>
                        <a:srgbClr val="403F40"/>
                      </a:solidFill>
                      <a:prstDash val="solid"/>
                      <a:round/>
                      <a:headEnd type="none" w="med" len="med"/>
                      <a:tailEnd type="none" w="med" len="med"/>
                    </a:lnL>
                    <a:lnR w="12700" cap="flat" cmpd="sng" algn="ctr">
                      <a:solidFill>
                        <a:srgbClr val="4E4E4F"/>
                      </a:solidFill>
                      <a:prstDash val="solid"/>
                      <a:round/>
                      <a:headEnd type="none" w="med" len="med"/>
                      <a:tailEnd type="none" w="med" len="med"/>
                    </a:lnR>
                    <a:lnT w="12700" cap="flat" cmpd="sng" algn="ctr">
                      <a:solidFill>
                        <a:srgbClr val="403F40"/>
                      </a:solidFill>
                      <a:prstDash val="solid"/>
                      <a:round/>
                      <a:headEnd type="none" w="med" len="med"/>
                      <a:tailEnd type="none" w="med" len="med"/>
                    </a:lnT>
                    <a:lnB w="12700" cap="flat" cmpd="sng" algn="ctr">
                      <a:solidFill>
                        <a:srgbClr val="4E4E4F"/>
                      </a:solidFill>
                      <a:prstDash val="solid"/>
                      <a:round/>
                      <a:headEnd type="none" w="med" len="med"/>
                      <a:tailEnd type="none" w="med" len="med"/>
                    </a:lnB>
                    <a:solidFill>
                      <a:srgbClr val="1E1E20"/>
                    </a:solidFill>
                  </a:tcPr>
                </a:tc>
                <a:tc>
                  <a:txBody>
                    <a:bodyPr/>
                    <a:lstStyle/>
                    <a:p>
                      <a:pPr marL="0" indent="0">
                        <a:lnSpc>
                          <a:spcPts val="1960"/>
                        </a:lnSpc>
                        <a:buNone/>
                      </a:pPr>
                      <a:r>
                        <a:rPr lang="en-US" sz="1400" b="1" dirty="0">
                          <a:solidFill>
                            <a:srgbClr val="E4E4E7"/>
                          </a:solidFill>
                          <a:latin typeface="Arial" pitchFamily="34" charset="0"/>
                          <a:ea typeface="Arial" pitchFamily="34" charset="-122"/>
                          <a:cs typeface="Arial" pitchFamily="34" charset="-120"/>
                        </a:rPr>
                        <a:t>Métrica clave</a:t>
                      </a:r>
                      <a:endParaRPr lang="en-US" sz="1400" dirty="0">
                        <a:latin typeface="Arial" charset="0"/>
                        <a:ea typeface="Arial" charset="0"/>
                        <a:cs typeface="Arial" charset="0"/>
                      </a:endParaRPr>
                    </a:p>
                  </a:txBody>
                  <a:tcPr marL="62230" marR="62230" marT="62230" marB="62230">
                    <a:lnL w="12700" cap="flat" cmpd="sng" algn="ctr">
                      <a:solidFill>
                        <a:srgbClr val="4E4E4F"/>
                      </a:solidFill>
                      <a:prstDash val="solid"/>
                      <a:round/>
                      <a:headEnd type="none" w="med" len="med"/>
                      <a:tailEnd type="none" w="med" len="med"/>
                    </a:lnL>
                    <a:lnR w="12700" cap="flat" cmpd="sng" algn="ctr">
                      <a:solidFill>
                        <a:srgbClr val="4E4E4F"/>
                      </a:solidFill>
                      <a:prstDash val="solid"/>
                      <a:round/>
                      <a:headEnd type="none" w="med" len="med"/>
                      <a:tailEnd type="none" w="med" len="med"/>
                    </a:lnR>
                    <a:lnT w="12700" cap="flat" cmpd="sng" algn="ctr">
                      <a:solidFill>
                        <a:srgbClr val="403F40"/>
                      </a:solidFill>
                      <a:prstDash val="solid"/>
                      <a:round/>
                      <a:headEnd type="none" w="med" len="med"/>
                      <a:tailEnd type="none" w="med" len="med"/>
                    </a:lnT>
                    <a:lnB w="12700" cap="flat" cmpd="sng" algn="ctr">
                      <a:solidFill>
                        <a:srgbClr val="4E4E4F"/>
                      </a:solidFill>
                      <a:prstDash val="solid"/>
                      <a:round/>
                      <a:headEnd type="none" w="med" len="med"/>
                      <a:tailEnd type="none" w="med" len="med"/>
                    </a:lnB>
                    <a:solidFill>
                      <a:srgbClr val="1E1E20"/>
                    </a:solidFill>
                  </a:tcPr>
                </a:tc>
                <a:tc>
                  <a:txBody>
                    <a:bodyPr/>
                    <a:lstStyle/>
                    <a:p>
                      <a:pPr marL="0" indent="0">
                        <a:lnSpc>
                          <a:spcPts val="1960"/>
                        </a:lnSpc>
                        <a:buNone/>
                      </a:pPr>
                      <a:r>
                        <a:rPr lang="en-US" sz="1400" b="1" dirty="0">
                          <a:solidFill>
                            <a:srgbClr val="E4E4E7"/>
                          </a:solidFill>
                          <a:latin typeface="Arial" pitchFamily="34" charset="0"/>
                          <a:ea typeface="Arial" pitchFamily="34" charset="-122"/>
                          <a:cs typeface="Arial" pitchFamily="34" charset="-120"/>
                        </a:rPr>
                        <a:t>Por qué</a:t>
                      </a:r>
                      <a:endParaRPr lang="en-US" sz="1400" dirty="0">
                        <a:latin typeface="Arial" charset="0"/>
                        <a:ea typeface="Arial" charset="0"/>
                        <a:cs typeface="Arial" charset="0"/>
                      </a:endParaRPr>
                    </a:p>
                  </a:txBody>
                  <a:tcPr marL="62230" marR="62230" marT="62230" marB="62230">
                    <a:lnL w="12700" cap="flat" cmpd="sng" algn="ctr">
                      <a:solidFill>
                        <a:srgbClr val="4E4E4F"/>
                      </a:solidFill>
                      <a:prstDash val="solid"/>
                      <a:round/>
                      <a:headEnd type="none" w="med" len="med"/>
                      <a:tailEnd type="none" w="med" len="med"/>
                    </a:lnL>
                    <a:lnR w="12700" cap="flat" cmpd="sng" algn="ctr">
                      <a:solidFill>
                        <a:srgbClr val="4E4E4F"/>
                      </a:solidFill>
                      <a:prstDash val="solid"/>
                      <a:round/>
                      <a:headEnd type="none" w="med" len="med"/>
                      <a:tailEnd type="none" w="med" len="med"/>
                    </a:lnR>
                    <a:lnT w="12700" cap="flat" cmpd="sng" algn="ctr">
                      <a:solidFill>
                        <a:srgbClr val="403F40"/>
                      </a:solidFill>
                      <a:prstDash val="solid"/>
                      <a:round/>
                      <a:headEnd type="none" w="med" len="med"/>
                      <a:tailEnd type="none" w="med" len="med"/>
                    </a:lnT>
                    <a:lnB w="12700" cap="flat" cmpd="sng" algn="ctr">
                      <a:solidFill>
                        <a:srgbClr val="4E4E4F"/>
                      </a:solidFill>
                      <a:prstDash val="solid"/>
                      <a:round/>
                      <a:headEnd type="none" w="med" len="med"/>
                      <a:tailEnd type="none" w="med" len="med"/>
                    </a:lnB>
                    <a:solidFill>
                      <a:srgbClr val="1E1E20"/>
                    </a:solidFill>
                  </a:tcPr>
                </a:tc>
                <a:extLst>
                  <a:ext uri="{0D108BD9-81ED-4DB2-BD59-A6C34878D82A}">
                    <a16:rowId xmlns:a16="http://schemas.microsoft.com/office/drawing/2014/main" val="10000"/>
                  </a:ext>
                </a:extLst>
              </a:tr>
              <a:tr h="385961">
                <a:tc>
                  <a:txBody>
                    <a:bodyPr/>
                    <a:lstStyle/>
                    <a:p>
                      <a:pPr marL="0" indent="0">
                        <a:lnSpc>
                          <a:spcPts val="1960"/>
                        </a:lnSpc>
                        <a:buNone/>
                      </a:pPr>
                      <a:r>
                        <a:rPr lang="en-US" sz="1400" dirty="0">
                          <a:solidFill>
                            <a:srgbClr val="E4E4E7"/>
                          </a:solidFill>
                          <a:latin typeface="Arial" pitchFamily="34" charset="0"/>
                          <a:ea typeface="Arial" pitchFamily="34" charset="-122"/>
                          <a:cs typeface="Arial" pitchFamily="34" charset="-120"/>
                        </a:rPr>
                        <a:t>Detectar una enfermedad</a:t>
                      </a:r>
                      <a:endParaRPr lang="en-US" sz="1400" dirty="0">
                        <a:latin typeface="Arial" charset="0"/>
                        <a:ea typeface="Arial" charset="0"/>
                        <a:cs typeface="Arial" charset="0"/>
                      </a:endParaRPr>
                    </a:p>
                  </a:txBody>
                  <a:tcPr marL="62230" marR="62230" marT="62230" marB="62230">
                    <a:lnL w="12700" cap="flat" cmpd="sng" algn="ctr">
                      <a:solidFill>
                        <a:srgbClr val="403F40"/>
                      </a:solidFill>
                      <a:prstDash val="solid"/>
                      <a:round/>
                      <a:headEnd type="none" w="med" len="med"/>
                      <a:tailEnd type="none" w="med" len="med"/>
                    </a:lnL>
                    <a:lnR w="12700" cap="flat" cmpd="sng" algn="ctr">
                      <a:solidFill>
                        <a:srgbClr val="403F40"/>
                      </a:solidFill>
                      <a:prstDash val="solid"/>
                      <a:round/>
                      <a:headEnd type="none" w="med" len="med"/>
                      <a:tailEnd type="none" w="med" len="med"/>
                    </a:lnR>
                    <a:lnT w="12700" cap="flat" cmpd="sng" algn="ctr">
                      <a:solidFill>
                        <a:srgbClr val="4E4E4F"/>
                      </a:solidFill>
                      <a:prstDash val="solid"/>
                      <a:round/>
                      <a:headEnd type="none" w="med" len="med"/>
                      <a:tailEnd type="none" w="med" len="med"/>
                    </a:lnT>
                    <a:lnB w="12700" cap="flat" cmpd="sng" algn="ctr">
                      <a:solidFill>
                        <a:srgbClr val="403F40"/>
                      </a:solidFill>
                      <a:prstDash val="solid"/>
                      <a:round/>
                      <a:headEnd type="none" w="med" len="med"/>
                      <a:tailEnd type="none" w="med" len="med"/>
                    </a:lnB>
                  </a:tcPr>
                </a:tc>
                <a:tc>
                  <a:txBody>
                    <a:bodyPr/>
                    <a:lstStyle/>
                    <a:p>
                      <a:pPr marL="0" indent="0">
                        <a:lnSpc>
                          <a:spcPts val="1960"/>
                        </a:lnSpc>
                        <a:buNone/>
                      </a:pPr>
                      <a:r>
                        <a:rPr lang="en-US" sz="1400" dirty="0">
                          <a:solidFill>
                            <a:srgbClr val="FF5C77"/>
                          </a:solidFill>
                          <a:latin typeface="Arial" pitchFamily="34" charset="0"/>
                          <a:ea typeface="Arial" pitchFamily="34" charset="-122"/>
                          <a:cs typeface="Arial" pitchFamily="34" charset="-120"/>
                        </a:rPr>
                        <a:t>Recall (sensibilidad)</a:t>
                      </a:r>
                      <a:endParaRPr lang="en-US" sz="1400" dirty="0">
                        <a:latin typeface="Arial" charset="0"/>
                        <a:ea typeface="Arial" charset="0"/>
                        <a:cs typeface="Arial" charset="0"/>
                      </a:endParaRPr>
                    </a:p>
                  </a:txBody>
                  <a:tcPr marL="62230" marR="62230" marT="62230" marB="62230">
                    <a:lnL w="12700" cap="flat" cmpd="sng" algn="ctr">
                      <a:solidFill>
                        <a:srgbClr val="403F40"/>
                      </a:solidFill>
                      <a:prstDash val="solid"/>
                      <a:round/>
                      <a:headEnd type="none" w="med" len="med"/>
                      <a:tailEnd type="none" w="med" len="med"/>
                    </a:lnL>
                    <a:lnR w="12700" cap="flat" cmpd="sng" algn="ctr">
                      <a:solidFill>
                        <a:srgbClr val="403F40"/>
                      </a:solidFill>
                      <a:prstDash val="solid"/>
                      <a:round/>
                      <a:headEnd type="none" w="med" len="med"/>
                      <a:tailEnd type="none" w="med" len="med"/>
                    </a:lnR>
                    <a:lnT w="12700" cap="flat" cmpd="sng" algn="ctr">
                      <a:solidFill>
                        <a:srgbClr val="4E4E4F"/>
                      </a:solidFill>
                      <a:prstDash val="solid"/>
                      <a:round/>
                      <a:headEnd type="none" w="med" len="med"/>
                      <a:tailEnd type="none" w="med" len="med"/>
                    </a:lnT>
                    <a:lnB w="12700" cap="flat" cmpd="sng" algn="ctr">
                      <a:solidFill>
                        <a:srgbClr val="403F40"/>
                      </a:solidFill>
                      <a:prstDash val="solid"/>
                      <a:round/>
                      <a:headEnd type="none" w="med" len="med"/>
                      <a:tailEnd type="none" w="med" len="med"/>
                    </a:lnB>
                  </a:tcPr>
                </a:tc>
                <a:tc>
                  <a:txBody>
                    <a:bodyPr/>
                    <a:lstStyle/>
                    <a:p>
                      <a:pPr marL="0" indent="0">
                        <a:lnSpc>
                          <a:spcPts val="1960"/>
                        </a:lnSpc>
                        <a:buNone/>
                      </a:pPr>
                      <a:r>
                        <a:rPr lang="en-US" sz="1400" dirty="0">
                          <a:solidFill>
                            <a:srgbClr val="E4E4E7"/>
                          </a:solidFill>
                          <a:latin typeface="Arial" pitchFamily="34" charset="0"/>
                          <a:ea typeface="Arial" pitchFamily="34" charset="-122"/>
                          <a:cs typeface="Arial" pitchFamily="34" charset="-120"/>
                        </a:rPr>
                        <a:t>Que no se escape ningún enfermo</a:t>
                      </a:r>
                      <a:endParaRPr lang="en-US" sz="1400" dirty="0">
                        <a:latin typeface="Arial" charset="0"/>
                        <a:ea typeface="Arial" charset="0"/>
                        <a:cs typeface="Arial" charset="0"/>
                      </a:endParaRPr>
                    </a:p>
                  </a:txBody>
                  <a:tcPr marL="62230" marR="62230" marT="62230" marB="62230">
                    <a:lnL w="12700" cap="flat" cmpd="sng" algn="ctr">
                      <a:solidFill>
                        <a:srgbClr val="403F40"/>
                      </a:solidFill>
                      <a:prstDash val="solid"/>
                      <a:round/>
                      <a:headEnd type="none" w="med" len="med"/>
                      <a:tailEnd type="none" w="med" len="med"/>
                    </a:lnL>
                    <a:lnR w="12700" cap="flat" cmpd="sng" algn="ctr">
                      <a:solidFill>
                        <a:srgbClr val="403F40"/>
                      </a:solidFill>
                      <a:prstDash val="solid"/>
                      <a:round/>
                      <a:headEnd type="none" w="med" len="med"/>
                      <a:tailEnd type="none" w="med" len="med"/>
                    </a:lnR>
                    <a:lnT w="12700" cap="flat" cmpd="sng" algn="ctr">
                      <a:solidFill>
                        <a:srgbClr val="4E4E4F"/>
                      </a:solidFill>
                      <a:prstDash val="solid"/>
                      <a:round/>
                      <a:headEnd type="none" w="med" len="med"/>
                      <a:tailEnd type="none" w="med" len="med"/>
                    </a:lnT>
                    <a:lnB w="12700" cap="flat" cmpd="sng" algn="ctr">
                      <a:solidFill>
                        <a:srgbClr val="403F40"/>
                      </a:solidFill>
                      <a:prstDash val="solid"/>
                      <a:round/>
                      <a:headEnd type="none" w="med" len="med"/>
                      <a:tailEnd type="none" w="med" len="med"/>
                    </a:lnB>
                  </a:tcPr>
                </a:tc>
                <a:extLst>
                  <a:ext uri="{0D108BD9-81ED-4DB2-BD59-A6C34878D82A}">
                    <a16:rowId xmlns:a16="http://schemas.microsoft.com/office/drawing/2014/main" val="10001"/>
                  </a:ext>
                </a:extLst>
              </a:tr>
              <a:tr h="385961">
                <a:tc>
                  <a:txBody>
                    <a:bodyPr/>
                    <a:lstStyle/>
                    <a:p>
                      <a:pPr marL="0" indent="0">
                        <a:lnSpc>
                          <a:spcPts val="1960"/>
                        </a:lnSpc>
                        <a:buNone/>
                      </a:pPr>
                      <a:r>
                        <a:rPr lang="en-US" sz="1400" dirty="0">
                          <a:solidFill>
                            <a:srgbClr val="E4E4E7"/>
                          </a:solidFill>
                          <a:latin typeface="Arial" pitchFamily="34" charset="0"/>
                          <a:ea typeface="Arial" pitchFamily="34" charset="-122"/>
                          <a:cs typeface="Arial" pitchFamily="34" charset="-120"/>
                        </a:rPr>
                        <a:t>Filtro de spam</a:t>
                      </a:r>
                      <a:endParaRPr lang="en-US" sz="1400" dirty="0">
                        <a:latin typeface="Arial" charset="0"/>
                        <a:ea typeface="Arial" charset="0"/>
                        <a:cs typeface="Arial" charset="0"/>
                      </a:endParaRPr>
                    </a:p>
                  </a:txBody>
                  <a:tcPr marL="62230" marR="62230" marT="62230" marB="62230">
                    <a:lnL w="12700" cap="flat" cmpd="sng" algn="ctr">
                      <a:solidFill>
                        <a:srgbClr val="403F40"/>
                      </a:solidFill>
                      <a:prstDash val="solid"/>
                      <a:round/>
                      <a:headEnd type="none" w="med" len="med"/>
                      <a:tailEnd type="none" w="med" len="med"/>
                    </a:lnL>
                    <a:lnR w="12700" cap="flat" cmpd="sng" algn="ctr">
                      <a:solidFill>
                        <a:srgbClr val="403F40"/>
                      </a:solidFill>
                      <a:prstDash val="solid"/>
                      <a:round/>
                      <a:headEnd type="none" w="med" len="med"/>
                      <a:tailEnd type="none" w="med" len="med"/>
                    </a:lnR>
                    <a:lnT w="12700" cap="flat" cmpd="sng" algn="ctr">
                      <a:solidFill>
                        <a:srgbClr val="403F40"/>
                      </a:solidFill>
                      <a:prstDash val="solid"/>
                      <a:round/>
                      <a:headEnd type="none" w="med" len="med"/>
                      <a:tailEnd type="none" w="med" len="med"/>
                    </a:lnT>
                    <a:lnB w="12700" cap="flat" cmpd="sng" algn="ctr">
                      <a:solidFill>
                        <a:srgbClr val="403F40"/>
                      </a:solidFill>
                      <a:prstDash val="solid"/>
                      <a:round/>
                      <a:headEnd type="none" w="med" len="med"/>
                      <a:tailEnd type="none" w="med" len="med"/>
                    </a:lnB>
                  </a:tcPr>
                </a:tc>
                <a:tc>
                  <a:txBody>
                    <a:bodyPr/>
                    <a:lstStyle/>
                    <a:p>
                      <a:pPr marL="0" indent="0">
                        <a:lnSpc>
                          <a:spcPts val="1960"/>
                        </a:lnSpc>
                        <a:buNone/>
                      </a:pPr>
                      <a:r>
                        <a:rPr lang="en-US" sz="1400" dirty="0">
                          <a:solidFill>
                            <a:srgbClr val="FF5C77"/>
                          </a:solidFill>
                          <a:latin typeface="Arial" pitchFamily="34" charset="0"/>
                          <a:ea typeface="Arial" pitchFamily="34" charset="-122"/>
                          <a:cs typeface="Arial" pitchFamily="34" charset="-120"/>
                        </a:rPr>
                        <a:t>Precisión</a:t>
                      </a:r>
                      <a:endParaRPr lang="en-US" sz="1400" dirty="0">
                        <a:latin typeface="Arial" charset="0"/>
                        <a:ea typeface="Arial" charset="0"/>
                        <a:cs typeface="Arial" charset="0"/>
                      </a:endParaRPr>
                    </a:p>
                  </a:txBody>
                  <a:tcPr marL="62230" marR="62230" marT="62230" marB="62230">
                    <a:lnL w="12700" cap="flat" cmpd="sng" algn="ctr">
                      <a:solidFill>
                        <a:srgbClr val="403F40"/>
                      </a:solidFill>
                      <a:prstDash val="solid"/>
                      <a:round/>
                      <a:headEnd type="none" w="med" len="med"/>
                      <a:tailEnd type="none" w="med" len="med"/>
                    </a:lnL>
                    <a:lnR w="12700" cap="flat" cmpd="sng" algn="ctr">
                      <a:solidFill>
                        <a:srgbClr val="403F40"/>
                      </a:solidFill>
                      <a:prstDash val="solid"/>
                      <a:round/>
                      <a:headEnd type="none" w="med" len="med"/>
                      <a:tailEnd type="none" w="med" len="med"/>
                    </a:lnR>
                    <a:lnT w="12700" cap="flat" cmpd="sng" algn="ctr">
                      <a:solidFill>
                        <a:srgbClr val="403F40"/>
                      </a:solidFill>
                      <a:prstDash val="solid"/>
                      <a:round/>
                      <a:headEnd type="none" w="med" len="med"/>
                      <a:tailEnd type="none" w="med" len="med"/>
                    </a:lnT>
                    <a:lnB w="12700" cap="flat" cmpd="sng" algn="ctr">
                      <a:solidFill>
                        <a:srgbClr val="403F40"/>
                      </a:solidFill>
                      <a:prstDash val="solid"/>
                      <a:round/>
                      <a:headEnd type="none" w="med" len="med"/>
                      <a:tailEnd type="none" w="med" len="med"/>
                    </a:lnB>
                  </a:tcPr>
                </a:tc>
                <a:tc>
                  <a:txBody>
                    <a:bodyPr/>
                    <a:lstStyle/>
                    <a:p>
                      <a:pPr marL="0" indent="0">
                        <a:lnSpc>
                          <a:spcPts val="1960"/>
                        </a:lnSpc>
                        <a:buNone/>
                      </a:pPr>
                      <a:r>
                        <a:rPr lang="en-US" sz="1400" dirty="0">
                          <a:solidFill>
                            <a:srgbClr val="E4E4E7"/>
                          </a:solidFill>
                          <a:latin typeface="Arial" pitchFamily="34" charset="0"/>
                          <a:ea typeface="Arial" pitchFamily="34" charset="-122"/>
                          <a:cs typeface="Arial" pitchFamily="34" charset="-120"/>
                        </a:rPr>
                        <a:t>No mandar a spam un correo importante</a:t>
                      </a:r>
                      <a:endParaRPr lang="en-US" sz="1400" dirty="0">
                        <a:latin typeface="Arial" charset="0"/>
                        <a:ea typeface="Arial" charset="0"/>
                        <a:cs typeface="Arial" charset="0"/>
                      </a:endParaRPr>
                    </a:p>
                  </a:txBody>
                  <a:tcPr marL="62230" marR="62230" marT="62230" marB="62230">
                    <a:lnL w="12700" cap="flat" cmpd="sng" algn="ctr">
                      <a:solidFill>
                        <a:srgbClr val="403F40"/>
                      </a:solidFill>
                      <a:prstDash val="solid"/>
                      <a:round/>
                      <a:headEnd type="none" w="med" len="med"/>
                      <a:tailEnd type="none" w="med" len="med"/>
                    </a:lnL>
                    <a:lnR w="12700" cap="flat" cmpd="sng" algn="ctr">
                      <a:solidFill>
                        <a:srgbClr val="403F40"/>
                      </a:solidFill>
                      <a:prstDash val="solid"/>
                      <a:round/>
                      <a:headEnd type="none" w="med" len="med"/>
                      <a:tailEnd type="none" w="med" len="med"/>
                    </a:lnR>
                    <a:lnT w="12700" cap="flat" cmpd="sng" algn="ctr">
                      <a:solidFill>
                        <a:srgbClr val="403F40"/>
                      </a:solidFill>
                      <a:prstDash val="solid"/>
                      <a:round/>
                      <a:headEnd type="none" w="med" len="med"/>
                      <a:tailEnd type="none" w="med" len="med"/>
                    </a:lnT>
                    <a:lnB w="12700" cap="flat" cmpd="sng" algn="ctr">
                      <a:solidFill>
                        <a:srgbClr val="403F40"/>
                      </a:solidFill>
                      <a:prstDash val="solid"/>
                      <a:round/>
                      <a:headEnd type="none" w="med" len="med"/>
                      <a:tailEnd type="none" w="med" len="med"/>
                    </a:lnB>
                  </a:tcPr>
                </a:tc>
                <a:extLst>
                  <a:ext uri="{0D108BD9-81ED-4DB2-BD59-A6C34878D82A}">
                    <a16:rowId xmlns:a16="http://schemas.microsoft.com/office/drawing/2014/main" val="10002"/>
                  </a:ext>
                </a:extLst>
              </a:tr>
              <a:tr h="634802">
                <a:tc>
                  <a:txBody>
                    <a:bodyPr/>
                    <a:lstStyle/>
                    <a:p>
                      <a:pPr marL="0" indent="0">
                        <a:lnSpc>
                          <a:spcPts val="1960"/>
                        </a:lnSpc>
                        <a:buNone/>
                      </a:pPr>
                      <a:r>
                        <a:rPr lang="en-US" sz="1400" dirty="0">
                          <a:solidFill>
                            <a:srgbClr val="E4E4E7"/>
                          </a:solidFill>
                          <a:latin typeface="Arial" pitchFamily="34" charset="0"/>
                          <a:ea typeface="Arial" pitchFamily="34" charset="-122"/>
                          <a:cs typeface="Arial" pitchFamily="34" charset="-120"/>
                        </a:rPr>
                        <a:t>Casos parejos (tantos aprobados como reprobados)</a:t>
                      </a:r>
                      <a:endParaRPr lang="en-US" sz="1400" dirty="0">
                        <a:latin typeface="Arial" charset="0"/>
                        <a:ea typeface="Arial" charset="0"/>
                        <a:cs typeface="Arial" charset="0"/>
                      </a:endParaRPr>
                    </a:p>
                  </a:txBody>
                  <a:tcPr marL="62230" marR="62230" marT="62230" marB="62230">
                    <a:lnL w="12700" cap="flat" cmpd="sng" algn="ctr">
                      <a:solidFill>
                        <a:srgbClr val="403F40"/>
                      </a:solidFill>
                      <a:prstDash val="solid"/>
                      <a:round/>
                      <a:headEnd type="none" w="med" len="med"/>
                      <a:tailEnd type="none" w="med" len="med"/>
                    </a:lnL>
                    <a:lnR w="12700" cap="flat" cmpd="sng" algn="ctr">
                      <a:solidFill>
                        <a:srgbClr val="403F40"/>
                      </a:solidFill>
                      <a:prstDash val="solid"/>
                      <a:round/>
                      <a:headEnd type="none" w="med" len="med"/>
                      <a:tailEnd type="none" w="med" len="med"/>
                    </a:lnR>
                    <a:lnT w="12700" cap="flat" cmpd="sng" algn="ctr">
                      <a:solidFill>
                        <a:srgbClr val="403F40"/>
                      </a:solidFill>
                      <a:prstDash val="solid"/>
                      <a:round/>
                      <a:headEnd type="none" w="med" len="med"/>
                      <a:tailEnd type="none" w="med" len="med"/>
                    </a:lnT>
                    <a:lnB w="12700" cap="flat" cmpd="sng" algn="ctr">
                      <a:solidFill>
                        <a:srgbClr val="403F40"/>
                      </a:solidFill>
                      <a:prstDash val="solid"/>
                      <a:round/>
                      <a:headEnd type="none" w="med" len="med"/>
                      <a:tailEnd type="none" w="med" len="med"/>
                    </a:lnB>
                  </a:tcPr>
                </a:tc>
                <a:tc>
                  <a:txBody>
                    <a:bodyPr/>
                    <a:lstStyle/>
                    <a:p>
                      <a:pPr marL="0" indent="0">
                        <a:lnSpc>
                          <a:spcPts val="1960"/>
                        </a:lnSpc>
                        <a:buNone/>
                      </a:pPr>
                      <a:r>
                        <a:rPr lang="en-US" sz="1400" dirty="0">
                          <a:solidFill>
                            <a:srgbClr val="FF5C77"/>
                          </a:solidFill>
                          <a:latin typeface="Arial" pitchFamily="34" charset="0"/>
                          <a:ea typeface="Arial" pitchFamily="34" charset="-122"/>
                          <a:cs typeface="Arial" pitchFamily="34" charset="-120"/>
                        </a:rPr>
                        <a:t>Accuracy (exactitud)</a:t>
                      </a:r>
                      <a:endParaRPr lang="en-US" sz="1400" dirty="0">
                        <a:latin typeface="Arial" charset="0"/>
                        <a:ea typeface="Arial" charset="0"/>
                        <a:cs typeface="Arial" charset="0"/>
                      </a:endParaRPr>
                    </a:p>
                  </a:txBody>
                  <a:tcPr marL="62230" marR="62230" marT="62230" marB="62230">
                    <a:lnL w="12700" cap="flat" cmpd="sng" algn="ctr">
                      <a:solidFill>
                        <a:srgbClr val="403F40"/>
                      </a:solidFill>
                      <a:prstDash val="solid"/>
                      <a:round/>
                      <a:headEnd type="none" w="med" len="med"/>
                      <a:tailEnd type="none" w="med" len="med"/>
                    </a:lnL>
                    <a:lnR w="12700" cap="flat" cmpd="sng" algn="ctr">
                      <a:solidFill>
                        <a:srgbClr val="403F40"/>
                      </a:solidFill>
                      <a:prstDash val="solid"/>
                      <a:round/>
                      <a:headEnd type="none" w="med" len="med"/>
                      <a:tailEnd type="none" w="med" len="med"/>
                    </a:lnR>
                    <a:lnT w="12700" cap="flat" cmpd="sng" algn="ctr">
                      <a:solidFill>
                        <a:srgbClr val="403F40"/>
                      </a:solidFill>
                      <a:prstDash val="solid"/>
                      <a:round/>
                      <a:headEnd type="none" w="med" len="med"/>
                      <a:tailEnd type="none" w="med" len="med"/>
                    </a:lnT>
                    <a:lnB w="12700" cap="flat" cmpd="sng" algn="ctr">
                      <a:solidFill>
                        <a:srgbClr val="403F40"/>
                      </a:solidFill>
                      <a:prstDash val="solid"/>
                      <a:round/>
                      <a:headEnd type="none" w="med" len="med"/>
                      <a:tailEnd type="none" w="med" len="med"/>
                    </a:lnB>
                  </a:tcPr>
                </a:tc>
                <a:tc>
                  <a:txBody>
                    <a:bodyPr/>
                    <a:lstStyle/>
                    <a:p>
                      <a:pPr marL="0" indent="0">
                        <a:lnSpc>
                          <a:spcPts val="1960"/>
                        </a:lnSpc>
                        <a:buNone/>
                      </a:pPr>
                      <a:r>
                        <a:rPr lang="en-US" sz="1400" dirty="0">
                          <a:solidFill>
                            <a:srgbClr val="E4E4E7"/>
                          </a:solidFill>
                          <a:latin typeface="Arial" pitchFamily="34" charset="0"/>
                          <a:ea typeface="Arial" pitchFamily="34" charset="-122"/>
                          <a:cs typeface="Arial" pitchFamily="34" charset="-120"/>
                        </a:rPr>
                        <a:t>Es fácil de entender y no engaña</a:t>
                      </a:r>
                      <a:endParaRPr lang="en-US" sz="1400" dirty="0">
                        <a:latin typeface="Arial" charset="0"/>
                        <a:ea typeface="Arial" charset="0"/>
                        <a:cs typeface="Arial" charset="0"/>
                      </a:endParaRPr>
                    </a:p>
                  </a:txBody>
                  <a:tcPr marL="62230" marR="62230" marT="62230" marB="62230">
                    <a:lnL w="12700" cap="flat" cmpd="sng" algn="ctr">
                      <a:solidFill>
                        <a:srgbClr val="403F40"/>
                      </a:solidFill>
                      <a:prstDash val="solid"/>
                      <a:round/>
                      <a:headEnd type="none" w="med" len="med"/>
                      <a:tailEnd type="none" w="med" len="med"/>
                    </a:lnL>
                    <a:lnR w="12700" cap="flat" cmpd="sng" algn="ctr">
                      <a:solidFill>
                        <a:srgbClr val="403F40"/>
                      </a:solidFill>
                      <a:prstDash val="solid"/>
                      <a:round/>
                      <a:headEnd type="none" w="med" len="med"/>
                      <a:tailEnd type="none" w="med" len="med"/>
                    </a:lnR>
                    <a:lnT w="12700" cap="flat" cmpd="sng" algn="ctr">
                      <a:solidFill>
                        <a:srgbClr val="403F40"/>
                      </a:solidFill>
                      <a:prstDash val="solid"/>
                      <a:round/>
                      <a:headEnd type="none" w="med" len="med"/>
                      <a:tailEnd type="none" w="med" len="med"/>
                    </a:lnT>
                    <a:lnB w="12700" cap="flat" cmpd="sng" algn="ctr">
                      <a:solidFill>
                        <a:srgbClr val="403F40"/>
                      </a:solidFill>
                      <a:prstDash val="solid"/>
                      <a:round/>
                      <a:headEnd type="none" w="med" len="med"/>
                      <a:tailEnd type="none" w="med" len="med"/>
                    </a:lnB>
                  </a:tcPr>
                </a:tc>
                <a:extLst>
                  <a:ext uri="{0D108BD9-81ED-4DB2-BD59-A6C34878D82A}">
                    <a16:rowId xmlns:a16="http://schemas.microsoft.com/office/drawing/2014/main" val="10003"/>
                  </a:ext>
                </a:extLst>
              </a:tr>
              <a:tr h="634802">
                <a:tc>
                  <a:txBody>
                    <a:bodyPr/>
                    <a:lstStyle/>
                    <a:p>
                      <a:pPr marL="0" indent="0">
                        <a:lnSpc>
                          <a:spcPts val="1960"/>
                        </a:lnSpc>
                        <a:buNone/>
                      </a:pPr>
                      <a:r>
                        <a:rPr lang="en-US" sz="1400" dirty="0">
                          <a:solidFill>
                            <a:srgbClr val="E4E4E7"/>
                          </a:solidFill>
                          <a:latin typeface="Arial" pitchFamily="34" charset="0"/>
                          <a:ea typeface="Arial" pitchFamily="34" charset="-122"/>
                          <a:cs typeface="Arial" pitchFamily="34" charset="-120"/>
                        </a:rPr>
                        <a:t>Predecir ventas o precios</a:t>
                      </a:r>
                      <a:endParaRPr lang="en-US" sz="1400" dirty="0">
                        <a:latin typeface="Arial" charset="0"/>
                        <a:ea typeface="Arial" charset="0"/>
                        <a:cs typeface="Arial" charset="0"/>
                      </a:endParaRPr>
                    </a:p>
                  </a:txBody>
                  <a:tcPr marL="62230" marR="62230" marT="62230" marB="62230">
                    <a:lnL w="12700" cap="flat" cmpd="sng" algn="ctr">
                      <a:solidFill>
                        <a:srgbClr val="403F40"/>
                      </a:solidFill>
                      <a:prstDash val="solid"/>
                      <a:round/>
                      <a:headEnd type="none" w="med" len="med"/>
                      <a:tailEnd type="none" w="med" len="med"/>
                    </a:lnL>
                    <a:lnR w="12700" cap="flat" cmpd="sng" algn="ctr">
                      <a:solidFill>
                        <a:srgbClr val="403F40"/>
                      </a:solidFill>
                      <a:prstDash val="solid"/>
                      <a:round/>
                      <a:headEnd type="none" w="med" len="med"/>
                      <a:tailEnd type="none" w="med" len="med"/>
                    </a:lnR>
                    <a:lnT w="12700" cap="flat" cmpd="sng" algn="ctr">
                      <a:solidFill>
                        <a:srgbClr val="403F40"/>
                      </a:solidFill>
                      <a:prstDash val="solid"/>
                      <a:round/>
                      <a:headEnd type="none" w="med" len="med"/>
                      <a:tailEnd type="none" w="med" len="med"/>
                    </a:lnT>
                    <a:lnB w="12700" cap="flat" cmpd="sng" algn="ctr">
                      <a:solidFill>
                        <a:srgbClr val="403F40"/>
                      </a:solidFill>
                      <a:prstDash val="solid"/>
                      <a:round/>
                      <a:headEnd type="none" w="med" len="med"/>
                      <a:tailEnd type="none" w="med" len="med"/>
                    </a:lnB>
                  </a:tcPr>
                </a:tc>
                <a:tc>
                  <a:txBody>
                    <a:bodyPr/>
                    <a:lstStyle/>
                    <a:p>
                      <a:pPr marL="0" indent="0">
                        <a:lnSpc>
                          <a:spcPts val="1960"/>
                        </a:lnSpc>
                        <a:buNone/>
                      </a:pPr>
                      <a:r>
                        <a:rPr lang="en-US" sz="1400" dirty="0">
                          <a:solidFill>
                            <a:srgbClr val="FF5C77"/>
                          </a:solidFill>
                          <a:latin typeface="Arial" pitchFamily="34" charset="0"/>
                          <a:ea typeface="Arial" pitchFamily="34" charset="-122"/>
                          <a:cs typeface="Arial" pitchFamily="34" charset="-120"/>
                        </a:rPr>
                        <a:t>MAE o RMSE</a:t>
                      </a:r>
                      <a:endParaRPr lang="en-US" sz="1400" dirty="0">
                        <a:latin typeface="Arial" charset="0"/>
                        <a:ea typeface="Arial" charset="0"/>
                        <a:cs typeface="Arial" charset="0"/>
                      </a:endParaRPr>
                    </a:p>
                  </a:txBody>
                  <a:tcPr marL="62230" marR="62230" marT="62230" marB="62230">
                    <a:lnL w="12700" cap="flat" cmpd="sng" algn="ctr">
                      <a:solidFill>
                        <a:srgbClr val="403F40"/>
                      </a:solidFill>
                      <a:prstDash val="solid"/>
                      <a:round/>
                      <a:headEnd type="none" w="med" len="med"/>
                      <a:tailEnd type="none" w="med" len="med"/>
                    </a:lnL>
                    <a:lnR w="12700" cap="flat" cmpd="sng" algn="ctr">
                      <a:solidFill>
                        <a:srgbClr val="403F40"/>
                      </a:solidFill>
                      <a:prstDash val="solid"/>
                      <a:round/>
                      <a:headEnd type="none" w="med" len="med"/>
                      <a:tailEnd type="none" w="med" len="med"/>
                    </a:lnR>
                    <a:lnT w="12700" cap="flat" cmpd="sng" algn="ctr">
                      <a:solidFill>
                        <a:srgbClr val="403F40"/>
                      </a:solidFill>
                      <a:prstDash val="solid"/>
                      <a:round/>
                      <a:headEnd type="none" w="med" len="med"/>
                      <a:tailEnd type="none" w="med" len="med"/>
                    </a:lnT>
                    <a:lnB w="12700" cap="flat" cmpd="sng" algn="ctr">
                      <a:solidFill>
                        <a:srgbClr val="403F40"/>
                      </a:solidFill>
                      <a:prstDash val="solid"/>
                      <a:round/>
                      <a:headEnd type="none" w="med" len="med"/>
                      <a:tailEnd type="none" w="med" len="med"/>
                    </a:lnB>
                  </a:tcPr>
                </a:tc>
                <a:tc>
                  <a:txBody>
                    <a:bodyPr/>
                    <a:lstStyle/>
                    <a:p>
                      <a:pPr marL="0" indent="0">
                        <a:lnSpc>
                          <a:spcPts val="1960"/>
                        </a:lnSpc>
                        <a:buNone/>
                      </a:pPr>
                      <a:r>
                        <a:rPr lang="en-US" sz="1400" dirty="0">
                          <a:solidFill>
                            <a:srgbClr val="E4E4E7"/>
                          </a:solidFill>
                          <a:latin typeface="Arial" pitchFamily="34" charset="0"/>
                          <a:ea typeface="Arial" pitchFamily="34" charset="-122"/>
                          <a:cs typeface="Arial" pitchFamily="34" charset="-120"/>
                        </a:rPr>
                        <a:t>Dicen por cuánto se equivoca, en las mismas unidades</a:t>
                      </a:r>
                      <a:endParaRPr lang="en-US" sz="1400" dirty="0">
                        <a:latin typeface="Arial" charset="0"/>
                        <a:ea typeface="Arial" charset="0"/>
                        <a:cs typeface="Arial" charset="0"/>
                      </a:endParaRPr>
                    </a:p>
                  </a:txBody>
                  <a:tcPr marL="62230" marR="62230" marT="62230" marB="62230">
                    <a:lnL w="12700" cap="flat" cmpd="sng" algn="ctr">
                      <a:solidFill>
                        <a:srgbClr val="403F40"/>
                      </a:solidFill>
                      <a:prstDash val="solid"/>
                      <a:round/>
                      <a:headEnd type="none" w="med" len="med"/>
                      <a:tailEnd type="none" w="med" len="med"/>
                    </a:lnL>
                    <a:lnR w="12700" cap="flat" cmpd="sng" algn="ctr">
                      <a:solidFill>
                        <a:srgbClr val="403F40"/>
                      </a:solidFill>
                      <a:prstDash val="solid"/>
                      <a:round/>
                      <a:headEnd type="none" w="med" len="med"/>
                      <a:tailEnd type="none" w="med" len="med"/>
                    </a:lnR>
                    <a:lnT w="12700" cap="flat" cmpd="sng" algn="ctr">
                      <a:solidFill>
                        <a:srgbClr val="403F40"/>
                      </a:solidFill>
                      <a:prstDash val="solid"/>
                      <a:round/>
                      <a:headEnd type="none" w="med" len="med"/>
                      <a:tailEnd type="none" w="med" len="med"/>
                    </a:lnT>
                    <a:lnB w="12700" cap="flat" cmpd="sng" algn="ctr">
                      <a:solidFill>
                        <a:srgbClr val="403F40"/>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5" name="Shape 2"/>
          <p:cNvSpPr/>
          <p:nvPr/>
        </p:nvSpPr>
        <p:spPr>
          <a:xfrm>
            <a:off x="819150" y="4445397"/>
            <a:ext cx="10553700" cy="871736"/>
          </a:xfrm>
          <a:prstGeom prst="roundRect">
            <a:avLst>
              <a:gd name="adj" fmla="val 13840"/>
            </a:avLst>
          </a:prstGeom>
          <a:solidFill>
            <a:srgbClr val="1F0A0F"/>
          </a:solidFill>
          <a:ln w="12700">
            <a:solidFill>
              <a:srgbClr val="E4002B"/>
            </a:solidFill>
            <a:prstDash val="solid"/>
          </a:ln>
        </p:spPr>
        <p:txBody>
          <a:bodyPr/>
          <a:lstStyle/>
          <a:p>
            <a:endParaRPr lang="es-CO"/>
          </a:p>
        </p:txBody>
      </p:sp>
      <p:sp>
        <p:nvSpPr>
          <p:cNvPr id="6" name="Text 3"/>
          <p:cNvSpPr/>
          <p:nvPr/>
        </p:nvSpPr>
        <p:spPr>
          <a:xfrm>
            <a:off x="1079500" y="4629547"/>
            <a:ext cx="10333990"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E4002B"/>
                </a:solidFill>
                <a:latin typeface="Courier New" pitchFamily="34" charset="0"/>
                <a:ea typeface="Courier New" pitchFamily="34" charset="-122"/>
                <a:cs typeface="Courier New" pitchFamily="34" charset="-120"/>
              </a:rPr>
              <a:t>EN PALABRAS SIMPLES</a:t>
            </a:r>
            <a:endParaRPr lang="en-US" sz="1200" dirty="0"/>
          </a:p>
        </p:txBody>
      </p:sp>
      <p:sp>
        <p:nvSpPr>
          <p:cNvPr id="7" name="Text 4"/>
          <p:cNvSpPr/>
          <p:nvPr/>
        </p:nvSpPr>
        <p:spPr>
          <a:xfrm>
            <a:off x="1079500" y="4893667"/>
            <a:ext cx="10333990" cy="264716"/>
          </a:xfrm>
          <a:prstGeom prst="rect">
            <a:avLst/>
          </a:prstGeom>
          <a:noFill/>
          <a:ln/>
        </p:spPr>
        <p:txBody>
          <a:bodyPr wrap="square" lIns="0" tIns="0" rIns="0" bIns="0" rtlCol="0" anchor="t">
            <a:normAutofit/>
          </a:bodyPr>
          <a:lstStyle/>
          <a:p>
            <a:pPr marL="0" indent="0" algn="l">
              <a:lnSpc>
                <a:spcPts val="1885"/>
              </a:lnSpc>
              <a:buNone/>
            </a:pPr>
            <a:r>
              <a:rPr lang="en-US" sz="1300" dirty="0">
                <a:solidFill>
                  <a:srgbClr val="F4F4F5"/>
                </a:solidFill>
                <a:latin typeface="Arial" pitchFamily="34" charset="0"/>
                <a:ea typeface="Arial" pitchFamily="34" charset="-122"/>
                <a:cs typeface="Arial" pitchFamily="34" charset="-120"/>
              </a:rPr>
              <a:t>Antes de medir, pregúntate: ¿qué error le sale más caro al negocio?</a:t>
            </a:r>
            <a:endParaRPr lang="en-US" sz="1300" dirty="0"/>
          </a:p>
        </p:txBody>
      </p:sp>
      <p:sp>
        <p:nvSpPr>
          <p:cNvPr id="8" name="Text 5"/>
          <p:cNvSpPr/>
          <p:nvPr/>
        </p:nvSpPr>
        <p:spPr>
          <a:xfrm>
            <a:off x="812800" y="6238280"/>
            <a:ext cx="7848600" cy="238720"/>
          </a:xfrm>
          <a:prstGeom prst="rect">
            <a:avLst/>
          </a:prstGeom>
          <a:noFill/>
          <a:ln/>
        </p:spPr>
        <p:txBody>
          <a:bodyPr wrap="square" lIns="0" tIns="0" rIns="0" bIns="0" rtlCol="0" anchor="t">
            <a:normAutofit/>
          </a:bodyPr>
          <a:lstStyle/>
          <a:p>
            <a:pPr marL="0" indent="0" algn="l">
              <a:lnSpc>
                <a:spcPts val="1680"/>
              </a:lnSpc>
              <a:buNone/>
            </a:pPr>
            <a:r>
              <a:rPr lang="en-US" sz="1200" kern="0" spc="100" dirty="0">
                <a:solidFill>
                  <a:srgbClr val="71717A"/>
                </a:solidFill>
                <a:latin typeface="Courier New" pitchFamily="34" charset="0"/>
                <a:ea typeface="Courier New" pitchFamily="34" charset="-122"/>
                <a:cs typeface="Courier New" pitchFamily="34" charset="-120"/>
              </a:rPr>
              <a:t>UNIDAD 4 · VALIDACIÓN DE MODELOS</a:t>
            </a:r>
            <a:endParaRPr lang="en-US" sz="1200" dirty="0"/>
          </a:p>
        </p:txBody>
      </p:sp>
      <p:sp>
        <p:nvSpPr>
          <p:cNvPr id="9" name="Text 6"/>
          <p:cNvSpPr/>
          <p:nvPr/>
        </p:nvSpPr>
        <p:spPr>
          <a:xfrm>
            <a:off x="10058400" y="6238280"/>
            <a:ext cx="1320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71717A"/>
                </a:solidFill>
                <a:latin typeface="Courier New" pitchFamily="34" charset="0"/>
                <a:ea typeface="Courier New" pitchFamily="34" charset="-122"/>
                <a:cs typeface="Courier New" pitchFamily="34" charset="-120"/>
              </a:rPr>
              <a:t>16</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141417"/>
        </a:solidFill>
        <a:effectLst/>
      </p:bgPr>
    </p:bg>
    <p:spTree>
      <p:nvGrpSpPr>
        <p:cNvPr id="1" name=""/>
        <p:cNvGrpSpPr/>
        <p:nvPr/>
      </p:nvGrpSpPr>
      <p:grpSpPr>
        <a:xfrm>
          <a:off x="0" y="0"/>
          <a:ext cx="0" cy="0"/>
          <a:chOff x="0" y="0"/>
          <a:chExt cx="0" cy="0"/>
        </a:xfrm>
      </p:grpSpPr>
      <p:sp>
        <p:nvSpPr>
          <p:cNvPr id="2" name="Text 0"/>
          <p:cNvSpPr/>
          <p:nvPr/>
        </p:nvSpPr>
        <p:spPr>
          <a:xfrm>
            <a:off x="812800" y="1606649"/>
            <a:ext cx="10883392" cy="256480"/>
          </a:xfrm>
          <a:prstGeom prst="rect">
            <a:avLst/>
          </a:prstGeom>
          <a:noFill/>
          <a:ln/>
        </p:spPr>
        <p:txBody>
          <a:bodyPr wrap="square" lIns="0" tIns="0" rIns="0" bIns="0" rtlCol="0" anchor="t">
            <a:normAutofit/>
          </a:bodyPr>
          <a:lstStyle/>
          <a:p>
            <a:pPr marL="0" indent="0" algn="l">
              <a:lnSpc>
                <a:spcPts val="1820"/>
              </a:lnSpc>
              <a:buNone/>
            </a:pPr>
            <a:r>
              <a:rPr lang="en-US" sz="1300" b="1" kern="0" spc="200" dirty="0">
                <a:solidFill>
                  <a:srgbClr val="E4002B"/>
                </a:solidFill>
                <a:latin typeface="Courier New" pitchFamily="34" charset="0"/>
                <a:ea typeface="Courier New" pitchFamily="34" charset="-122"/>
                <a:cs typeface="Courier New" pitchFamily="34" charset="-120"/>
              </a:rPr>
              <a:t>SECCIÓN 02 DE 04</a:t>
            </a:r>
            <a:endParaRPr lang="en-US" sz="1300" dirty="0"/>
          </a:p>
        </p:txBody>
      </p:sp>
      <p:sp>
        <p:nvSpPr>
          <p:cNvPr id="3" name="Text 1"/>
          <p:cNvSpPr/>
          <p:nvPr/>
        </p:nvSpPr>
        <p:spPr>
          <a:xfrm>
            <a:off x="812800" y="1990130"/>
            <a:ext cx="10883392" cy="1549400"/>
          </a:xfrm>
          <a:prstGeom prst="rect">
            <a:avLst/>
          </a:prstGeom>
          <a:noFill/>
          <a:ln/>
        </p:spPr>
        <p:txBody>
          <a:bodyPr wrap="square" lIns="0" tIns="0" rIns="0" bIns="0" rtlCol="0" anchor="t">
            <a:normAutofit/>
          </a:bodyPr>
          <a:lstStyle/>
          <a:p>
            <a:pPr marL="0" indent="0" algn="l">
              <a:lnSpc>
                <a:spcPts val="12000"/>
              </a:lnSpc>
              <a:buNone/>
            </a:pPr>
            <a:r>
              <a:rPr lang="en-US" sz="12000" b="1" dirty="0">
                <a:solidFill>
                  <a:srgbClr val="E4002B"/>
                </a:solidFill>
                <a:latin typeface="Courier New" pitchFamily="34" charset="0"/>
                <a:ea typeface="Courier New" pitchFamily="34" charset="-122"/>
                <a:cs typeface="Courier New" pitchFamily="34" charset="-120"/>
              </a:rPr>
              <a:t>02</a:t>
            </a:r>
            <a:endParaRPr lang="en-US" sz="12000" dirty="0"/>
          </a:p>
        </p:txBody>
      </p:sp>
      <p:sp>
        <p:nvSpPr>
          <p:cNvPr id="4" name="Text 2"/>
          <p:cNvSpPr/>
          <p:nvPr/>
        </p:nvSpPr>
        <p:spPr>
          <a:xfrm>
            <a:off x="812800" y="3666530"/>
            <a:ext cx="10883392" cy="665460"/>
          </a:xfrm>
          <a:prstGeom prst="rect">
            <a:avLst/>
          </a:prstGeom>
          <a:noFill/>
          <a:ln/>
        </p:spPr>
        <p:txBody>
          <a:bodyPr wrap="square" lIns="0" tIns="0" rIns="0" bIns="0" rtlCol="0" anchor="t">
            <a:normAutofit/>
          </a:bodyPr>
          <a:lstStyle/>
          <a:p>
            <a:pPr marL="0" indent="0" algn="l">
              <a:lnSpc>
                <a:spcPts val="5040"/>
              </a:lnSpc>
              <a:buNone/>
            </a:pPr>
            <a:r>
              <a:rPr lang="en-US" sz="4800" b="1" kern="0" spc="-100" dirty="0">
                <a:solidFill>
                  <a:srgbClr val="F4F4F5"/>
                </a:solidFill>
                <a:latin typeface="Arial" pitchFamily="34" charset="0"/>
                <a:ea typeface="Arial" pitchFamily="34" charset="-122"/>
                <a:cs typeface="Arial" pitchFamily="34" charset="-120"/>
              </a:rPr>
              <a:t>Overfitting vs. underfitting</a:t>
            </a:r>
            <a:endParaRPr lang="en-US" sz="4800" dirty="0"/>
          </a:p>
        </p:txBody>
      </p:sp>
      <p:sp>
        <p:nvSpPr>
          <p:cNvPr id="5" name="Text 3"/>
          <p:cNvSpPr/>
          <p:nvPr/>
        </p:nvSpPr>
        <p:spPr>
          <a:xfrm>
            <a:off x="812800" y="4458990"/>
            <a:ext cx="7848600" cy="614561"/>
          </a:xfrm>
          <a:prstGeom prst="rect">
            <a:avLst/>
          </a:prstGeom>
          <a:noFill/>
          <a:ln/>
        </p:spPr>
        <p:txBody>
          <a:bodyPr wrap="square" lIns="0" tIns="0" rIns="0" bIns="0" rtlCol="0" anchor="t">
            <a:normAutofit/>
          </a:bodyPr>
          <a:lstStyle/>
          <a:p>
            <a:pPr marL="0" indent="0" algn="l">
              <a:lnSpc>
                <a:spcPts val="2320"/>
              </a:lnSpc>
              <a:buNone/>
            </a:pPr>
            <a:r>
              <a:rPr lang="en-US" sz="1600" dirty="0">
                <a:solidFill>
                  <a:srgbClr val="A1A1AA"/>
                </a:solidFill>
                <a:latin typeface="Arial" pitchFamily="34" charset="0"/>
                <a:ea typeface="Arial" pitchFamily="34" charset="-122"/>
                <a:cs typeface="Arial" pitchFamily="34" charset="-120"/>
              </a:rPr>
              <a:t>Sobreajuste contra subajuste: ¿el modelo aprendió de verdad, memorizó los datos o se quedó corto?</a:t>
            </a:r>
            <a:endParaRPr lang="en-US" sz="1600" dirty="0"/>
          </a:p>
        </p:txBody>
      </p:sp>
      <p:sp>
        <p:nvSpPr>
          <p:cNvPr id="6" name="Text 4"/>
          <p:cNvSpPr/>
          <p:nvPr/>
        </p:nvSpPr>
        <p:spPr>
          <a:xfrm>
            <a:off x="812800" y="6238280"/>
            <a:ext cx="7848600" cy="238720"/>
          </a:xfrm>
          <a:prstGeom prst="rect">
            <a:avLst/>
          </a:prstGeom>
          <a:noFill/>
          <a:ln/>
        </p:spPr>
        <p:txBody>
          <a:bodyPr wrap="square" lIns="0" tIns="0" rIns="0" bIns="0" rtlCol="0" anchor="t">
            <a:normAutofit/>
          </a:bodyPr>
          <a:lstStyle/>
          <a:p>
            <a:pPr marL="0" indent="0" algn="l">
              <a:lnSpc>
                <a:spcPts val="1680"/>
              </a:lnSpc>
              <a:buNone/>
            </a:pPr>
            <a:r>
              <a:rPr lang="en-US" sz="1200" kern="0" spc="100" dirty="0">
                <a:solidFill>
                  <a:srgbClr val="71717A"/>
                </a:solidFill>
                <a:latin typeface="Courier New" pitchFamily="34" charset="0"/>
                <a:ea typeface="Courier New" pitchFamily="34" charset="-122"/>
                <a:cs typeface="Courier New" pitchFamily="34" charset="-120"/>
              </a:rPr>
              <a:t>UNIDAD 4 · VALIDACIÓN DE MODELOS</a:t>
            </a:r>
            <a:endParaRPr lang="en-US" sz="1200" dirty="0"/>
          </a:p>
        </p:txBody>
      </p:sp>
      <p:sp>
        <p:nvSpPr>
          <p:cNvPr id="7" name="Text 5"/>
          <p:cNvSpPr/>
          <p:nvPr/>
        </p:nvSpPr>
        <p:spPr>
          <a:xfrm>
            <a:off x="10058400" y="6238280"/>
            <a:ext cx="1320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71717A"/>
                </a:solidFill>
                <a:latin typeface="Courier New" pitchFamily="34" charset="0"/>
                <a:ea typeface="Courier New" pitchFamily="34" charset="-122"/>
                <a:cs typeface="Courier New" pitchFamily="34" charset="-120"/>
              </a:rPr>
              <a:t>17</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B0B0D"/>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marL="0" indent="0" algn="l">
              <a:lnSpc>
                <a:spcPts val="1820"/>
              </a:lnSpc>
              <a:buNone/>
            </a:pPr>
            <a:r>
              <a:rPr lang="en-US" sz="1300" b="1" kern="0" spc="200" dirty="0">
                <a:solidFill>
                  <a:srgbClr val="E4002B"/>
                </a:solidFill>
                <a:latin typeface="Courier New" pitchFamily="34" charset="0"/>
                <a:ea typeface="Courier New" pitchFamily="34" charset="-122"/>
                <a:cs typeface="Courier New" pitchFamily="34" charset="-120"/>
              </a:rPr>
              <a:t>LA ANALOGÍA</a:t>
            </a:r>
            <a:endParaRPr lang="en-US" sz="1300" dirty="0"/>
          </a:p>
        </p:txBody>
      </p:sp>
      <p:sp>
        <p:nvSpPr>
          <p:cNvPr id="3" name="Text 1"/>
          <p:cNvSpPr/>
          <p:nvPr/>
        </p:nvSpPr>
        <p:spPr>
          <a:xfrm>
            <a:off x="812800" y="1145480"/>
            <a:ext cx="10883392" cy="472380"/>
          </a:xfrm>
          <a:prstGeom prst="rect">
            <a:avLst/>
          </a:prstGeom>
          <a:noFill/>
          <a:ln/>
        </p:spPr>
        <p:txBody>
          <a:bodyPr wrap="square" lIns="0" tIns="0" rIns="0" bIns="0" rtlCol="0" anchor="t">
            <a:normAutofit/>
          </a:bodyPr>
          <a:lstStyle/>
          <a:p>
            <a:pPr marL="0" indent="0" algn="l">
              <a:lnSpc>
                <a:spcPts val="3520"/>
              </a:lnSpc>
              <a:buNone/>
            </a:pPr>
            <a:r>
              <a:rPr lang="en-US" sz="3200" b="1" kern="0" spc="-50" dirty="0">
                <a:solidFill>
                  <a:srgbClr val="F4F4F5"/>
                </a:solidFill>
                <a:latin typeface="Arial" pitchFamily="34" charset="0"/>
                <a:ea typeface="Arial" pitchFamily="34" charset="-122"/>
                <a:cs typeface="Arial" pitchFamily="34" charset="-120"/>
              </a:rPr>
              <a:t>Tres estudiantes antes del examen</a:t>
            </a:r>
            <a:endParaRPr lang="en-US" sz="3200" dirty="0"/>
          </a:p>
        </p:txBody>
      </p:sp>
      <p:sp>
        <p:nvSpPr>
          <p:cNvPr id="4" name="Shape 2"/>
          <p:cNvSpPr/>
          <p:nvPr/>
        </p:nvSpPr>
        <p:spPr>
          <a:xfrm>
            <a:off x="819150" y="1802011"/>
            <a:ext cx="3407767" cy="2264668"/>
          </a:xfrm>
          <a:prstGeom prst="roundRect">
            <a:avLst>
              <a:gd name="adj" fmla="val 5327"/>
            </a:avLst>
          </a:prstGeom>
          <a:solidFill>
            <a:srgbClr val="1A1A1F"/>
          </a:solidFill>
          <a:ln w="12700">
            <a:solidFill>
              <a:srgbClr val="2C2C33"/>
            </a:solidFill>
            <a:prstDash val="solid"/>
          </a:ln>
        </p:spPr>
        <p:txBody>
          <a:bodyPr/>
          <a:lstStyle/>
          <a:p>
            <a:endParaRPr lang="es-CO"/>
          </a:p>
        </p:txBody>
      </p:sp>
      <p:sp>
        <p:nvSpPr>
          <p:cNvPr id="5" name="Text 3"/>
          <p:cNvSpPr/>
          <p:nvPr/>
        </p:nvSpPr>
        <p:spPr>
          <a:xfrm>
            <a:off x="1054100" y="2036961"/>
            <a:ext cx="3026003"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A1A1AA"/>
                </a:solidFill>
                <a:latin typeface="Courier New" pitchFamily="34" charset="0"/>
                <a:ea typeface="Courier New" pitchFamily="34" charset="-122"/>
                <a:cs typeface="Courier New" pitchFamily="34" charset="-120"/>
              </a:rPr>
              <a:t>UNDERFITTING · SUBAJUSTE</a:t>
            </a:r>
            <a:endParaRPr lang="en-US" sz="1200" dirty="0"/>
          </a:p>
        </p:txBody>
      </p:sp>
      <p:sp>
        <p:nvSpPr>
          <p:cNvPr id="6" name="Text 4"/>
          <p:cNvSpPr/>
          <p:nvPr/>
        </p:nvSpPr>
        <p:spPr>
          <a:xfrm>
            <a:off x="1054100" y="2351881"/>
            <a:ext cx="3026003" cy="2691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F4F4F5"/>
                </a:solidFill>
                <a:latin typeface="Arial" pitchFamily="34" charset="0"/>
                <a:ea typeface="Arial" pitchFamily="34" charset="-122"/>
                <a:cs typeface="Arial" pitchFamily="34" charset="-120"/>
              </a:rPr>
              <a:t>El que no estudió</a:t>
            </a:r>
            <a:endParaRPr lang="en-US" sz="1600" dirty="0"/>
          </a:p>
        </p:txBody>
      </p:sp>
      <p:sp>
        <p:nvSpPr>
          <p:cNvPr id="7" name="Text 5"/>
          <p:cNvSpPr/>
          <p:nvPr/>
        </p:nvSpPr>
        <p:spPr>
          <a:xfrm>
            <a:off x="1054100" y="2697262"/>
            <a:ext cx="3026003" cy="743347"/>
          </a:xfrm>
          <a:prstGeom prst="rect">
            <a:avLst/>
          </a:prstGeom>
          <a:noFill/>
          <a:ln/>
        </p:spPr>
        <p:txBody>
          <a:bodyPr wrap="square" lIns="0" tIns="0" rIns="0" bIns="0" rtlCol="0" anchor="t">
            <a:normAutofit/>
          </a:bodyPr>
          <a:lstStyle/>
          <a:p>
            <a:pPr marL="0" indent="0" algn="l">
              <a:lnSpc>
                <a:spcPts val="1885"/>
              </a:lnSpc>
              <a:buNone/>
            </a:pPr>
            <a:r>
              <a:rPr lang="en-US" sz="1300" dirty="0">
                <a:solidFill>
                  <a:srgbClr val="A1A1AA"/>
                </a:solidFill>
                <a:latin typeface="Arial" pitchFamily="34" charset="0"/>
                <a:ea typeface="Arial" pitchFamily="34" charset="-122"/>
                <a:cs typeface="Arial" pitchFamily="34" charset="-120"/>
              </a:rPr>
              <a:t>Le va mal en la práctica y en el examen. El modelo es demasiado simple para el problema.</a:t>
            </a:r>
            <a:endParaRPr lang="en-US" sz="1300" dirty="0"/>
          </a:p>
        </p:txBody>
      </p:sp>
      <p:sp>
        <p:nvSpPr>
          <p:cNvPr id="8" name="Shape 6"/>
          <p:cNvSpPr/>
          <p:nvPr/>
        </p:nvSpPr>
        <p:spPr>
          <a:xfrm>
            <a:off x="1054100" y="3516809"/>
            <a:ext cx="2937867" cy="314920"/>
          </a:xfrm>
          <a:prstGeom prst="roundRect">
            <a:avLst>
              <a:gd name="adj" fmla="val 24197"/>
            </a:avLst>
          </a:prstGeom>
          <a:solidFill>
            <a:srgbClr val="26262C"/>
          </a:solidFill>
          <a:ln/>
        </p:spPr>
        <p:txBody>
          <a:bodyPr/>
          <a:lstStyle/>
          <a:p>
            <a:endParaRPr lang="es-CO"/>
          </a:p>
        </p:txBody>
      </p:sp>
      <p:sp>
        <p:nvSpPr>
          <p:cNvPr id="9" name="Text 7"/>
          <p:cNvSpPr/>
          <p:nvPr/>
        </p:nvSpPr>
        <p:spPr>
          <a:xfrm>
            <a:off x="1155700" y="3567609"/>
            <a:ext cx="2816707"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E4E4E7"/>
                </a:solidFill>
                <a:latin typeface="Arial" pitchFamily="34" charset="0"/>
                <a:ea typeface="Arial" pitchFamily="34" charset="-122"/>
                <a:cs typeface="Arial" pitchFamily="34" charset="-120"/>
              </a:rPr>
              <a:t>Práctica baja · Examen bajo</a:t>
            </a:r>
            <a:endParaRPr lang="en-US" sz="1200" dirty="0"/>
          </a:p>
        </p:txBody>
      </p:sp>
      <p:sp>
        <p:nvSpPr>
          <p:cNvPr id="10" name="Shape 8"/>
          <p:cNvSpPr/>
          <p:nvPr/>
        </p:nvSpPr>
        <p:spPr>
          <a:xfrm>
            <a:off x="4392017" y="1802011"/>
            <a:ext cx="3407866" cy="2264668"/>
          </a:xfrm>
          <a:prstGeom prst="roundRect">
            <a:avLst>
              <a:gd name="adj" fmla="val 5327"/>
            </a:avLst>
          </a:prstGeom>
          <a:solidFill>
            <a:srgbClr val="1F0A0F"/>
          </a:solidFill>
          <a:ln w="12700">
            <a:solidFill>
              <a:srgbClr val="E4002B"/>
            </a:solidFill>
            <a:prstDash val="solid"/>
          </a:ln>
        </p:spPr>
        <p:txBody>
          <a:bodyPr/>
          <a:lstStyle/>
          <a:p>
            <a:endParaRPr lang="es-CO"/>
          </a:p>
        </p:txBody>
      </p:sp>
      <p:sp>
        <p:nvSpPr>
          <p:cNvPr id="11" name="Text 9"/>
          <p:cNvSpPr/>
          <p:nvPr/>
        </p:nvSpPr>
        <p:spPr>
          <a:xfrm>
            <a:off x="4626967" y="2036961"/>
            <a:ext cx="3026105"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E4002B"/>
                </a:solidFill>
                <a:latin typeface="Courier New" pitchFamily="34" charset="0"/>
                <a:ea typeface="Courier New" pitchFamily="34" charset="-122"/>
                <a:cs typeface="Courier New" pitchFamily="34" charset="-120"/>
              </a:rPr>
              <a:t>BUEN AJUSTE · GOOD FIT</a:t>
            </a:r>
            <a:endParaRPr lang="en-US" sz="1200" dirty="0"/>
          </a:p>
        </p:txBody>
      </p:sp>
      <p:sp>
        <p:nvSpPr>
          <p:cNvPr id="12" name="Text 10"/>
          <p:cNvSpPr/>
          <p:nvPr/>
        </p:nvSpPr>
        <p:spPr>
          <a:xfrm>
            <a:off x="4626967" y="2351881"/>
            <a:ext cx="3026105" cy="2691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F4F4F5"/>
                </a:solidFill>
                <a:latin typeface="Arial" pitchFamily="34" charset="0"/>
                <a:ea typeface="Arial" pitchFamily="34" charset="-122"/>
                <a:cs typeface="Arial" pitchFamily="34" charset="-120"/>
              </a:rPr>
              <a:t>El que entendió</a:t>
            </a:r>
            <a:endParaRPr lang="en-US" sz="1600" dirty="0"/>
          </a:p>
        </p:txBody>
      </p:sp>
      <p:sp>
        <p:nvSpPr>
          <p:cNvPr id="13" name="Text 11"/>
          <p:cNvSpPr/>
          <p:nvPr/>
        </p:nvSpPr>
        <p:spPr>
          <a:xfrm>
            <a:off x="4626967" y="2697262"/>
            <a:ext cx="3026105" cy="743347"/>
          </a:xfrm>
          <a:prstGeom prst="rect">
            <a:avLst/>
          </a:prstGeom>
          <a:noFill/>
          <a:ln/>
        </p:spPr>
        <p:txBody>
          <a:bodyPr wrap="square" lIns="0" tIns="0" rIns="0" bIns="0" rtlCol="0" anchor="t">
            <a:normAutofit/>
          </a:bodyPr>
          <a:lstStyle/>
          <a:p>
            <a:pPr marL="0" indent="0" algn="l">
              <a:lnSpc>
                <a:spcPts val="1885"/>
              </a:lnSpc>
              <a:buNone/>
            </a:pPr>
            <a:r>
              <a:rPr lang="en-US" sz="1300" dirty="0">
                <a:solidFill>
                  <a:srgbClr val="F4F4F5"/>
                </a:solidFill>
                <a:latin typeface="Arial" pitchFamily="34" charset="0"/>
                <a:ea typeface="Arial" pitchFamily="34" charset="-122"/>
                <a:cs typeface="Arial" pitchFamily="34" charset="-120"/>
              </a:rPr>
              <a:t>Aprendió la idea, así que le va bien aunque le cambien las preguntas. Esto es lo que buscamos.</a:t>
            </a:r>
            <a:endParaRPr lang="en-US" sz="1300" dirty="0"/>
          </a:p>
        </p:txBody>
      </p:sp>
      <p:sp>
        <p:nvSpPr>
          <p:cNvPr id="14" name="Shape 12"/>
          <p:cNvSpPr/>
          <p:nvPr/>
        </p:nvSpPr>
        <p:spPr>
          <a:xfrm>
            <a:off x="4626967" y="3516809"/>
            <a:ext cx="2937966" cy="314920"/>
          </a:xfrm>
          <a:prstGeom prst="roundRect">
            <a:avLst>
              <a:gd name="adj" fmla="val 24197"/>
            </a:avLst>
          </a:prstGeom>
          <a:solidFill>
            <a:srgbClr val="3A1119"/>
          </a:solidFill>
          <a:ln/>
        </p:spPr>
        <p:txBody>
          <a:bodyPr/>
          <a:lstStyle/>
          <a:p>
            <a:endParaRPr lang="es-CO"/>
          </a:p>
        </p:txBody>
      </p:sp>
      <p:sp>
        <p:nvSpPr>
          <p:cNvPr id="15" name="Text 13"/>
          <p:cNvSpPr/>
          <p:nvPr/>
        </p:nvSpPr>
        <p:spPr>
          <a:xfrm>
            <a:off x="4728567" y="3567609"/>
            <a:ext cx="2816809"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F4F4F5"/>
                </a:solidFill>
                <a:latin typeface="Arial" pitchFamily="34" charset="0"/>
                <a:ea typeface="Arial" pitchFamily="34" charset="-122"/>
                <a:cs typeface="Arial" pitchFamily="34" charset="-120"/>
              </a:rPr>
              <a:t>Práctica alta · Examen alto</a:t>
            </a:r>
            <a:endParaRPr lang="en-US" sz="1200" dirty="0"/>
          </a:p>
        </p:txBody>
      </p:sp>
      <p:sp>
        <p:nvSpPr>
          <p:cNvPr id="16" name="Shape 14"/>
          <p:cNvSpPr/>
          <p:nvPr/>
        </p:nvSpPr>
        <p:spPr>
          <a:xfrm>
            <a:off x="7964984" y="1802011"/>
            <a:ext cx="3407866" cy="2264668"/>
          </a:xfrm>
          <a:prstGeom prst="roundRect">
            <a:avLst>
              <a:gd name="adj" fmla="val 5327"/>
            </a:avLst>
          </a:prstGeom>
          <a:solidFill>
            <a:srgbClr val="1A1A1F"/>
          </a:solidFill>
          <a:ln w="12700">
            <a:solidFill>
              <a:srgbClr val="2C2C33"/>
            </a:solidFill>
            <a:prstDash val="solid"/>
          </a:ln>
        </p:spPr>
        <p:txBody>
          <a:bodyPr/>
          <a:lstStyle/>
          <a:p>
            <a:endParaRPr lang="es-CO"/>
          </a:p>
        </p:txBody>
      </p:sp>
      <p:sp>
        <p:nvSpPr>
          <p:cNvPr id="17" name="Text 15"/>
          <p:cNvSpPr/>
          <p:nvPr/>
        </p:nvSpPr>
        <p:spPr>
          <a:xfrm>
            <a:off x="8199934" y="2036961"/>
            <a:ext cx="3026105"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A1A1AA"/>
                </a:solidFill>
                <a:latin typeface="Courier New" pitchFamily="34" charset="0"/>
                <a:ea typeface="Courier New" pitchFamily="34" charset="-122"/>
                <a:cs typeface="Courier New" pitchFamily="34" charset="-120"/>
              </a:rPr>
              <a:t>OVERFITTING · SOBREAJUSTE</a:t>
            </a:r>
            <a:endParaRPr lang="en-US" sz="1200" dirty="0"/>
          </a:p>
        </p:txBody>
      </p:sp>
      <p:sp>
        <p:nvSpPr>
          <p:cNvPr id="18" name="Text 16"/>
          <p:cNvSpPr/>
          <p:nvPr/>
        </p:nvSpPr>
        <p:spPr>
          <a:xfrm>
            <a:off x="8199934" y="2351881"/>
            <a:ext cx="3026105" cy="2691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F4F4F5"/>
                </a:solidFill>
                <a:latin typeface="Arial" pitchFamily="34" charset="0"/>
                <a:ea typeface="Arial" pitchFamily="34" charset="-122"/>
                <a:cs typeface="Arial" pitchFamily="34" charset="-120"/>
              </a:rPr>
              <a:t>El que memorizó</a:t>
            </a:r>
            <a:endParaRPr lang="en-US" sz="1600" dirty="0"/>
          </a:p>
        </p:txBody>
      </p:sp>
      <p:sp>
        <p:nvSpPr>
          <p:cNvPr id="19" name="Text 17"/>
          <p:cNvSpPr/>
          <p:nvPr/>
        </p:nvSpPr>
        <p:spPr>
          <a:xfrm>
            <a:off x="8199934" y="2697262"/>
            <a:ext cx="3026105" cy="743347"/>
          </a:xfrm>
          <a:prstGeom prst="rect">
            <a:avLst/>
          </a:prstGeom>
          <a:noFill/>
          <a:ln/>
        </p:spPr>
        <p:txBody>
          <a:bodyPr wrap="square" lIns="0" tIns="0" rIns="0" bIns="0" rtlCol="0" anchor="t">
            <a:normAutofit/>
          </a:bodyPr>
          <a:lstStyle/>
          <a:p>
            <a:pPr marL="0" indent="0" algn="l">
              <a:lnSpc>
                <a:spcPts val="1885"/>
              </a:lnSpc>
              <a:buNone/>
            </a:pPr>
            <a:r>
              <a:rPr lang="en-US" sz="1300" dirty="0">
                <a:solidFill>
                  <a:srgbClr val="A1A1AA"/>
                </a:solidFill>
                <a:latin typeface="Arial" pitchFamily="34" charset="0"/>
                <a:ea typeface="Arial" pitchFamily="34" charset="-122"/>
                <a:cs typeface="Arial" pitchFamily="34" charset="-120"/>
              </a:rPr>
              <a:t>Se sabe de memoria las respuestas de la práctica, pero se bloquea con preguntas nuevas.</a:t>
            </a:r>
            <a:endParaRPr lang="en-US" sz="1300" dirty="0"/>
          </a:p>
        </p:txBody>
      </p:sp>
      <p:sp>
        <p:nvSpPr>
          <p:cNvPr id="20" name="Shape 18"/>
          <p:cNvSpPr/>
          <p:nvPr/>
        </p:nvSpPr>
        <p:spPr>
          <a:xfrm>
            <a:off x="8199934" y="3516809"/>
            <a:ext cx="2937966" cy="314920"/>
          </a:xfrm>
          <a:prstGeom prst="roundRect">
            <a:avLst>
              <a:gd name="adj" fmla="val 24197"/>
            </a:avLst>
          </a:prstGeom>
          <a:solidFill>
            <a:srgbClr val="26262C"/>
          </a:solidFill>
          <a:ln/>
        </p:spPr>
        <p:txBody>
          <a:bodyPr/>
          <a:lstStyle/>
          <a:p>
            <a:endParaRPr lang="es-CO"/>
          </a:p>
        </p:txBody>
      </p:sp>
      <p:sp>
        <p:nvSpPr>
          <p:cNvPr id="21" name="Text 19"/>
          <p:cNvSpPr/>
          <p:nvPr/>
        </p:nvSpPr>
        <p:spPr>
          <a:xfrm>
            <a:off x="8301534" y="3567609"/>
            <a:ext cx="2816809"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E4E4E7"/>
                </a:solidFill>
                <a:latin typeface="Arial" pitchFamily="34" charset="0"/>
                <a:ea typeface="Arial" pitchFamily="34" charset="-122"/>
                <a:cs typeface="Arial" pitchFamily="34" charset="-120"/>
              </a:rPr>
              <a:t>Práctica perfecta · Examen bajo</a:t>
            </a:r>
            <a:endParaRPr lang="en-US" sz="1200" dirty="0"/>
          </a:p>
        </p:txBody>
      </p:sp>
      <p:sp>
        <p:nvSpPr>
          <p:cNvPr id="22" name="Shape 20"/>
          <p:cNvSpPr/>
          <p:nvPr/>
        </p:nvSpPr>
        <p:spPr>
          <a:xfrm>
            <a:off x="819150" y="4282579"/>
            <a:ext cx="10553700" cy="871736"/>
          </a:xfrm>
          <a:prstGeom prst="roundRect">
            <a:avLst>
              <a:gd name="adj" fmla="val 13840"/>
            </a:avLst>
          </a:prstGeom>
          <a:solidFill>
            <a:srgbClr val="1F0A0F"/>
          </a:solidFill>
          <a:ln w="12700">
            <a:solidFill>
              <a:srgbClr val="E4002B"/>
            </a:solidFill>
            <a:prstDash val="solid"/>
          </a:ln>
        </p:spPr>
        <p:txBody>
          <a:bodyPr/>
          <a:lstStyle/>
          <a:p>
            <a:endParaRPr lang="es-CO"/>
          </a:p>
        </p:txBody>
      </p:sp>
      <p:sp>
        <p:nvSpPr>
          <p:cNvPr id="23" name="Text 21"/>
          <p:cNvSpPr/>
          <p:nvPr/>
        </p:nvSpPr>
        <p:spPr>
          <a:xfrm>
            <a:off x="1079500" y="4466729"/>
            <a:ext cx="10333990"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E4002B"/>
                </a:solidFill>
                <a:latin typeface="Courier New" pitchFamily="34" charset="0"/>
                <a:ea typeface="Courier New" pitchFamily="34" charset="-122"/>
                <a:cs typeface="Courier New" pitchFamily="34" charset="-120"/>
              </a:rPr>
              <a:t>EN PALABRAS SIMPLES</a:t>
            </a:r>
            <a:endParaRPr lang="en-US" sz="1200" dirty="0"/>
          </a:p>
        </p:txBody>
      </p:sp>
      <p:sp>
        <p:nvSpPr>
          <p:cNvPr id="24" name="Text 22"/>
          <p:cNvSpPr/>
          <p:nvPr/>
        </p:nvSpPr>
        <p:spPr>
          <a:xfrm>
            <a:off x="1079500" y="4730849"/>
            <a:ext cx="10333990" cy="264716"/>
          </a:xfrm>
          <a:prstGeom prst="rect">
            <a:avLst/>
          </a:prstGeom>
          <a:noFill/>
          <a:ln/>
        </p:spPr>
        <p:txBody>
          <a:bodyPr wrap="square" lIns="0" tIns="0" rIns="0" bIns="0" rtlCol="0" anchor="t">
            <a:normAutofit/>
          </a:bodyPr>
          <a:lstStyle/>
          <a:p>
            <a:pPr marL="0" indent="0" algn="l">
              <a:lnSpc>
                <a:spcPts val="1885"/>
              </a:lnSpc>
              <a:buNone/>
            </a:pPr>
            <a:r>
              <a:rPr lang="en-US" sz="1300" dirty="0">
                <a:solidFill>
                  <a:srgbClr val="F4F4F5"/>
                </a:solidFill>
                <a:latin typeface="Arial" pitchFamily="34" charset="0"/>
                <a:ea typeface="Arial" pitchFamily="34" charset="-122"/>
                <a:cs typeface="Arial" pitchFamily="34" charset="-120"/>
              </a:rPr>
              <a:t>Overfitting (sobreajuste) es memorizar. Underfitting (subajuste) es no aprender lo suficiente. Buscamos el punto medio: entender.</a:t>
            </a:r>
            <a:endParaRPr lang="en-US" sz="1300" dirty="0"/>
          </a:p>
        </p:txBody>
      </p:sp>
      <p:sp>
        <p:nvSpPr>
          <p:cNvPr id="25" name="Text 23"/>
          <p:cNvSpPr/>
          <p:nvPr/>
        </p:nvSpPr>
        <p:spPr>
          <a:xfrm>
            <a:off x="812800" y="6238280"/>
            <a:ext cx="7848600" cy="238720"/>
          </a:xfrm>
          <a:prstGeom prst="rect">
            <a:avLst/>
          </a:prstGeom>
          <a:noFill/>
          <a:ln/>
        </p:spPr>
        <p:txBody>
          <a:bodyPr wrap="square" lIns="0" tIns="0" rIns="0" bIns="0" rtlCol="0" anchor="t">
            <a:normAutofit/>
          </a:bodyPr>
          <a:lstStyle/>
          <a:p>
            <a:pPr marL="0" indent="0" algn="l">
              <a:lnSpc>
                <a:spcPts val="1680"/>
              </a:lnSpc>
              <a:buNone/>
            </a:pPr>
            <a:r>
              <a:rPr lang="en-US" sz="1200" kern="0" spc="100" dirty="0">
                <a:solidFill>
                  <a:srgbClr val="71717A"/>
                </a:solidFill>
                <a:latin typeface="Courier New" pitchFamily="34" charset="0"/>
                <a:ea typeface="Courier New" pitchFamily="34" charset="-122"/>
                <a:cs typeface="Courier New" pitchFamily="34" charset="-120"/>
              </a:rPr>
              <a:t>UNIDAD 4 · VALIDACIÓN DE MODELOS</a:t>
            </a:r>
            <a:endParaRPr lang="en-US" sz="1200" dirty="0"/>
          </a:p>
        </p:txBody>
      </p:sp>
      <p:sp>
        <p:nvSpPr>
          <p:cNvPr id="26" name="Text 24"/>
          <p:cNvSpPr/>
          <p:nvPr/>
        </p:nvSpPr>
        <p:spPr>
          <a:xfrm>
            <a:off x="10058400" y="6238280"/>
            <a:ext cx="1320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71717A"/>
                </a:solidFill>
                <a:latin typeface="Courier New" pitchFamily="34" charset="0"/>
                <a:ea typeface="Courier New" pitchFamily="34" charset="-122"/>
                <a:cs typeface="Courier New" pitchFamily="34" charset="-120"/>
              </a:rPr>
              <a:t>18</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B0B0D"/>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marL="0" indent="0" algn="l">
              <a:lnSpc>
                <a:spcPts val="1820"/>
              </a:lnSpc>
              <a:buNone/>
            </a:pPr>
            <a:r>
              <a:rPr lang="en-US" sz="1300" b="1" kern="0" spc="200" dirty="0">
                <a:solidFill>
                  <a:srgbClr val="E4002B"/>
                </a:solidFill>
                <a:latin typeface="Courier New" pitchFamily="34" charset="0"/>
                <a:ea typeface="Courier New" pitchFamily="34" charset="-122"/>
                <a:cs typeface="Courier New" pitchFamily="34" charset="-120"/>
              </a:rPr>
              <a:t>EJEMPLO EN COLAB</a:t>
            </a:r>
            <a:endParaRPr lang="en-US" sz="1300" dirty="0"/>
          </a:p>
        </p:txBody>
      </p:sp>
      <p:sp>
        <p:nvSpPr>
          <p:cNvPr id="3" name="Text 1"/>
          <p:cNvSpPr/>
          <p:nvPr/>
        </p:nvSpPr>
        <p:spPr>
          <a:xfrm>
            <a:off x="812800" y="1145480"/>
            <a:ext cx="10883392" cy="472380"/>
          </a:xfrm>
          <a:prstGeom prst="rect">
            <a:avLst/>
          </a:prstGeom>
          <a:noFill/>
          <a:ln/>
        </p:spPr>
        <p:txBody>
          <a:bodyPr wrap="square" lIns="0" tIns="0" rIns="0" bIns="0" rtlCol="0" anchor="t">
            <a:normAutofit/>
          </a:bodyPr>
          <a:lstStyle/>
          <a:p>
            <a:pPr marL="0" indent="0" algn="l">
              <a:lnSpc>
                <a:spcPts val="3520"/>
              </a:lnSpc>
              <a:buNone/>
            </a:pPr>
            <a:r>
              <a:rPr lang="en-US" sz="3200" b="1" kern="0" spc="-50" dirty="0">
                <a:solidFill>
                  <a:srgbClr val="F4F4F5"/>
                </a:solidFill>
                <a:latin typeface="Arial" pitchFamily="34" charset="0"/>
                <a:ea typeface="Arial" pitchFamily="34" charset="-122"/>
                <a:cs typeface="Arial" pitchFamily="34" charset="-120"/>
              </a:rPr>
              <a:t>Tres modelos para los mismos 20 puntos</a:t>
            </a:r>
            <a:endParaRPr lang="en-US" sz="3200" dirty="0"/>
          </a:p>
        </p:txBody>
      </p:sp>
      <p:pic>
        <p:nvPicPr>
          <p:cNvPr id="4" name="Image 0" descr="Grado 1: una línea recta que no sigue la forma de los puntos"/>
          <p:cNvPicPr>
            <a:picLocks noChangeAspect="1"/>
          </p:cNvPicPr>
          <p:nvPr/>
        </p:nvPicPr>
        <p:blipFill>
          <a:blip r:embed="rId3"/>
          <a:srcRect/>
          <a:stretch/>
        </p:blipFill>
        <p:spPr>
          <a:xfrm>
            <a:off x="812800" y="1795661"/>
            <a:ext cx="3175000" cy="1651000"/>
          </a:xfrm>
          <a:prstGeom prst="rect">
            <a:avLst/>
          </a:prstGeom>
        </p:spPr>
      </p:pic>
      <p:sp>
        <p:nvSpPr>
          <p:cNvPr id="5" name="Text 2"/>
          <p:cNvSpPr/>
          <p:nvPr/>
        </p:nvSpPr>
        <p:spPr>
          <a:xfrm>
            <a:off x="812800" y="3522861"/>
            <a:ext cx="3488233"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F4F4F5"/>
                </a:solidFill>
                <a:latin typeface="Arial" pitchFamily="34" charset="0"/>
                <a:ea typeface="Arial" pitchFamily="34" charset="-122"/>
                <a:cs typeface="Arial" pitchFamily="34" charset="-120"/>
              </a:rPr>
              <a:t>Grado 1 · Subajuste</a:t>
            </a:r>
            <a:endParaRPr lang="en-US" sz="1500" dirty="0"/>
          </a:p>
        </p:txBody>
      </p:sp>
      <p:sp>
        <p:nvSpPr>
          <p:cNvPr id="6" name="Text 3"/>
          <p:cNvSpPr/>
          <p:nvPr/>
        </p:nvSpPr>
        <p:spPr>
          <a:xfrm>
            <a:off x="812800" y="3827661"/>
            <a:ext cx="3488233" cy="482600"/>
          </a:xfrm>
          <a:prstGeom prst="rect">
            <a:avLst/>
          </a:prstGeom>
          <a:noFill/>
          <a:ln/>
        </p:spPr>
        <p:txBody>
          <a:bodyPr wrap="square" lIns="0" tIns="0" rIns="0" bIns="0" rtlCol="0" anchor="t">
            <a:normAutofit/>
          </a:bodyPr>
          <a:lstStyle/>
          <a:p>
            <a:pPr marL="0" indent="0" algn="l">
              <a:lnSpc>
                <a:spcPts val="1800"/>
              </a:lnSpc>
              <a:buNone/>
            </a:pPr>
            <a:r>
              <a:rPr lang="en-US" sz="1200" dirty="0">
                <a:solidFill>
                  <a:srgbClr val="A1A1AA"/>
                </a:solidFill>
                <a:latin typeface="Courier New" pitchFamily="34" charset="0"/>
                <a:ea typeface="Courier New" pitchFamily="34" charset="-122"/>
                <a:cs typeface="Courier New" pitchFamily="34" charset="-120"/>
              </a:rPr>
              <a:t>Error práctica: 0,207</a:t>
            </a:r>
            <a:endParaRPr lang="en-US" sz="1200" dirty="0"/>
          </a:p>
          <a:p>
            <a:pPr marL="0" indent="0" algn="l">
              <a:lnSpc>
                <a:spcPts val="1800"/>
              </a:lnSpc>
              <a:buNone/>
            </a:pPr>
            <a:r>
              <a:rPr lang="en-US" sz="1200" dirty="0">
                <a:solidFill>
                  <a:srgbClr val="A1A1AA"/>
                </a:solidFill>
                <a:latin typeface="Courier New" pitchFamily="34" charset="0"/>
                <a:ea typeface="Courier New" pitchFamily="34" charset="-122"/>
                <a:cs typeface="Courier New" pitchFamily="34" charset="-120"/>
              </a:rPr>
              <a:t>Error examen: 0,281</a:t>
            </a:r>
            <a:endParaRPr lang="en-US" sz="1200" dirty="0"/>
          </a:p>
        </p:txBody>
      </p:sp>
      <p:pic>
        <p:nvPicPr>
          <p:cNvPr id="7" name="Image 1" descr="Grado 4: una curva suave que sigue bien la forma de los puntos"/>
          <p:cNvPicPr>
            <a:picLocks noChangeAspect="1"/>
          </p:cNvPicPr>
          <p:nvPr/>
        </p:nvPicPr>
        <p:blipFill>
          <a:blip r:embed="rId4"/>
          <a:srcRect/>
          <a:stretch/>
        </p:blipFill>
        <p:spPr>
          <a:xfrm>
            <a:off x="4402634" y="1795661"/>
            <a:ext cx="3175000" cy="1651000"/>
          </a:xfrm>
          <a:prstGeom prst="rect">
            <a:avLst/>
          </a:prstGeom>
        </p:spPr>
      </p:pic>
      <p:sp>
        <p:nvSpPr>
          <p:cNvPr id="8" name="Text 4"/>
          <p:cNvSpPr/>
          <p:nvPr/>
        </p:nvSpPr>
        <p:spPr>
          <a:xfrm>
            <a:off x="4402634" y="3522861"/>
            <a:ext cx="3488335"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F4F4F5"/>
                </a:solidFill>
                <a:latin typeface="Arial" pitchFamily="34" charset="0"/>
                <a:ea typeface="Arial" pitchFamily="34" charset="-122"/>
                <a:cs typeface="Arial" pitchFamily="34" charset="-120"/>
              </a:rPr>
              <a:t>Grado 4 · Buen ajuste</a:t>
            </a:r>
            <a:endParaRPr lang="en-US" sz="1500" dirty="0"/>
          </a:p>
        </p:txBody>
      </p:sp>
      <p:sp>
        <p:nvSpPr>
          <p:cNvPr id="9" name="Text 5"/>
          <p:cNvSpPr/>
          <p:nvPr/>
        </p:nvSpPr>
        <p:spPr>
          <a:xfrm>
            <a:off x="4402634" y="3827661"/>
            <a:ext cx="3488335" cy="482600"/>
          </a:xfrm>
          <a:prstGeom prst="rect">
            <a:avLst/>
          </a:prstGeom>
          <a:noFill/>
          <a:ln/>
        </p:spPr>
        <p:txBody>
          <a:bodyPr wrap="square" lIns="0" tIns="0" rIns="0" bIns="0" rtlCol="0" anchor="t">
            <a:normAutofit/>
          </a:bodyPr>
          <a:lstStyle/>
          <a:p>
            <a:pPr marL="0" indent="0" algn="l">
              <a:lnSpc>
                <a:spcPts val="1800"/>
              </a:lnSpc>
              <a:buNone/>
            </a:pPr>
            <a:r>
              <a:rPr lang="en-US" sz="1200" dirty="0">
                <a:solidFill>
                  <a:srgbClr val="A1A1AA"/>
                </a:solidFill>
                <a:latin typeface="Courier New" pitchFamily="34" charset="0"/>
                <a:ea typeface="Courier New" pitchFamily="34" charset="-122"/>
                <a:cs typeface="Courier New" pitchFamily="34" charset="-120"/>
              </a:rPr>
              <a:t>Error práctica: 0,011</a:t>
            </a:r>
            <a:endParaRPr lang="en-US" sz="1200" dirty="0"/>
          </a:p>
          <a:p>
            <a:pPr marL="0" indent="0" algn="l">
              <a:lnSpc>
                <a:spcPts val="1800"/>
              </a:lnSpc>
              <a:buNone/>
            </a:pPr>
            <a:r>
              <a:rPr lang="en-US" sz="1200" dirty="0">
                <a:solidFill>
                  <a:srgbClr val="A1A1AA"/>
                </a:solidFill>
                <a:latin typeface="Courier New" pitchFamily="34" charset="0"/>
                <a:ea typeface="Courier New" pitchFamily="34" charset="-122"/>
                <a:cs typeface="Courier New" pitchFamily="34" charset="-120"/>
              </a:rPr>
              <a:t>Error examen: </a:t>
            </a:r>
            <a:r>
              <a:rPr lang="en-US" sz="1200" dirty="0">
                <a:solidFill>
                  <a:srgbClr val="F4F4F5"/>
                </a:solidFill>
                <a:latin typeface="Courier New" pitchFamily="34" charset="0"/>
                <a:ea typeface="Courier New" pitchFamily="34" charset="-122"/>
                <a:cs typeface="Courier New" pitchFamily="34" charset="-120"/>
              </a:rPr>
              <a:t>0,042 (el mejor)</a:t>
            </a:r>
            <a:endParaRPr lang="en-US" sz="1200" dirty="0"/>
          </a:p>
        </p:txBody>
      </p:sp>
      <p:pic>
        <p:nvPicPr>
          <p:cNvPr id="10" name="Image 2" descr="Grado 15: una curva en zigzag que pasa por casi todos los puntos"/>
          <p:cNvPicPr>
            <a:picLocks noChangeAspect="1"/>
          </p:cNvPicPr>
          <p:nvPr/>
        </p:nvPicPr>
        <p:blipFill>
          <a:blip r:embed="rId5"/>
          <a:srcRect/>
          <a:stretch/>
        </p:blipFill>
        <p:spPr>
          <a:xfrm>
            <a:off x="7992566" y="1795661"/>
            <a:ext cx="3175000" cy="1651000"/>
          </a:xfrm>
          <a:prstGeom prst="rect">
            <a:avLst/>
          </a:prstGeom>
        </p:spPr>
      </p:pic>
      <p:sp>
        <p:nvSpPr>
          <p:cNvPr id="11" name="Text 6"/>
          <p:cNvSpPr/>
          <p:nvPr/>
        </p:nvSpPr>
        <p:spPr>
          <a:xfrm>
            <a:off x="7992566" y="3522861"/>
            <a:ext cx="3488233"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F4F4F5"/>
                </a:solidFill>
                <a:latin typeface="Arial" pitchFamily="34" charset="0"/>
                <a:ea typeface="Arial" pitchFamily="34" charset="-122"/>
                <a:cs typeface="Arial" pitchFamily="34" charset="-120"/>
              </a:rPr>
              <a:t>Grado 15 · Sobreajuste</a:t>
            </a:r>
            <a:endParaRPr lang="en-US" sz="1500" dirty="0"/>
          </a:p>
        </p:txBody>
      </p:sp>
      <p:sp>
        <p:nvSpPr>
          <p:cNvPr id="12" name="Text 7"/>
          <p:cNvSpPr/>
          <p:nvPr/>
        </p:nvSpPr>
        <p:spPr>
          <a:xfrm>
            <a:off x="7992566" y="3827661"/>
            <a:ext cx="3488233" cy="482600"/>
          </a:xfrm>
          <a:prstGeom prst="rect">
            <a:avLst/>
          </a:prstGeom>
          <a:noFill/>
          <a:ln/>
        </p:spPr>
        <p:txBody>
          <a:bodyPr wrap="square" lIns="0" tIns="0" rIns="0" bIns="0" rtlCol="0" anchor="t">
            <a:normAutofit/>
          </a:bodyPr>
          <a:lstStyle/>
          <a:p>
            <a:pPr marL="0" indent="0" algn="l">
              <a:lnSpc>
                <a:spcPts val="1800"/>
              </a:lnSpc>
              <a:buNone/>
            </a:pPr>
            <a:r>
              <a:rPr lang="en-US" sz="1200" dirty="0">
                <a:solidFill>
                  <a:srgbClr val="A1A1AA"/>
                </a:solidFill>
                <a:latin typeface="Courier New" pitchFamily="34" charset="0"/>
                <a:ea typeface="Courier New" pitchFamily="34" charset="-122"/>
                <a:cs typeface="Courier New" pitchFamily="34" charset="-120"/>
              </a:rPr>
              <a:t>Error práctica: 0,001</a:t>
            </a:r>
            <a:endParaRPr lang="en-US" sz="1200" dirty="0"/>
          </a:p>
          <a:p>
            <a:pPr marL="0" indent="0" algn="l">
              <a:lnSpc>
                <a:spcPts val="1800"/>
              </a:lnSpc>
              <a:buNone/>
            </a:pPr>
            <a:r>
              <a:rPr lang="en-US" sz="1200" dirty="0">
                <a:solidFill>
                  <a:srgbClr val="A1A1AA"/>
                </a:solidFill>
                <a:latin typeface="Courier New" pitchFamily="34" charset="0"/>
                <a:ea typeface="Courier New" pitchFamily="34" charset="-122"/>
                <a:cs typeface="Courier New" pitchFamily="34" charset="-120"/>
              </a:rPr>
              <a:t>Error examen: </a:t>
            </a:r>
            <a:r>
              <a:rPr lang="en-US" sz="1200" dirty="0">
                <a:solidFill>
                  <a:srgbClr val="FF5C77"/>
                </a:solidFill>
                <a:latin typeface="Courier New" pitchFamily="34" charset="0"/>
                <a:ea typeface="Courier New" pitchFamily="34" charset="-122"/>
                <a:cs typeface="Courier New" pitchFamily="34" charset="-120"/>
              </a:rPr>
              <a:t>52,45</a:t>
            </a:r>
            <a:endParaRPr lang="en-US" sz="1200" dirty="0"/>
          </a:p>
        </p:txBody>
      </p:sp>
      <p:sp>
        <p:nvSpPr>
          <p:cNvPr id="13" name="Shape 8"/>
          <p:cNvSpPr/>
          <p:nvPr/>
        </p:nvSpPr>
        <p:spPr>
          <a:xfrm>
            <a:off x="819150" y="4494411"/>
            <a:ext cx="10553700" cy="1111052"/>
          </a:xfrm>
          <a:prstGeom prst="roundRect">
            <a:avLst>
              <a:gd name="adj" fmla="val 10859"/>
            </a:avLst>
          </a:prstGeom>
          <a:solidFill>
            <a:srgbClr val="1F0A0F"/>
          </a:solidFill>
          <a:ln w="12700">
            <a:solidFill>
              <a:srgbClr val="E4002B"/>
            </a:solidFill>
            <a:prstDash val="solid"/>
          </a:ln>
        </p:spPr>
        <p:txBody>
          <a:bodyPr/>
          <a:lstStyle/>
          <a:p>
            <a:endParaRPr lang="es-CO"/>
          </a:p>
        </p:txBody>
      </p:sp>
      <p:sp>
        <p:nvSpPr>
          <p:cNvPr id="14" name="Text 9"/>
          <p:cNvSpPr/>
          <p:nvPr/>
        </p:nvSpPr>
        <p:spPr>
          <a:xfrm>
            <a:off x="1079500" y="4678561"/>
            <a:ext cx="10333990"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E4002B"/>
                </a:solidFill>
                <a:latin typeface="Courier New" pitchFamily="34" charset="0"/>
                <a:ea typeface="Courier New" pitchFamily="34" charset="-122"/>
                <a:cs typeface="Courier New" pitchFamily="34" charset="-120"/>
              </a:rPr>
              <a:t>EN PALABRAS SIMPLES</a:t>
            </a:r>
            <a:endParaRPr lang="en-US" sz="1200" dirty="0"/>
          </a:p>
        </p:txBody>
      </p:sp>
      <p:sp>
        <p:nvSpPr>
          <p:cNvPr id="15" name="Text 10"/>
          <p:cNvSpPr/>
          <p:nvPr/>
        </p:nvSpPr>
        <p:spPr>
          <a:xfrm>
            <a:off x="1079500" y="4942681"/>
            <a:ext cx="10333990" cy="504031"/>
          </a:xfrm>
          <a:prstGeom prst="rect">
            <a:avLst/>
          </a:prstGeom>
          <a:noFill/>
          <a:ln/>
        </p:spPr>
        <p:txBody>
          <a:bodyPr wrap="square" lIns="0" tIns="0" rIns="0" bIns="0" rtlCol="0" anchor="t">
            <a:normAutofit/>
          </a:bodyPr>
          <a:lstStyle/>
          <a:p>
            <a:pPr marL="0" indent="0" algn="l">
              <a:lnSpc>
                <a:spcPts val="1885"/>
              </a:lnSpc>
              <a:buNone/>
            </a:pPr>
            <a:r>
              <a:rPr lang="en-US" sz="1300" dirty="0">
                <a:solidFill>
                  <a:srgbClr val="F4F4F5"/>
                </a:solidFill>
                <a:latin typeface="Arial" pitchFamily="34" charset="0"/>
                <a:ea typeface="Arial" pitchFamily="34" charset="-122"/>
                <a:cs typeface="Arial" pitchFamily="34" charset="-120"/>
              </a:rPr>
              <a:t>El «grado» es qué tan complicada es la curva. El de grado 15 casi no falla en la práctica, pero en el examen su error se dispara: memorizó.</a:t>
            </a:r>
            <a:endParaRPr lang="en-US" sz="1300" dirty="0"/>
          </a:p>
        </p:txBody>
      </p:sp>
      <p:sp>
        <p:nvSpPr>
          <p:cNvPr id="16" name="Text 11"/>
          <p:cNvSpPr/>
          <p:nvPr/>
        </p:nvSpPr>
        <p:spPr>
          <a:xfrm>
            <a:off x="812800" y="6238280"/>
            <a:ext cx="7848600" cy="238720"/>
          </a:xfrm>
          <a:prstGeom prst="rect">
            <a:avLst/>
          </a:prstGeom>
          <a:noFill/>
          <a:ln/>
        </p:spPr>
        <p:txBody>
          <a:bodyPr wrap="square" lIns="0" tIns="0" rIns="0" bIns="0" rtlCol="0" anchor="t">
            <a:normAutofit/>
          </a:bodyPr>
          <a:lstStyle/>
          <a:p>
            <a:pPr marL="0" indent="0" algn="l">
              <a:lnSpc>
                <a:spcPts val="1680"/>
              </a:lnSpc>
              <a:buNone/>
            </a:pPr>
            <a:r>
              <a:rPr lang="en-US" sz="1200" kern="0" spc="100" dirty="0">
                <a:solidFill>
                  <a:srgbClr val="71717A"/>
                </a:solidFill>
                <a:latin typeface="Courier New" pitchFamily="34" charset="0"/>
                <a:ea typeface="Courier New" pitchFamily="34" charset="-122"/>
                <a:cs typeface="Courier New" pitchFamily="34" charset="-120"/>
              </a:rPr>
              <a:t>UNIDAD 4 · VALIDACIÓN DE MODELOS</a:t>
            </a:r>
            <a:endParaRPr lang="en-US" sz="1200" dirty="0"/>
          </a:p>
        </p:txBody>
      </p:sp>
      <p:sp>
        <p:nvSpPr>
          <p:cNvPr id="17" name="Text 12"/>
          <p:cNvSpPr/>
          <p:nvPr/>
        </p:nvSpPr>
        <p:spPr>
          <a:xfrm>
            <a:off x="10058400" y="6238280"/>
            <a:ext cx="1320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71717A"/>
                </a:solidFill>
                <a:latin typeface="Courier New" pitchFamily="34" charset="0"/>
                <a:ea typeface="Courier New" pitchFamily="34" charset="-122"/>
                <a:cs typeface="Courier New" pitchFamily="34" charset="-120"/>
              </a:rPr>
              <a:t>19</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B0B0D"/>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marL="0" indent="0" algn="l">
              <a:lnSpc>
                <a:spcPts val="1820"/>
              </a:lnSpc>
              <a:buNone/>
            </a:pPr>
            <a:r>
              <a:rPr lang="en-US" sz="1300" b="1" kern="0" spc="200" dirty="0">
                <a:solidFill>
                  <a:srgbClr val="E4002B"/>
                </a:solidFill>
                <a:latin typeface="Courier New" pitchFamily="34" charset="0"/>
                <a:ea typeface="Courier New" pitchFamily="34" charset="-122"/>
                <a:cs typeface="Courier New" pitchFamily="34" charset="-120"/>
              </a:rPr>
              <a:t>EJEMPLO EN COLAB</a:t>
            </a:r>
            <a:endParaRPr lang="en-US" sz="1300" dirty="0"/>
          </a:p>
        </p:txBody>
      </p:sp>
      <p:sp>
        <p:nvSpPr>
          <p:cNvPr id="3" name="Text 1"/>
          <p:cNvSpPr/>
          <p:nvPr/>
        </p:nvSpPr>
        <p:spPr>
          <a:xfrm>
            <a:off x="812800" y="1145480"/>
            <a:ext cx="10883392" cy="472380"/>
          </a:xfrm>
          <a:prstGeom prst="rect">
            <a:avLst/>
          </a:prstGeom>
          <a:noFill/>
          <a:ln/>
        </p:spPr>
        <p:txBody>
          <a:bodyPr wrap="square" lIns="0" tIns="0" rIns="0" bIns="0" rtlCol="0" anchor="t">
            <a:normAutofit/>
          </a:bodyPr>
          <a:lstStyle/>
          <a:p>
            <a:pPr marL="0" indent="0" algn="l">
              <a:lnSpc>
                <a:spcPts val="3520"/>
              </a:lnSpc>
              <a:buNone/>
            </a:pPr>
            <a:r>
              <a:rPr lang="en-US" sz="3200" b="1" kern="0" spc="-50" dirty="0">
                <a:solidFill>
                  <a:srgbClr val="F4F4F5"/>
                </a:solidFill>
                <a:latin typeface="Arial" pitchFamily="34" charset="0"/>
                <a:ea typeface="Arial" pitchFamily="34" charset="-122"/>
                <a:cs typeface="Arial" pitchFamily="34" charset="-120"/>
              </a:rPr>
              <a:t>Un árbol que crece demasiado</a:t>
            </a:r>
            <a:endParaRPr lang="en-US" sz="3200" dirty="0"/>
          </a:p>
        </p:txBody>
      </p:sp>
      <p:pic>
        <p:nvPicPr>
          <p:cNvPr id="4" name="Image 0" descr="Gráfico de líneas: la accuracy de práctica sube hasta 1,00 al aumentar la profundidad, mientras la de examen llega a su máximo en profundidad 3 y luego baja"/>
          <p:cNvPicPr>
            <a:picLocks noChangeAspect="1"/>
          </p:cNvPicPr>
          <p:nvPr/>
        </p:nvPicPr>
        <p:blipFill>
          <a:blip r:embed="rId3"/>
          <a:srcRect/>
          <a:stretch/>
        </p:blipFill>
        <p:spPr>
          <a:xfrm>
            <a:off x="812800" y="1795661"/>
            <a:ext cx="4826000" cy="2540000"/>
          </a:xfrm>
          <a:prstGeom prst="rect">
            <a:avLst/>
          </a:prstGeom>
        </p:spPr>
      </p:pic>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5956300" y="1808361"/>
          <a:ext cx="5422900" cy="1796355"/>
        </p:xfrm>
        <a:graphic>
          <a:graphicData uri="http://schemas.openxmlformats.org/drawingml/2006/table">
            <a:tbl>
              <a:tblPr/>
              <a:tblGrid>
                <a:gridCol w="2169160">
                  <a:extLst>
                    <a:ext uri="{9D8B030D-6E8A-4147-A177-3AD203B41FA5}">
                      <a16:colId xmlns:a16="http://schemas.microsoft.com/office/drawing/2014/main" val="20000"/>
                    </a:ext>
                  </a:extLst>
                </a:gridCol>
                <a:gridCol w="1626870">
                  <a:extLst>
                    <a:ext uri="{9D8B030D-6E8A-4147-A177-3AD203B41FA5}">
                      <a16:colId xmlns:a16="http://schemas.microsoft.com/office/drawing/2014/main" val="20001"/>
                    </a:ext>
                  </a:extLst>
                </a:gridCol>
                <a:gridCol w="1626870">
                  <a:extLst>
                    <a:ext uri="{9D8B030D-6E8A-4147-A177-3AD203B41FA5}">
                      <a16:colId xmlns:a16="http://schemas.microsoft.com/office/drawing/2014/main" val="20002"/>
                    </a:ext>
                  </a:extLst>
                </a:gridCol>
              </a:tblGrid>
              <a:tr h="359271">
                <a:tc>
                  <a:txBody>
                    <a:bodyPr/>
                    <a:lstStyle/>
                    <a:p>
                      <a:pPr marL="0" indent="0">
                        <a:lnSpc>
                          <a:spcPts val="1820"/>
                        </a:lnSpc>
                        <a:buNone/>
                      </a:pPr>
                      <a:r>
                        <a:rPr lang="en-US" sz="1300" b="1" dirty="0">
                          <a:solidFill>
                            <a:srgbClr val="E4E4E7"/>
                          </a:solidFill>
                          <a:latin typeface="Arial" pitchFamily="34" charset="0"/>
                          <a:ea typeface="Arial" pitchFamily="34" charset="-122"/>
                          <a:cs typeface="Arial" pitchFamily="34" charset="-120"/>
                        </a:rPr>
                        <a:t>Profundidad</a:t>
                      </a:r>
                      <a:endParaRPr lang="en-US" sz="1300" dirty="0">
                        <a:latin typeface="Arial" charset="0"/>
                        <a:ea typeface="Arial" charset="0"/>
                        <a:cs typeface="Arial" charset="0"/>
                      </a:endParaRPr>
                    </a:p>
                  </a:txBody>
                  <a:tcPr marL="57785" marR="57785" marT="57785" marB="57785">
                    <a:lnL w="12700" cap="flat" cmpd="sng" algn="ctr">
                      <a:solidFill>
                        <a:srgbClr val="403F40"/>
                      </a:solidFill>
                      <a:prstDash val="solid"/>
                      <a:round/>
                      <a:headEnd type="none" w="med" len="med"/>
                      <a:tailEnd type="none" w="med" len="med"/>
                    </a:lnL>
                    <a:lnR w="12700" cap="flat" cmpd="sng" algn="ctr">
                      <a:solidFill>
                        <a:srgbClr val="4E4E4F"/>
                      </a:solidFill>
                      <a:prstDash val="solid"/>
                      <a:round/>
                      <a:headEnd type="none" w="med" len="med"/>
                      <a:tailEnd type="none" w="med" len="med"/>
                    </a:lnR>
                    <a:lnT w="12700" cap="flat" cmpd="sng" algn="ctr">
                      <a:solidFill>
                        <a:srgbClr val="403F40"/>
                      </a:solidFill>
                      <a:prstDash val="solid"/>
                      <a:round/>
                      <a:headEnd type="none" w="med" len="med"/>
                      <a:tailEnd type="none" w="med" len="med"/>
                    </a:lnT>
                    <a:lnB w="12700" cap="flat" cmpd="sng" algn="ctr">
                      <a:solidFill>
                        <a:srgbClr val="4E4E4F"/>
                      </a:solidFill>
                      <a:prstDash val="solid"/>
                      <a:round/>
                      <a:headEnd type="none" w="med" len="med"/>
                      <a:tailEnd type="none" w="med" len="med"/>
                    </a:lnB>
                    <a:solidFill>
                      <a:srgbClr val="1E1E20"/>
                    </a:solidFill>
                  </a:tcPr>
                </a:tc>
                <a:tc>
                  <a:txBody>
                    <a:bodyPr/>
                    <a:lstStyle/>
                    <a:p>
                      <a:pPr marL="0" indent="0" algn="ctr">
                        <a:lnSpc>
                          <a:spcPts val="1820"/>
                        </a:lnSpc>
                        <a:buNone/>
                      </a:pPr>
                      <a:r>
                        <a:rPr lang="en-US" sz="1300" b="1" dirty="0">
                          <a:solidFill>
                            <a:srgbClr val="E4E4E7"/>
                          </a:solidFill>
                          <a:latin typeface="Arial" pitchFamily="34" charset="0"/>
                          <a:ea typeface="Arial" pitchFamily="34" charset="-122"/>
                          <a:cs typeface="Arial" pitchFamily="34" charset="-120"/>
                        </a:rPr>
                        <a:t>Práctica</a:t>
                      </a:r>
                      <a:endParaRPr lang="en-US" sz="1300" dirty="0">
                        <a:latin typeface="Arial" charset="0"/>
                        <a:ea typeface="Arial" charset="0"/>
                        <a:cs typeface="Arial" charset="0"/>
                      </a:endParaRPr>
                    </a:p>
                  </a:txBody>
                  <a:tcPr marL="57785" marR="57785" marT="57785" marB="57785">
                    <a:lnL w="12700" cap="flat" cmpd="sng" algn="ctr">
                      <a:solidFill>
                        <a:srgbClr val="4E4E4F"/>
                      </a:solidFill>
                      <a:prstDash val="solid"/>
                      <a:round/>
                      <a:headEnd type="none" w="med" len="med"/>
                      <a:tailEnd type="none" w="med" len="med"/>
                    </a:lnL>
                    <a:lnR w="12700" cap="flat" cmpd="sng" algn="ctr">
                      <a:solidFill>
                        <a:srgbClr val="4E4E4F"/>
                      </a:solidFill>
                      <a:prstDash val="solid"/>
                      <a:round/>
                      <a:headEnd type="none" w="med" len="med"/>
                      <a:tailEnd type="none" w="med" len="med"/>
                    </a:lnR>
                    <a:lnT w="12700" cap="flat" cmpd="sng" algn="ctr">
                      <a:solidFill>
                        <a:srgbClr val="403F40"/>
                      </a:solidFill>
                      <a:prstDash val="solid"/>
                      <a:round/>
                      <a:headEnd type="none" w="med" len="med"/>
                      <a:tailEnd type="none" w="med" len="med"/>
                    </a:lnT>
                    <a:lnB w="12700" cap="flat" cmpd="sng" algn="ctr">
                      <a:solidFill>
                        <a:srgbClr val="4E4E4F"/>
                      </a:solidFill>
                      <a:prstDash val="solid"/>
                      <a:round/>
                      <a:headEnd type="none" w="med" len="med"/>
                      <a:tailEnd type="none" w="med" len="med"/>
                    </a:lnB>
                    <a:solidFill>
                      <a:srgbClr val="1E1E20"/>
                    </a:solidFill>
                  </a:tcPr>
                </a:tc>
                <a:tc>
                  <a:txBody>
                    <a:bodyPr/>
                    <a:lstStyle/>
                    <a:p>
                      <a:pPr marL="0" indent="0" algn="ctr">
                        <a:lnSpc>
                          <a:spcPts val="1820"/>
                        </a:lnSpc>
                        <a:buNone/>
                      </a:pPr>
                      <a:r>
                        <a:rPr lang="en-US" sz="1300" b="1" dirty="0">
                          <a:solidFill>
                            <a:srgbClr val="E4E4E7"/>
                          </a:solidFill>
                          <a:latin typeface="Arial" pitchFamily="34" charset="0"/>
                          <a:ea typeface="Arial" pitchFamily="34" charset="-122"/>
                          <a:cs typeface="Arial" pitchFamily="34" charset="-120"/>
                        </a:rPr>
                        <a:t>Examen</a:t>
                      </a:r>
                      <a:endParaRPr lang="en-US" sz="1300" dirty="0">
                        <a:latin typeface="Arial" charset="0"/>
                        <a:ea typeface="Arial" charset="0"/>
                        <a:cs typeface="Arial" charset="0"/>
                      </a:endParaRPr>
                    </a:p>
                  </a:txBody>
                  <a:tcPr marL="57785" marR="57785" marT="57785" marB="57785">
                    <a:lnL w="12700" cap="flat" cmpd="sng" algn="ctr">
                      <a:solidFill>
                        <a:srgbClr val="4E4E4F"/>
                      </a:solidFill>
                      <a:prstDash val="solid"/>
                      <a:round/>
                      <a:headEnd type="none" w="med" len="med"/>
                      <a:tailEnd type="none" w="med" len="med"/>
                    </a:lnL>
                    <a:lnR w="12700" cap="flat" cmpd="sng" algn="ctr">
                      <a:solidFill>
                        <a:srgbClr val="4E4E4F"/>
                      </a:solidFill>
                      <a:prstDash val="solid"/>
                      <a:round/>
                      <a:headEnd type="none" w="med" len="med"/>
                      <a:tailEnd type="none" w="med" len="med"/>
                    </a:lnR>
                    <a:lnT w="12700" cap="flat" cmpd="sng" algn="ctr">
                      <a:solidFill>
                        <a:srgbClr val="403F40"/>
                      </a:solidFill>
                      <a:prstDash val="solid"/>
                      <a:round/>
                      <a:headEnd type="none" w="med" len="med"/>
                      <a:tailEnd type="none" w="med" len="med"/>
                    </a:lnT>
                    <a:lnB w="12700" cap="flat" cmpd="sng" algn="ctr">
                      <a:solidFill>
                        <a:srgbClr val="4E4E4F"/>
                      </a:solidFill>
                      <a:prstDash val="solid"/>
                      <a:round/>
                      <a:headEnd type="none" w="med" len="med"/>
                      <a:tailEnd type="none" w="med" len="med"/>
                    </a:lnB>
                    <a:solidFill>
                      <a:srgbClr val="1E1E20"/>
                    </a:solidFill>
                  </a:tcPr>
                </a:tc>
                <a:extLst>
                  <a:ext uri="{0D108BD9-81ED-4DB2-BD59-A6C34878D82A}">
                    <a16:rowId xmlns:a16="http://schemas.microsoft.com/office/drawing/2014/main" val="10000"/>
                  </a:ext>
                </a:extLst>
              </a:tr>
              <a:tr h="359271">
                <a:tc>
                  <a:txBody>
                    <a:bodyPr/>
                    <a:lstStyle/>
                    <a:p>
                      <a:pPr marL="0" indent="0">
                        <a:lnSpc>
                          <a:spcPts val="1820"/>
                        </a:lnSpc>
                        <a:buNone/>
                      </a:pPr>
                      <a:r>
                        <a:rPr lang="en-US" sz="1300" dirty="0">
                          <a:solidFill>
                            <a:srgbClr val="E4E4E7"/>
                          </a:solidFill>
                          <a:latin typeface="Arial" pitchFamily="34" charset="0"/>
                          <a:ea typeface="Arial" pitchFamily="34" charset="-122"/>
                          <a:cs typeface="Arial" pitchFamily="34" charset="-120"/>
                        </a:rPr>
                        <a:t>1</a:t>
                      </a:r>
                      <a:endParaRPr lang="en-US" sz="1300" dirty="0">
                        <a:latin typeface="Arial" charset="0"/>
                        <a:ea typeface="Arial" charset="0"/>
                        <a:cs typeface="Arial" charset="0"/>
                      </a:endParaRPr>
                    </a:p>
                  </a:txBody>
                  <a:tcPr marL="57785" marR="57785" marT="57785" marB="57785">
                    <a:lnL w="12700" cap="flat" cmpd="sng" algn="ctr">
                      <a:solidFill>
                        <a:srgbClr val="403F40"/>
                      </a:solidFill>
                      <a:prstDash val="solid"/>
                      <a:round/>
                      <a:headEnd type="none" w="med" len="med"/>
                      <a:tailEnd type="none" w="med" len="med"/>
                    </a:lnL>
                    <a:lnR w="12700" cap="flat" cmpd="sng" algn="ctr">
                      <a:solidFill>
                        <a:srgbClr val="403F40"/>
                      </a:solidFill>
                      <a:prstDash val="solid"/>
                      <a:round/>
                      <a:headEnd type="none" w="med" len="med"/>
                      <a:tailEnd type="none" w="med" len="med"/>
                    </a:lnR>
                    <a:lnT w="12700" cap="flat" cmpd="sng" algn="ctr">
                      <a:solidFill>
                        <a:srgbClr val="4E4E4F"/>
                      </a:solidFill>
                      <a:prstDash val="solid"/>
                      <a:round/>
                      <a:headEnd type="none" w="med" len="med"/>
                      <a:tailEnd type="none" w="med" len="med"/>
                    </a:lnT>
                    <a:lnB w="12700" cap="flat" cmpd="sng" algn="ctr">
                      <a:solidFill>
                        <a:srgbClr val="403F40"/>
                      </a:solidFill>
                      <a:prstDash val="solid"/>
                      <a:round/>
                      <a:headEnd type="none" w="med" len="med"/>
                      <a:tailEnd type="none" w="med" len="med"/>
                    </a:lnB>
                  </a:tcPr>
                </a:tc>
                <a:tc>
                  <a:txBody>
                    <a:bodyPr/>
                    <a:lstStyle/>
                    <a:p>
                      <a:pPr marL="0" indent="0" algn="ctr">
                        <a:lnSpc>
                          <a:spcPts val="1820"/>
                        </a:lnSpc>
                        <a:buNone/>
                      </a:pPr>
                      <a:r>
                        <a:rPr lang="en-US" sz="1300" dirty="0">
                          <a:solidFill>
                            <a:srgbClr val="E4E4E7"/>
                          </a:solidFill>
                          <a:latin typeface="Arial" pitchFamily="34" charset="0"/>
                          <a:ea typeface="Arial" pitchFamily="34" charset="-122"/>
                          <a:cs typeface="Arial" pitchFamily="34" charset="-120"/>
                        </a:rPr>
                        <a:t>0,930</a:t>
                      </a:r>
                      <a:endParaRPr lang="en-US" sz="1300" dirty="0">
                        <a:latin typeface="Arial" charset="0"/>
                        <a:ea typeface="Arial" charset="0"/>
                        <a:cs typeface="Arial" charset="0"/>
                      </a:endParaRPr>
                    </a:p>
                  </a:txBody>
                  <a:tcPr marL="57785" marR="57785" marT="57785" marB="57785">
                    <a:lnL w="12700" cap="flat" cmpd="sng" algn="ctr">
                      <a:solidFill>
                        <a:srgbClr val="403F40"/>
                      </a:solidFill>
                      <a:prstDash val="solid"/>
                      <a:round/>
                      <a:headEnd type="none" w="med" len="med"/>
                      <a:tailEnd type="none" w="med" len="med"/>
                    </a:lnL>
                    <a:lnR w="12700" cap="flat" cmpd="sng" algn="ctr">
                      <a:solidFill>
                        <a:srgbClr val="403F40"/>
                      </a:solidFill>
                      <a:prstDash val="solid"/>
                      <a:round/>
                      <a:headEnd type="none" w="med" len="med"/>
                      <a:tailEnd type="none" w="med" len="med"/>
                    </a:lnR>
                    <a:lnT w="12700" cap="flat" cmpd="sng" algn="ctr">
                      <a:solidFill>
                        <a:srgbClr val="4E4E4F"/>
                      </a:solidFill>
                      <a:prstDash val="solid"/>
                      <a:round/>
                      <a:headEnd type="none" w="med" len="med"/>
                      <a:tailEnd type="none" w="med" len="med"/>
                    </a:lnT>
                    <a:lnB w="12700" cap="flat" cmpd="sng" algn="ctr">
                      <a:solidFill>
                        <a:srgbClr val="403F40"/>
                      </a:solidFill>
                      <a:prstDash val="solid"/>
                      <a:round/>
                      <a:headEnd type="none" w="med" len="med"/>
                      <a:tailEnd type="none" w="med" len="med"/>
                    </a:lnB>
                  </a:tcPr>
                </a:tc>
                <a:tc>
                  <a:txBody>
                    <a:bodyPr/>
                    <a:lstStyle/>
                    <a:p>
                      <a:pPr marL="0" indent="0" algn="ctr">
                        <a:lnSpc>
                          <a:spcPts val="1820"/>
                        </a:lnSpc>
                        <a:buNone/>
                      </a:pPr>
                      <a:r>
                        <a:rPr lang="en-US" sz="1300" dirty="0">
                          <a:solidFill>
                            <a:srgbClr val="E4E4E7"/>
                          </a:solidFill>
                          <a:latin typeface="Arial" pitchFamily="34" charset="0"/>
                          <a:ea typeface="Arial" pitchFamily="34" charset="-122"/>
                          <a:cs typeface="Arial" pitchFamily="34" charset="-120"/>
                        </a:rPr>
                        <a:t>0,895</a:t>
                      </a:r>
                      <a:endParaRPr lang="en-US" sz="1300" dirty="0">
                        <a:latin typeface="Arial" charset="0"/>
                        <a:ea typeface="Arial" charset="0"/>
                        <a:cs typeface="Arial" charset="0"/>
                      </a:endParaRPr>
                    </a:p>
                  </a:txBody>
                  <a:tcPr marL="57785" marR="57785" marT="57785" marB="57785">
                    <a:lnL w="12700" cap="flat" cmpd="sng" algn="ctr">
                      <a:solidFill>
                        <a:srgbClr val="403F40"/>
                      </a:solidFill>
                      <a:prstDash val="solid"/>
                      <a:round/>
                      <a:headEnd type="none" w="med" len="med"/>
                      <a:tailEnd type="none" w="med" len="med"/>
                    </a:lnL>
                    <a:lnR w="12700" cap="flat" cmpd="sng" algn="ctr">
                      <a:solidFill>
                        <a:srgbClr val="403F40"/>
                      </a:solidFill>
                      <a:prstDash val="solid"/>
                      <a:round/>
                      <a:headEnd type="none" w="med" len="med"/>
                      <a:tailEnd type="none" w="med" len="med"/>
                    </a:lnR>
                    <a:lnT w="12700" cap="flat" cmpd="sng" algn="ctr">
                      <a:solidFill>
                        <a:srgbClr val="4E4E4F"/>
                      </a:solidFill>
                      <a:prstDash val="solid"/>
                      <a:round/>
                      <a:headEnd type="none" w="med" len="med"/>
                      <a:tailEnd type="none" w="med" len="med"/>
                    </a:lnT>
                    <a:lnB w="12700" cap="flat" cmpd="sng" algn="ctr">
                      <a:solidFill>
                        <a:srgbClr val="403F40"/>
                      </a:solidFill>
                      <a:prstDash val="solid"/>
                      <a:round/>
                      <a:headEnd type="none" w="med" len="med"/>
                      <a:tailEnd type="none" w="med" len="med"/>
                    </a:lnB>
                  </a:tcPr>
                </a:tc>
                <a:extLst>
                  <a:ext uri="{0D108BD9-81ED-4DB2-BD59-A6C34878D82A}">
                    <a16:rowId xmlns:a16="http://schemas.microsoft.com/office/drawing/2014/main" val="10001"/>
                  </a:ext>
                </a:extLst>
              </a:tr>
              <a:tr h="359271">
                <a:tc>
                  <a:txBody>
                    <a:bodyPr/>
                    <a:lstStyle/>
                    <a:p>
                      <a:pPr marL="0" indent="0">
                        <a:lnSpc>
                          <a:spcPts val="1820"/>
                        </a:lnSpc>
                        <a:buNone/>
                      </a:pPr>
                      <a:r>
                        <a:rPr lang="en-US" sz="1300" dirty="0">
                          <a:solidFill>
                            <a:srgbClr val="F4F4F5"/>
                          </a:solidFill>
                          <a:latin typeface="Arial" pitchFamily="34" charset="0"/>
                          <a:ea typeface="Arial" pitchFamily="34" charset="-122"/>
                          <a:cs typeface="Arial" pitchFamily="34" charset="-120"/>
                        </a:rPr>
                        <a:t>3 (la mejor)</a:t>
                      </a:r>
                      <a:endParaRPr lang="en-US" sz="1300" dirty="0">
                        <a:latin typeface="Arial" charset="0"/>
                        <a:ea typeface="Arial" charset="0"/>
                        <a:cs typeface="Arial" charset="0"/>
                      </a:endParaRPr>
                    </a:p>
                  </a:txBody>
                  <a:tcPr marL="57785" marR="57785" marT="57785" marB="57785">
                    <a:lnL w="12700" cap="flat" cmpd="sng" algn="ctr">
                      <a:solidFill>
                        <a:srgbClr val="403F40"/>
                      </a:solidFill>
                      <a:prstDash val="solid"/>
                      <a:round/>
                      <a:headEnd type="none" w="med" len="med"/>
                      <a:tailEnd type="none" w="med" len="med"/>
                    </a:lnL>
                    <a:lnR w="12700" cap="flat" cmpd="sng" algn="ctr">
                      <a:solidFill>
                        <a:srgbClr val="4F3F42"/>
                      </a:solidFill>
                      <a:prstDash val="solid"/>
                      <a:round/>
                      <a:headEnd type="none" w="med" len="med"/>
                      <a:tailEnd type="none" w="med" len="med"/>
                    </a:lnR>
                    <a:lnT w="12700" cap="flat" cmpd="sng" algn="ctr">
                      <a:solidFill>
                        <a:srgbClr val="403F40"/>
                      </a:solidFill>
                      <a:prstDash val="solid"/>
                      <a:round/>
                      <a:headEnd type="none" w="med" len="med"/>
                      <a:tailEnd type="none" w="med" len="med"/>
                    </a:lnT>
                    <a:lnB w="12700" cap="flat" cmpd="sng" algn="ctr">
                      <a:solidFill>
                        <a:srgbClr val="4F3F42"/>
                      </a:solidFill>
                      <a:prstDash val="solid"/>
                      <a:round/>
                      <a:headEnd type="none" w="med" len="med"/>
                      <a:tailEnd type="none" w="med" len="med"/>
                    </a:lnB>
                    <a:solidFill>
                      <a:srgbClr val="1F0A0F"/>
                    </a:solidFill>
                  </a:tcPr>
                </a:tc>
                <a:tc>
                  <a:txBody>
                    <a:bodyPr/>
                    <a:lstStyle/>
                    <a:p>
                      <a:pPr marL="0" indent="0" algn="ctr">
                        <a:lnSpc>
                          <a:spcPts val="1820"/>
                        </a:lnSpc>
                        <a:buNone/>
                      </a:pPr>
                      <a:r>
                        <a:rPr lang="en-US" sz="1300" dirty="0">
                          <a:solidFill>
                            <a:srgbClr val="E4E4E7"/>
                          </a:solidFill>
                          <a:latin typeface="Arial" pitchFamily="34" charset="0"/>
                          <a:ea typeface="Arial" pitchFamily="34" charset="-122"/>
                          <a:cs typeface="Arial" pitchFamily="34" charset="-120"/>
                        </a:rPr>
                        <a:t>0,962</a:t>
                      </a:r>
                      <a:endParaRPr lang="en-US" sz="1300" dirty="0">
                        <a:latin typeface="Arial" charset="0"/>
                        <a:ea typeface="Arial" charset="0"/>
                        <a:cs typeface="Arial" charset="0"/>
                      </a:endParaRPr>
                    </a:p>
                  </a:txBody>
                  <a:tcPr marL="57785" marR="57785" marT="57785" marB="57785">
                    <a:lnL w="12700" cap="flat" cmpd="sng" algn="ctr">
                      <a:solidFill>
                        <a:srgbClr val="4F3F42"/>
                      </a:solidFill>
                      <a:prstDash val="solid"/>
                      <a:round/>
                      <a:headEnd type="none" w="med" len="med"/>
                      <a:tailEnd type="none" w="med" len="med"/>
                    </a:lnL>
                    <a:lnR w="12700" cap="flat" cmpd="sng" algn="ctr">
                      <a:solidFill>
                        <a:srgbClr val="4F3F42"/>
                      </a:solidFill>
                      <a:prstDash val="solid"/>
                      <a:round/>
                      <a:headEnd type="none" w="med" len="med"/>
                      <a:tailEnd type="none" w="med" len="med"/>
                    </a:lnR>
                    <a:lnT w="12700" cap="flat" cmpd="sng" algn="ctr">
                      <a:solidFill>
                        <a:srgbClr val="403F40"/>
                      </a:solidFill>
                      <a:prstDash val="solid"/>
                      <a:round/>
                      <a:headEnd type="none" w="med" len="med"/>
                      <a:tailEnd type="none" w="med" len="med"/>
                    </a:lnT>
                    <a:lnB w="12700" cap="flat" cmpd="sng" algn="ctr">
                      <a:solidFill>
                        <a:srgbClr val="4F3F42"/>
                      </a:solidFill>
                      <a:prstDash val="solid"/>
                      <a:round/>
                      <a:headEnd type="none" w="med" len="med"/>
                      <a:tailEnd type="none" w="med" len="med"/>
                    </a:lnB>
                    <a:solidFill>
                      <a:srgbClr val="1F0A0F"/>
                    </a:solidFill>
                  </a:tcPr>
                </a:tc>
                <a:tc>
                  <a:txBody>
                    <a:bodyPr/>
                    <a:lstStyle/>
                    <a:p>
                      <a:pPr marL="0" indent="0" algn="ctr">
                        <a:lnSpc>
                          <a:spcPts val="1820"/>
                        </a:lnSpc>
                        <a:buNone/>
                      </a:pPr>
                      <a:r>
                        <a:rPr lang="en-US" sz="1300" dirty="0">
                          <a:solidFill>
                            <a:srgbClr val="FF5C77"/>
                          </a:solidFill>
                          <a:latin typeface="Arial" pitchFamily="34" charset="0"/>
                          <a:ea typeface="Arial" pitchFamily="34" charset="-122"/>
                          <a:cs typeface="Arial" pitchFamily="34" charset="-120"/>
                        </a:rPr>
                        <a:t>0,918</a:t>
                      </a:r>
                      <a:endParaRPr lang="en-US" sz="1300" dirty="0">
                        <a:latin typeface="Arial" charset="0"/>
                        <a:ea typeface="Arial" charset="0"/>
                        <a:cs typeface="Arial" charset="0"/>
                      </a:endParaRPr>
                    </a:p>
                  </a:txBody>
                  <a:tcPr marL="57785" marR="57785" marT="57785" marB="57785">
                    <a:lnL w="12700" cap="flat" cmpd="sng" algn="ctr">
                      <a:solidFill>
                        <a:srgbClr val="4F3F42"/>
                      </a:solidFill>
                      <a:prstDash val="solid"/>
                      <a:round/>
                      <a:headEnd type="none" w="med" len="med"/>
                      <a:tailEnd type="none" w="med" len="med"/>
                    </a:lnL>
                    <a:lnR w="12700" cap="flat" cmpd="sng" algn="ctr">
                      <a:solidFill>
                        <a:srgbClr val="4F3F42"/>
                      </a:solidFill>
                      <a:prstDash val="solid"/>
                      <a:round/>
                      <a:headEnd type="none" w="med" len="med"/>
                      <a:tailEnd type="none" w="med" len="med"/>
                    </a:lnR>
                    <a:lnT w="12700" cap="flat" cmpd="sng" algn="ctr">
                      <a:solidFill>
                        <a:srgbClr val="403F40"/>
                      </a:solidFill>
                      <a:prstDash val="solid"/>
                      <a:round/>
                      <a:headEnd type="none" w="med" len="med"/>
                      <a:tailEnd type="none" w="med" len="med"/>
                    </a:lnT>
                    <a:lnB w="12700" cap="flat" cmpd="sng" algn="ctr">
                      <a:solidFill>
                        <a:srgbClr val="4F3F42"/>
                      </a:solidFill>
                      <a:prstDash val="solid"/>
                      <a:round/>
                      <a:headEnd type="none" w="med" len="med"/>
                      <a:tailEnd type="none" w="med" len="med"/>
                    </a:lnB>
                    <a:solidFill>
                      <a:srgbClr val="1F0A0F"/>
                    </a:solidFill>
                  </a:tcPr>
                </a:tc>
                <a:extLst>
                  <a:ext uri="{0D108BD9-81ED-4DB2-BD59-A6C34878D82A}">
                    <a16:rowId xmlns:a16="http://schemas.microsoft.com/office/drawing/2014/main" val="10002"/>
                  </a:ext>
                </a:extLst>
              </a:tr>
              <a:tr h="359271">
                <a:tc>
                  <a:txBody>
                    <a:bodyPr/>
                    <a:lstStyle/>
                    <a:p>
                      <a:pPr marL="0" indent="0">
                        <a:lnSpc>
                          <a:spcPts val="1820"/>
                        </a:lnSpc>
                        <a:buNone/>
                      </a:pPr>
                      <a:r>
                        <a:rPr lang="en-US" sz="1300" dirty="0">
                          <a:solidFill>
                            <a:srgbClr val="E4E4E7"/>
                          </a:solidFill>
                          <a:latin typeface="Arial" pitchFamily="34" charset="0"/>
                          <a:ea typeface="Arial" pitchFamily="34" charset="-122"/>
                          <a:cs typeface="Arial" pitchFamily="34" charset="-120"/>
                        </a:rPr>
                        <a:t>6</a:t>
                      </a:r>
                      <a:endParaRPr lang="en-US" sz="1300" dirty="0">
                        <a:latin typeface="Arial" charset="0"/>
                        <a:ea typeface="Arial" charset="0"/>
                        <a:cs typeface="Arial" charset="0"/>
                      </a:endParaRPr>
                    </a:p>
                  </a:txBody>
                  <a:tcPr marL="57785" marR="57785" marT="57785" marB="57785">
                    <a:lnL w="12700" cap="flat" cmpd="sng" algn="ctr">
                      <a:solidFill>
                        <a:srgbClr val="403F40"/>
                      </a:solidFill>
                      <a:prstDash val="solid"/>
                      <a:round/>
                      <a:headEnd type="none" w="med" len="med"/>
                      <a:tailEnd type="none" w="med" len="med"/>
                    </a:lnL>
                    <a:lnR w="12700" cap="flat" cmpd="sng" algn="ctr">
                      <a:solidFill>
                        <a:srgbClr val="403F40"/>
                      </a:solidFill>
                      <a:prstDash val="solid"/>
                      <a:round/>
                      <a:headEnd type="none" w="med" len="med"/>
                      <a:tailEnd type="none" w="med" len="med"/>
                    </a:lnR>
                    <a:lnT w="12700" cap="flat" cmpd="sng" algn="ctr">
                      <a:solidFill>
                        <a:srgbClr val="4F3F42"/>
                      </a:solidFill>
                      <a:prstDash val="solid"/>
                      <a:round/>
                      <a:headEnd type="none" w="med" len="med"/>
                      <a:tailEnd type="none" w="med" len="med"/>
                    </a:lnT>
                    <a:lnB w="12700" cap="flat" cmpd="sng" algn="ctr">
                      <a:solidFill>
                        <a:srgbClr val="403F40"/>
                      </a:solidFill>
                      <a:prstDash val="solid"/>
                      <a:round/>
                      <a:headEnd type="none" w="med" len="med"/>
                      <a:tailEnd type="none" w="med" len="med"/>
                    </a:lnB>
                  </a:tcPr>
                </a:tc>
                <a:tc>
                  <a:txBody>
                    <a:bodyPr/>
                    <a:lstStyle/>
                    <a:p>
                      <a:pPr marL="0" indent="0" algn="ctr">
                        <a:lnSpc>
                          <a:spcPts val="1820"/>
                        </a:lnSpc>
                        <a:buNone/>
                      </a:pPr>
                      <a:r>
                        <a:rPr lang="en-US" sz="1300" dirty="0">
                          <a:solidFill>
                            <a:srgbClr val="E4E4E7"/>
                          </a:solidFill>
                          <a:latin typeface="Arial" pitchFamily="34" charset="0"/>
                          <a:ea typeface="Arial" pitchFamily="34" charset="-122"/>
                          <a:cs typeface="Arial" pitchFamily="34" charset="-120"/>
                        </a:rPr>
                        <a:t>0,992</a:t>
                      </a:r>
                      <a:endParaRPr lang="en-US" sz="1300" dirty="0">
                        <a:latin typeface="Arial" charset="0"/>
                        <a:ea typeface="Arial" charset="0"/>
                        <a:cs typeface="Arial" charset="0"/>
                      </a:endParaRPr>
                    </a:p>
                  </a:txBody>
                  <a:tcPr marL="57785" marR="57785" marT="57785" marB="57785">
                    <a:lnL w="12700" cap="flat" cmpd="sng" algn="ctr">
                      <a:solidFill>
                        <a:srgbClr val="403F40"/>
                      </a:solidFill>
                      <a:prstDash val="solid"/>
                      <a:round/>
                      <a:headEnd type="none" w="med" len="med"/>
                      <a:tailEnd type="none" w="med" len="med"/>
                    </a:lnL>
                    <a:lnR w="12700" cap="flat" cmpd="sng" algn="ctr">
                      <a:solidFill>
                        <a:srgbClr val="403F40"/>
                      </a:solidFill>
                      <a:prstDash val="solid"/>
                      <a:round/>
                      <a:headEnd type="none" w="med" len="med"/>
                      <a:tailEnd type="none" w="med" len="med"/>
                    </a:lnR>
                    <a:lnT w="12700" cap="flat" cmpd="sng" algn="ctr">
                      <a:solidFill>
                        <a:srgbClr val="4F3F42"/>
                      </a:solidFill>
                      <a:prstDash val="solid"/>
                      <a:round/>
                      <a:headEnd type="none" w="med" len="med"/>
                      <a:tailEnd type="none" w="med" len="med"/>
                    </a:lnT>
                    <a:lnB w="12700" cap="flat" cmpd="sng" algn="ctr">
                      <a:solidFill>
                        <a:srgbClr val="403F40"/>
                      </a:solidFill>
                      <a:prstDash val="solid"/>
                      <a:round/>
                      <a:headEnd type="none" w="med" len="med"/>
                      <a:tailEnd type="none" w="med" len="med"/>
                    </a:lnB>
                  </a:tcPr>
                </a:tc>
                <a:tc>
                  <a:txBody>
                    <a:bodyPr/>
                    <a:lstStyle/>
                    <a:p>
                      <a:pPr marL="0" indent="0" algn="ctr">
                        <a:lnSpc>
                          <a:spcPts val="1820"/>
                        </a:lnSpc>
                        <a:buNone/>
                      </a:pPr>
                      <a:r>
                        <a:rPr lang="en-US" sz="1300" dirty="0">
                          <a:solidFill>
                            <a:srgbClr val="E4E4E7"/>
                          </a:solidFill>
                          <a:latin typeface="Arial" pitchFamily="34" charset="0"/>
                          <a:ea typeface="Arial" pitchFamily="34" charset="-122"/>
                          <a:cs typeface="Arial" pitchFamily="34" charset="-120"/>
                        </a:rPr>
                        <a:t>0,912</a:t>
                      </a:r>
                      <a:endParaRPr lang="en-US" sz="1300" dirty="0">
                        <a:latin typeface="Arial" charset="0"/>
                        <a:ea typeface="Arial" charset="0"/>
                        <a:cs typeface="Arial" charset="0"/>
                      </a:endParaRPr>
                    </a:p>
                  </a:txBody>
                  <a:tcPr marL="57785" marR="57785" marT="57785" marB="57785">
                    <a:lnL w="12700" cap="flat" cmpd="sng" algn="ctr">
                      <a:solidFill>
                        <a:srgbClr val="403F40"/>
                      </a:solidFill>
                      <a:prstDash val="solid"/>
                      <a:round/>
                      <a:headEnd type="none" w="med" len="med"/>
                      <a:tailEnd type="none" w="med" len="med"/>
                    </a:lnL>
                    <a:lnR w="12700" cap="flat" cmpd="sng" algn="ctr">
                      <a:solidFill>
                        <a:srgbClr val="403F40"/>
                      </a:solidFill>
                      <a:prstDash val="solid"/>
                      <a:round/>
                      <a:headEnd type="none" w="med" len="med"/>
                      <a:tailEnd type="none" w="med" len="med"/>
                    </a:lnR>
                    <a:lnT w="12700" cap="flat" cmpd="sng" algn="ctr">
                      <a:solidFill>
                        <a:srgbClr val="4F3F42"/>
                      </a:solidFill>
                      <a:prstDash val="solid"/>
                      <a:round/>
                      <a:headEnd type="none" w="med" len="med"/>
                      <a:tailEnd type="none" w="med" len="med"/>
                    </a:lnT>
                    <a:lnB w="12700" cap="flat" cmpd="sng" algn="ctr">
                      <a:solidFill>
                        <a:srgbClr val="403F40"/>
                      </a:solidFill>
                      <a:prstDash val="solid"/>
                      <a:round/>
                      <a:headEnd type="none" w="med" len="med"/>
                      <a:tailEnd type="none" w="med" len="med"/>
                    </a:lnB>
                  </a:tcPr>
                </a:tc>
                <a:extLst>
                  <a:ext uri="{0D108BD9-81ED-4DB2-BD59-A6C34878D82A}">
                    <a16:rowId xmlns:a16="http://schemas.microsoft.com/office/drawing/2014/main" val="10003"/>
                  </a:ext>
                </a:extLst>
              </a:tr>
              <a:tr h="359271">
                <a:tc>
                  <a:txBody>
                    <a:bodyPr/>
                    <a:lstStyle/>
                    <a:p>
                      <a:pPr marL="0" indent="0">
                        <a:lnSpc>
                          <a:spcPts val="1820"/>
                        </a:lnSpc>
                        <a:buNone/>
                      </a:pPr>
                      <a:r>
                        <a:rPr lang="en-US" sz="1300" dirty="0">
                          <a:solidFill>
                            <a:srgbClr val="E4E4E7"/>
                          </a:solidFill>
                          <a:latin typeface="Arial" pitchFamily="34" charset="0"/>
                          <a:ea typeface="Arial" pitchFamily="34" charset="-122"/>
                          <a:cs typeface="Arial" pitchFamily="34" charset="-120"/>
                        </a:rPr>
                        <a:t>8 a 10</a:t>
                      </a:r>
                      <a:endParaRPr lang="en-US" sz="1300" dirty="0">
                        <a:latin typeface="Arial" charset="0"/>
                        <a:ea typeface="Arial" charset="0"/>
                        <a:cs typeface="Arial" charset="0"/>
                      </a:endParaRPr>
                    </a:p>
                  </a:txBody>
                  <a:tcPr marL="57785" marR="57785" marT="57785" marB="57785">
                    <a:lnL w="12700" cap="flat" cmpd="sng" algn="ctr">
                      <a:solidFill>
                        <a:srgbClr val="403F40"/>
                      </a:solidFill>
                      <a:prstDash val="solid"/>
                      <a:round/>
                      <a:headEnd type="none" w="med" len="med"/>
                      <a:tailEnd type="none" w="med" len="med"/>
                    </a:lnL>
                    <a:lnR w="12700" cap="flat" cmpd="sng" algn="ctr">
                      <a:solidFill>
                        <a:srgbClr val="403F40"/>
                      </a:solidFill>
                      <a:prstDash val="solid"/>
                      <a:round/>
                      <a:headEnd type="none" w="med" len="med"/>
                      <a:tailEnd type="none" w="med" len="med"/>
                    </a:lnR>
                    <a:lnT w="12700" cap="flat" cmpd="sng" algn="ctr">
                      <a:solidFill>
                        <a:srgbClr val="403F40"/>
                      </a:solidFill>
                      <a:prstDash val="solid"/>
                      <a:round/>
                      <a:headEnd type="none" w="med" len="med"/>
                      <a:tailEnd type="none" w="med" len="med"/>
                    </a:lnT>
                    <a:lnB w="12700" cap="flat" cmpd="sng" algn="ctr">
                      <a:solidFill>
                        <a:srgbClr val="403F40"/>
                      </a:solidFill>
                      <a:prstDash val="solid"/>
                      <a:round/>
                      <a:headEnd type="none" w="med" len="med"/>
                      <a:tailEnd type="none" w="med" len="med"/>
                    </a:lnB>
                  </a:tcPr>
                </a:tc>
                <a:tc>
                  <a:txBody>
                    <a:bodyPr/>
                    <a:lstStyle/>
                    <a:p>
                      <a:pPr marL="0" indent="0" algn="ctr">
                        <a:lnSpc>
                          <a:spcPts val="1820"/>
                        </a:lnSpc>
                        <a:buNone/>
                      </a:pPr>
                      <a:r>
                        <a:rPr lang="en-US" sz="1300" dirty="0">
                          <a:solidFill>
                            <a:srgbClr val="E4E4E7"/>
                          </a:solidFill>
                          <a:latin typeface="Arial" pitchFamily="34" charset="0"/>
                          <a:ea typeface="Arial" pitchFamily="34" charset="-122"/>
                          <a:cs typeface="Arial" pitchFamily="34" charset="-120"/>
                        </a:rPr>
                        <a:t>1,000</a:t>
                      </a:r>
                      <a:endParaRPr lang="en-US" sz="1300" dirty="0">
                        <a:latin typeface="Arial" charset="0"/>
                        <a:ea typeface="Arial" charset="0"/>
                        <a:cs typeface="Arial" charset="0"/>
                      </a:endParaRPr>
                    </a:p>
                  </a:txBody>
                  <a:tcPr marL="57785" marR="57785" marT="57785" marB="57785">
                    <a:lnL w="12700" cap="flat" cmpd="sng" algn="ctr">
                      <a:solidFill>
                        <a:srgbClr val="403F40"/>
                      </a:solidFill>
                      <a:prstDash val="solid"/>
                      <a:round/>
                      <a:headEnd type="none" w="med" len="med"/>
                      <a:tailEnd type="none" w="med" len="med"/>
                    </a:lnL>
                    <a:lnR w="12700" cap="flat" cmpd="sng" algn="ctr">
                      <a:solidFill>
                        <a:srgbClr val="403F40"/>
                      </a:solidFill>
                      <a:prstDash val="solid"/>
                      <a:round/>
                      <a:headEnd type="none" w="med" len="med"/>
                      <a:tailEnd type="none" w="med" len="med"/>
                    </a:lnR>
                    <a:lnT w="12700" cap="flat" cmpd="sng" algn="ctr">
                      <a:solidFill>
                        <a:srgbClr val="403F40"/>
                      </a:solidFill>
                      <a:prstDash val="solid"/>
                      <a:round/>
                      <a:headEnd type="none" w="med" len="med"/>
                      <a:tailEnd type="none" w="med" len="med"/>
                    </a:lnT>
                    <a:lnB w="12700" cap="flat" cmpd="sng" algn="ctr">
                      <a:solidFill>
                        <a:srgbClr val="403F40"/>
                      </a:solidFill>
                      <a:prstDash val="solid"/>
                      <a:round/>
                      <a:headEnd type="none" w="med" len="med"/>
                      <a:tailEnd type="none" w="med" len="med"/>
                    </a:lnB>
                  </a:tcPr>
                </a:tc>
                <a:tc>
                  <a:txBody>
                    <a:bodyPr/>
                    <a:lstStyle/>
                    <a:p>
                      <a:pPr marL="0" indent="0" algn="ctr">
                        <a:lnSpc>
                          <a:spcPts val="1820"/>
                        </a:lnSpc>
                        <a:buNone/>
                      </a:pPr>
                      <a:r>
                        <a:rPr lang="en-US" sz="1300" dirty="0">
                          <a:solidFill>
                            <a:srgbClr val="E4E4E7"/>
                          </a:solidFill>
                          <a:latin typeface="Arial" pitchFamily="34" charset="0"/>
                          <a:ea typeface="Arial" pitchFamily="34" charset="-122"/>
                          <a:cs typeface="Arial" pitchFamily="34" charset="-120"/>
                        </a:rPr>
                        <a:t>0,901</a:t>
                      </a:r>
                      <a:endParaRPr lang="en-US" sz="1300" dirty="0">
                        <a:latin typeface="Arial" charset="0"/>
                        <a:ea typeface="Arial" charset="0"/>
                        <a:cs typeface="Arial" charset="0"/>
                      </a:endParaRPr>
                    </a:p>
                  </a:txBody>
                  <a:tcPr marL="57785" marR="57785" marT="57785" marB="57785">
                    <a:lnL w="12700" cap="flat" cmpd="sng" algn="ctr">
                      <a:solidFill>
                        <a:srgbClr val="403F40"/>
                      </a:solidFill>
                      <a:prstDash val="solid"/>
                      <a:round/>
                      <a:headEnd type="none" w="med" len="med"/>
                      <a:tailEnd type="none" w="med" len="med"/>
                    </a:lnL>
                    <a:lnR w="12700" cap="flat" cmpd="sng" algn="ctr">
                      <a:solidFill>
                        <a:srgbClr val="403F40"/>
                      </a:solidFill>
                      <a:prstDash val="solid"/>
                      <a:round/>
                      <a:headEnd type="none" w="med" len="med"/>
                      <a:tailEnd type="none" w="med" len="med"/>
                    </a:lnR>
                    <a:lnT w="12700" cap="flat" cmpd="sng" algn="ctr">
                      <a:solidFill>
                        <a:srgbClr val="403F40"/>
                      </a:solidFill>
                      <a:prstDash val="solid"/>
                      <a:round/>
                      <a:headEnd type="none" w="med" len="med"/>
                      <a:tailEnd type="none" w="med" len="med"/>
                    </a:lnT>
                    <a:lnB w="12700" cap="flat" cmpd="sng" algn="ctr">
                      <a:solidFill>
                        <a:srgbClr val="403F40"/>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6" name="Text 2"/>
          <p:cNvSpPr/>
          <p:nvPr/>
        </p:nvSpPr>
        <p:spPr>
          <a:xfrm>
            <a:off x="5943600" y="3731716"/>
            <a:ext cx="5598668" cy="467320"/>
          </a:xfrm>
          <a:prstGeom prst="rect">
            <a:avLst/>
          </a:prstGeom>
          <a:noFill/>
          <a:ln/>
        </p:spPr>
        <p:txBody>
          <a:bodyPr wrap="square" lIns="0" tIns="0" rIns="0" bIns="0" rtlCol="0" anchor="t">
            <a:normAutofit/>
          </a:bodyPr>
          <a:lstStyle/>
          <a:p>
            <a:pPr marL="0" indent="0" algn="l">
              <a:lnSpc>
                <a:spcPts val="1740"/>
              </a:lnSpc>
              <a:buNone/>
            </a:pPr>
            <a:r>
              <a:rPr lang="en-US" sz="1200" dirty="0">
                <a:solidFill>
                  <a:srgbClr val="D4D4D8"/>
                </a:solidFill>
                <a:latin typeface="Arial" pitchFamily="34" charset="0"/>
                <a:ea typeface="Arial" pitchFamily="34" charset="-122"/>
                <a:cs typeface="Arial" pitchFamily="34" charset="-120"/>
              </a:rPr>
              <a:t>Línea gris:</a:t>
            </a:r>
            <a:r>
              <a:rPr lang="en-US" sz="1200" dirty="0">
                <a:solidFill>
                  <a:srgbClr val="A1A1AA"/>
                </a:solidFill>
                <a:latin typeface="Arial" pitchFamily="34" charset="0"/>
                <a:ea typeface="Arial" pitchFamily="34" charset="-122"/>
                <a:cs typeface="Arial" pitchFamily="34" charset="-120"/>
              </a:rPr>
              <a:t> práctica. </a:t>
            </a:r>
            <a:r>
              <a:rPr lang="en-US" sz="1200" dirty="0">
                <a:solidFill>
                  <a:srgbClr val="FF5C77"/>
                </a:solidFill>
                <a:latin typeface="Arial" pitchFamily="34" charset="0"/>
                <a:ea typeface="Arial" pitchFamily="34" charset="-122"/>
                <a:cs typeface="Arial" pitchFamily="34" charset="-120"/>
              </a:rPr>
              <a:t>Línea roja:</a:t>
            </a:r>
            <a:r>
              <a:rPr lang="en-US" sz="1200" dirty="0">
                <a:solidFill>
                  <a:srgbClr val="A1A1AA"/>
                </a:solidFill>
                <a:latin typeface="Arial" pitchFamily="34" charset="0"/>
                <a:ea typeface="Arial" pitchFamily="34" charset="-122"/>
                <a:cs typeface="Arial" pitchFamily="34" charset="-120"/>
              </a:rPr>
              <a:t> examen. Horizontal: profundidad (max_depth) de 1 a 10. Vertical: accuracy (exactitud).</a:t>
            </a:r>
            <a:endParaRPr lang="en-US" sz="1200" dirty="0"/>
          </a:p>
        </p:txBody>
      </p:sp>
      <p:sp>
        <p:nvSpPr>
          <p:cNvPr id="7" name="Shape 3"/>
          <p:cNvSpPr/>
          <p:nvPr/>
        </p:nvSpPr>
        <p:spPr>
          <a:xfrm>
            <a:off x="819150" y="4545211"/>
            <a:ext cx="10553700" cy="871736"/>
          </a:xfrm>
          <a:prstGeom prst="roundRect">
            <a:avLst>
              <a:gd name="adj" fmla="val 13840"/>
            </a:avLst>
          </a:prstGeom>
          <a:solidFill>
            <a:srgbClr val="1F0A0F"/>
          </a:solidFill>
          <a:ln w="12700">
            <a:solidFill>
              <a:srgbClr val="E4002B"/>
            </a:solidFill>
            <a:prstDash val="solid"/>
          </a:ln>
        </p:spPr>
        <p:txBody>
          <a:bodyPr/>
          <a:lstStyle/>
          <a:p>
            <a:endParaRPr lang="es-CO"/>
          </a:p>
        </p:txBody>
      </p:sp>
      <p:sp>
        <p:nvSpPr>
          <p:cNvPr id="8" name="Text 4"/>
          <p:cNvSpPr/>
          <p:nvPr/>
        </p:nvSpPr>
        <p:spPr>
          <a:xfrm>
            <a:off x="1079500" y="4729361"/>
            <a:ext cx="10333990"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E4002B"/>
                </a:solidFill>
                <a:latin typeface="Courier New" pitchFamily="34" charset="0"/>
                <a:ea typeface="Courier New" pitchFamily="34" charset="-122"/>
                <a:cs typeface="Courier New" pitchFamily="34" charset="-120"/>
              </a:rPr>
              <a:t>EN PALABRAS SIMPLES</a:t>
            </a:r>
            <a:endParaRPr lang="en-US" sz="1200" dirty="0"/>
          </a:p>
        </p:txBody>
      </p:sp>
      <p:sp>
        <p:nvSpPr>
          <p:cNvPr id="9" name="Text 5"/>
          <p:cNvSpPr/>
          <p:nvPr/>
        </p:nvSpPr>
        <p:spPr>
          <a:xfrm>
            <a:off x="1079500" y="4993481"/>
            <a:ext cx="10333990" cy="264716"/>
          </a:xfrm>
          <a:prstGeom prst="rect">
            <a:avLst/>
          </a:prstGeom>
          <a:noFill/>
          <a:ln/>
        </p:spPr>
        <p:txBody>
          <a:bodyPr wrap="square" lIns="0" tIns="0" rIns="0" bIns="0" rtlCol="0" anchor="t">
            <a:normAutofit/>
          </a:bodyPr>
          <a:lstStyle/>
          <a:p>
            <a:pPr marL="0" indent="0" algn="l">
              <a:lnSpc>
                <a:spcPts val="1885"/>
              </a:lnSpc>
              <a:buNone/>
            </a:pPr>
            <a:r>
              <a:rPr lang="en-US" sz="1300" dirty="0">
                <a:solidFill>
                  <a:srgbClr val="F4F4F5"/>
                </a:solidFill>
                <a:latin typeface="Arial" pitchFamily="34" charset="0"/>
                <a:ea typeface="Arial" pitchFamily="34" charset="-122"/>
                <a:cs typeface="Arial" pitchFamily="34" charset="-120"/>
              </a:rPr>
              <a:t>La profundidad es cuántas preguntas seguidas puede hacer el árbol. Con más de 3, memoriza: más complejo no siempre es mejor.</a:t>
            </a:r>
            <a:endParaRPr lang="en-US" sz="1300" dirty="0"/>
          </a:p>
        </p:txBody>
      </p:sp>
      <p:sp>
        <p:nvSpPr>
          <p:cNvPr id="10" name="Text 6"/>
          <p:cNvSpPr/>
          <p:nvPr/>
        </p:nvSpPr>
        <p:spPr>
          <a:xfrm>
            <a:off x="812800" y="6238280"/>
            <a:ext cx="7848600" cy="238720"/>
          </a:xfrm>
          <a:prstGeom prst="rect">
            <a:avLst/>
          </a:prstGeom>
          <a:noFill/>
          <a:ln/>
        </p:spPr>
        <p:txBody>
          <a:bodyPr wrap="square" lIns="0" tIns="0" rIns="0" bIns="0" rtlCol="0" anchor="t">
            <a:normAutofit/>
          </a:bodyPr>
          <a:lstStyle/>
          <a:p>
            <a:pPr marL="0" indent="0" algn="l">
              <a:lnSpc>
                <a:spcPts val="1680"/>
              </a:lnSpc>
              <a:buNone/>
            </a:pPr>
            <a:r>
              <a:rPr lang="en-US" sz="1200" kern="0" spc="100" dirty="0">
                <a:solidFill>
                  <a:srgbClr val="71717A"/>
                </a:solidFill>
                <a:latin typeface="Courier New" pitchFamily="34" charset="0"/>
                <a:ea typeface="Courier New" pitchFamily="34" charset="-122"/>
                <a:cs typeface="Courier New" pitchFamily="34" charset="-120"/>
              </a:rPr>
              <a:t>UNIDAD 4 · VALIDACIÓN DE MODELOS</a:t>
            </a:r>
            <a:endParaRPr lang="en-US" sz="1200" dirty="0"/>
          </a:p>
        </p:txBody>
      </p:sp>
      <p:sp>
        <p:nvSpPr>
          <p:cNvPr id="11" name="Text 7"/>
          <p:cNvSpPr/>
          <p:nvPr/>
        </p:nvSpPr>
        <p:spPr>
          <a:xfrm>
            <a:off x="10058400" y="6238280"/>
            <a:ext cx="1320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71717A"/>
                </a:solidFill>
                <a:latin typeface="Courier New" pitchFamily="34" charset="0"/>
                <a:ea typeface="Courier New" pitchFamily="34" charset="-122"/>
                <a:cs typeface="Courier New" pitchFamily="34" charset="-120"/>
              </a:rPr>
              <a:t>20</a:t>
            </a:r>
            <a:endParaRPr lang="en-US" sz="12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B0B0D"/>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marL="0" indent="0" algn="l">
              <a:lnSpc>
                <a:spcPts val="1820"/>
              </a:lnSpc>
              <a:buNone/>
            </a:pPr>
            <a:r>
              <a:rPr lang="en-US" sz="1300" b="1" kern="0" spc="200" dirty="0">
                <a:solidFill>
                  <a:srgbClr val="E4002B"/>
                </a:solidFill>
                <a:latin typeface="Courier New" pitchFamily="34" charset="0"/>
                <a:ea typeface="Courier New" pitchFamily="34" charset="-122"/>
                <a:cs typeface="Courier New" pitchFamily="34" charset="-120"/>
              </a:rPr>
              <a:t>DIAGNÓSTICO</a:t>
            </a:r>
            <a:endParaRPr lang="en-US" sz="1300" dirty="0"/>
          </a:p>
        </p:txBody>
      </p:sp>
      <p:sp>
        <p:nvSpPr>
          <p:cNvPr id="3" name="Text 1"/>
          <p:cNvSpPr/>
          <p:nvPr/>
        </p:nvSpPr>
        <p:spPr>
          <a:xfrm>
            <a:off x="812800" y="1145480"/>
            <a:ext cx="10883392" cy="472380"/>
          </a:xfrm>
          <a:prstGeom prst="rect">
            <a:avLst/>
          </a:prstGeom>
          <a:noFill/>
          <a:ln/>
        </p:spPr>
        <p:txBody>
          <a:bodyPr wrap="square" lIns="0" tIns="0" rIns="0" bIns="0" rtlCol="0" anchor="t">
            <a:normAutofit/>
          </a:bodyPr>
          <a:lstStyle/>
          <a:p>
            <a:pPr marL="0" indent="0" algn="l">
              <a:lnSpc>
                <a:spcPts val="3520"/>
              </a:lnSpc>
              <a:buNone/>
            </a:pPr>
            <a:r>
              <a:rPr lang="en-US" sz="3200" b="1" kern="0" spc="-50" dirty="0">
                <a:solidFill>
                  <a:srgbClr val="F4F4F5"/>
                </a:solidFill>
                <a:latin typeface="Arial" pitchFamily="34" charset="0"/>
                <a:ea typeface="Arial" pitchFamily="34" charset="-122"/>
                <a:cs typeface="Arial" pitchFamily="34" charset="-120"/>
              </a:rPr>
              <a:t>Cómo reconocerlo y cómo corregirlo</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808361"/>
          <a:ext cx="10553700" cy="1792685"/>
        </p:xfrm>
        <a:graphic>
          <a:graphicData uri="http://schemas.openxmlformats.org/drawingml/2006/table">
            <a:tbl>
              <a:tblPr/>
              <a:tblGrid>
                <a:gridCol w="1899666">
                  <a:extLst>
                    <a:ext uri="{9D8B030D-6E8A-4147-A177-3AD203B41FA5}">
                      <a16:colId xmlns:a16="http://schemas.microsoft.com/office/drawing/2014/main" val="20000"/>
                    </a:ext>
                  </a:extLst>
                </a:gridCol>
                <a:gridCol w="4327017">
                  <a:extLst>
                    <a:ext uri="{9D8B030D-6E8A-4147-A177-3AD203B41FA5}">
                      <a16:colId xmlns:a16="http://schemas.microsoft.com/office/drawing/2014/main" val="20001"/>
                    </a:ext>
                  </a:extLst>
                </a:gridCol>
                <a:gridCol w="4327017">
                  <a:extLst>
                    <a:ext uri="{9D8B030D-6E8A-4147-A177-3AD203B41FA5}">
                      <a16:colId xmlns:a16="http://schemas.microsoft.com/office/drawing/2014/main" val="20002"/>
                    </a:ext>
                  </a:extLst>
                </a:gridCol>
              </a:tblGrid>
              <a:tr h="385961">
                <a:tc>
                  <a:txBody>
                    <a:bodyPr/>
                    <a:lstStyle/>
                    <a:p>
                      <a:pPr marL="0" indent="0">
                        <a:lnSpc>
                          <a:spcPts val="1960"/>
                        </a:lnSpc>
                        <a:buNone/>
                      </a:pPr>
                      <a:endParaRPr lang="en-US" sz="1400" dirty="0">
                        <a:latin typeface="Arial" charset="0"/>
                        <a:ea typeface="Arial" charset="0"/>
                        <a:cs typeface="Arial" charset="0"/>
                      </a:endParaRPr>
                    </a:p>
                  </a:txBody>
                  <a:tcPr marL="62230" marR="62230" marT="62230" marB="62230">
                    <a:lnL w="12700" cap="flat" cmpd="sng" algn="ctr">
                      <a:solidFill>
                        <a:srgbClr val="403F40"/>
                      </a:solidFill>
                      <a:prstDash val="solid"/>
                      <a:round/>
                      <a:headEnd type="none" w="med" len="med"/>
                      <a:tailEnd type="none" w="med" len="med"/>
                    </a:lnL>
                    <a:lnR w="12700" cap="flat" cmpd="sng" algn="ctr">
                      <a:solidFill>
                        <a:srgbClr val="4E4E4F"/>
                      </a:solidFill>
                      <a:prstDash val="solid"/>
                      <a:round/>
                      <a:headEnd type="none" w="med" len="med"/>
                      <a:tailEnd type="none" w="med" len="med"/>
                    </a:lnR>
                    <a:lnT w="12700" cap="flat" cmpd="sng" algn="ctr">
                      <a:solidFill>
                        <a:srgbClr val="403F40"/>
                      </a:solidFill>
                      <a:prstDash val="solid"/>
                      <a:round/>
                      <a:headEnd type="none" w="med" len="med"/>
                      <a:tailEnd type="none" w="med" len="med"/>
                    </a:lnT>
                    <a:lnB w="12700" cap="flat" cmpd="sng" algn="ctr">
                      <a:solidFill>
                        <a:srgbClr val="4E4E4F"/>
                      </a:solidFill>
                      <a:prstDash val="solid"/>
                      <a:round/>
                      <a:headEnd type="none" w="med" len="med"/>
                      <a:tailEnd type="none" w="med" len="med"/>
                    </a:lnB>
                    <a:solidFill>
                      <a:srgbClr val="1E1E20"/>
                    </a:solidFill>
                  </a:tcPr>
                </a:tc>
                <a:tc>
                  <a:txBody>
                    <a:bodyPr/>
                    <a:lstStyle/>
                    <a:p>
                      <a:pPr marL="0" indent="0">
                        <a:lnSpc>
                          <a:spcPts val="1960"/>
                        </a:lnSpc>
                        <a:buNone/>
                      </a:pPr>
                      <a:r>
                        <a:rPr lang="en-US" sz="1400" b="1" dirty="0">
                          <a:solidFill>
                            <a:srgbClr val="E4E4E7"/>
                          </a:solidFill>
                          <a:latin typeface="Arial" pitchFamily="34" charset="0"/>
                          <a:ea typeface="Arial" pitchFamily="34" charset="-122"/>
                          <a:cs typeface="Arial" pitchFamily="34" charset="-120"/>
                        </a:rPr>
                        <a:t>Underfitting · subajuste</a:t>
                      </a:r>
                      <a:endParaRPr lang="en-US" sz="1400" dirty="0">
                        <a:latin typeface="Arial" charset="0"/>
                        <a:ea typeface="Arial" charset="0"/>
                        <a:cs typeface="Arial" charset="0"/>
                      </a:endParaRPr>
                    </a:p>
                  </a:txBody>
                  <a:tcPr marL="62230" marR="62230" marT="62230" marB="62230">
                    <a:lnL w="12700" cap="flat" cmpd="sng" algn="ctr">
                      <a:solidFill>
                        <a:srgbClr val="4E4E4F"/>
                      </a:solidFill>
                      <a:prstDash val="solid"/>
                      <a:round/>
                      <a:headEnd type="none" w="med" len="med"/>
                      <a:tailEnd type="none" w="med" len="med"/>
                    </a:lnL>
                    <a:lnR w="12700" cap="flat" cmpd="sng" algn="ctr">
                      <a:solidFill>
                        <a:srgbClr val="4E4E4F"/>
                      </a:solidFill>
                      <a:prstDash val="solid"/>
                      <a:round/>
                      <a:headEnd type="none" w="med" len="med"/>
                      <a:tailEnd type="none" w="med" len="med"/>
                    </a:lnR>
                    <a:lnT w="12700" cap="flat" cmpd="sng" algn="ctr">
                      <a:solidFill>
                        <a:srgbClr val="403F40"/>
                      </a:solidFill>
                      <a:prstDash val="solid"/>
                      <a:round/>
                      <a:headEnd type="none" w="med" len="med"/>
                      <a:tailEnd type="none" w="med" len="med"/>
                    </a:lnT>
                    <a:lnB w="12700" cap="flat" cmpd="sng" algn="ctr">
                      <a:solidFill>
                        <a:srgbClr val="4E4E4F"/>
                      </a:solidFill>
                      <a:prstDash val="solid"/>
                      <a:round/>
                      <a:headEnd type="none" w="med" len="med"/>
                      <a:tailEnd type="none" w="med" len="med"/>
                    </a:lnB>
                    <a:solidFill>
                      <a:srgbClr val="1E1E20"/>
                    </a:solidFill>
                  </a:tcPr>
                </a:tc>
                <a:tc>
                  <a:txBody>
                    <a:bodyPr/>
                    <a:lstStyle/>
                    <a:p>
                      <a:pPr marL="0" indent="0">
                        <a:lnSpc>
                          <a:spcPts val="1960"/>
                        </a:lnSpc>
                        <a:buNone/>
                      </a:pPr>
                      <a:r>
                        <a:rPr lang="en-US" sz="1400" b="1" dirty="0">
                          <a:solidFill>
                            <a:srgbClr val="E4E4E7"/>
                          </a:solidFill>
                          <a:latin typeface="Arial" pitchFamily="34" charset="0"/>
                          <a:ea typeface="Arial" pitchFamily="34" charset="-122"/>
                          <a:cs typeface="Arial" pitchFamily="34" charset="-120"/>
                        </a:rPr>
                        <a:t>Overfitting · sobreajuste</a:t>
                      </a:r>
                      <a:endParaRPr lang="en-US" sz="1400" dirty="0">
                        <a:latin typeface="Arial" charset="0"/>
                        <a:ea typeface="Arial" charset="0"/>
                        <a:cs typeface="Arial" charset="0"/>
                      </a:endParaRPr>
                    </a:p>
                  </a:txBody>
                  <a:tcPr marL="62230" marR="62230" marT="62230" marB="62230">
                    <a:lnL w="12700" cap="flat" cmpd="sng" algn="ctr">
                      <a:solidFill>
                        <a:srgbClr val="4E4E4F"/>
                      </a:solidFill>
                      <a:prstDash val="solid"/>
                      <a:round/>
                      <a:headEnd type="none" w="med" len="med"/>
                      <a:tailEnd type="none" w="med" len="med"/>
                    </a:lnL>
                    <a:lnR w="12700" cap="flat" cmpd="sng" algn="ctr">
                      <a:solidFill>
                        <a:srgbClr val="4E4E4F"/>
                      </a:solidFill>
                      <a:prstDash val="solid"/>
                      <a:round/>
                      <a:headEnd type="none" w="med" len="med"/>
                      <a:tailEnd type="none" w="med" len="med"/>
                    </a:lnR>
                    <a:lnT w="12700" cap="flat" cmpd="sng" algn="ctr">
                      <a:solidFill>
                        <a:srgbClr val="403F40"/>
                      </a:solidFill>
                      <a:prstDash val="solid"/>
                      <a:round/>
                      <a:headEnd type="none" w="med" len="med"/>
                      <a:tailEnd type="none" w="med" len="med"/>
                    </a:lnT>
                    <a:lnB w="12700" cap="flat" cmpd="sng" algn="ctr">
                      <a:solidFill>
                        <a:srgbClr val="4E4E4F"/>
                      </a:solidFill>
                      <a:prstDash val="solid"/>
                      <a:round/>
                      <a:headEnd type="none" w="med" len="med"/>
                      <a:tailEnd type="none" w="med" len="med"/>
                    </a:lnB>
                    <a:solidFill>
                      <a:srgbClr val="1E1E20"/>
                    </a:solidFill>
                  </a:tcPr>
                </a:tc>
                <a:extLst>
                  <a:ext uri="{0D108BD9-81ED-4DB2-BD59-A6C34878D82A}">
                    <a16:rowId xmlns:a16="http://schemas.microsoft.com/office/drawing/2014/main" val="10000"/>
                  </a:ext>
                </a:extLst>
              </a:tr>
              <a:tr h="385961">
                <a:tc>
                  <a:txBody>
                    <a:bodyPr/>
                    <a:lstStyle/>
                    <a:p>
                      <a:pPr marL="0" indent="0">
                        <a:lnSpc>
                          <a:spcPts val="1960"/>
                        </a:lnSpc>
                        <a:buNone/>
                      </a:pPr>
                      <a:r>
                        <a:rPr lang="en-US" sz="1400" dirty="0">
                          <a:solidFill>
                            <a:srgbClr val="FF5C77"/>
                          </a:solidFill>
                          <a:latin typeface="Arial" pitchFamily="34" charset="0"/>
                          <a:ea typeface="Arial" pitchFamily="34" charset="-122"/>
                          <a:cs typeface="Arial" pitchFamily="34" charset="-120"/>
                        </a:rPr>
                        <a:t>Señal</a:t>
                      </a:r>
                      <a:endParaRPr lang="en-US" sz="1400" dirty="0">
                        <a:latin typeface="Arial" charset="0"/>
                        <a:ea typeface="Arial" charset="0"/>
                        <a:cs typeface="Arial" charset="0"/>
                      </a:endParaRPr>
                    </a:p>
                  </a:txBody>
                  <a:tcPr marL="62230" marR="62230" marT="62230" marB="62230">
                    <a:lnL w="12700" cap="flat" cmpd="sng" algn="ctr">
                      <a:solidFill>
                        <a:srgbClr val="403F40"/>
                      </a:solidFill>
                      <a:prstDash val="solid"/>
                      <a:round/>
                      <a:headEnd type="none" w="med" len="med"/>
                      <a:tailEnd type="none" w="med" len="med"/>
                    </a:lnL>
                    <a:lnR w="12700" cap="flat" cmpd="sng" algn="ctr">
                      <a:solidFill>
                        <a:srgbClr val="403F40"/>
                      </a:solidFill>
                      <a:prstDash val="solid"/>
                      <a:round/>
                      <a:headEnd type="none" w="med" len="med"/>
                      <a:tailEnd type="none" w="med" len="med"/>
                    </a:lnR>
                    <a:lnT w="12700" cap="flat" cmpd="sng" algn="ctr">
                      <a:solidFill>
                        <a:srgbClr val="4E4E4F"/>
                      </a:solidFill>
                      <a:prstDash val="solid"/>
                      <a:round/>
                      <a:headEnd type="none" w="med" len="med"/>
                      <a:tailEnd type="none" w="med" len="med"/>
                    </a:lnT>
                    <a:lnB w="12700" cap="flat" cmpd="sng" algn="ctr">
                      <a:solidFill>
                        <a:srgbClr val="403F40"/>
                      </a:solidFill>
                      <a:prstDash val="solid"/>
                      <a:round/>
                      <a:headEnd type="none" w="med" len="med"/>
                      <a:tailEnd type="none" w="med" len="med"/>
                    </a:lnB>
                  </a:tcPr>
                </a:tc>
                <a:tc>
                  <a:txBody>
                    <a:bodyPr/>
                    <a:lstStyle/>
                    <a:p>
                      <a:pPr marL="0" indent="0">
                        <a:lnSpc>
                          <a:spcPts val="1960"/>
                        </a:lnSpc>
                        <a:buNone/>
                      </a:pPr>
                      <a:r>
                        <a:rPr lang="en-US" sz="1400" dirty="0">
                          <a:solidFill>
                            <a:srgbClr val="E4E4E7"/>
                          </a:solidFill>
                          <a:latin typeface="Arial" pitchFamily="34" charset="0"/>
                          <a:ea typeface="Arial" pitchFamily="34" charset="-122"/>
                          <a:cs typeface="Arial" pitchFamily="34" charset="-120"/>
                        </a:rPr>
                        <a:t>Práctica baja y examen bajo</a:t>
                      </a:r>
                      <a:endParaRPr lang="en-US" sz="1400" dirty="0">
                        <a:latin typeface="Arial" charset="0"/>
                        <a:ea typeface="Arial" charset="0"/>
                        <a:cs typeface="Arial" charset="0"/>
                      </a:endParaRPr>
                    </a:p>
                  </a:txBody>
                  <a:tcPr marL="62230" marR="62230" marT="62230" marB="62230">
                    <a:lnL w="12700" cap="flat" cmpd="sng" algn="ctr">
                      <a:solidFill>
                        <a:srgbClr val="403F40"/>
                      </a:solidFill>
                      <a:prstDash val="solid"/>
                      <a:round/>
                      <a:headEnd type="none" w="med" len="med"/>
                      <a:tailEnd type="none" w="med" len="med"/>
                    </a:lnL>
                    <a:lnR w="12700" cap="flat" cmpd="sng" algn="ctr">
                      <a:solidFill>
                        <a:srgbClr val="403F40"/>
                      </a:solidFill>
                      <a:prstDash val="solid"/>
                      <a:round/>
                      <a:headEnd type="none" w="med" len="med"/>
                      <a:tailEnd type="none" w="med" len="med"/>
                    </a:lnR>
                    <a:lnT w="12700" cap="flat" cmpd="sng" algn="ctr">
                      <a:solidFill>
                        <a:srgbClr val="4E4E4F"/>
                      </a:solidFill>
                      <a:prstDash val="solid"/>
                      <a:round/>
                      <a:headEnd type="none" w="med" len="med"/>
                      <a:tailEnd type="none" w="med" len="med"/>
                    </a:lnT>
                    <a:lnB w="12700" cap="flat" cmpd="sng" algn="ctr">
                      <a:solidFill>
                        <a:srgbClr val="403F40"/>
                      </a:solidFill>
                      <a:prstDash val="solid"/>
                      <a:round/>
                      <a:headEnd type="none" w="med" len="med"/>
                      <a:tailEnd type="none" w="med" len="med"/>
                    </a:lnB>
                  </a:tcPr>
                </a:tc>
                <a:tc>
                  <a:txBody>
                    <a:bodyPr/>
                    <a:lstStyle/>
                    <a:p>
                      <a:pPr marL="0" indent="0">
                        <a:lnSpc>
                          <a:spcPts val="1960"/>
                        </a:lnSpc>
                        <a:buNone/>
                      </a:pPr>
                      <a:r>
                        <a:rPr lang="en-US" sz="1400" dirty="0">
                          <a:solidFill>
                            <a:srgbClr val="E4E4E7"/>
                          </a:solidFill>
                          <a:latin typeface="Arial" pitchFamily="34" charset="0"/>
                          <a:ea typeface="Arial" pitchFamily="34" charset="-122"/>
                          <a:cs typeface="Arial" pitchFamily="34" charset="-120"/>
                        </a:rPr>
                        <a:t>Práctica muy alta, examen bastante más bajo</a:t>
                      </a:r>
                      <a:endParaRPr lang="en-US" sz="1400" dirty="0">
                        <a:latin typeface="Arial" charset="0"/>
                        <a:ea typeface="Arial" charset="0"/>
                        <a:cs typeface="Arial" charset="0"/>
                      </a:endParaRPr>
                    </a:p>
                  </a:txBody>
                  <a:tcPr marL="62230" marR="62230" marT="62230" marB="62230">
                    <a:lnL w="12700" cap="flat" cmpd="sng" algn="ctr">
                      <a:solidFill>
                        <a:srgbClr val="403F40"/>
                      </a:solidFill>
                      <a:prstDash val="solid"/>
                      <a:round/>
                      <a:headEnd type="none" w="med" len="med"/>
                      <a:tailEnd type="none" w="med" len="med"/>
                    </a:lnL>
                    <a:lnR w="12700" cap="flat" cmpd="sng" algn="ctr">
                      <a:solidFill>
                        <a:srgbClr val="403F40"/>
                      </a:solidFill>
                      <a:prstDash val="solid"/>
                      <a:round/>
                      <a:headEnd type="none" w="med" len="med"/>
                      <a:tailEnd type="none" w="med" len="med"/>
                    </a:lnR>
                    <a:lnT w="12700" cap="flat" cmpd="sng" algn="ctr">
                      <a:solidFill>
                        <a:srgbClr val="4E4E4F"/>
                      </a:solidFill>
                      <a:prstDash val="solid"/>
                      <a:round/>
                      <a:headEnd type="none" w="med" len="med"/>
                      <a:tailEnd type="none" w="med" len="med"/>
                    </a:lnT>
                    <a:lnB w="12700" cap="flat" cmpd="sng" algn="ctr">
                      <a:solidFill>
                        <a:srgbClr val="403F40"/>
                      </a:solidFill>
                      <a:prstDash val="solid"/>
                      <a:round/>
                      <a:headEnd type="none" w="med" len="med"/>
                      <a:tailEnd type="none" w="med" len="med"/>
                    </a:lnB>
                  </a:tcPr>
                </a:tc>
                <a:extLst>
                  <a:ext uri="{0D108BD9-81ED-4DB2-BD59-A6C34878D82A}">
                    <a16:rowId xmlns:a16="http://schemas.microsoft.com/office/drawing/2014/main" val="10001"/>
                  </a:ext>
                </a:extLst>
              </a:tr>
              <a:tr h="385961">
                <a:tc>
                  <a:txBody>
                    <a:bodyPr/>
                    <a:lstStyle/>
                    <a:p>
                      <a:pPr marL="0" indent="0">
                        <a:lnSpc>
                          <a:spcPts val="1960"/>
                        </a:lnSpc>
                        <a:buNone/>
                      </a:pPr>
                      <a:r>
                        <a:rPr lang="en-US" sz="1400" dirty="0">
                          <a:solidFill>
                            <a:srgbClr val="FF5C77"/>
                          </a:solidFill>
                          <a:latin typeface="Arial" pitchFamily="34" charset="0"/>
                          <a:ea typeface="Arial" pitchFamily="34" charset="-122"/>
                          <a:cs typeface="Arial" pitchFamily="34" charset="-120"/>
                        </a:rPr>
                        <a:t>Causa</a:t>
                      </a:r>
                      <a:endParaRPr lang="en-US" sz="1400" dirty="0">
                        <a:latin typeface="Arial" charset="0"/>
                        <a:ea typeface="Arial" charset="0"/>
                        <a:cs typeface="Arial" charset="0"/>
                      </a:endParaRPr>
                    </a:p>
                  </a:txBody>
                  <a:tcPr marL="62230" marR="62230" marT="62230" marB="62230">
                    <a:lnL w="12700" cap="flat" cmpd="sng" algn="ctr">
                      <a:solidFill>
                        <a:srgbClr val="403F40"/>
                      </a:solidFill>
                      <a:prstDash val="solid"/>
                      <a:round/>
                      <a:headEnd type="none" w="med" len="med"/>
                      <a:tailEnd type="none" w="med" len="med"/>
                    </a:lnL>
                    <a:lnR w="12700" cap="flat" cmpd="sng" algn="ctr">
                      <a:solidFill>
                        <a:srgbClr val="403F40"/>
                      </a:solidFill>
                      <a:prstDash val="solid"/>
                      <a:round/>
                      <a:headEnd type="none" w="med" len="med"/>
                      <a:tailEnd type="none" w="med" len="med"/>
                    </a:lnR>
                    <a:lnT w="12700" cap="flat" cmpd="sng" algn="ctr">
                      <a:solidFill>
                        <a:srgbClr val="403F40"/>
                      </a:solidFill>
                      <a:prstDash val="solid"/>
                      <a:round/>
                      <a:headEnd type="none" w="med" len="med"/>
                      <a:tailEnd type="none" w="med" len="med"/>
                    </a:lnT>
                    <a:lnB w="12700" cap="flat" cmpd="sng" algn="ctr">
                      <a:solidFill>
                        <a:srgbClr val="403F40"/>
                      </a:solidFill>
                      <a:prstDash val="solid"/>
                      <a:round/>
                      <a:headEnd type="none" w="med" len="med"/>
                      <a:tailEnd type="none" w="med" len="med"/>
                    </a:lnB>
                  </a:tcPr>
                </a:tc>
                <a:tc>
                  <a:txBody>
                    <a:bodyPr/>
                    <a:lstStyle/>
                    <a:p>
                      <a:pPr marL="0" indent="0">
                        <a:lnSpc>
                          <a:spcPts val="1960"/>
                        </a:lnSpc>
                        <a:buNone/>
                      </a:pPr>
                      <a:r>
                        <a:rPr lang="en-US" sz="1400" dirty="0">
                          <a:solidFill>
                            <a:srgbClr val="E4E4E7"/>
                          </a:solidFill>
                          <a:latin typeface="Arial" pitchFamily="34" charset="0"/>
                          <a:ea typeface="Arial" pitchFamily="34" charset="-122"/>
                          <a:cs typeface="Arial" pitchFamily="34" charset="-120"/>
                        </a:rPr>
                        <a:t>Modelo demasiado simple</a:t>
                      </a:r>
                      <a:endParaRPr lang="en-US" sz="1400" dirty="0">
                        <a:latin typeface="Arial" charset="0"/>
                        <a:ea typeface="Arial" charset="0"/>
                        <a:cs typeface="Arial" charset="0"/>
                      </a:endParaRPr>
                    </a:p>
                  </a:txBody>
                  <a:tcPr marL="62230" marR="62230" marT="62230" marB="62230">
                    <a:lnL w="12700" cap="flat" cmpd="sng" algn="ctr">
                      <a:solidFill>
                        <a:srgbClr val="403F40"/>
                      </a:solidFill>
                      <a:prstDash val="solid"/>
                      <a:round/>
                      <a:headEnd type="none" w="med" len="med"/>
                      <a:tailEnd type="none" w="med" len="med"/>
                    </a:lnL>
                    <a:lnR w="12700" cap="flat" cmpd="sng" algn="ctr">
                      <a:solidFill>
                        <a:srgbClr val="403F40"/>
                      </a:solidFill>
                      <a:prstDash val="solid"/>
                      <a:round/>
                      <a:headEnd type="none" w="med" len="med"/>
                      <a:tailEnd type="none" w="med" len="med"/>
                    </a:lnR>
                    <a:lnT w="12700" cap="flat" cmpd="sng" algn="ctr">
                      <a:solidFill>
                        <a:srgbClr val="403F40"/>
                      </a:solidFill>
                      <a:prstDash val="solid"/>
                      <a:round/>
                      <a:headEnd type="none" w="med" len="med"/>
                      <a:tailEnd type="none" w="med" len="med"/>
                    </a:lnT>
                    <a:lnB w="12700" cap="flat" cmpd="sng" algn="ctr">
                      <a:solidFill>
                        <a:srgbClr val="403F40"/>
                      </a:solidFill>
                      <a:prstDash val="solid"/>
                      <a:round/>
                      <a:headEnd type="none" w="med" len="med"/>
                      <a:tailEnd type="none" w="med" len="med"/>
                    </a:lnB>
                  </a:tcPr>
                </a:tc>
                <a:tc>
                  <a:txBody>
                    <a:bodyPr/>
                    <a:lstStyle/>
                    <a:p>
                      <a:pPr marL="0" indent="0">
                        <a:lnSpc>
                          <a:spcPts val="1960"/>
                        </a:lnSpc>
                        <a:buNone/>
                      </a:pPr>
                      <a:r>
                        <a:rPr lang="en-US" sz="1400" dirty="0">
                          <a:solidFill>
                            <a:srgbClr val="E4E4E7"/>
                          </a:solidFill>
                          <a:latin typeface="Arial" pitchFamily="34" charset="0"/>
                          <a:ea typeface="Arial" pitchFamily="34" charset="-122"/>
                          <a:cs typeface="Arial" pitchFamily="34" charset="-120"/>
                        </a:rPr>
                        <a:t>Modelo demasiado complejo o pocos datos</a:t>
                      </a:r>
                      <a:endParaRPr lang="en-US" sz="1400" dirty="0">
                        <a:latin typeface="Arial" charset="0"/>
                        <a:ea typeface="Arial" charset="0"/>
                        <a:cs typeface="Arial" charset="0"/>
                      </a:endParaRPr>
                    </a:p>
                  </a:txBody>
                  <a:tcPr marL="62230" marR="62230" marT="62230" marB="62230">
                    <a:lnL w="12700" cap="flat" cmpd="sng" algn="ctr">
                      <a:solidFill>
                        <a:srgbClr val="403F40"/>
                      </a:solidFill>
                      <a:prstDash val="solid"/>
                      <a:round/>
                      <a:headEnd type="none" w="med" len="med"/>
                      <a:tailEnd type="none" w="med" len="med"/>
                    </a:lnL>
                    <a:lnR w="12700" cap="flat" cmpd="sng" algn="ctr">
                      <a:solidFill>
                        <a:srgbClr val="403F40"/>
                      </a:solidFill>
                      <a:prstDash val="solid"/>
                      <a:round/>
                      <a:headEnd type="none" w="med" len="med"/>
                      <a:tailEnd type="none" w="med" len="med"/>
                    </a:lnR>
                    <a:lnT w="12700" cap="flat" cmpd="sng" algn="ctr">
                      <a:solidFill>
                        <a:srgbClr val="403F40"/>
                      </a:solidFill>
                      <a:prstDash val="solid"/>
                      <a:round/>
                      <a:headEnd type="none" w="med" len="med"/>
                      <a:tailEnd type="none" w="med" len="med"/>
                    </a:lnT>
                    <a:lnB w="12700" cap="flat" cmpd="sng" algn="ctr">
                      <a:solidFill>
                        <a:srgbClr val="403F40"/>
                      </a:solidFill>
                      <a:prstDash val="solid"/>
                      <a:round/>
                      <a:headEnd type="none" w="med" len="med"/>
                      <a:tailEnd type="none" w="med" len="med"/>
                    </a:lnB>
                  </a:tcPr>
                </a:tc>
                <a:extLst>
                  <a:ext uri="{0D108BD9-81ED-4DB2-BD59-A6C34878D82A}">
                    <a16:rowId xmlns:a16="http://schemas.microsoft.com/office/drawing/2014/main" val="10002"/>
                  </a:ext>
                </a:extLst>
              </a:tr>
              <a:tr h="634802">
                <a:tc>
                  <a:txBody>
                    <a:bodyPr/>
                    <a:lstStyle/>
                    <a:p>
                      <a:pPr marL="0" indent="0">
                        <a:lnSpc>
                          <a:spcPts val="1960"/>
                        </a:lnSpc>
                        <a:buNone/>
                      </a:pPr>
                      <a:r>
                        <a:rPr lang="en-US" sz="1400" dirty="0">
                          <a:solidFill>
                            <a:srgbClr val="FF5C77"/>
                          </a:solidFill>
                          <a:latin typeface="Arial" pitchFamily="34" charset="0"/>
                          <a:ea typeface="Arial" pitchFamily="34" charset="-122"/>
                          <a:cs typeface="Arial" pitchFamily="34" charset="-120"/>
                        </a:rPr>
                        <a:t>Solución</a:t>
                      </a:r>
                      <a:endParaRPr lang="en-US" sz="1400" dirty="0">
                        <a:latin typeface="Arial" charset="0"/>
                        <a:ea typeface="Arial" charset="0"/>
                        <a:cs typeface="Arial" charset="0"/>
                      </a:endParaRPr>
                    </a:p>
                  </a:txBody>
                  <a:tcPr marL="62230" marR="62230" marT="62230" marB="62230">
                    <a:lnL w="12700" cap="flat" cmpd="sng" algn="ctr">
                      <a:solidFill>
                        <a:srgbClr val="403F40"/>
                      </a:solidFill>
                      <a:prstDash val="solid"/>
                      <a:round/>
                      <a:headEnd type="none" w="med" len="med"/>
                      <a:tailEnd type="none" w="med" len="med"/>
                    </a:lnL>
                    <a:lnR w="12700" cap="flat" cmpd="sng" algn="ctr">
                      <a:solidFill>
                        <a:srgbClr val="403F40"/>
                      </a:solidFill>
                      <a:prstDash val="solid"/>
                      <a:round/>
                      <a:headEnd type="none" w="med" len="med"/>
                      <a:tailEnd type="none" w="med" len="med"/>
                    </a:lnR>
                    <a:lnT w="12700" cap="flat" cmpd="sng" algn="ctr">
                      <a:solidFill>
                        <a:srgbClr val="403F40"/>
                      </a:solidFill>
                      <a:prstDash val="solid"/>
                      <a:round/>
                      <a:headEnd type="none" w="med" len="med"/>
                      <a:tailEnd type="none" w="med" len="med"/>
                    </a:lnT>
                    <a:lnB w="12700" cap="flat" cmpd="sng" algn="ctr">
                      <a:solidFill>
                        <a:srgbClr val="403F40"/>
                      </a:solidFill>
                      <a:prstDash val="solid"/>
                      <a:round/>
                      <a:headEnd type="none" w="med" len="med"/>
                      <a:tailEnd type="none" w="med" len="med"/>
                    </a:lnB>
                  </a:tcPr>
                </a:tc>
                <a:tc>
                  <a:txBody>
                    <a:bodyPr/>
                    <a:lstStyle/>
                    <a:p>
                      <a:pPr marL="0" indent="0">
                        <a:lnSpc>
                          <a:spcPts val="1960"/>
                        </a:lnSpc>
                        <a:buNone/>
                      </a:pPr>
                      <a:r>
                        <a:rPr lang="en-US" sz="1400" dirty="0">
                          <a:solidFill>
                            <a:srgbClr val="E4E4E7"/>
                          </a:solidFill>
                          <a:latin typeface="Arial" pitchFamily="34" charset="0"/>
                          <a:ea typeface="Arial" pitchFamily="34" charset="-122"/>
                          <a:cs typeface="Arial" pitchFamily="34" charset="-120"/>
                        </a:rPr>
                        <a:t>Usar un modelo más complejo o agregar variables útiles</a:t>
                      </a:r>
                      <a:endParaRPr lang="en-US" sz="1400" dirty="0">
                        <a:latin typeface="Arial" charset="0"/>
                        <a:ea typeface="Arial" charset="0"/>
                        <a:cs typeface="Arial" charset="0"/>
                      </a:endParaRPr>
                    </a:p>
                  </a:txBody>
                  <a:tcPr marL="62230" marR="62230" marT="62230" marB="62230">
                    <a:lnL w="12700" cap="flat" cmpd="sng" algn="ctr">
                      <a:solidFill>
                        <a:srgbClr val="403F40"/>
                      </a:solidFill>
                      <a:prstDash val="solid"/>
                      <a:round/>
                      <a:headEnd type="none" w="med" len="med"/>
                      <a:tailEnd type="none" w="med" len="med"/>
                    </a:lnL>
                    <a:lnR w="12700" cap="flat" cmpd="sng" algn="ctr">
                      <a:solidFill>
                        <a:srgbClr val="403F40"/>
                      </a:solidFill>
                      <a:prstDash val="solid"/>
                      <a:round/>
                      <a:headEnd type="none" w="med" len="med"/>
                      <a:tailEnd type="none" w="med" len="med"/>
                    </a:lnR>
                    <a:lnT w="12700" cap="flat" cmpd="sng" algn="ctr">
                      <a:solidFill>
                        <a:srgbClr val="403F40"/>
                      </a:solidFill>
                      <a:prstDash val="solid"/>
                      <a:round/>
                      <a:headEnd type="none" w="med" len="med"/>
                      <a:tailEnd type="none" w="med" len="med"/>
                    </a:lnT>
                    <a:lnB w="12700" cap="flat" cmpd="sng" algn="ctr">
                      <a:solidFill>
                        <a:srgbClr val="403F40"/>
                      </a:solidFill>
                      <a:prstDash val="solid"/>
                      <a:round/>
                      <a:headEnd type="none" w="med" len="med"/>
                      <a:tailEnd type="none" w="med" len="med"/>
                    </a:lnB>
                  </a:tcPr>
                </a:tc>
                <a:tc>
                  <a:txBody>
                    <a:bodyPr/>
                    <a:lstStyle/>
                    <a:p>
                      <a:pPr marL="0" indent="0">
                        <a:lnSpc>
                          <a:spcPts val="1960"/>
                        </a:lnSpc>
                        <a:buNone/>
                      </a:pPr>
                      <a:r>
                        <a:rPr lang="en-US" sz="1400" dirty="0">
                          <a:solidFill>
                            <a:srgbClr val="E4E4E7"/>
                          </a:solidFill>
                          <a:latin typeface="Arial" pitchFamily="34" charset="0"/>
                          <a:ea typeface="Arial" pitchFamily="34" charset="-122"/>
                          <a:cs typeface="Arial" pitchFamily="34" charset="-120"/>
                        </a:rPr>
                        <a:t>Simplificar el modelo (menos profundidad), conseguir más datos</a:t>
                      </a:r>
                      <a:endParaRPr lang="en-US" sz="1400" dirty="0">
                        <a:latin typeface="Arial" charset="0"/>
                        <a:ea typeface="Arial" charset="0"/>
                        <a:cs typeface="Arial" charset="0"/>
                      </a:endParaRPr>
                    </a:p>
                  </a:txBody>
                  <a:tcPr marL="62230" marR="62230" marT="62230" marB="62230">
                    <a:lnL w="12700" cap="flat" cmpd="sng" algn="ctr">
                      <a:solidFill>
                        <a:srgbClr val="403F40"/>
                      </a:solidFill>
                      <a:prstDash val="solid"/>
                      <a:round/>
                      <a:headEnd type="none" w="med" len="med"/>
                      <a:tailEnd type="none" w="med" len="med"/>
                    </a:lnL>
                    <a:lnR w="12700" cap="flat" cmpd="sng" algn="ctr">
                      <a:solidFill>
                        <a:srgbClr val="403F40"/>
                      </a:solidFill>
                      <a:prstDash val="solid"/>
                      <a:round/>
                      <a:headEnd type="none" w="med" len="med"/>
                      <a:tailEnd type="none" w="med" len="med"/>
                    </a:lnR>
                    <a:lnT w="12700" cap="flat" cmpd="sng" algn="ctr">
                      <a:solidFill>
                        <a:srgbClr val="403F40"/>
                      </a:solidFill>
                      <a:prstDash val="solid"/>
                      <a:round/>
                      <a:headEnd type="none" w="med" len="med"/>
                      <a:tailEnd type="none" w="med" len="med"/>
                    </a:lnT>
                    <a:lnB w="12700" cap="flat" cmpd="sng" algn="ctr">
                      <a:solidFill>
                        <a:srgbClr val="403F40"/>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5" name="Shape 2"/>
          <p:cNvSpPr/>
          <p:nvPr/>
        </p:nvSpPr>
        <p:spPr>
          <a:xfrm>
            <a:off x="819150" y="3810595"/>
            <a:ext cx="10553700" cy="871736"/>
          </a:xfrm>
          <a:prstGeom prst="roundRect">
            <a:avLst>
              <a:gd name="adj" fmla="val 13840"/>
            </a:avLst>
          </a:prstGeom>
          <a:solidFill>
            <a:srgbClr val="1F0A0F"/>
          </a:solidFill>
          <a:ln w="12700">
            <a:solidFill>
              <a:srgbClr val="E4002B"/>
            </a:solidFill>
            <a:prstDash val="solid"/>
          </a:ln>
        </p:spPr>
        <p:txBody>
          <a:bodyPr/>
          <a:lstStyle/>
          <a:p>
            <a:endParaRPr lang="es-CO"/>
          </a:p>
        </p:txBody>
      </p:sp>
      <p:sp>
        <p:nvSpPr>
          <p:cNvPr id="6" name="Text 3"/>
          <p:cNvSpPr/>
          <p:nvPr/>
        </p:nvSpPr>
        <p:spPr>
          <a:xfrm>
            <a:off x="1079500" y="3994745"/>
            <a:ext cx="10333990"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E4002B"/>
                </a:solidFill>
                <a:latin typeface="Courier New" pitchFamily="34" charset="0"/>
                <a:ea typeface="Courier New" pitchFamily="34" charset="-122"/>
                <a:cs typeface="Courier New" pitchFamily="34" charset="-120"/>
              </a:rPr>
              <a:t>EN PALABRAS SIMPLES</a:t>
            </a:r>
            <a:endParaRPr lang="en-US" sz="1200" dirty="0"/>
          </a:p>
        </p:txBody>
      </p:sp>
      <p:sp>
        <p:nvSpPr>
          <p:cNvPr id="7" name="Text 4"/>
          <p:cNvSpPr/>
          <p:nvPr/>
        </p:nvSpPr>
        <p:spPr>
          <a:xfrm>
            <a:off x="1079500" y="4258866"/>
            <a:ext cx="10333990" cy="264716"/>
          </a:xfrm>
          <a:prstGeom prst="rect">
            <a:avLst/>
          </a:prstGeom>
          <a:noFill/>
          <a:ln/>
        </p:spPr>
        <p:txBody>
          <a:bodyPr wrap="square" lIns="0" tIns="0" rIns="0" bIns="0" rtlCol="0" anchor="t">
            <a:normAutofit/>
          </a:bodyPr>
          <a:lstStyle/>
          <a:p>
            <a:pPr marL="0" indent="0" algn="l">
              <a:lnSpc>
                <a:spcPts val="1885"/>
              </a:lnSpc>
              <a:buNone/>
            </a:pPr>
            <a:r>
              <a:rPr lang="en-US" sz="1300" dirty="0">
                <a:solidFill>
                  <a:srgbClr val="F4F4F5"/>
                </a:solidFill>
                <a:latin typeface="Arial" pitchFamily="34" charset="0"/>
                <a:ea typeface="Arial" pitchFamily="34" charset="-122"/>
                <a:cs typeface="Arial" pitchFamily="34" charset="-120"/>
              </a:rPr>
              <a:t>Compara siempre dos notas: la de práctica y la de examen. La diferencia entre ellas te dice qué le pasa al modelo.</a:t>
            </a:r>
            <a:endParaRPr lang="en-US" sz="1300" dirty="0"/>
          </a:p>
        </p:txBody>
      </p:sp>
      <p:sp>
        <p:nvSpPr>
          <p:cNvPr id="8" name="Text 5"/>
          <p:cNvSpPr/>
          <p:nvPr/>
        </p:nvSpPr>
        <p:spPr>
          <a:xfrm>
            <a:off x="812800" y="6238280"/>
            <a:ext cx="7848600" cy="238720"/>
          </a:xfrm>
          <a:prstGeom prst="rect">
            <a:avLst/>
          </a:prstGeom>
          <a:noFill/>
          <a:ln/>
        </p:spPr>
        <p:txBody>
          <a:bodyPr wrap="square" lIns="0" tIns="0" rIns="0" bIns="0" rtlCol="0" anchor="t">
            <a:normAutofit/>
          </a:bodyPr>
          <a:lstStyle/>
          <a:p>
            <a:pPr marL="0" indent="0" algn="l">
              <a:lnSpc>
                <a:spcPts val="1680"/>
              </a:lnSpc>
              <a:buNone/>
            </a:pPr>
            <a:r>
              <a:rPr lang="en-US" sz="1200" kern="0" spc="100" dirty="0">
                <a:solidFill>
                  <a:srgbClr val="71717A"/>
                </a:solidFill>
                <a:latin typeface="Courier New" pitchFamily="34" charset="0"/>
                <a:ea typeface="Courier New" pitchFamily="34" charset="-122"/>
                <a:cs typeface="Courier New" pitchFamily="34" charset="-120"/>
              </a:rPr>
              <a:t>UNIDAD 4 · VALIDACIÓN DE MODELOS</a:t>
            </a:r>
            <a:endParaRPr lang="en-US" sz="1200" dirty="0"/>
          </a:p>
        </p:txBody>
      </p:sp>
      <p:sp>
        <p:nvSpPr>
          <p:cNvPr id="9" name="Text 6"/>
          <p:cNvSpPr/>
          <p:nvPr/>
        </p:nvSpPr>
        <p:spPr>
          <a:xfrm>
            <a:off x="10058400" y="6238280"/>
            <a:ext cx="1320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71717A"/>
                </a:solidFill>
                <a:latin typeface="Courier New" pitchFamily="34" charset="0"/>
                <a:ea typeface="Courier New" pitchFamily="34" charset="-122"/>
                <a:cs typeface="Courier New" pitchFamily="34" charset="-120"/>
              </a:rPr>
              <a:t>21</a:t>
            </a:r>
            <a:endParaRPr lang="en-US" sz="12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E4002B"/>
        </a:solidFill>
        <a:effectLst/>
      </p:bgPr>
    </p:bg>
    <p:spTree>
      <p:nvGrpSpPr>
        <p:cNvPr id="1" name=""/>
        <p:cNvGrpSpPr/>
        <p:nvPr/>
      </p:nvGrpSpPr>
      <p:grpSpPr>
        <a:xfrm>
          <a:off x="0" y="0"/>
          <a:ext cx="0" cy="0"/>
          <a:chOff x="0" y="0"/>
          <a:chExt cx="0" cy="0"/>
        </a:xfrm>
      </p:grpSpPr>
      <p:sp>
        <p:nvSpPr>
          <p:cNvPr id="2" name="Text 0"/>
          <p:cNvSpPr/>
          <p:nvPr/>
        </p:nvSpPr>
        <p:spPr>
          <a:xfrm>
            <a:off x="812800" y="2228949"/>
            <a:ext cx="10883392" cy="256480"/>
          </a:xfrm>
          <a:prstGeom prst="rect">
            <a:avLst/>
          </a:prstGeom>
          <a:noFill/>
          <a:ln/>
        </p:spPr>
        <p:txBody>
          <a:bodyPr wrap="square" lIns="0" tIns="0" rIns="0" bIns="0" rtlCol="0" anchor="t">
            <a:normAutofit/>
          </a:bodyPr>
          <a:lstStyle/>
          <a:p>
            <a:pPr marL="0" indent="0" algn="l">
              <a:lnSpc>
                <a:spcPts val="1820"/>
              </a:lnSpc>
              <a:buNone/>
            </a:pPr>
            <a:r>
              <a:rPr lang="en-US" sz="1300" b="1" kern="0" spc="200" dirty="0">
                <a:solidFill>
                  <a:srgbClr val="F4F4F5"/>
                </a:solidFill>
                <a:latin typeface="Courier New" pitchFamily="34" charset="0"/>
                <a:ea typeface="Courier New" pitchFamily="34" charset="-122"/>
                <a:cs typeface="Courier New" pitchFamily="34" charset="-120"/>
              </a:rPr>
              <a:t>IDEA CLAVE</a:t>
            </a:r>
            <a:endParaRPr lang="en-US" sz="1300" dirty="0"/>
          </a:p>
        </p:txBody>
      </p:sp>
      <p:sp>
        <p:nvSpPr>
          <p:cNvPr id="3" name="Text 1"/>
          <p:cNvSpPr/>
          <p:nvPr/>
        </p:nvSpPr>
        <p:spPr>
          <a:xfrm>
            <a:off x="812800" y="2714030"/>
            <a:ext cx="9810750" cy="1366441"/>
          </a:xfrm>
          <a:prstGeom prst="rect">
            <a:avLst/>
          </a:prstGeom>
          <a:noFill/>
          <a:ln/>
        </p:spPr>
        <p:txBody>
          <a:bodyPr wrap="square" lIns="0" tIns="0" rIns="0" bIns="0" rtlCol="0" anchor="t">
            <a:normAutofit/>
          </a:bodyPr>
          <a:lstStyle/>
          <a:p>
            <a:pPr marL="0" indent="0" algn="l">
              <a:lnSpc>
                <a:spcPts val="5280"/>
              </a:lnSpc>
              <a:buNone/>
            </a:pPr>
            <a:r>
              <a:rPr lang="en-US" sz="4800" b="1" kern="0" spc="-100" dirty="0">
                <a:solidFill>
                  <a:srgbClr val="FFF7F7"/>
                </a:solidFill>
                <a:latin typeface="Arial" pitchFamily="34" charset="0"/>
                <a:ea typeface="Arial" pitchFamily="34" charset="-122"/>
                <a:cs typeface="Arial" pitchFamily="34" charset="-120"/>
              </a:rPr>
              <a:t>Un modelo no se evalúa con las preguntas que ya se sabe.</a:t>
            </a:r>
            <a:endParaRPr lang="en-US" sz="4800" dirty="0"/>
          </a:p>
        </p:txBody>
      </p:sp>
      <p:sp>
        <p:nvSpPr>
          <p:cNvPr id="4" name="Text 2"/>
          <p:cNvSpPr/>
          <p:nvPr/>
        </p:nvSpPr>
        <p:spPr>
          <a:xfrm>
            <a:off x="812800" y="4309070"/>
            <a:ext cx="9156700" cy="345380"/>
          </a:xfrm>
          <a:prstGeom prst="rect">
            <a:avLst/>
          </a:prstGeom>
          <a:noFill/>
          <a:ln/>
        </p:spPr>
        <p:txBody>
          <a:bodyPr wrap="square" lIns="0" tIns="0" rIns="0" bIns="0" rtlCol="0" anchor="t">
            <a:normAutofit/>
          </a:bodyPr>
          <a:lstStyle/>
          <a:p>
            <a:pPr marL="0" indent="0" algn="l">
              <a:lnSpc>
                <a:spcPts val="2520"/>
              </a:lnSpc>
              <a:buNone/>
            </a:pPr>
            <a:r>
              <a:rPr lang="en-US" sz="1800" dirty="0">
                <a:solidFill>
                  <a:srgbClr val="FFF7F7"/>
                </a:solidFill>
                <a:latin typeface="Arial" pitchFamily="34" charset="0"/>
                <a:ea typeface="Arial" pitchFamily="34" charset="-122"/>
                <a:cs typeface="Arial" pitchFamily="34" charset="-120"/>
              </a:rPr>
              <a:t>Pero aunque usemos un examen aparte… ¿y si la buena nota salió por pura suerte?</a:t>
            </a:r>
            <a:endParaRPr lang="en-US" sz="18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141417"/>
        </a:solidFill>
        <a:effectLst/>
      </p:bgPr>
    </p:bg>
    <p:spTree>
      <p:nvGrpSpPr>
        <p:cNvPr id="1" name=""/>
        <p:cNvGrpSpPr/>
        <p:nvPr/>
      </p:nvGrpSpPr>
      <p:grpSpPr>
        <a:xfrm>
          <a:off x="0" y="0"/>
          <a:ext cx="0" cy="0"/>
          <a:chOff x="0" y="0"/>
          <a:chExt cx="0" cy="0"/>
        </a:xfrm>
      </p:grpSpPr>
      <p:sp>
        <p:nvSpPr>
          <p:cNvPr id="2" name="Text 0"/>
          <p:cNvSpPr/>
          <p:nvPr/>
        </p:nvSpPr>
        <p:spPr>
          <a:xfrm>
            <a:off x="812800" y="1606649"/>
            <a:ext cx="10883392" cy="256480"/>
          </a:xfrm>
          <a:prstGeom prst="rect">
            <a:avLst/>
          </a:prstGeom>
          <a:noFill/>
          <a:ln/>
        </p:spPr>
        <p:txBody>
          <a:bodyPr wrap="square" lIns="0" tIns="0" rIns="0" bIns="0" rtlCol="0" anchor="t">
            <a:normAutofit/>
          </a:bodyPr>
          <a:lstStyle/>
          <a:p>
            <a:pPr marL="0" indent="0" algn="l">
              <a:lnSpc>
                <a:spcPts val="1820"/>
              </a:lnSpc>
              <a:buNone/>
            </a:pPr>
            <a:r>
              <a:rPr lang="en-US" sz="1300" b="1" kern="0" spc="200" dirty="0">
                <a:solidFill>
                  <a:srgbClr val="E4002B"/>
                </a:solidFill>
                <a:latin typeface="Courier New" pitchFamily="34" charset="0"/>
                <a:ea typeface="Courier New" pitchFamily="34" charset="-122"/>
                <a:cs typeface="Courier New" pitchFamily="34" charset="-120"/>
              </a:rPr>
              <a:t>SECCIÓN 03 DE 04</a:t>
            </a:r>
            <a:endParaRPr lang="en-US" sz="1300" dirty="0"/>
          </a:p>
        </p:txBody>
      </p:sp>
      <p:sp>
        <p:nvSpPr>
          <p:cNvPr id="3" name="Text 1"/>
          <p:cNvSpPr/>
          <p:nvPr/>
        </p:nvSpPr>
        <p:spPr>
          <a:xfrm>
            <a:off x="812800" y="1990130"/>
            <a:ext cx="10883392" cy="1549400"/>
          </a:xfrm>
          <a:prstGeom prst="rect">
            <a:avLst/>
          </a:prstGeom>
          <a:noFill/>
          <a:ln/>
        </p:spPr>
        <p:txBody>
          <a:bodyPr wrap="square" lIns="0" tIns="0" rIns="0" bIns="0" rtlCol="0" anchor="t">
            <a:normAutofit/>
          </a:bodyPr>
          <a:lstStyle/>
          <a:p>
            <a:pPr marL="0" indent="0" algn="l">
              <a:lnSpc>
                <a:spcPts val="12000"/>
              </a:lnSpc>
              <a:buNone/>
            </a:pPr>
            <a:r>
              <a:rPr lang="en-US" sz="12000" b="1" dirty="0">
                <a:solidFill>
                  <a:srgbClr val="E4002B"/>
                </a:solidFill>
                <a:latin typeface="Courier New" pitchFamily="34" charset="0"/>
                <a:ea typeface="Courier New" pitchFamily="34" charset="-122"/>
                <a:cs typeface="Courier New" pitchFamily="34" charset="-120"/>
              </a:rPr>
              <a:t>03</a:t>
            </a:r>
            <a:endParaRPr lang="en-US" sz="12000" dirty="0"/>
          </a:p>
        </p:txBody>
      </p:sp>
      <p:sp>
        <p:nvSpPr>
          <p:cNvPr id="4" name="Text 2"/>
          <p:cNvSpPr/>
          <p:nvPr/>
        </p:nvSpPr>
        <p:spPr>
          <a:xfrm>
            <a:off x="812800" y="3666530"/>
            <a:ext cx="10883392" cy="665460"/>
          </a:xfrm>
          <a:prstGeom prst="rect">
            <a:avLst/>
          </a:prstGeom>
          <a:noFill/>
          <a:ln/>
        </p:spPr>
        <p:txBody>
          <a:bodyPr wrap="square" lIns="0" tIns="0" rIns="0" bIns="0" rtlCol="0" anchor="t">
            <a:normAutofit/>
          </a:bodyPr>
          <a:lstStyle/>
          <a:p>
            <a:pPr marL="0" indent="0" algn="l">
              <a:lnSpc>
                <a:spcPts val="5040"/>
              </a:lnSpc>
              <a:buNone/>
            </a:pPr>
            <a:r>
              <a:rPr lang="en-US" sz="4800" b="1" kern="0" spc="-100" dirty="0">
                <a:solidFill>
                  <a:srgbClr val="F4F4F5"/>
                </a:solidFill>
                <a:latin typeface="Arial" pitchFamily="34" charset="0"/>
                <a:ea typeface="Arial" pitchFamily="34" charset="-122"/>
                <a:cs typeface="Arial" pitchFamily="34" charset="-120"/>
              </a:rPr>
              <a:t>Validación cruzada básica</a:t>
            </a:r>
            <a:endParaRPr lang="en-US" sz="4800" dirty="0"/>
          </a:p>
        </p:txBody>
      </p:sp>
      <p:sp>
        <p:nvSpPr>
          <p:cNvPr id="5" name="Text 3"/>
          <p:cNvSpPr/>
          <p:nvPr/>
        </p:nvSpPr>
        <p:spPr>
          <a:xfrm>
            <a:off x="812800" y="4458990"/>
            <a:ext cx="7848600" cy="614561"/>
          </a:xfrm>
          <a:prstGeom prst="rect">
            <a:avLst/>
          </a:prstGeom>
          <a:noFill/>
          <a:ln/>
        </p:spPr>
        <p:txBody>
          <a:bodyPr wrap="square" lIns="0" tIns="0" rIns="0" bIns="0" rtlCol="0" anchor="t">
            <a:normAutofit/>
          </a:bodyPr>
          <a:lstStyle/>
          <a:p>
            <a:pPr marL="0" indent="0" algn="l">
              <a:lnSpc>
                <a:spcPts val="2320"/>
              </a:lnSpc>
              <a:buNone/>
            </a:pPr>
            <a:r>
              <a:rPr lang="en-US" sz="1600" dirty="0">
                <a:solidFill>
                  <a:srgbClr val="A1A1AA"/>
                </a:solidFill>
                <a:latin typeface="Arial" pitchFamily="34" charset="0"/>
                <a:ea typeface="Arial" pitchFamily="34" charset="-122"/>
                <a:cs typeface="Arial" pitchFamily="34" charset="-120"/>
              </a:rPr>
              <a:t>En inglés, cross-validation. Varios exámenes en lugar de uno, para que la nota no dependa de la suerte.</a:t>
            </a:r>
            <a:endParaRPr lang="en-US" sz="1600" dirty="0"/>
          </a:p>
        </p:txBody>
      </p:sp>
      <p:sp>
        <p:nvSpPr>
          <p:cNvPr id="6" name="Text 4"/>
          <p:cNvSpPr/>
          <p:nvPr/>
        </p:nvSpPr>
        <p:spPr>
          <a:xfrm>
            <a:off x="812800" y="6238280"/>
            <a:ext cx="7848600" cy="238720"/>
          </a:xfrm>
          <a:prstGeom prst="rect">
            <a:avLst/>
          </a:prstGeom>
          <a:noFill/>
          <a:ln/>
        </p:spPr>
        <p:txBody>
          <a:bodyPr wrap="square" lIns="0" tIns="0" rIns="0" bIns="0" rtlCol="0" anchor="t">
            <a:normAutofit/>
          </a:bodyPr>
          <a:lstStyle/>
          <a:p>
            <a:pPr marL="0" indent="0" algn="l">
              <a:lnSpc>
                <a:spcPts val="1680"/>
              </a:lnSpc>
              <a:buNone/>
            </a:pPr>
            <a:r>
              <a:rPr lang="en-US" sz="1200" kern="0" spc="100" dirty="0">
                <a:solidFill>
                  <a:srgbClr val="71717A"/>
                </a:solidFill>
                <a:latin typeface="Courier New" pitchFamily="34" charset="0"/>
                <a:ea typeface="Courier New" pitchFamily="34" charset="-122"/>
                <a:cs typeface="Courier New" pitchFamily="34" charset="-120"/>
              </a:rPr>
              <a:t>UNIDAD 4 · VALIDACIÓN DE MODELOS</a:t>
            </a:r>
            <a:endParaRPr lang="en-US" sz="1200" dirty="0"/>
          </a:p>
        </p:txBody>
      </p:sp>
      <p:sp>
        <p:nvSpPr>
          <p:cNvPr id="7" name="Text 5"/>
          <p:cNvSpPr/>
          <p:nvPr/>
        </p:nvSpPr>
        <p:spPr>
          <a:xfrm>
            <a:off x="10058400" y="6238280"/>
            <a:ext cx="1320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71717A"/>
                </a:solidFill>
                <a:latin typeface="Courier New" pitchFamily="34" charset="0"/>
                <a:ea typeface="Courier New" pitchFamily="34" charset="-122"/>
                <a:cs typeface="Courier New" pitchFamily="34" charset="-120"/>
              </a:rPr>
              <a:t>23</a:t>
            </a:r>
            <a:endParaRPr lang="en-US" sz="12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0B0B0D"/>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marL="0" indent="0" algn="l">
              <a:lnSpc>
                <a:spcPts val="1820"/>
              </a:lnSpc>
              <a:buNone/>
            </a:pPr>
            <a:r>
              <a:rPr lang="en-US" sz="1300" b="1" kern="0" spc="200" dirty="0">
                <a:solidFill>
                  <a:srgbClr val="E4002B"/>
                </a:solidFill>
                <a:latin typeface="Courier New" pitchFamily="34" charset="0"/>
                <a:ea typeface="Courier New" pitchFamily="34" charset="-122"/>
                <a:cs typeface="Courier New" pitchFamily="34" charset="-120"/>
              </a:rPr>
              <a:t>EL PROBLEMA</a:t>
            </a:r>
            <a:endParaRPr lang="en-US" sz="1300" dirty="0"/>
          </a:p>
        </p:txBody>
      </p:sp>
      <p:sp>
        <p:nvSpPr>
          <p:cNvPr id="3" name="Text 1"/>
          <p:cNvSpPr/>
          <p:nvPr/>
        </p:nvSpPr>
        <p:spPr>
          <a:xfrm>
            <a:off x="812800" y="1145480"/>
            <a:ext cx="10883392" cy="472380"/>
          </a:xfrm>
          <a:prstGeom prst="rect">
            <a:avLst/>
          </a:prstGeom>
          <a:noFill/>
          <a:ln/>
        </p:spPr>
        <p:txBody>
          <a:bodyPr wrap="square" lIns="0" tIns="0" rIns="0" bIns="0" rtlCol="0" anchor="t">
            <a:normAutofit/>
          </a:bodyPr>
          <a:lstStyle/>
          <a:p>
            <a:pPr marL="0" indent="0" algn="l">
              <a:lnSpc>
                <a:spcPts val="3520"/>
              </a:lnSpc>
              <a:buNone/>
            </a:pPr>
            <a:r>
              <a:rPr lang="en-US" sz="3200" b="1" kern="0" spc="-50" dirty="0">
                <a:solidFill>
                  <a:srgbClr val="F4F4F5"/>
                </a:solidFill>
                <a:latin typeface="Arial" pitchFamily="34" charset="0"/>
                <a:ea typeface="Arial" pitchFamily="34" charset="-122"/>
                <a:cs typeface="Arial" pitchFamily="34" charset="-120"/>
              </a:rPr>
              <a:t>Con un solo examen, la nota depende de la suerte</a:t>
            </a:r>
            <a:endParaRPr lang="en-US" sz="3200" dirty="0"/>
          </a:p>
        </p:txBody>
      </p:sp>
      <p:sp>
        <p:nvSpPr>
          <p:cNvPr id="4" name="Text 2"/>
          <p:cNvSpPr/>
          <p:nvPr/>
        </p:nvSpPr>
        <p:spPr>
          <a:xfrm>
            <a:off x="812800" y="1832471"/>
            <a:ext cx="1193800" cy="2564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D4D4D8"/>
                </a:solidFill>
                <a:latin typeface="Arial" pitchFamily="34" charset="0"/>
                <a:ea typeface="Arial" pitchFamily="34" charset="-122"/>
                <a:cs typeface="Arial" pitchFamily="34" charset="-120"/>
              </a:rPr>
              <a:t>División 1</a:t>
            </a:r>
            <a:endParaRPr lang="en-US" sz="1300" dirty="0"/>
          </a:p>
        </p:txBody>
      </p:sp>
      <p:sp>
        <p:nvSpPr>
          <p:cNvPr id="5" name="Shape 3"/>
          <p:cNvSpPr/>
          <p:nvPr/>
        </p:nvSpPr>
        <p:spPr>
          <a:xfrm>
            <a:off x="2082800" y="1795661"/>
            <a:ext cx="1943100" cy="304800"/>
          </a:xfrm>
          <a:prstGeom prst="roundRect">
            <a:avLst>
              <a:gd name="adj" fmla="val 16667"/>
            </a:avLst>
          </a:prstGeom>
          <a:solidFill>
            <a:srgbClr val="52525B"/>
          </a:solidFill>
          <a:ln/>
        </p:spPr>
        <p:txBody>
          <a:bodyPr/>
          <a:lstStyle/>
          <a:p>
            <a:endParaRPr lang="es-CO"/>
          </a:p>
        </p:txBody>
      </p:sp>
      <p:sp>
        <p:nvSpPr>
          <p:cNvPr id="6" name="Text 4"/>
          <p:cNvSpPr/>
          <p:nvPr/>
        </p:nvSpPr>
        <p:spPr>
          <a:xfrm>
            <a:off x="4152900" y="1832471"/>
            <a:ext cx="546199" cy="2564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F4F4F5"/>
                </a:solidFill>
                <a:latin typeface="Courier New" pitchFamily="34" charset="0"/>
                <a:ea typeface="Courier New" pitchFamily="34" charset="-122"/>
                <a:cs typeface="Courier New" pitchFamily="34" charset="-120"/>
              </a:rPr>
              <a:t>0,918</a:t>
            </a:r>
            <a:endParaRPr lang="en-US" sz="1300" dirty="0"/>
          </a:p>
        </p:txBody>
      </p:sp>
      <p:sp>
        <p:nvSpPr>
          <p:cNvPr id="7" name="Text 5"/>
          <p:cNvSpPr/>
          <p:nvPr/>
        </p:nvSpPr>
        <p:spPr>
          <a:xfrm>
            <a:off x="812800" y="2238871"/>
            <a:ext cx="1193800" cy="2564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D4D4D8"/>
                </a:solidFill>
                <a:latin typeface="Arial" pitchFamily="34" charset="0"/>
                <a:ea typeface="Arial" pitchFamily="34" charset="-122"/>
                <a:cs typeface="Arial" pitchFamily="34" charset="-120"/>
              </a:rPr>
              <a:t>División 2</a:t>
            </a:r>
            <a:endParaRPr lang="en-US" sz="1300" dirty="0"/>
          </a:p>
        </p:txBody>
      </p:sp>
      <p:sp>
        <p:nvSpPr>
          <p:cNvPr id="8" name="Shape 6"/>
          <p:cNvSpPr/>
          <p:nvPr/>
        </p:nvSpPr>
        <p:spPr>
          <a:xfrm>
            <a:off x="2082800" y="2202061"/>
            <a:ext cx="2457450" cy="304800"/>
          </a:xfrm>
          <a:prstGeom prst="roundRect">
            <a:avLst>
              <a:gd name="adj" fmla="val 16667"/>
            </a:avLst>
          </a:prstGeom>
          <a:solidFill>
            <a:srgbClr val="E4002B"/>
          </a:solidFill>
          <a:ln/>
        </p:spPr>
        <p:txBody>
          <a:bodyPr/>
          <a:lstStyle/>
          <a:p>
            <a:endParaRPr lang="es-CO"/>
          </a:p>
        </p:txBody>
      </p:sp>
      <p:sp>
        <p:nvSpPr>
          <p:cNvPr id="9" name="Text 7"/>
          <p:cNvSpPr/>
          <p:nvPr/>
        </p:nvSpPr>
        <p:spPr>
          <a:xfrm>
            <a:off x="4667250" y="2238871"/>
            <a:ext cx="1938952" cy="2564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F4F4F5"/>
                </a:solidFill>
                <a:latin typeface="Courier New" pitchFamily="34" charset="0"/>
                <a:ea typeface="Courier New" pitchFamily="34" charset="-122"/>
                <a:cs typeface="Courier New" pitchFamily="34" charset="-120"/>
              </a:rPr>
              <a:t>0,936 (la más alta)</a:t>
            </a:r>
            <a:endParaRPr lang="en-US" sz="1300" dirty="0"/>
          </a:p>
        </p:txBody>
      </p:sp>
      <p:sp>
        <p:nvSpPr>
          <p:cNvPr id="10" name="Text 8"/>
          <p:cNvSpPr/>
          <p:nvPr/>
        </p:nvSpPr>
        <p:spPr>
          <a:xfrm>
            <a:off x="812800" y="2645271"/>
            <a:ext cx="1193800" cy="2564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D4D4D8"/>
                </a:solidFill>
                <a:latin typeface="Arial" pitchFamily="34" charset="0"/>
                <a:ea typeface="Arial" pitchFamily="34" charset="-122"/>
                <a:cs typeface="Arial" pitchFamily="34" charset="-120"/>
              </a:rPr>
              <a:t>División 3</a:t>
            </a:r>
            <a:endParaRPr lang="en-US" sz="1300" dirty="0"/>
          </a:p>
        </p:txBody>
      </p:sp>
      <p:sp>
        <p:nvSpPr>
          <p:cNvPr id="11" name="Shape 9"/>
          <p:cNvSpPr/>
          <p:nvPr/>
        </p:nvSpPr>
        <p:spPr>
          <a:xfrm>
            <a:off x="2082800" y="2608461"/>
            <a:ext cx="1460500" cy="304800"/>
          </a:xfrm>
          <a:prstGeom prst="roundRect">
            <a:avLst>
              <a:gd name="adj" fmla="val 16667"/>
            </a:avLst>
          </a:prstGeom>
          <a:solidFill>
            <a:srgbClr val="52525B"/>
          </a:solidFill>
          <a:ln/>
        </p:spPr>
        <p:txBody>
          <a:bodyPr/>
          <a:lstStyle/>
          <a:p>
            <a:endParaRPr lang="es-CO"/>
          </a:p>
        </p:txBody>
      </p:sp>
      <p:sp>
        <p:nvSpPr>
          <p:cNvPr id="12" name="Text 10"/>
          <p:cNvSpPr/>
          <p:nvPr/>
        </p:nvSpPr>
        <p:spPr>
          <a:xfrm>
            <a:off x="3670300" y="2645271"/>
            <a:ext cx="546199" cy="2564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F4F4F5"/>
                </a:solidFill>
                <a:latin typeface="Courier New" pitchFamily="34" charset="0"/>
                <a:ea typeface="Courier New" pitchFamily="34" charset="-122"/>
                <a:cs typeface="Courier New" pitchFamily="34" charset="-120"/>
              </a:rPr>
              <a:t>0,901</a:t>
            </a:r>
            <a:endParaRPr lang="en-US" sz="1300" dirty="0"/>
          </a:p>
        </p:txBody>
      </p:sp>
      <p:sp>
        <p:nvSpPr>
          <p:cNvPr id="13" name="Text 11"/>
          <p:cNvSpPr/>
          <p:nvPr/>
        </p:nvSpPr>
        <p:spPr>
          <a:xfrm>
            <a:off x="812800" y="3051671"/>
            <a:ext cx="1193800" cy="2564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D4D4D8"/>
                </a:solidFill>
                <a:latin typeface="Arial" pitchFamily="34" charset="0"/>
                <a:ea typeface="Arial" pitchFamily="34" charset="-122"/>
                <a:cs typeface="Arial" pitchFamily="34" charset="-120"/>
              </a:rPr>
              <a:t>División 4</a:t>
            </a:r>
            <a:endParaRPr lang="en-US" sz="1300" dirty="0"/>
          </a:p>
        </p:txBody>
      </p:sp>
      <p:sp>
        <p:nvSpPr>
          <p:cNvPr id="14" name="Shape 12"/>
          <p:cNvSpPr/>
          <p:nvPr/>
        </p:nvSpPr>
        <p:spPr>
          <a:xfrm>
            <a:off x="2082800" y="3014861"/>
            <a:ext cx="2286000" cy="304800"/>
          </a:xfrm>
          <a:prstGeom prst="roundRect">
            <a:avLst>
              <a:gd name="adj" fmla="val 16667"/>
            </a:avLst>
          </a:prstGeom>
          <a:solidFill>
            <a:srgbClr val="52525B"/>
          </a:solidFill>
          <a:ln/>
        </p:spPr>
        <p:txBody>
          <a:bodyPr/>
          <a:lstStyle/>
          <a:p>
            <a:endParaRPr lang="es-CO"/>
          </a:p>
        </p:txBody>
      </p:sp>
      <p:sp>
        <p:nvSpPr>
          <p:cNvPr id="15" name="Text 13"/>
          <p:cNvSpPr/>
          <p:nvPr/>
        </p:nvSpPr>
        <p:spPr>
          <a:xfrm>
            <a:off x="4495800" y="3051671"/>
            <a:ext cx="546199" cy="2564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F4F4F5"/>
                </a:solidFill>
                <a:latin typeface="Courier New" pitchFamily="34" charset="0"/>
                <a:ea typeface="Courier New" pitchFamily="34" charset="-122"/>
                <a:cs typeface="Courier New" pitchFamily="34" charset="-120"/>
              </a:rPr>
              <a:t>0,930</a:t>
            </a:r>
            <a:endParaRPr lang="en-US" sz="1300" dirty="0"/>
          </a:p>
        </p:txBody>
      </p:sp>
      <p:sp>
        <p:nvSpPr>
          <p:cNvPr id="16" name="Text 14"/>
          <p:cNvSpPr/>
          <p:nvPr/>
        </p:nvSpPr>
        <p:spPr>
          <a:xfrm>
            <a:off x="812800" y="3458071"/>
            <a:ext cx="1193800" cy="2564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D4D4D8"/>
                </a:solidFill>
                <a:latin typeface="Arial" pitchFamily="34" charset="0"/>
                <a:ea typeface="Arial" pitchFamily="34" charset="-122"/>
                <a:cs typeface="Arial" pitchFamily="34" charset="-120"/>
              </a:rPr>
              <a:t>División 5</a:t>
            </a:r>
            <a:endParaRPr lang="en-US" sz="1300" dirty="0"/>
          </a:p>
        </p:txBody>
      </p:sp>
      <p:sp>
        <p:nvSpPr>
          <p:cNvPr id="17" name="Shape 15"/>
          <p:cNvSpPr/>
          <p:nvPr/>
        </p:nvSpPr>
        <p:spPr>
          <a:xfrm>
            <a:off x="2082800" y="3421261"/>
            <a:ext cx="774700" cy="304800"/>
          </a:xfrm>
          <a:prstGeom prst="roundRect">
            <a:avLst>
              <a:gd name="adj" fmla="val 16667"/>
            </a:avLst>
          </a:prstGeom>
          <a:solidFill>
            <a:srgbClr val="A1A1AA"/>
          </a:solidFill>
          <a:ln/>
        </p:spPr>
        <p:txBody>
          <a:bodyPr/>
          <a:lstStyle/>
          <a:p>
            <a:endParaRPr lang="es-CO"/>
          </a:p>
        </p:txBody>
      </p:sp>
      <p:sp>
        <p:nvSpPr>
          <p:cNvPr id="18" name="Text 16"/>
          <p:cNvSpPr/>
          <p:nvPr/>
        </p:nvSpPr>
        <p:spPr>
          <a:xfrm>
            <a:off x="2984500" y="3458071"/>
            <a:ext cx="1938952" cy="2564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F4F4F5"/>
                </a:solidFill>
                <a:latin typeface="Courier New" pitchFamily="34" charset="0"/>
                <a:ea typeface="Courier New" pitchFamily="34" charset="-122"/>
                <a:cs typeface="Courier New" pitchFamily="34" charset="-120"/>
              </a:rPr>
              <a:t>0,877 (la más baja)</a:t>
            </a:r>
            <a:endParaRPr lang="en-US" sz="1300" dirty="0"/>
          </a:p>
        </p:txBody>
      </p:sp>
      <p:sp>
        <p:nvSpPr>
          <p:cNvPr id="19" name="Shape 17"/>
          <p:cNvSpPr/>
          <p:nvPr/>
        </p:nvSpPr>
        <p:spPr>
          <a:xfrm>
            <a:off x="6991350" y="2001838"/>
            <a:ext cx="4381500" cy="1518047"/>
          </a:xfrm>
          <a:prstGeom prst="roundRect">
            <a:avLst>
              <a:gd name="adj" fmla="val 7948"/>
            </a:avLst>
          </a:prstGeom>
          <a:solidFill>
            <a:srgbClr val="1A1A1F"/>
          </a:solidFill>
          <a:ln w="12700">
            <a:solidFill>
              <a:srgbClr val="2C2C33"/>
            </a:solidFill>
            <a:prstDash val="solid"/>
          </a:ln>
        </p:spPr>
        <p:txBody>
          <a:bodyPr/>
          <a:lstStyle/>
          <a:p>
            <a:endParaRPr lang="es-CO"/>
          </a:p>
        </p:txBody>
      </p:sp>
      <p:sp>
        <p:nvSpPr>
          <p:cNvPr id="20" name="Text 18"/>
          <p:cNvSpPr/>
          <p:nvPr/>
        </p:nvSpPr>
        <p:spPr>
          <a:xfrm>
            <a:off x="7226300" y="2236788"/>
            <a:ext cx="4028948"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F4F4F5"/>
                </a:solidFill>
                <a:latin typeface="Arial" pitchFamily="34" charset="0"/>
                <a:ea typeface="Arial" pitchFamily="34" charset="-122"/>
                <a:cs typeface="Arial" pitchFamily="34" charset="-120"/>
              </a:rPr>
              <a:t>Mismo modelo, mismos datos</a:t>
            </a:r>
            <a:endParaRPr lang="en-US" sz="1500" dirty="0"/>
          </a:p>
        </p:txBody>
      </p:sp>
      <p:sp>
        <p:nvSpPr>
          <p:cNvPr id="21" name="Text 19"/>
          <p:cNvSpPr/>
          <p:nvPr/>
        </p:nvSpPr>
        <p:spPr>
          <a:xfrm>
            <a:off x="7226300" y="2566988"/>
            <a:ext cx="4028948" cy="743347"/>
          </a:xfrm>
          <a:prstGeom prst="rect">
            <a:avLst/>
          </a:prstGeom>
          <a:noFill/>
          <a:ln/>
        </p:spPr>
        <p:txBody>
          <a:bodyPr wrap="square" lIns="0" tIns="0" rIns="0" bIns="0" rtlCol="0" anchor="t">
            <a:normAutofit/>
          </a:bodyPr>
          <a:lstStyle/>
          <a:p>
            <a:pPr marL="0" indent="0" algn="l">
              <a:lnSpc>
                <a:spcPts val="1885"/>
              </a:lnSpc>
              <a:buNone/>
            </a:pPr>
            <a:r>
              <a:rPr lang="en-US" sz="1300" dirty="0">
                <a:solidFill>
                  <a:srgbClr val="A1A1AA"/>
                </a:solidFill>
                <a:latin typeface="Arial" pitchFamily="34" charset="0"/>
                <a:ea typeface="Arial" pitchFamily="34" charset="-122"/>
                <a:cs typeface="Arial" pitchFamily="34" charset="-120"/>
              </a:rPr>
              <a:t>Un árbol de profundidad 3. Lo único que cambió fue qué pacientes cayeron en el examen, y la nota fue de 0,877 a 0,936.</a:t>
            </a:r>
            <a:endParaRPr lang="en-US" sz="1300" dirty="0"/>
          </a:p>
        </p:txBody>
      </p:sp>
      <p:sp>
        <p:nvSpPr>
          <p:cNvPr id="22" name="Shape 20"/>
          <p:cNvSpPr/>
          <p:nvPr/>
        </p:nvSpPr>
        <p:spPr>
          <a:xfrm>
            <a:off x="819150" y="3935611"/>
            <a:ext cx="10553700" cy="871736"/>
          </a:xfrm>
          <a:prstGeom prst="roundRect">
            <a:avLst>
              <a:gd name="adj" fmla="val 13840"/>
            </a:avLst>
          </a:prstGeom>
          <a:solidFill>
            <a:srgbClr val="1F0A0F"/>
          </a:solidFill>
          <a:ln w="12700">
            <a:solidFill>
              <a:srgbClr val="E4002B"/>
            </a:solidFill>
            <a:prstDash val="solid"/>
          </a:ln>
        </p:spPr>
        <p:txBody>
          <a:bodyPr/>
          <a:lstStyle/>
          <a:p>
            <a:endParaRPr lang="es-CO"/>
          </a:p>
        </p:txBody>
      </p:sp>
      <p:sp>
        <p:nvSpPr>
          <p:cNvPr id="23" name="Text 21"/>
          <p:cNvSpPr/>
          <p:nvPr/>
        </p:nvSpPr>
        <p:spPr>
          <a:xfrm>
            <a:off x="1079500" y="4119761"/>
            <a:ext cx="10333990"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E4002B"/>
                </a:solidFill>
                <a:latin typeface="Courier New" pitchFamily="34" charset="0"/>
                <a:ea typeface="Courier New" pitchFamily="34" charset="-122"/>
                <a:cs typeface="Courier New" pitchFamily="34" charset="-120"/>
              </a:rPr>
              <a:t>EN PALABRAS SIMPLES</a:t>
            </a:r>
            <a:endParaRPr lang="en-US" sz="1200" dirty="0"/>
          </a:p>
        </p:txBody>
      </p:sp>
      <p:sp>
        <p:nvSpPr>
          <p:cNvPr id="24" name="Text 22"/>
          <p:cNvSpPr/>
          <p:nvPr/>
        </p:nvSpPr>
        <p:spPr>
          <a:xfrm>
            <a:off x="1079500" y="4383881"/>
            <a:ext cx="10333990" cy="264716"/>
          </a:xfrm>
          <a:prstGeom prst="rect">
            <a:avLst/>
          </a:prstGeom>
          <a:noFill/>
          <a:ln/>
        </p:spPr>
        <p:txBody>
          <a:bodyPr wrap="square" lIns="0" tIns="0" rIns="0" bIns="0" rtlCol="0" anchor="t">
            <a:normAutofit/>
          </a:bodyPr>
          <a:lstStyle/>
          <a:p>
            <a:pPr marL="0" indent="0" algn="l">
              <a:lnSpc>
                <a:spcPts val="1885"/>
              </a:lnSpc>
              <a:buNone/>
            </a:pPr>
            <a:r>
              <a:rPr lang="en-US" sz="1300" dirty="0">
                <a:solidFill>
                  <a:srgbClr val="F4F4F5"/>
                </a:solidFill>
                <a:latin typeface="Arial" pitchFamily="34" charset="0"/>
                <a:ea typeface="Arial" pitchFamily="34" charset="-122"/>
                <a:cs typeface="Arial" pitchFamily="34" charset="-120"/>
              </a:rPr>
              <a:t>Es como calificar a un estudiante con un solo quiz: le pudo tocar un tema fácil o uno difícil.</a:t>
            </a:r>
            <a:endParaRPr lang="en-US" sz="1300" dirty="0"/>
          </a:p>
        </p:txBody>
      </p:sp>
      <p:sp>
        <p:nvSpPr>
          <p:cNvPr id="25" name="Text 23"/>
          <p:cNvSpPr/>
          <p:nvPr/>
        </p:nvSpPr>
        <p:spPr>
          <a:xfrm>
            <a:off x="812800" y="6238280"/>
            <a:ext cx="7848600" cy="238720"/>
          </a:xfrm>
          <a:prstGeom prst="rect">
            <a:avLst/>
          </a:prstGeom>
          <a:noFill/>
          <a:ln/>
        </p:spPr>
        <p:txBody>
          <a:bodyPr wrap="square" lIns="0" tIns="0" rIns="0" bIns="0" rtlCol="0" anchor="t">
            <a:normAutofit/>
          </a:bodyPr>
          <a:lstStyle/>
          <a:p>
            <a:pPr marL="0" indent="0" algn="l">
              <a:lnSpc>
                <a:spcPts val="1680"/>
              </a:lnSpc>
              <a:buNone/>
            </a:pPr>
            <a:r>
              <a:rPr lang="en-US" sz="1200" kern="0" spc="100" dirty="0">
                <a:solidFill>
                  <a:srgbClr val="71717A"/>
                </a:solidFill>
                <a:latin typeface="Courier New" pitchFamily="34" charset="0"/>
                <a:ea typeface="Courier New" pitchFamily="34" charset="-122"/>
                <a:cs typeface="Courier New" pitchFamily="34" charset="-120"/>
              </a:rPr>
              <a:t>UNIDAD 4 · VALIDACIÓN DE MODELOS</a:t>
            </a:r>
            <a:endParaRPr lang="en-US" sz="1200" dirty="0"/>
          </a:p>
        </p:txBody>
      </p:sp>
      <p:sp>
        <p:nvSpPr>
          <p:cNvPr id="26" name="Text 24"/>
          <p:cNvSpPr/>
          <p:nvPr/>
        </p:nvSpPr>
        <p:spPr>
          <a:xfrm>
            <a:off x="10058400" y="6238280"/>
            <a:ext cx="1320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71717A"/>
                </a:solidFill>
                <a:latin typeface="Courier New" pitchFamily="34" charset="0"/>
                <a:ea typeface="Courier New" pitchFamily="34" charset="-122"/>
                <a:cs typeface="Courier New" pitchFamily="34" charset="-120"/>
              </a:rPr>
              <a:t>24</a:t>
            </a:r>
            <a:endParaRPr lang="en-US" sz="12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0B0B0D"/>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marL="0" indent="0" algn="l">
              <a:lnSpc>
                <a:spcPts val="1820"/>
              </a:lnSpc>
              <a:buNone/>
            </a:pPr>
            <a:r>
              <a:rPr lang="en-US" sz="1300" b="1" kern="0" spc="200" dirty="0">
                <a:solidFill>
                  <a:srgbClr val="E4002B"/>
                </a:solidFill>
                <a:latin typeface="Courier New" pitchFamily="34" charset="0"/>
                <a:ea typeface="Courier New" pitchFamily="34" charset="-122"/>
                <a:cs typeface="Courier New" pitchFamily="34" charset="-120"/>
              </a:rPr>
              <a:t>LA SOLUCIÓN</a:t>
            </a:r>
            <a:endParaRPr lang="en-US" sz="1300" dirty="0"/>
          </a:p>
        </p:txBody>
      </p:sp>
      <p:sp>
        <p:nvSpPr>
          <p:cNvPr id="3" name="Text 1"/>
          <p:cNvSpPr/>
          <p:nvPr/>
        </p:nvSpPr>
        <p:spPr>
          <a:xfrm>
            <a:off x="812800" y="1145480"/>
            <a:ext cx="10883392" cy="472380"/>
          </a:xfrm>
          <a:prstGeom prst="rect">
            <a:avLst/>
          </a:prstGeom>
          <a:noFill/>
          <a:ln/>
        </p:spPr>
        <p:txBody>
          <a:bodyPr wrap="square" lIns="0" tIns="0" rIns="0" bIns="0" rtlCol="0" anchor="t">
            <a:normAutofit/>
          </a:bodyPr>
          <a:lstStyle/>
          <a:p>
            <a:pPr marL="0" indent="0" algn="l">
              <a:lnSpc>
                <a:spcPts val="3520"/>
              </a:lnSpc>
              <a:buNone/>
            </a:pPr>
            <a:r>
              <a:rPr lang="en-US" sz="3200" b="1" kern="0" spc="-50" dirty="0">
                <a:solidFill>
                  <a:srgbClr val="F4F4F5"/>
                </a:solidFill>
                <a:latin typeface="Arial" pitchFamily="34" charset="0"/>
                <a:ea typeface="Arial" pitchFamily="34" charset="-122"/>
                <a:cs typeface="Arial" pitchFamily="34" charset="-120"/>
              </a:rPr>
              <a:t>Validación cruzada: cinco exámenes distintos</a:t>
            </a:r>
            <a:endParaRPr lang="en-US" sz="3200" dirty="0"/>
          </a:p>
        </p:txBody>
      </p:sp>
      <p:sp>
        <p:nvSpPr>
          <p:cNvPr id="4" name="Text 2"/>
          <p:cNvSpPr/>
          <p:nvPr/>
        </p:nvSpPr>
        <p:spPr>
          <a:xfrm>
            <a:off x="812800" y="1862931"/>
            <a:ext cx="1066800" cy="2564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D4D4D8"/>
                </a:solidFill>
                <a:latin typeface="Arial" pitchFamily="34" charset="0"/>
                <a:ea typeface="Arial" pitchFamily="34" charset="-122"/>
                <a:cs typeface="Arial" pitchFamily="34" charset="-120"/>
              </a:rPr>
              <a:t>Ronda 1</a:t>
            </a:r>
            <a:endParaRPr lang="en-US" sz="1300" dirty="0"/>
          </a:p>
        </p:txBody>
      </p:sp>
      <p:sp>
        <p:nvSpPr>
          <p:cNvPr id="5" name="Shape 3"/>
          <p:cNvSpPr/>
          <p:nvPr/>
        </p:nvSpPr>
        <p:spPr>
          <a:xfrm>
            <a:off x="1879600" y="1795661"/>
            <a:ext cx="1859260" cy="365720"/>
          </a:xfrm>
          <a:prstGeom prst="roundRect">
            <a:avLst>
              <a:gd name="adj" fmla="val 13890"/>
            </a:avLst>
          </a:prstGeom>
          <a:solidFill>
            <a:srgbClr val="E4002B"/>
          </a:solidFill>
          <a:ln/>
        </p:spPr>
        <p:txBody>
          <a:bodyPr/>
          <a:lstStyle/>
          <a:p>
            <a:endParaRPr lang="es-CO"/>
          </a:p>
        </p:txBody>
      </p:sp>
      <p:sp>
        <p:nvSpPr>
          <p:cNvPr id="6" name="Text 4"/>
          <p:cNvSpPr/>
          <p:nvPr/>
        </p:nvSpPr>
        <p:spPr>
          <a:xfrm>
            <a:off x="1930197" y="1871861"/>
            <a:ext cx="1758066" cy="238720"/>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FFF7F7"/>
                </a:solidFill>
                <a:latin typeface="Arial" pitchFamily="34" charset="0"/>
                <a:ea typeface="Arial" pitchFamily="34" charset="-122"/>
                <a:cs typeface="Arial" pitchFamily="34" charset="-120"/>
              </a:rPr>
              <a:t>Examen</a:t>
            </a:r>
            <a:endParaRPr lang="en-US" sz="1200" dirty="0"/>
          </a:p>
        </p:txBody>
      </p:sp>
      <p:sp>
        <p:nvSpPr>
          <p:cNvPr id="7" name="Shape 5"/>
          <p:cNvSpPr/>
          <p:nvPr/>
        </p:nvSpPr>
        <p:spPr>
          <a:xfrm>
            <a:off x="3789660" y="1795661"/>
            <a:ext cx="1859359" cy="365720"/>
          </a:xfrm>
          <a:prstGeom prst="roundRect">
            <a:avLst>
              <a:gd name="adj" fmla="val 13890"/>
            </a:avLst>
          </a:prstGeom>
          <a:solidFill>
            <a:srgbClr val="26262C"/>
          </a:solidFill>
          <a:ln/>
        </p:spPr>
        <p:txBody>
          <a:bodyPr/>
          <a:lstStyle/>
          <a:p>
            <a:endParaRPr lang="es-CO"/>
          </a:p>
        </p:txBody>
      </p:sp>
      <p:sp>
        <p:nvSpPr>
          <p:cNvPr id="8" name="Text 6"/>
          <p:cNvSpPr/>
          <p:nvPr/>
        </p:nvSpPr>
        <p:spPr>
          <a:xfrm>
            <a:off x="3840256" y="1871861"/>
            <a:ext cx="1758168" cy="238720"/>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A1A1AA"/>
                </a:solidFill>
                <a:latin typeface="Arial" pitchFamily="34" charset="0"/>
                <a:ea typeface="Arial" pitchFamily="34" charset="-122"/>
                <a:cs typeface="Arial" pitchFamily="34" charset="-120"/>
              </a:rPr>
              <a:t>Práctica</a:t>
            </a:r>
            <a:endParaRPr lang="en-US" sz="1200" dirty="0"/>
          </a:p>
        </p:txBody>
      </p:sp>
      <p:sp>
        <p:nvSpPr>
          <p:cNvPr id="9" name="Shape 7"/>
          <p:cNvSpPr/>
          <p:nvPr/>
        </p:nvSpPr>
        <p:spPr>
          <a:xfrm>
            <a:off x="5699820" y="1795661"/>
            <a:ext cx="1859260" cy="365720"/>
          </a:xfrm>
          <a:prstGeom prst="roundRect">
            <a:avLst>
              <a:gd name="adj" fmla="val 13890"/>
            </a:avLst>
          </a:prstGeom>
          <a:solidFill>
            <a:srgbClr val="26262C"/>
          </a:solidFill>
          <a:ln/>
        </p:spPr>
        <p:txBody>
          <a:bodyPr/>
          <a:lstStyle/>
          <a:p>
            <a:endParaRPr lang="es-CO"/>
          </a:p>
        </p:txBody>
      </p:sp>
      <p:sp>
        <p:nvSpPr>
          <p:cNvPr id="10" name="Text 8"/>
          <p:cNvSpPr/>
          <p:nvPr/>
        </p:nvSpPr>
        <p:spPr>
          <a:xfrm>
            <a:off x="5750417" y="1871861"/>
            <a:ext cx="1758066" cy="238720"/>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A1A1AA"/>
                </a:solidFill>
                <a:latin typeface="Arial" pitchFamily="34" charset="0"/>
                <a:ea typeface="Arial" pitchFamily="34" charset="-122"/>
                <a:cs typeface="Arial" pitchFamily="34" charset="-120"/>
              </a:rPr>
              <a:t>Práctica</a:t>
            </a:r>
            <a:endParaRPr lang="en-US" sz="1200" dirty="0"/>
          </a:p>
        </p:txBody>
      </p:sp>
      <p:sp>
        <p:nvSpPr>
          <p:cNvPr id="11" name="Shape 9"/>
          <p:cNvSpPr/>
          <p:nvPr/>
        </p:nvSpPr>
        <p:spPr>
          <a:xfrm>
            <a:off x="7609880" y="1795661"/>
            <a:ext cx="1859260" cy="365720"/>
          </a:xfrm>
          <a:prstGeom prst="roundRect">
            <a:avLst>
              <a:gd name="adj" fmla="val 13890"/>
            </a:avLst>
          </a:prstGeom>
          <a:solidFill>
            <a:srgbClr val="26262C"/>
          </a:solidFill>
          <a:ln/>
        </p:spPr>
        <p:txBody>
          <a:bodyPr/>
          <a:lstStyle/>
          <a:p>
            <a:endParaRPr lang="es-CO"/>
          </a:p>
        </p:txBody>
      </p:sp>
      <p:sp>
        <p:nvSpPr>
          <p:cNvPr id="12" name="Text 10"/>
          <p:cNvSpPr/>
          <p:nvPr/>
        </p:nvSpPr>
        <p:spPr>
          <a:xfrm>
            <a:off x="7660477" y="1871861"/>
            <a:ext cx="1758066" cy="238720"/>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A1A1AA"/>
                </a:solidFill>
                <a:latin typeface="Arial" pitchFamily="34" charset="0"/>
                <a:ea typeface="Arial" pitchFamily="34" charset="-122"/>
                <a:cs typeface="Arial" pitchFamily="34" charset="-120"/>
              </a:rPr>
              <a:t>Práctica</a:t>
            </a:r>
            <a:endParaRPr lang="en-US" sz="1200" dirty="0"/>
          </a:p>
        </p:txBody>
      </p:sp>
      <p:sp>
        <p:nvSpPr>
          <p:cNvPr id="13" name="Shape 11"/>
          <p:cNvSpPr/>
          <p:nvPr/>
        </p:nvSpPr>
        <p:spPr>
          <a:xfrm>
            <a:off x="9519940" y="1795661"/>
            <a:ext cx="1859260" cy="365720"/>
          </a:xfrm>
          <a:prstGeom prst="roundRect">
            <a:avLst>
              <a:gd name="adj" fmla="val 13890"/>
            </a:avLst>
          </a:prstGeom>
          <a:solidFill>
            <a:srgbClr val="26262C"/>
          </a:solidFill>
          <a:ln/>
        </p:spPr>
        <p:txBody>
          <a:bodyPr/>
          <a:lstStyle/>
          <a:p>
            <a:endParaRPr lang="es-CO"/>
          </a:p>
        </p:txBody>
      </p:sp>
      <p:sp>
        <p:nvSpPr>
          <p:cNvPr id="14" name="Text 12"/>
          <p:cNvSpPr/>
          <p:nvPr/>
        </p:nvSpPr>
        <p:spPr>
          <a:xfrm>
            <a:off x="9570537" y="1871861"/>
            <a:ext cx="1758066" cy="238720"/>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A1A1AA"/>
                </a:solidFill>
                <a:latin typeface="Arial" pitchFamily="34" charset="0"/>
                <a:ea typeface="Arial" pitchFamily="34" charset="-122"/>
                <a:cs typeface="Arial" pitchFamily="34" charset="-120"/>
              </a:rPr>
              <a:t>Práctica</a:t>
            </a:r>
            <a:endParaRPr lang="en-US" sz="1200" dirty="0"/>
          </a:p>
        </p:txBody>
      </p:sp>
      <p:sp>
        <p:nvSpPr>
          <p:cNvPr id="15" name="Text 13"/>
          <p:cNvSpPr/>
          <p:nvPr/>
        </p:nvSpPr>
        <p:spPr>
          <a:xfrm>
            <a:off x="812800" y="2304852"/>
            <a:ext cx="1066800" cy="2564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D4D4D8"/>
                </a:solidFill>
                <a:latin typeface="Arial" pitchFamily="34" charset="0"/>
                <a:ea typeface="Arial" pitchFamily="34" charset="-122"/>
                <a:cs typeface="Arial" pitchFamily="34" charset="-120"/>
              </a:rPr>
              <a:t>Ronda 2</a:t>
            </a:r>
            <a:endParaRPr lang="en-US" sz="1300" dirty="0"/>
          </a:p>
        </p:txBody>
      </p:sp>
      <p:sp>
        <p:nvSpPr>
          <p:cNvPr id="16" name="Shape 14"/>
          <p:cNvSpPr/>
          <p:nvPr/>
        </p:nvSpPr>
        <p:spPr>
          <a:xfrm>
            <a:off x="1879600" y="2237581"/>
            <a:ext cx="1859260" cy="365720"/>
          </a:xfrm>
          <a:prstGeom prst="roundRect">
            <a:avLst>
              <a:gd name="adj" fmla="val 13890"/>
            </a:avLst>
          </a:prstGeom>
          <a:solidFill>
            <a:srgbClr val="26262C"/>
          </a:solidFill>
          <a:ln/>
        </p:spPr>
        <p:txBody>
          <a:bodyPr/>
          <a:lstStyle/>
          <a:p>
            <a:endParaRPr lang="es-CO"/>
          </a:p>
        </p:txBody>
      </p:sp>
      <p:sp>
        <p:nvSpPr>
          <p:cNvPr id="17" name="Text 15"/>
          <p:cNvSpPr/>
          <p:nvPr/>
        </p:nvSpPr>
        <p:spPr>
          <a:xfrm>
            <a:off x="1930197" y="2313781"/>
            <a:ext cx="1758066" cy="238720"/>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A1A1AA"/>
                </a:solidFill>
                <a:latin typeface="Arial" pitchFamily="34" charset="0"/>
                <a:ea typeface="Arial" pitchFamily="34" charset="-122"/>
                <a:cs typeface="Arial" pitchFamily="34" charset="-120"/>
              </a:rPr>
              <a:t>Práctica</a:t>
            </a:r>
            <a:endParaRPr lang="en-US" sz="1200" dirty="0"/>
          </a:p>
        </p:txBody>
      </p:sp>
      <p:sp>
        <p:nvSpPr>
          <p:cNvPr id="18" name="Shape 16"/>
          <p:cNvSpPr/>
          <p:nvPr/>
        </p:nvSpPr>
        <p:spPr>
          <a:xfrm>
            <a:off x="3789660" y="2237581"/>
            <a:ext cx="1859359" cy="365720"/>
          </a:xfrm>
          <a:prstGeom prst="roundRect">
            <a:avLst>
              <a:gd name="adj" fmla="val 13890"/>
            </a:avLst>
          </a:prstGeom>
          <a:solidFill>
            <a:srgbClr val="E4002B"/>
          </a:solidFill>
          <a:ln/>
        </p:spPr>
        <p:txBody>
          <a:bodyPr/>
          <a:lstStyle/>
          <a:p>
            <a:endParaRPr lang="es-CO"/>
          </a:p>
        </p:txBody>
      </p:sp>
      <p:sp>
        <p:nvSpPr>
          <p:cNvPr id="19" name="Text 17"/>
          <p:cNvSpPr/>
          <p:nvPr/>
        </p:nvSpPr>
        <p:spPr>
          <a:xfrm>
            <a:off x="3840256" y="2313781"/>
            <a:ext cx="1758168" cy="238720"/>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FFF7F7"/>
                </a:solidFill>
                <a:latin typeface="Arial" pitchFamily="34" charset="0"/>
                <a:ea typeface="Arial" pitchFamily="34" charset="-122"/>
                <a:cs typeface="Arial" pitchFamily="34" charset="-120"/>
              </a:rPr>
              <a:t>Examen</a:t>
            </a:r>
            <a:endParaRPr lang="en-US" sz="1200" dirty="0"/>
          </a:p>
        </p:txBody>
      </p:sp>
      <p:sp>
        <p:nvSpPr>
          <p:cNvPr id="20" name="Shape 18"/>
          <p:cNvSpPr/>
          <p:nvPr/>
        </p:nvSpPr>
        <p:spPr>
          <a:xfrm>
            <a:off x="5699820" y="2237581"/>
            <a:ext cx="1859260" cy="365720"/>
          </a:xfrm>
          <a:prstGeom prst="roundRect">
            <a:avLst>
              <a:gd name="adj" fmla="val 13890"/>
            </a:avLst>
          </a:prstGeom>
          <a:solidFill>
            <a:srgbClr val="26262C"/>
          </a:solidFill>
          <a:ln/>
        </p:spPr>
        <p:txBody>
          <a:bodyPr/>
          <a:lstStyle/>
          <a:p>
            <a:endParaRPr lang="es-CO"/>
          </a:p>
        </p:txBody>
      </p:sp>
      <p:sp>
        <p:nvSpPr>
          <p:cNvPr id="21" name="Text 19"/>
          <p:cNvSpPr/>
          <p:nvPr/>
        </p:nvSpPr>
        <p:spPr>
          <a:xfrm>
            <a:off x="5750417" y="2313781"/>
            <a:ext cx="1758066" cy="238720"/>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A1A1AA"/>
                </a:solidFill>
                <a:latin typeface="Arial" pitchFamily="34" charset="0"/>
                <a:ea typeface="Arial" pitchFamily="34" charset="-122"/>
                <a:cs typeface="Arial" pitchFamily="34" charset="-120"/>
              </a:rPr>
              <a:t>Práctica</a:t>
            </a:r>
            <a:endParaRPr lang="en-US" sz="1200" dirty="0"/>
          </a:p>
        </p:txBody>
      </p:sp>
      <p:sp>
        <p:nvSpPr>
          <p:cNvPr id="22" name="Shape 20"/>
          <p:cNvSpPr/>
          <p:nvPr/>
        </p:nvSpPr>
        <p:spPr>
          <a:xfrm>
            <a:off x="7609880" y="2237581"/>
            <a:ext cx="1859260" cy="365720"/>
          </a:xfrm>
          <a:prstGeom prst="roundRect">
            <a:avLst>
              <a:gd name="adj" fmla="val 13890"/>
            </a:avLst>
          </a:prstGeom>
          <a:solidFill>
            <a:srgbClr val="26262C"/>
          </a:solidFill>
          <a:ln/>
        </p:spPr>
        <p:txBody>
          <a:bodyPr/>
          <a:lstStyle/>
          <a:p>
            <a:endParaRPr lang="es-CO"/>
          </a:p>
        </p:txBody>
      </p:sp>
      <p:sp>
        <p:nvSpPr>
          <p:cNvPr id="23" name="Text 21"/>
          <p:cNvSpPr/>
          <p:nvPr/>
        </p:nvSpPr>
        <p:spPr>
          <a:xfrm>
            <a:off x="7660477" y="2313781"/>
            <a:ext cx="1758066" cy="238720"/>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A1A1AA"/>
                </a:solidFill>
                <a:latin typeface="Arial" pitchFamily="34" charset="0"/>
                <a:ea typeface="Arial" pitchFamily="34" charset="-122"/>
                <a:cs typeface="Arial" pitchFamily="34" charset="-120"/>
              </a:rPr>
              <a:t>Práctica</a:t>
            </a:r>
            <a:endParaRPr lang="en-US" sz="1200" dirty="0"/>
          </a:p>
        </p:txBody>
      </p:sp>
      <p:sp>
        <p:nvSpPr>
          <p:cNvPr id="24" name="Shape 22"/>
          <p:cNvSpPr/>
          <p:nvPr/>
        </p:nvSpPr>
        <p:spPr>
          <a:xfrm>
            <a:off x="9519940" y="2237581"/>
            <a:ext cx="1859260" cy="365720"/>
          </a:xfrm>
          <a:prstGeom prst="roundRect">
            <a:avLst>
              <a:gd name="adj" fmla="val 13890"/>
            </a:avLst>
          </a:prstGeom>
          <a:solidFill>
            <a:srgbClr val="26262C"/>
          </a:solidFill>
          <a:ln/>
        </p:spPr>
        <p:txBody>
          <a:bodyPr/>
          <a:lstStyle/>
          <a:p>
            <a:endParaRPr lang="es-CO"/>
          </a:p>
        </p:txBody>
      </p:sp>
      <p:sp>
        <p:nvSpPr>
          <p:cNvPr id="25" name="Text 23"/>
          <p:cNvSpPr/>
          <p:nvPr/>
        </p:nvSpPr>
        <p:spPr>
          <a:xfrm>
            <a:off x="9570537" y="2313781"/>
            <a:ext cx="1758066" cy="238720"/>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A1A1AA"/>
                </a:solidFill>
                <a:latin typeface="Arial" pitchFamily="34" charset="0"/>
                <a:ea typeface="Arial" pitchFamily="34" charset="-122"/>
                <a:cs typeface="Arial" pitchFamily="34" charset="-120"/>
              </a:rPr>
              <a:t>Práctica</a:t>
            </a:r>
            <a:endParaRPr lang="en-US" sz="1200" dirty="0"/>
          </a:p>
        </p:txBody>
      </p:sp>
      <p:sp>
        <p:nvSpPr>
          <p:cNvPr id="26" name="Text 24"/>
          <p:cNvSpPr/>
          <p:nvPr/>
        </p:nvSpPr>
        <p:spPr>
          <a:xfrm>
            <a:off x="812800" y="2746772"/>
            <a:ext cx="1066800" cy="2564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D4D4D8"/>
                </a:solidFill>
                <a:latin typeface="Arial" pitchFamily="34" charset="0"/>
                <a:ea typeface="Arial" pitchFamily="34" charset="-122"/>
                <a:cs typeface="Arial" pitchFamily="34" charset="-120"/>
              </a:rPr>
              <a:t>Ronda 3</a:t>
            </a:r>
            <a:endParaRPr lang="en-US" sz="1300" dirty="0"/>
          </a:p>
        </p:txBody>
      </p:sp>
      <p:sp>
        <p:nvSpPr>
          <p:cNvPr id="27" name="Shape 25"/>
          <p:cNvSpPr/>
          <p:nvPr/>
        </p:nvSpPr>
        <p:spPr>
          <a:xfrm>
            <a:off x="1879600" y="2679502"/>
            <a:ext cx="1859260" cy="365720"/>
          </a:xfrm>
          <a:prstGeom prst="roundRect">
            <a:avLst>
              <a:gd name="adj" fmla="val 13890"/>
            </a:avLst>
          </a:prstGeom>
          <a:solidFill>
            <a:srgbClr val="26262C"/>
          </a:solidFill>
          <a:ln/>
        </p:spPr>
        <p:txBody>
          <a:bodyPr/>
          <a:lstStyle/>
          <a:p>
            <a:endParaRPr lang="es-CO"/>
          </a:p>
        </p:txBody>
      </p:sp>
      <p:sp>
        <p:nvSpPr>
          <p:cNvPr id="28" name="Text 26"/>
          <p:cNvSpPr/>
          <p:nvPr/>
        </p:nvSpPr>
        <p:spPr>
          <a:xfrm>
            <a:off x="1930197" y="2755702"/>
            <a:ext cx="1758066" cy="238720"/>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A1A1AA"/>
                </a:solidFill>
                <a:latin typeface="Arial" pitchFamily="34" charset="0"/>
                <a:ea typeface="Arial" pitchFamily="34" charset="-122"/>
                <a:cs typeface="Arial" pitchFamily="34" charset="-120"/>
              </a:rPr>
              <a:t>Práctica</a:t>
            </a:r>
            <a:endParaRPr lang="en-US" sz="1200" dirty="0"/>
          </a:p>
        </p:txBody>
      </p:sp>
      <p:sp>
        <p:nvSpPr>
          <p:cNvPr id="29" name="Shape 27"/>
          <p:cNvSpPr/>
          <p:nvPr/>
        </p:nvSpPr>
        <p:spPr>
          <a:xfrm>
            <a:off x="3789660" y="2679502"/>
            <a:ext cx="1859359" cy="365720"/>
          </a:xfrm>
          <a:prstGeom prst="roundRect">
            <a:avLst>
              <a:gd name="adj" fmla="val 13890"/>
            </a:avLst>
          </a:prstGeom>
          <a:solidFill>
            <a:srgbClr val="26262C"/>
          </a:solidFill>
          <a:ln/>
        </p:spPr>
        <p:txBody>
          <a:bodyPr/>
          <a:lstStyle/>
          <a:p>
            <a:endParaRPr lang="es-CO"/>
          </a:p>
        </p:txBody>
      </p:sp>
      <p:sp>
        <p:nvSpPr>
          <p:cNvPr id="30" name="Text 28"/>
          <p:cNvSpPr/>
          <p:nvPr/>
        </p:nvSpPr>
        <p:spPr>
          <a:xfrm>
            <a:off x="3840256" y="2755702"/>
            <a:ext cx="1758168" cy="238720"/>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A1A1AA"/>
                </a:solidFill>
                <a:latin typeface="Arial" pitchFamily="34" charset="0"/>
                <a:ea typeface="Arial" pitchFamily="34" charset="-122"/>
                <a:cs typeface="Arial" pitchFamily="34" charset="-120"/>
              </a:rPr>
              <a:t>Práctica</a:t>
            </a:r>
            <a:endParaRPr lang="en-US" sz="1200" dirty="0"/>
          </a:p>
        </p:txBody>
      </p:sp>
      <p:sp>
        <p:nvSpPr>
          <p:cNvPr id="31" name="Shape 29"/>
          <p:cNvSpPr/>
          <p:nvPr/>
        </p:nvSpPr>
        <p:spPr>
          <a:xfrm>
            <a:off x="5699820" y="2679502"/>
            <a:ext cx="1859260" cy="365720"/>
          </a:xfrm>
          <a:prstGeom prst="roundRect">
            <a:avLst>
              <a:gd name="adj" fmla="val 13890"/>
            </a:avLst>
          </a:prstGeom>
          <a:solidFill>
            <a:srgbClr val="E4002B"/>
          </a:solidFill>
          <a:ln/>
        </p:spPr>
        <p:txBody>
          <a:bodyPr/>
          <a:lstStyle/>
          <a:p>
            <a:endParaRPr lang="es-CO"/>
          </a:p>
        </p:txBody>
      </p:sp>
      <p:sp>
        <p:nvSpPr>
          <p:cNvPr id="32" name="Text 30"/>
          <p:cNvSpPr/>
          <p:nvPr/>
        </p:nvSpPr>
        <p:spPr>
          <a:xfrm>
            <a:off x="5750417" y="2755702"/>
            <a:ext cx="1758066" cy="238720"/>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FFF7F7"/>
                </a:solidFill>
                <a:latin typeface="Arial" pitchFamily="34" charset="0"/>
                <a:ea typeface="Arial" pitchFamily="34" charset="-122"/>
                <a:cs typeface="Arial" pitchFamily="34" charset="-120"/>
              </a:rPr>
              <a:t>Examen</a:t>
            </a:r>
            <a:endParaRPr lang="en-US" sz="1200" dirty="0"/>
          </a:p>
        </p:txBody>
      </p:sp>
      <p:sp>
        <p:nvSpPr>
          <p:cNvPr id="33" name="Shape 31"/>
          <p:cNvSpPr/>
          <p:nvPr/>
        </p:nvSpPr>
        <p:spPr>
          <a:xfrm>
            <a:off x="7609880" y="2679502"/>
            <a:ext cx="1859260" cy="365720"/>
          </a:xfrm>
          <a:prstGeom prst="roundRect">
            <a:avLst>
              <a:gd name="adj" fmla="val 13890"/>
            </a:avLst>
          </a:prstGeom>
          <a:solidFill>
            <a:srgbClr val="26262C"/>
          </a:solidFill>
          <a:ln/>
        </p:spPr>
        <p:txBody>
          <a:bodyPr/>
          <a:lstStyle/>
          <a:p>
            <a:endParaRPr lang="es-CO"/>
          </a:p>
        </p:txBody>
      </p:sp>
      <p:sp>
        <p:nvSpPr>
          <p:cNvPr id="34" name="Text 32"/>
          <p:cNvSpPr/>
          <p:nvPr/>
        </p:nvSpPr>
        <p:spPr>
          <a:xfrm>
            <a:off x="7660477" y="2755702"/>
            <a:ext cx="1758066" cy="238720"/>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A1A1AA"/>
                </a:solidFill>
                <a:latin typeface="Arial" pitchFamily="34" charset="0"/>
                <a:ea typeface="Arial" pitchFamily="34" charset="-122"/>
                <a:cs typeface="Arial" pitchFamily="34" charset="-120"/>
              </a:rPr>
              <a:t>Práctica</a:t>
            </a:r>
            <a:endParaRPr lang="en-US" sz="1200" dirty="0"/>
          </a:p>
        </p:txBody>
      </p:sp>
      <p:sp>
        <p:nvSpPr>
          <p:cNvPr id="35" name="Shape 33"/>
          <p:cNvSpPr/>
          <p:nvPr/>
        </p:nvSpPr>
        <p:spPr>
          <a:xfrm>
            <a:off x="9519940" y="2679502"/>
            <a:ext cx="1859260" cy="365720"/>
          </a:xfrm>
          <a:prstGeom prst="roundRect">
            <a:avLst>
              <a:gd name="adj" fmla="val 13890"/>
            </a:avLst>
          </a:prstGeom>
          <a:solidFill>
            <a:srgbClr val="26262C"/>
          </a:solidFill>
          <a:ln/>
        </p:spPr>
        <p:txBody>
          <a:bodyPr/>
          <a:lstStyle/>
          <a:p>
            <a:endParaRPr lang="es-CO"/>
          </a:p>
        </p:txBody>
      </p:sp>
      <p:sp>
        <p:nvSpPr>
          <p:cNvPr id="36" name="Text 34"/>
          <p:cNvSpPr/>
          <p:nvPr/>
        </p:nvSpPr>
        <p:spPr>
          <a:xfrm>
            <a:off x="9570537" y="2755702"/>
            <a:ext cx="1758066" cy="238720"/>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A1A1AA"/>
                </a:solidFill>
                <a:latin typeface="Arial" pitchFamily="34" charset="0"/>
                <a:ea typeface="Arial" pitchFamily="34" charset="-122"/>
                <a:cs typeface="Arial" pitchFamily="34" charset="-120"/>
              </a:rPr>
              <a:t>Práctica</a:t>
            </a:r>
            <a:endParaRPr lang="en-US" sz="1200" dirty="0"/>
          </a:p>
        </p:txBody>
      </p:sp>
      <p:sp>
        <p:nvSpPr>
          <p:cNvPr id="37" name="Text 35"/>
          <p:cNvSpPr/>
          <p:nvPr/>
        </p:nvSpPr>
        <p:spPr>
          <a:xfrm>
            <a:off x="812800" y="3188692"/>
            <a:ext cx="1066800" cy="2564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D4D4D8"/>
                </a:solidFill>
                <a:latin typeface="Arial" pitchFamily="34" charset="0"/>
                <a:ea typeface="Arial" pitchFamily="34" charset="-122"/>
                <a:cs typeface="Arial" pitchFamily="34" charset="-120"/>
              </a:rPr>
              <a:t>Ronda 4</a:t>
            </a:r>
            <a:endParaRPr lang="en-US" sz="1300" dirty="0"/>
          </a:p>
        </p:txBody>
      </p:sp>
      <p:sp>
        <p:nvSpPr>
          <p:cNvPr id="38" name="Shape 36"/>
          <p:cNvSpPr/>
          <p:nvPr/>
        </p:nvSpPr>
        <p:spPr>
          <a:xfrm>
            <a:off x="1879600" y="3121422"/>
            <a:ext cx="1859260" cy="365720"/>
          </a:xfrm>
          <a:prstGeom prst="roundRect">
            <a:avLst>
              <a:gd name="adj" fmla="val 13890"/>
            </a:avLst>
          </a:prstGeom>
          <a:solidFill>
            <a:srgbClr val="26262C"/>
          </a:solidFill>
          <a:ln/>
        </p:spPr>
        <p:txBody>
          <a:bodyPr/>
          <a:lstStyle/>
          <a:p>
            <a:endParaRPr lang="es-CO"/>
          </a:p>
        </p:txBody>
      </p:sp>
      <p:sp>
        <p:nvSpPr>
          <p:cNvPr id="39" name="Text 37"/>
          <p:cNvSpPr/>
          <p:nvPr/>
        </p:nvSpPr>
        <p:spPr>
          <a:xfrm>
            <a:off x="1930197" y="3197622"/>
            <a:ext cx="1758066" cy="238720"/>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A1A1AA"/>
                </a:solidFill>
                <a:latin typeface="Arial" pitchFamily="34" charset="0"/>
                <a:ea typeface="Arial" pitchFamily="34" charset="-122"/>
                <a:cs typeface="Arial" pitchFamily="34" charset="-120"/>
              </a:rPr>
              <a:t>Práctica</a:t>
            </a:r>
            <a:endParaRPr lang="en-US" sz="1200" dirty="0"/>
          </a:p>
        </p:txBody>
      </p:sp>
      <p:sp>
        <p:nvSpPr>
          <p:cNvPr id="40" name="Shape 38"/>
          <p:cNvSpPr/>
          <p:nvPr/>
        </p:nvSpPr>
        <p:spPr>
          <a:xfrm>
            <a:off x="3789660" y="3121422"/>
            <a:ext cx="1859359" cy="365720"/>
          </a:xfrm>
          <a:prstGeom prst="roundRect">
            <a:avLst>
              <a:gd name="adj" fmla="val 13890"/>
            </a:avLst>
          </a:prstGeom>
          <a:solidFill>
            <a:srgbClr val="26262C"/>
          </a:solidFill>
          <a:ln/>
        </p:spPr>
        <p:txBody>
          <a:bodyPr/>
          <a:lstStyle/>
          <a:p>
            <a:endParaRPr lang="es-CO"/>
          </a:p>
        </p:txBody>
      </p:sp>
      <p:sp>
        <p:nvSpPr>
          <p:cNvPr id="41" name="Text 39"/>
          <p:cNvSpPr/>
          <p:nvPr/>
        </p:nvSpPr>
        <p:spPr>
          <a:xfrm>
            <a:off x="3840256" y="3197622"/>
            <a:ext cx="1758168" cy="238720"/>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A1A1AA"/>
                </a:solidFill>
                <a:latin typeface="Arial" pitchFamily="34" charset="0"/>
                <a:ea typeface="Arial" pitchFamily="34" charset="-122"/>
                <a:cs typeface="Arial" pitchFamily="34" charset="-120"/>
              </a:rPr>
              <a:t>Práctica</a:t>
            </a:r>
            <a:endParaRPr lang="en-US" sz="1200" dirty="0"/>
          </a:p>
        </p:txBody>
      </p:sp>
      <p:sp>
        <p:nvSpPr>
          <p:cNvPr id="42" name="Shape 40"/>
          <p:cNvSpPr/>
          <p:nvPr/>
        </p:nvSpPr>
        <p:spPr>
          <a:xfrm>
            <a:off x="5699820" y="3121422"/>
            <a:ext cx="1859260" cy="365720"/>
          </a:xfrm>
          <a:prstGeom prst="roundRect">
            <a:avLst>
              <a:gd name="adj" fmla="val 13890"/>
            </a:avLst>
          </a:prstGeom>
          <a:solidFill>
            <a:srgbClr val="26262C"/>
          </a:solidFill>
          <a:ln/>
        </p:spPr>
        <p:txBody>
          <a:bodyPr/>
          <a:lstStyle/>
          <a:p>
            <a:endParaRPr lang="es-CO"/>
          </a:p>
        </p:txBody>
      </p:sp>
      <p:sp>
        <p:nvSpPr>
          <p:cNvPr id="43" name="Text 41"/>
          <p:cNvSpPr/>
          <p:nvPr/>
        </p:nvSpPr>
        <p:spPr>
          <a:xfrm>
            <a:off x="5750417" y="3197622"/>
            <a:ext cx="1758066" cy="238720"/>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A1A1AA"/>
                </a:solidFill>
                <a:latin typeface="Arial" pitchFamily="34" charset="0"/>
                <a:ea typeface="Arial" pitchFamily="34" charset="-122"/>
                <a:cs typeface="Arial" pitchFamily="34" charset="-120"/>
              </a:rPr>
              <a:t>Práctica</a:t>
            </a:r>
            <a:endParaRPr lang="en-US" sz="1200" dirty="0"/>
          </a:p>
        </p:txBody>
      </p:sp>
      <p:sp>
        <p:nvSpPr>
          <p:cNvPr id="44" name="Shape 42"/>
          <p:cNvSpPr/>
          <p:nvPr/>
        </p:nvSpPr>
        <p:spPr>
          <a:xfrm>
            <a:off x="7609880" y="3121422"/>
            <a:ext cx="1859260" cy="365720"/>
          </a:xfrm>
          <a:prstGeom prst="roundRect">
            <a:avLst>
              <a:gd name="adj" fmla="val 13890"/>
            </a:avLst>
          </a:prstGeom>
          <a:solidFill>
            <a:srgbClr val="E4002B"/>
          </a:solidFill>
          <a:ln/>
        </p:spPr>
        <p:txBody>
          <a:bodyPr/>
          <a:lstStyle/>
          <a:p>
            <a:endParaRPr lang="es-CO"/>
          </a:p>
        </p:txBody>
      </p:sp>
      <p:sp>
        <p:nvSpPr>
          <p:cNvPr id="45" name="Text 43"/>
          <p:cNvSpPr/>
          <p:nvPr/>
        </p:nvSpPr>
        <p:spPr>
          <a:xfrm>
            <a:off x="7660477" y="3197622"/>
            <a:ext cx="1758066" cy="238720"/>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FFF7F7"/>
                </a:solidFill>
                <a:latin typeface="Arial" pitchFamily="34" charset="0"/>
                <a:ea typeface="Arial" pitchFamily="34" charset="-122"/>
                <a:cs typeface="Arial" pitchFamily="34" charset="-120"/>
              </a:rPr>
              <a:t>Examen</a:t>
            </a:r>
            <a:endParaRPr lang="en-US" sz="1200" dirty="0"/>
          </a:p>
        </p:txBody>
      </p:sp>
      <p:sp>
        <p:nvSpPr>
          <p:cNvPr id="46" name="Shape 44"/>
          <p:cNvSpPr/>
          <p:nvPr/>
        </p:nvSpPr>
        <p:spPr>
          <a:xfrm>
            <a:off x="9519940" y="3121422"/>
            <a:ext cx="1859260" cy="365720"/>
          </a:xfrm>
          <a:prstGeom prst="roundRect">
            <a:avLst>
              <a:gd name="adj" fmla="val 13890"/>
            </a:avLst>
          </a:prstGeom>
          <a:solidFill>
            <a:srgbClr val="26262C"/>
          </a:solidFill>
          <a:ln/>
        </p:spPr>
        <p:txBody>
          <a:bodyPr/>
          <a:lstStyle/>
          <a:p>
            <a:endParaRPr lang="es-CO"/>
          </a:p>
        </p:txBody>
      </p:sp>
      <p:sp>
        <p:nvSpPr>
          <p:cNvPr id="47" name="Text 45"/>
          <p:cNvSpPr/>
          <p:nvPr/>
        </p:nvSpPr>
        <p:spPr>
          <a:xfrm>
            <a:off x="9570537" y="3197622"/>
            <a:ext cx="1758066" cy="238720"/>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A1A1AA"/>
                </a:solidFill>
                <a:latin typeface="Arial" pitchFamily="34" charset="0"/>
                <a:ea typeface="Arial" pitchFamily="34" charset="-122"/>
                <a:cs typeface="Arial" pitchFamily="34" charset="-120"/>
              </a:rPr>
              <a:t>Práctica</a:t>
            </a:r>
            <a:endParaRPr lang="en-US" sz="1200" dirty="0"/>
          </a:p>
        </p:txBody>
      </p:sp>
      <p:sp>
        <p:nvSpPr>
          <p:cNvPr id="48" name="Text 46"/>
          <p:cNvSpPr/>
          <p:nvPr/>
        </p:nvSpPr>
        <p:spPr>
          <a:xfrm>
            <a:off x="812800" y="3630613"/>
            <a:ext cx="1066800" cy="2564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D4D4D8"/>
                </a:solidFill>
                <a:latin typeface="Arial" pitchFamily="34" charset="0"/>
                <a:ea typeface="Arial" pitchFamily="34" charset="-122"/>
                <a:cs typeface="Arial" pitchFamily="34" charset="-120"/>
              </a:rPr>
              <a:t>Ronda 5</a:t>
            </a:r>
            <a:endParaRPr lang="en-US" sz="1300" dirty="0"/>
          </a:p>
        </p:txBody>
      </p:sp>
      <p:sp>
        <p:nvSpPr>
          <p:cNvPr id="49" name="Shape 47"/>
          <p:cNvSpPr/>
          <p:nvPr/>
        </p:nvSpPr>
        <p:spPr>
          <a:xfrm>
            <a:off x="1879600" y="3563342"/>
            <a:ext cx="1859260" cy="365720"/>
          </a:xfrm>
          <a:prstGeom prst="roundRect">
            <a:avLst>
              <a:gd name="adj" fmla="val 13890"/>
            </a:avLst>
          </a:prstGeom>
          <a:solidFill>
            <a:srgbClr val="26262C"/>
          </a:solidFill>
          <a:ln/>
        </p:spPr>
        <p:txBody>
          <a:bodyPr/>
          <a:lstStyle/>
          <a:p>
            <a:endParaRPr lang="es-CO"/>
          </a:p>
        </p:txBody>
      </p:sp>
      <p:sp>
        <p:nvSpPr>
          <p:cNvPr id="50" name="Text 48"/>
          <p:cNvSpPr/>
          <p:nvPr/>
        </p:nvSpPr>
        <p:spPr>
          <a:xfrm>
            <a:off x="1930197" y="3639542"/>
            <a:ext cx="1758066" cy="238720"/>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A1A1AA"/>
                </a:solidFill>
                <a:latin typeface="Arial" pitchFamily="34" charset="0"/>
                <a:ea typeface="Arial" pitchFamily="34" charset="-122"/>
                <a:cs typeface="Arial" pitchFamily="34" charset="-120"/>
              </a:rPr>
              <a:t>Práctica</a:t>
            </a:r>
            <a:endParaRPr lang="en-US" sz="1200" dirty="0"/>
          </a:p>
        </p:txBody>
      </p:sp>
      <p:sp>
        <p:nvSpPr>
          <p:cNvPr id="51" name="Shape 49"/>
          <p:cNvSpPr/>
          <p:nvPr/>
        </p:nvSpPr>
        <p:spPr>
          <a:xfrm>
            <a:off x="3789660" y="3563342"/>
            <a:ext cx="1859359" cy="365720"/>
          </a:xfrm>
          <a:prstGeom prst="roundRect">
            <a:avLst>
              <a:gd name="adj" fmla="val 13890"/>
            </a:avLst>
          </a:prstGeom>
          <a:solidFill>
            <a:srgbClr val="26262C"/>
          </a:solidFill>
          <a:ln/>
        </p:spPr>
        <p:txBody>
          <a:bodyPr/>
          <a:lstStyle/>
          <a:p>
            <a:endParaRPr lang="es-CO"/>
          </a:p>
        </p:txBody>
      </p:sp>
      <p:sp>
        <p:nvSpPr>
          <p:cNvPr id="52" name="Text 50"/>
          <p:cNvSpPr/>
          <p:nvPr/>
        </p:nvSpPr>
        <p:spPr>
          <a:xfrm>
            <a:off x="3840256" y="3639542"/>
            <a:ext cx="1758168" cy="238720"/>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A1A1AA"/>
                </a:solidFill>
                <a:latin typeface="Arial" pitchFamily="34" charset="0"/>
                <a:ea typeface="Arial" pitchFamily="34" charset="-122"/>
                <a:cs typeface="Arial" pitchFamily="34" charset="-120"/>
              </a:rPr>
              <a:t>Práctica</a:t>
            </a:r>
            <a:endParaRPr lang="en-US" sz="1200" dirty="0"/>
          </a:p>
        </p:txBody>
      </p:sp>
      <p:sp>
        <p:nvSpPr>
          <p:cNvPr id="53" name="Shape 51"/>
          <p:cNvSpPr/>
          <p:nvPr/>
        </p:nvSpPr>
        <p:spPr>
          <a:xfrm>
            <a:off x="5699820" y="3563342"/>
            <a:ext cx="1859260" cy="365720"/>
          </a:xfrm>
          <a:prstGeom prst="roundRect">
            <a:avLst>
              <a:gd name="adj" fmla="val 13890"/>
            </a:avLst>
          </a:prstGeom>
          <a:solidFill>
            <a:srgbClr val="26262C"/>
          </a:solidFill>
          <a:ln/>
        </p:spPr>
        <p:txBody>
          <a:bodyPr/>
          <a:lstStyle/>
          <a:p>
            <a:endParaRPr lang="es-CO"/>
          </a:p>
        </p:txBody>
      </p:sp>
      <p:sp>
        <p:nvSpPr>
          <p:cNvPr id="54" name="Text 52"/>
          <p:cNvSpPr/>
          <p:nvPr/>
        </p:nvSpPr>
        <p:spPr>
          <a:xfrm>
            <a:off x="5750417" y="3639542"/>
            <a:ext cx="1758066" cy="238720"/>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A1A1AA"/>
                </a:solidFill>
                <a:latin typeface="Arial" pitchFamily="34" charset="0"/>
                <a:ea typeface="Arial" pitchFamily="34" charset="-122"/>
                <a:cs typeface="Arial" pitchFamily="34" charset="-120"/>
              </a:rPr>
              <a:t>Práctica</a:t>
            </a:r>
            <a:endParaRPr lang="en-US" sz="1200" dirty="0"/>
          </a:p>
        </p:txBody>
      </p:sp>
      <p:sp>
        <p:nvSpPr>
          <p:cNvPr id="55" name="Shape 53"/>
          <p:cNvSpPr/>
          <p:nvPr/>
        </p:nvSpPr>
        <p:spPr>
          <a:xfrm>
            <a:off x="7609880" y="3563342"/>
            <a:ext cx="1859260" cy="365720"/>
          </a:xfrm>
          <a:prstGeom prst="roundRect">
            <a:avLst>
              <a:gd name="adj" fmla="val 13890"/>
            </a:avLst>
          </a:prstGeom>
          <a:solidFill>
            <a:srgbClr val="26262C"/>
          </a:solidFill>
          <a:ln/>
        </p:spPr>
        <p:txBody>
          <a:bodyPr/>
          <a:lstStyle/>
          <a:p>
            <a:endParaRPr lang="es-CO"/>
          </a:p>
        </p:txBody>
      </p:sp>
      <p:sp>
        <p:nvSpPr>
          <p:cNvPr id="56" name="Text 54"/>
          <p:cNvSpPr/>
          <p:nvPr/>
        </p:nvSpPr>
        <p:spPr>
          <a:xfrm>
            <a:off x="7660477" y="3639542"/>
            <a:ext cx="1758066" cy="238720"/>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A1A1AA"/>
                </a:solidFill>
                <a:latin typeface="Arial" pitchFamily="34" charset="0"/>
                <a:ea typeface="Arial" pitchFamily="34" charset="-122"/>
                <a:cs typeface="Arial" pitchFamily="34" charset="-120"/>
              </a:rPr>
              <a:t>Práctica</a:t>
            </a:r>
            <a:endParaRPr lang="en-US" sz="1200" dirty="0"/>
          </a:p>
        </p:txBody>
      </p:sp>
      <p:sp>
        <p:nvSpPr>
          <p:cNvPr id="57" name="Shape 55"/>
          <p:cNvSpPr/>
          <p:nvPr/>
        </p:nvSpPr>
        <p:spPr>
          <a:xfrm>
            <a:off x="9519940" y="3563342"/>
            <a:ext cx="1859260" cy="365720"/>
          </a:xfrm>
          <a:prstGeom prst="roundRect">
            <a:avLst>
              <a:gd name="adj" fmla="val 13890"/>
            </a:avLst>
          </a:prstGeom>
          <a:solidFill>
            <a:srgbClr val="E4002B"/>
          </a:solidFill>
          <a:ln/>
        </p:spPr>
        <p:txBody>
          <a:bodyPr/>
          <a:lstStyle/>
          <a:p>
            <a:endParaRPr lang="es-CO"/>
          </a:p>
        </p:txBody>
      </p:sp>
      <p:sp>
        <p:nvSpPr>
          <p:cNvPr id="58" name="Text 56"/>
          <p:cNvSpPr/>
          <p:nvPr/>
        </p:nvSpPr>
        <p:spPr>
          <a:xfrm>
            <a:off x="9570537" y="3639542"/>
            <a:ext cx="1758066" cy="238720"/>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FFF7F7"/>
                </a:solidFill>
                <a:latin typeface="Arial" pitchFamily="34" charset="0"/>
                <a:ea typeface="Arial" pitchFamily="34" charset="-122"/>
                <a:cs typeface="Arial" pitchFamily="34" charset="-120"/>
              </a:rPr>
              <a:t>Examen</a:t>
            </a:r>
            <a:endParaRPr lang="en-US" sz="1200" dirty="0"/>
          </a:p>
        </p:txBody>
      </p:sp>
      <p:sp>
        <p:nvSpPr>
          <p:cNvPr id="59" name="Shape 57"/>
          <p:cNvSpPr/>
          <p:nvPr/>
        </p:nvSpPr>
        <p:spPr>
          <a:xfrm>
            <a:off x="819150" y="4138613"/>
            <a:ext cx="10553700" cy="1111052"/>
          </a:xfrm>
          <a:prstGeom prst="roundRect">
            <a:avLst>
              <a:gd name="adj" fmla="val 10859"/>
            </a:avLst>
          </a:prstGeom>
          <a:solidFill>
            <a:srgbClr val="1F0A0F"/>
          </a:solidFill>
          <a:ln w="12700">
            <a:solidFill>
              <a:srgbClr val="E4002B"/>
            </a:solidFill>
            <a:prstDash val="solid"/>
          </a:ln>
        </p:spPr>
        <p:txBody>
          <a:bodyPr/>
          <a:lstStyle/>
          <a:p>
            <a:endParaRPr lang="es-CO"/>
          </a:p>
        </p:txBody>
      </p:sp>
      <p:sp>
        <p:nvSpPr>
          <p:cNvPr id="60" name="Text 58"/>
          <p:cNvSpPr/>
          <p:nvPr/>
        </p:nvSpPr>
        <p:spPr>
          <a:xfrm>
            <a:off x="1079500" y="4322763"/>
            <a:ext cx="10333990"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E4002B"/>
                </a:solidFill>
                <a:latin typeface="Courier New" pitchFamily="34" charset="0"/>
                <a:ea typeface="Courier New" pitchFamily="34" charset="-122"/>
                <a:cs typeface="Courier New" pitchFamily="34" charset="-120"/>
              </a:rPr>
              <a:t>EN PALABRAS SIMPLES</a:t>
            </a:r>
            <a:endParaRPr lang="en-US" sz="1200" dirty="0"/>
          </a:p>
        </p:txBody>
      </p:sp>
      <p:sp>
        <p:nvSpPr>
          <p:cNvPr id="61" name="Text 59"/>
          <p:cNvSpPr/>
          <p:nvPr/>
        </p:nvSpPr>
        <p:spPr>
          <a:xfrm>
            <a:off x="1079500" y="4586883"/>
            <a:ext cx="10333990" cy="504031"/>
          </a:xfrm>
          <a:prstGeom prst="rect">
            <a:avLst/>
          </a:prstGeom>
          <a:noFill/>
          <a:ln/>
        </p:spPr>
        <p:txBody>
          <a:bodyPr wrap="square" lIns="0" tIns="0" rIns="0" bIns="0" rtlCol="0" anchor="t">
            <a:normAutofit/>
          </a:bodyPr>
          <a:lstStyle/>
          <a:p>
            <a:pPr marL="0" indent="0" algn="l">
              <a:lnSpc>
                <a:spcPts val="1885"/>
              </a:lnSpc>
              <a:buNone/>
            </a:pPr>
            <a:r>
              <a:rPr lang="en-US" sz="1300" dirty="0">
                <a:solidFill>
                  <a:srgbClr val="F4F4F5"/>
                </a:solidFill>
                <a:latin typeface="Arial" pitchFamily="34" charset="0"/>
                <a:ea typeface="Arial" pitchFamily="34" charset="-122"/>
                <a:cs typeface="Arial" pitchFamily="34" charset="-120"/>
              </a:rPr>
              <a:t>Partimos los datos en 5 grupos, llamados pliegues (folds). Cada grupo es examen una vez y práctica cuatro veces. Al final, se promedian las 5 notas.</a:t>
            </a:r>
            <a:endParaRPr lang="en-US" sz="1300" dirty="0"/>
          </a:p>
        </p:txBody>
      </p:sp>
      <p:sp>
        <p:nvSpPr>
          <p:cNvPr id="62" name="Text 60"/>
          <p:cNvSpPr/>
          <p:nvPr/>
        </p:nvSpPr>
        <p:spPr>
          <a:xfrm>
            <a:off x="812800" y="6238280"/>
            <a:ext cx="7848600" cy="238720"/>
          </a:xfrm>
          <a:prstGeom prst="rect">
            <a:avLst/>
          </a:prstGeom>
          <a:noFill/>
          <a:ln/>
        </p:spPr>
        <p:txBody>
          <a:bodyPr wrap="square" lIns="0" tIns="0" rIns="0" bIns="0" rtlCol="0" anchor="t">
            <a:normAutofit/>
          </a:bodyPr>
          <a:lstStyle/>
          <a:p>
            <a:pPr marL="0" indent="0" algn="l">
              <a:lnSpc>
                <a:spcPts val="1680"/>
              </a:lnSpc>
              <a:buNone/>
            </a:pPr>
            <a:r>
              <a:rPr lang="en-US" sz="1200" kern="0" spc="100" dirty="0">
                <a:solidFill>
                  <a:srgbClr val="71717A"/>
                </a:solidFill>
                <a:latin typeface="Courier New" pitchFamily="34" charset="0"/>
                <a:ea typeface="Courier New" pitchFamily="34" charset="-122"/>
                <a:cs typeface="Courier New" pitchFamily="34" charset="-120"/>
              </a:rPr>
              <a:t>UNIDAD 4 · VALIDACIÓN DE MODELOS</a:t>
            </a:r>
            <a:endParaRPr lang="en-US" sz="1200" dirty="0"/>
          </a:p>
        </p:txBody>
      </p:sp>
      <p:sp>
        <p:nvSpPr>
          <p:cNvPr id="63" name="Text 61"/>
          <p:cNvSpPr/>
          <p:nvPr/>
        </p:nvSpPr>
        <p:spPr>
          <a:xfrm>
            <a:off x="10058400" y="6238280"/>
            <a:ext cx="1320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71717A"/>
                </a:solidFill>
                <a:latin typeface="Courier New" pitchFamily="34" charset="0"/>
                <a:ea typeface="Courier New" pitchFamily="34" charset="-122"/>
                <a:cs typeface="Courier New" pitchFamily="34" charset="-120"/>
              </a:rPr>
              <a:t>25</a:t>
            </a:r>
            <a:endParaRPr lang="en-US" sz="12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0B0B0D"/>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marL="0" indent="0" algn="l">
              <a:lnSpc>
                <a:spcPts val="1820"/>
              </a:lnSpc>
              <a:buNone/>
            </a:pPr>
            <a:r>
              <a:rPr lang="en-US" sz="1300" b="1" kern="0" spc="200" dirty="0">
                <a:solidFill>
                  <a:srgbClr val="E4002B"/>
                </a:solidFill>
                <a:latin typeface="Courier New" pitchFamily="34" charset="0"/>
                <a:ea typeface="Courier New" pitchFamily="34" charset="-122"/>
                <a:cs typeface="Courier New" pitchFamily="34" charset="-120"/>
              </a:rPr>
              <a:t>EL RESULTADO EN COLAB</a:t>
            </a:r>
            <a:endParaRPr lang="en-US" sz="1300" dirty="0"/>
          </a:p>
        </p:txBody>
      </p:sp>
      <p:sp>
        <p:nvSpPr>
          <p:cNvPr id="3" name="Text 1"/>
          <p:cNvSpPr/>
          <p:nvPr/>
        </p:nvSpPr>
        <p:spPr>
          <a:xfrm>
            <a:off x="812800" y="1145480"/>
            <a:ext cx="10883392" cy="472380"/>
          </a:xfrm>
          <a:prstGeom prst="rect">
            <a:avLst/>
          </a:prstGeom>
          <a:noFill/>
          <a:ln/>
        </p:spPr>
        <p:txBody>
          <a:bodyPr wrap="square" lIns="0" tIns="0" rIns="0" bIns="0" rtlCol="0" anchor="t">
            <a:normAutofit/>
          </a:bodyPr>
          <a:lstStyle/>
          <a:p>
            <a:pPr marL="0" indent="0" algn="l">
              <a:lnSpc>
                <a:spcPts val="3520"/>
              </a:lnSpc>
              <a:buNone/>
            </a:pPr>
            <a:r>
              <a:rPr lang="en-US" sz="3200" b="1" kern="0" spc="-50" dirty="0">
                <a:solidFill>
                  <a:srgbClr val="F4F4F5"/>
                </a:solidFill>
                <a:latin typeface="Arial" pitchFamily="34" charset="0"/>
                <a:ea typeface="Arial" pitchFamily="34" charset="-122"/>
                <a:cs typeface="Arial" pitchFamily="34" charset="-120"/>
              </a:rPr>
              <a:t>Una nota más justa y una comparación honesta</a:t>
            </a:r>
            <a:endParaRPr lang="en-US" sz="3200" dirty="0"/>
          </a:p>
        </p:txBody>
      </p:sp>
      <p:sp>
        <p:nvSpPr>
          <p:cNvPr id="4" name="Shape 2"/>
          <p:cNvSpPr/>
          <p:nvPr/>
        </p:nvSpPr>
        <p:spPr>
          <a:xfrm>
            <a:off x="819150" y="1802011"/>
            <a:ext cx="5194300" cy="2330252"/>
          </a:xfrm>
          <a:prstGeom prst="roundRect">
            <a:avLst>
              <a:gd name="adj" fmla="val 5178"/>
            </a:avLst>
          </a:prstGeom>
          <a:solidFill>
            <a:srgbClr val="1A1A1F"/>
          </a:solidFill>
          <a:ln w="12700">
            <a:solidFill>
              <a:srgbClr val="2C2C33"/>
            </a:solidFill>
            <a:prstDash val="solid"/>
          </a:ln>
        </p:spPr>
        <p:txBody>
          <a:bodyPr/>
          <a:lstStyle/>
          <a:p>
            <a:endParaRPr lang="es-CO"/>
          </a:p>
        </p:txBody>
      </p:sp>
      <p:sp>
        <p:nvSpPr>
          <p:cNvPr id="5" name="Text 3"/>
          <p:cNvSpPr/>
          <p:nvPr/>
        </p:nvSpPr>
        <p:spPr>
          <a:xfrm>
            <a:off x="1054100" y="2036961"/>
            <a:ext cx="4866132"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F4F4F5"/>
                </a:solidFill>
                <a:latin typeface="Arial" pitchFamily="34" charset="0"/>
                <a:ea typeface="Arial" pitchFamily="34" charset="-122"/>
                <a:cs typeface="Arial" pitchFamily="34" charset="-120"/>
              </a:rPr>
              <a:t>Árbol de profundidad 3</a:t>
            </a:r>
            <a:endParaRPr lang="en-US" sz="1500" dirty="0"/>
          </a:p>
        </p:txBody>
      </p:sp>
      <p:sp>
        <p:nvSpPr>
          <p:cNvPr id="6" name="Shape 4"/>
          <p:cNvSpPr/>
          <p:nvPr/>
        </p:nvSpPr>
        <p:spPr>
          <a:xfrm>
            <a:off x="1054100" y="2392561"/>
            <a:ext cx="635099" cy="314920"/>
          </a:xfrm>
          <a:prstGeom prst="roundRect">
            <a:avLst>
              <a:gd name="adj" fmla="val 20164"/>
            </a:avLst>
          </a:prstGeom>
          <a:solidFill>
            <a:srgbClr val="26262C"/>
          </a:solidFill>
          <a:ln/>
        </p:spPr>
        <p:txBody>
          <a:bodyPr/>
          <a:lstStyle/>
          <a:p>
            <a:endParaRPr lang="es-CO"/>
          </a:p>
        </p:txBody>
      </p:sp>
      <p:sp>
        <p:nvSpPr>
          <p:cNvPr id="7" name="Text 5"/>
          <p:cNvSpPr/>
          <p:nvPr/>
        </p:nvSpPr>
        <p:spPr>
          <a:xfrm>
            <a:off x="1143000" y="2443361"/>
            <a:ext cx="508099"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E4E4E7"/>
                </a:solidFill>
                <a:latin typeface="Courier New" pitchFamily="34" charset="0"/>
                <a:ea typeface="Courier New" pitchFamily="34" charset="-122"/>
                <a:cs typeface="Courier New" pitchFamily="34" charset="-120"/>
              </a:rPr>
              <a:t>0,912</a:t>
            </a:r>
            <a:endParaRPr lang="en-US" sz="1200" dirty="0"/>
          </a:p>
        </p:txBody>
      </p:sp>
      <p:sp>
        <p:nvSpPr>
          <p:cNvPr id="8" name="Shape 6"/>
          <p:cNvSpPr/>
          <p:nvPr/>
        </p:nvSpPr>
        <p:spPr>
          <a:xfrm>
            <a:off x="1765399" y="2392561"/>
            <a:ext cx="635099" cy="314920"/>
          </a:xfrm>
          <a:prstGeom prst="roundRect">
            <a:avLst>
              <a:gd name="adj" fmla="val 20164"/>
            </a:avLst>
          </a:prstGeom>
          <a:solidFill>
            <a:srgbClr val="26262C"/>
          </a:solidFill>
          <a:ln/>
        </p:spPr>
        <p:txBody>
          <a:bodyPr/>
          <a:lstStyle/>
          <a:p>
            <a:endParaRPr lang="es-CO"/>
          </a:p>
        </p:txBody>
      </p:sp>
      <p:sp>
        <p:nvSpPr>
          <p:cNvPr id="9" name="Text 7"/>
          <p:cNvSpPr/>
          <p:nvPr/>
        </p:nvSpPr>
        <p:spPr>
          <a:xfrm>
            <a:off x="1854299" y="2443361"/>
            <a:ext cx="508099"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E4E4E7"/>
                </a:solidFill>
                <a:latin typeface="Courier New" pitchFamily="34" charset="0"/>
                <a:ea typeface="Courier New" pitchFamily="34" charset="-122"/>
                <a:cs typeface="Courier New" pitchFamily="34" charset="-120"/>
              </a:rPr>
              <a:t>0,895</a:t>
            </a:r>
            <a:endParaRPr lang="en-US" sz="1200" dirty="0"/>
          </a:p>
        </p:txBody>
      </p:sp>
      <p:sp>
        <p:nvSpPr>
          <p:cNvPr id="10" name="Shape 8"/>
          <p:cNvSpPr/>
          <p:nvPr/>
        </p:nvSpPr>
        <p:spPr>
          <a:xfrm>
            <a:off x="2476698" y="2392561"/>
            <a:ext cx="635099" cy="314920"/>
          </a:xfrm>
          <a:prstGeom prst="roundRect">
            <a:avLst>
              <a:gd name="adj" fmla="val 20164"/>
            </a:avLst>
          </a:prstGeom>
          <a:solidFill>
            <a:srgbClr val="26262C"/>
          </a:solidFill>
          <a:ln/>
        </p:spPr>
        <p:txBody>
          <a:bodyPr/>
          <a:lstStyle/>
          <a:p>
            <a:endParaRPr lang="es-CO"/>
          </a:p>
        </p:txBody>
      </p:sp>
      <p:sp>
        <p:nvSpPr>
          <p:cNvPr id="11" name="Text 9"/>
          <p:cNvSpPr/>
          <p:nvPr/>
        </p:nvSpPr>
        <p:spPr>
          <a:xfrm>
            <a:off x="2565598" y="2443361"/>
            <a:ext cx="508099"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E4E4E7"/>
                </a:solidFill>
                <a:latin typeface="Courier New" pitchFamily="34" charset="0"/>
                <a:ea typeface="Courier New" pitchFamily="34" charset="-122"/>
                <a:cs typeface="Courier New" pitchFamily="34" charset="-120"/>
              </a:rPr>
              <a:t>0,939</a:t>
            </a:r>
            <a:endParaRPr lang="en-US" sz="1200" dirty="0"/>
          </a:p>
        </p:txBody>
      </p:sp>
      <p:sp>
        <p:nvSpPr>
          <p:cNvPr id="12" name="Shape 10"/>
          <p:cNvSpPr/>
          <p:nvPr/>
        </p:nvSpPr>
        <p:spPr>
          <a:xfrm>
            <a:off x="3187998" y="2392561"/>
            <a:ext cx="635099" cy="314920"/>
          </a:xfrm>
          <a:prstGeom prst="roundRect">
            <a:avLst>
              <a:gd name="adj" fmla="val 20164"/>
            </a:avLst>
          </a:prstGeom>
          <a:solidFill>
            <a:srgbClr val="26262C"/>
          </a:solidFill>
          <a:ln/>
        </p:spPr>
        <p:txBody>
          <a:bodyPr/>
          <a:lstStyle/>
          <a:p>
            <a:endParaRPr lang="es-CO"/>
          </a:p>
        </p:txBody>
      </p:sp>
      <p:sp>
        <p:nvSpPr>
          <p:cNvPr id="13" name="Text 11"/>
          <p:cNvSpPr/>
          <p:nvPr/>
        </p:nvSpPr>
        <p:spPr>
          <a:xfrm>
            <a:off x="3276898" y="2443361"/>
            <a:ext cx="508099"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E4E4E7"/>
                </a:solidFill>
                <a:latin typeface="Courier New" pitchFamily="34" charset="0"/>
                <a:ea typeface="Courier New" pitchFamily="34" charset="-122"/>
                <a:cs typeface="Courier New" pitchFamily="34" charset="-120"/>
              </a:rPr>
              <a:t>0,947</a:t>
            </a:r>
            <a:endParaRPr lang="en-US" sz="1200" dirty="0"/>
          </a:p>
        </p:txBody>
      </p:sp>
      <p:sp>
        <p:nvSpPr>
          <p:cNvPr id="14" name="Shape 12"/>
          <p:cNvSpPr/>
          <p:nvPr/>
        </p:nvSpPr>
        <p:spPr>
          <a:xfrm>
            <a:off x="3899297" y="2392561"/>
            <a:ext cx="635099" cy="314920"/>
          </a:xfrm>
          <a:prstGeom prst="roundRect">
            <a:avLst>
              <a:gd name="adj" fmla="val 20164"/>
            </a:avLst>
          </a:prstGeom>
          <a:solidFill>
            <a:srgbClr val="26262C"/>
          </a:solidFill>
          <a:ln/>
        </p:spPr>
        <p:txBody>
          <a:bodyPr/>
          <a:lstStyle/>
          <a:p>
            <a:endParaRPr lang="es-CO"/>
          </a:p>
        </p:txBody>
      </p:sp>
      <p:sp>
        <p:nvSpPr>
          <p:cNvPr id="15" name="Text 13"/>
          <p:cNvSpPr/>
          <p:nvPr/>
        </p:nvSpPr>
        <p:spPr>
          <a:xfrm>
            <a:off x="3988197" y="2443361"/>
            <a:ext cx="508099"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E4E4E7"/>
                </a:solidFill>
                <a:latin typeface="Courier New" pitchFamily="34" charset="0"/>
                <a:ea typeface="Courier New" pitchFamily="34" charset="-122"/>
                <a:cs typeface="Courier New" pitchFamily="34" charset="-120"/>
              </a:rPr>
              <a:t>0,894</a:t>
            </a:r>
            <a:endParaRPr lang="en-US" sz="1200" dirty="0"/>
          </a:p>
        </p:txBody>
      </p:sp>
      <p:sp>
        <p:nvSpPr>
          <p:cNvPr id="16" name="Text 14"/>
          <p:cNvSpPr/>
          <p:nvPr/>
        </p:nvSpPr>
        <p:spPr>
          <a:xfrm>
            <a:off x="1054100" y="2834481"/>
            <a:ext cx="4866132" cy="482600"/>
          </a:xfrm>
          <a:prstGeom prst="rect">
            <a:avLst/>
          </a:prstGeom>
          <a:noFill/>
          <a:ln/>
        </p:spPr>
        <p:txBody>
          <a:bodyPr wrap="square" lIns="0" tIns="0" rIns="0" bIns="0" rtlCol="0" anchor="t">
            <a:normAutofit/>
          </a:bodyPr>
          <a:lstStyle/>
          <a:p>
            <a:pPr marL="0" indent="0" algn="l">
              <a:lnSpc>
                <a:spcPts val="3600"/>
              </a:lnSpc>
              <a:buNone/>
            </a:pPr>
            <a:r>
              <a:rPr lang="en-US" sz="3600" b="1" dirty="0">
                <a:solidFill>
                  <a:srgbClr val="E4002B"/>
                </a:solidFill>
                <a:latin typeface="Courier New" pitchFamily="34" charset="0"/>
                <a:ea typeface="Courier New" pitchFamily="34" charset="-122"/>
                <a:cs typeface="Courier New" pitchFamily="34" charset="-120"/>
              </a:rPr>
              <a:t>0,917</a:t>
            </a:r>
            <a:endParaRPr lang="en-US" sz="3600" dirty="0"/>
          </a:p>
        </p:txBody>
      </p:sp>
      <p:sp>
        <p:nvSpPr>
          <p:cNvPr id="17" name="Text 15"/>
          <p:cNvSpPr/>
          <p:nvPr/>
        </p:nvSpPr>
        <p:spPr>
          <a:xfrm>
            <a:off x="1054100" y="3418681"/>
            <a:ext cx="4866132" cy="504031"/>
          </a:xfrm>
          <a:prstGeom prst="rect">
            <a:avLst/>
          </a:prstGeom>
          <a:noFill/>
          <a:ln/>
        </p:spPr>
        <p:txBody>
          <a:bodyPr wrap="square" lIns="0" tIns="0" rIns="0" bIns="0" rtlCol="0" anchor="t">
            <a:normAutofit/>
          </a:bodyPr>
          <a:lstStyle/>
          <a:p>
            <a:pPr marL="0" indent="0" algn="l">
              <a:lnSpc>
                <a:spcPts val="1885"/>
              </a:lnSpc>
              <a:buNone/>
            </a:pPr>
            <a:r>
              <a:rPr lang="en-US" sz="1300" dirty="0">
                <a:solidFill>
                  <a:srgbClr val="A1A1AA"/>
                </a:solidFill>
                <a:latin typeface="Arial" pitchFamily="34" charset="0"/>
                <a:ea typeface="Arial" pitchFamily="34" charset="-122"/>
                <a:cs typeface="Arial" pitchFamily="34" charset="-120"/>
              </a:rPr>
              <a:t>Promedio de las 5 rondas. El ± 0,022 es la desviación estándar: qué tanto cambia la nota de una ronda a otra.</a:t>
            </a:r>
            <a:endParaRPr lang="en-US" sz="1300" dirty="0"/>
          </a:p>
        </p:txBody>
      </p:sp>
      <p:sp>
        <p:nvSpPr>
          <p:cNvPr id="18" name="Shape 16"/>
          <p:cNvSpPr/>
          <p:nvPr/>
        </p:nvSpPr>
        <p:spPr>
          <a:xfrm>
            <a:off x="6178550" y="1802011"/>
            <a:ext cx="5194300" cy="2330252"/>
          </a:xfrm>
          <a:prstGeom prst="roundRect">
            <a:avLst>
              <a:gd name="adj" fmla="val 5178"/>
            </a:avLst>
          </a:prstGeom>
          <a:solidFill>
            <a:srgbClr val="1A1A1F"/>
          </a:solidFill>
          <a:ln w="12700">
            <a:solidFill>
              <a:srgbClr val="2C2C33"/>
            </a:solidFill>
            <a:prstDash val="solid"/>
          </a:ln>
        </p:spPr>
        <p:txBody>
          <a:bodyPr/>
          <a:lstStyle/>
          <a:p>
            <a:endParaRPr lang="es-CO"/>
          </a:p>
        </p:txBody>
      </p:sp>
      <p:sp>
        <p:nvSpPr>
          <p:cNvPr id="19" name="Text 17"/>
          <p:cNvSpPr/>
          <p:nvPr/>
        </p:nvSpPr>
        <p:spPr>
          <a:xfrm>
            <a:off x="6413500" y="2036961"/>
            <a:ext cx="4866132"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F4F4F5"/>
                </a:solidFill>
                <a:latin typeface="Arial" pitchFamily="34" charset="0"/>
                <a:ea typeface="Arial" pitchFamily="34" charset="-122"/>
                <a:cs typeface="Arial" pitchFamily="34" charset="-120"/>
              </a:rPr>
              <a:t>Comparar tres modelos</a:t>
            </a:r>
            <a:endParaRPr lang="en-US" sz="150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6426200" y="2405261"/>
          <a:ext cx="4711700" cy="1437084"/>
        </p:xfrm>
        <a:graphic>
          <a:graphicData uri="http://schemas.openxmlformats.org/drawingml/2006/table">
            <a:tbl>
              <a:tblPr/>
              <a:tblGrid>
                <a:gridCol w="2827020">
                  <a:extLst>
                    <a:ext uri="{9D8B030D-6E8A-4147-A177-3AD203B41FA5}">
                      <a16:colId xmlns:a16="http://schemas.microsoft.com/office/drawing/2014/main" val="20000"/>
                    </a:ext>
                  </a:extLst>
                </a:gridCol>
                <a:gridCol w="1884680">
                  <a:extLst>
                    <a:ext uri="{9D8B030D-6E8A-4147-A177-3AD203B41FA5}">
                      <a16:colId xmlns:a16="http://schemas.microsoft.com/office/drawing/2014/main" val="20001"/>
                    </a:ext>
                  </a:extLst>
                </a:gridCol>
              </a:tblGrid>
              <a:tr h="359271">
                <a:tc>
                  <a:txBody>
                    <a:bodyPr/>
                    <a:lstStyle/>
                    <a:p>
                      <a:pPr marL="0" indent="0">
                        <a:lnSpc>
                          <a:spcPts val="1820"/>
                        </a:lnSpc>
                        <a:buNone/>
                      </a:pPr>
                      <a:r>
                        <a:rPr lang="en-US" sz="1300" b="1" dirty="0">
                          <a:solidFill>
                            <a:srgbClr val="E4E4E7"/>
                          </a:solidFill>
                          <a:latin typeface="Arial" pitchFamily="34" charset="0"/>
                          <a:ea typeface="Arial" pitchFamily="34" charset="-122"/>
                          <a:cs typeface="Arial" pitchFamily="34" charset="-120"/>
                        </a:rPr>
                        <a:t>Modelo</a:t>
                      </a:r>
                      <a:endParaRPr lang="en-US" sz="1300" dirty="0">
                        <a:latin typeface="Arial" charset="0"/>
                        <a:ea typeface="Arial" charset="0"/>
                        <a:cs typeface="Arial" charset="0"/>
                      </a:endParaRPr>
                    </a:p>
                  </a:txBody>
                  <a:tcPr marL="57785" marR="57785" marT="57785" marB="57785">
                    <a:lnL w="12700" cap="flat" cmpd="sng" algn="ctr">
                      <a:solidFill>
                        <a:srgbClr val="4B4B4E"/>
                      </a:solidFill>
                      <a:prstDash val="solid"/>
                      <a:round/>
                      <a:headEnd type="none" w="med" len="med"/>
                      <a:tailEnd type="none" w="med" len="med"/>
                    </a:lnL>
                    <a:lnR w="12700" cap="flat" cmpd="sng" algn="ctr">
                      <a:solidFill>
                        <a:srgbClr val="59595B"/>
                      </a:solidFill>
                      <a:prstDash val="solid"/>
                      <a:round/>
                      <a:headEnd type="none" w="med" len="med"/>
                      <a:tailEnd type="none" w="med" len="med"/>
                    </a:lnR>
                    <a:lnT w="12700" cap="flat" cmpd="sng" algn="ctr">
                      <a:solidFill>
                        <a:srgbClr val="4B4B4E"/>
                      </a:solidFill>
                      <a:prstDash val="solid"/>
                      <a:round/>
                      <a:headEnd type="none" w="med" len="med"/>
                      <a:tailEnd type="none" w="med" len="med"/>
                    </a:lnT>
                    <a:lnB w="12700" cap="flat" cmpd="sng" algn="ctr">
                      <a:solidFill>
                        <a:srgbClr val="59595B"/>
                      </a:solidFill>
                      <a:prstDash val="solid"/>
                      <a:round/>
                      <a:headEnd type="none" w="med" len="med"/>
                      <a:tailEnd type="none" w="med" len="med"/>
                    </a:lnB>
                    <a:solidFill>
                      <a:srgbClr val="2C2C30"/>
                    </a:solidFill>
                  </a:tcPr>
                </a:tc>
                <a:tc>
                  <a:txBody>
                    <a:bodyPr/>
                    <a:lstStyle/>
                    <a:p>
                      <a:pPr marL="0" indent="0" algn="ctr">
                        <a:lnSpc>
                          <a:spcPts val="1820"/>
                        </a:lnSpc>
                        <a:buNone/>
                      </a:pPr>
                      <a:r>
                        <a:rPr lang="en-US" sz="1300" b="1" dirty="0">
                          <a:solidFill>
                            <a:srgbClr val="E4E4E7"/>
                          </a:solidFill>
                          <a:latin typeface="Arial" pitchFamily="34" charset="0"/>
                          <a:ea typeface="Arial" pitchFamily="34" charset="-122"/>
                          <a:cs typeface="Arial" pitchFamily="34" charset="-120"/>
                        </a:rPr>
                        <a:t>Promedio</a:t>
                      </a:r>
                      <a:endParaRPr lang="en-US" sz="1300" dirty="0">
                        <a:latin typeface="Arial" charset="0"/>
                        <a:ea typeface="Arial" charset="0"/>
                        <a:cs typeface="Arial" charset="0"/>
                      </a:endParaRPr>
                    </a:p>
                  </a:txBody>
                  <a:tcPr marL="57785" marR="57785" marT="57785" marB="57785">
                    <a:lnL w="12700" cap="flat" cmpd="sng" algn="ctr">
                      <a:solidFill>
                        <a:srgbClr val="59595B"/>
                      </a:solidFill>
                      <a:prstDash val="solid"/>
                      <a:round/>
                      <a:headEnd type="none" w="med" len="med"/>
                      <a:tailEnd type="none" w="med" len="med"/>
                    </a:lnL>
                    <a:lnR w="12700" cap="flat" cmpd="sng" algn="ctr">
                      <a:solidFill>
                        <a:srgbClr val="59595B"/>
                      </a:solidFill>
                      <a:prstDash val="solid"/>
                      <a:round/>
                      <a:headEnd type="none" w="med" len="med"/>
                      <a:tailEnd type="none" w="med" len="med"/>
                    </a:lnR>
                    <a:lnT w="12700" cap="flat" cmpd="sng" algn="ctr">
                      <a:solidFill>
                        <a:srgbClr val="4B4B4E"/>
                      </a:solidFill>
                      <a:prstDash val="solid"/>
                      <a:round/>
                      <a:headEnd type="none" w="med" len="med"/>
                      <a:tailEnd type="none" w="med" len="med"/>
                    </a:lnT>
                    <a:lnB w="12700" cap="flat" cmpd="sng" algn="ctr">
                      <a:solidFill>
                        <a:srgbClr val="59595B"/>
                      </a:solidFill>
                      <a:prstDash val="solid"/>
                      <a:round/>
                      <a:headEnd type="none" w="med" len="med"/>
                      <a:tailEnd type="none" w="med" len="med"/>
                    </a:lnB>
                    <a:solidFill>
                      <a:srgbClr val="2C2C30"/>
                    </a:solidFill>
                  </a:tcPr>
                </a:tc>
                <a:extLst>
                  <a:ext uri="{0D108BD9-81ED-4DB2-BD59-A6C34878D82A}">
                    <a16:rowId xmlns:a16="http://schemas.microsoft.com/office/drawing/2014/main" val="10000"/>
                  </a:ext>
                </a:extLst>
              </a:tr>
              <a:tr h="359271">
                <a:tc>
                  <a:txBody>
                    <a:bodyPr/>
                    <a:lstStyle/>
                    <a:p>
                      <a:pPr marL="0" indent="0">
                        <a:lnSpc>
                          <a:spcPts val="1820"/>
                        </a:lnSpc>
                        <a:buNone/>
                      </a:pPr>
                      <a:r>
                        <a:rPr lang="en-US" sz="1300" dirty="0">
                          <a:solidFill>
                            <a:srgbClr val="F4F4F5"/>
                          </a:solidFill>
                          <a:latin typeface="Arial" pitchFamily="34" charset="0"/>
                          <a:ea typeface="Arial" pitchFamily="34" charset="-122"/>
                          <a:cs typeface="Arial" pitchFamily="34" charset="-120"/>
                        </a:rPr>
                        <a:t>Regresión logística</a:t>
                      </a:r>
                      <a:endParaRPr lang="en-US" sz="1300" dirty="0">
                        <a:latin typeface="Arial" charset="0"/>
                        <a:ea typeface="Arial" charset="0"/>
                        <a:cs typeface="Arial" charset="0"/>
                      </a:endParaRPr>
                    </a:p>
                  </a:txBody>
                  <a:tcPr marL="57785" marR="57785" marT="57785" marB="57785">
                    <a:lnL w="12700" cap="flat" cmpd="sng" algn="ctr">
                      <a:solidFill>
                        <a:srgbClr val="4B4B4E"/>
                      </a:solidFill>
                      <a:prstDash val="solid"/>
                      <a:round/>
                      <a:headEnd type="none" w="med" len="med"/>
                      <a:tailEnd type="none" w="med" len="med"/>
                    </a:lnL>
                    <a:lnR w="12700" cap="flat" cmpd="sng" algn="ctr">
                      <a:solidFill>
                        <a:srgbClr val="4F3F42"/>
                      </a:solidFill>
                      <a:prstDash val="solid"/>
                      <a:round/>
                      <a:headEnd type="none" w="med" len="med"/>
                      <a:tailEnd type="none" w="med" len="med"/>
                    </a:lnR>
                    <a:lnT w="12700" cap="flat" cmpd="sng" algn="ctr">
                      <a:solidFill>
                        <a:srgbClr val="59595B"/>
                      </a:solidFill>
                      <a:prstDash val="solid"/>
                      <a:round/>
                      <a:headEnd type="none" w="med" len="med"/>
                      <a:tailEnd type="none" w="med" len="med"/>
                    </a:lnT>
                    <a:lnB w="12700" cap="flat" cmpd="sng" algn="ctr">
                      <a:solidFill>
                        <a:srgbClr val="4F3F42"/>
                      </a:solidFill>
                      <a:prstDash val="solid"/>
                      <a:round/>
                      <a:headEnd type="none" w="med" len="med"/>
                      <a:tailEnd type="none" w="med" len="med"/>
                    </a:lnB>
                    <a:solidFill>
                      <a:srgbClr val="1F0A0F"/>
                    </a:solidFill>
                  </a:tcPr>
                </a:tc>
                <a:tc>
                  <a:txBody>
                    <a:bodyPr/>
                    <a:lstStyle/>
                    <a:p>
                      <a:pPr marL="0" indent="0" algn="ctr">
                        <a:lnSpc>
                          <a:spcPts val="1820"/>
                        </a:lnSpc>
                        <a:buNone/>
                      </a:pPr>
                      <a:r>
                        <a:rPr lang="en-US" sz="1300" dirty="0">
                          <a:solidFill>
                            <a:srgbClr val="FF5C77"/>
                          </a:solidFill>
                          <a:latin typeface="Arial" pitchFamily="34" charset="0"/>
                          <a:ea typeface="Arial" pitchFamily="34" charset="-122"/>
                          <a:cs typeface="Arial" pitchFamily="34" charset="-120"/>
                        </a:rPr>
                        <a:t>0,981 ± 0,007</a:t>
                      </a:r>
                      <a:endParaRPr lang="en-US" sz="1300" dirty="0">
                        <a:latin typeface="Arial" charset="0"/>
                        <a:ea typeface="Arial" charset="0"/>
                        <a:cs typeface="Arial" charset="0"/>
                      </a:endParaRPr>
                    </a:p>
                  </a:txBody>
                  <a:tcPr marL="57785" marR="57785" marT="57785" marB="57785">
                    <a:lnL w="12700" cap="flat" cmpd="sng" algn="ctr">
                      <a:solidFill>
                        <a:srgbClr val="4F3F42"/>
                      </a:solidFill>
                      <a:prstDash val="solid"/>
                      <a:round/>
                      <a:headEnd type="none" w="med" len="med"/>
                      <a:tailEnd type="none" w="med" len="med"/>
                    </a:lnL>
                    <a:lnR w="12700" cap="flat" cmpd="sng" algn="ctr">
                      <a:solidFill>
                        <a:srgbClr val="4F3F42"/>
                      </a:solidFill>
                      <a:prstDash val="solid"/>
                      <a:round/>
                      <a:headEnd type="none" w="med" len="med"/>
                      <a:tailEnd type="none" w="med" len="med"/>
                    </a:lnR>
                    <a:lnT w="12700" cap="flat" cmpd="sng" algn="ctr">
                      <a:solidFill>
                        <a:srgbClr val="59595B"/>
                      </a:solidFill>
                      <a:prstDash val="solid"/>
                      <a:round/>
                      <a:headEnd type="none" w="med" len="med"/>
                      <a:tailEnd type="none" w="med" len="med"/>
                    </a:lnT>
                    <a:lnB w="12700" cap="flat" cmpd="sng" algn="ctr">
                      <a:solidFill>
                        <a:srgbClr val="4F3F42"/>
                      </a:solidFill>
                      <a:prstDash val="solid"/>
                      <a:round/>
                      <a:headEnd type="none" w="med" len="med"/>
                      <a:tailEnd type="none" w="med" len="med"/>
                    </a:lnB>
                    <a:solidFill>
                      <a:srgbClr val="1F0A0F"/>
                    </a:solidFill>
                  </a:tcPr>
                </a:tc>
                <a:extLst>
                  <a:ext uri="{0D108BD9-81ED-4DB2-BD59-A6C34878D82A}">
                    <a16:rowId xmlns:a16="http://schemas.microsoft.com/office/drawing/2014/main" val="10001"/>
                  </a:ext>
                </a:extLst>
              </a:tr>
              <a:tr h="359271">
                <a:tc>
                  <a:txBody>
                    <a:bodyPr/>
                    <a:lstStyle/>
                    <a:p>
                      <a:pPr marL="0" indent="0">
                        <a:lnSpc>
                          <a:spcPts val="1820"/>
                        </a:lnSpc>
                        <a:buNone/>
                      </a:pPr>
                      <a:r>
                        <a:rPr lang="en-US" sz="1300" dirty="0">
                          <a:solidFill>
                            <a:srgbClr val="E4E4E7"/>
                          </a:solidFill>
                          <a:latin typeface="Arial" pitchFamily="34" charset="0"/>
                          <a:ea typeface="Arial" pitchFamily="34" charset="-122"/>
                          <a:cs typeface="Arial" pitchFamily="34" charset="-120"/>
                        </a:rPr>
                        <a:t>Vecinos cercanos (KNN)</a:t>
                      </a:r>
                      <a:endParaRPr lang="en-US" sz="1300" dirty="0">
                        <a:latin typeface="Arial" charset="0"/>
                        <a:ea typeface="Arial" charset="0"/>
                        <a:cs typeface="Arial" charset="0"/>
                      </a:endParaRPr>
                    </a:p>
                  </a:txBody>
                  <a:tcPr marL="57785" marR="57785" marT="57785" marB="57785">
                    <a:lnL w="12700" cap="flat" cmpd="sng" algn="ctr">
                      <a:solidFill>
                        <a:srgbClr val="4B4B4E"/>
                      </a:solidFill>
                      <a:prstDash val="solid"/>
                      <a:round/>
                      <a:headEnd type="none" w="med" len="med"/>
                      <a:tailEnd type="none" w="med" len="med"/>
                    </a:lnL>
                    <a:lnR w="12700" cap="flat" cmpd="sng" algn="ctr">
                      <a:solidFill>
                        <a:srgbClr val="4B4B4E"/>
                      </a:solidFill>
                      <a:prstDash val="solid"/>
                      <a:round/>
                      <a:headEnd type="none" w="med" len="med"/>
                      <a:tailEnd type="none" w="med" len="med"/>
                    </a:lnR>
                    <a:lnT w="12700" cap="flat" cmpd="sng" algn="ctr">
                      <a:solidFill>
                        <a:srgbClr val="4F3F42"/>
                      </a:solidFill>
                      <a:prstDash val="solid"/>
                      <a:round/>
                      <a:headEnd type="none" w="med" len="med"/>
                      <a:tailEnd type="none" w="med" len="med"/>
                    </a:lnT>
                    <a:lnB w="12700" cap="flat" cmpd="sng" algn="ctr">
                      <a:solidFill>
                        <a:srgbClr val="4B4B4E"/>
                      </a:solidFill>
                      <a:prstDash val="solid"/>
                      <a:round/>
                      <a:headEnd type="none" w="med" len="med"/>
                      <a:tailEnd type="none" w="med" len="med"/>
                    </a:lnB>
                  </a:tcPr>
                </a:tc>
                <a:tc>
                  <a:txBody>
                    <a:bodyPr/>
                    <a:lstStyle/>
                    <a:p>
                      <a:pPr marL="0" indent="0" algn="ctr">
                        <a:lnSpc>
                          <a:spcPts val="1820"/>
                        </a:lnSpc>
                        <a:buNone/>
                      </a:pPr>
                      <a:r>
                        <a:rPr lang="en-US" sz="1300" dirty="0">
                          <a:solidFill>
                            <a:srgbClr val="E4E4E7"/>
                          </a:solidFill>
                          <a:latin typeface="Arial" pitchFamily="34" charset="0"/>
                          <a:ea typeface="Arial" pitchFamily="34" charset="-122"/>
                          <a:cs typeface="Arial" pitchFamily="34" charset="-120"/>
                        </a:rPr>
                        <a:t>0,965 ± 0,010</a:t>
                      </a:r>
                      <a:endParaRPr lang="en-US" sz="1300" dirty="0">
                        <a:latin typeface="Arial" charset="0"/>
                        <a:ea typeface="Arial" charset="0"/>
                        <a:cs typeface="Arial" charset="0"/>
                      </a:endParaRPr>
                    </a:p>
                  </a:txBody>
                  <a:tcPr marL="57785" marR="57785" marT="57785" marB="57785">
                    <a:lnL w="12700" cap="flat" cmpd="sng" algn="ctr">
                      <a:solidFill>
                        <a:srgbClr val="4B4B4E"/>
                      </a:solidFill>
                      <a:prstDash val="solid"/>
                      <a:round/>
                      <a:headEnd type="none" w="med" len="med"/>
                      <a:tailEnd type="none" w="med" len="med"/>
                    </a:lnL>
                    <a:lnR w="12700" cap="flat" cmpd="sng" algn="ctr">
                      <a:solidFill>
                        <a:srgbClr val="4B4B4E"/>
                      </a:solidFill>
                      <a:prstDash val="solid"/>
                      <a:round/>
                      <a:headEnd type="none" w="med" len="med"/>
                      <a:tailEnd type="none" w="med" len="med"/>
                    </a:lnR>
                    <a:lnT w="12700" cap="flat" cmpd="sng" algn="ctr">
                      <a:solidFill>
                        <a:srgbClr val="4F3F42"/>
                      </a:solidFill>
                      <a:prstDash val="solid"/>
                      <a:round/>
                      <a:headEnd type="none" w="med" len="med"/>
                      <a:tailEnd type="none" w="med" len="med"/>
                    </a:lnT>
                    <a:lnB w="12700" cap="flat" cmpd="sng" algn="ctr">
                      <a:solidFill>
                        <a:srgbClr val="4B4B4E"/>
                      </a:solidFill>
                      <a:prstDash val="solid"/>
                      <a:round/>
                      <a:headEnd type="none" w="med" len="med"/>
                      <a:tailEnd type="none" w="med" len="med"/>
                    </a:lnB>
                  </a:tcPr>
                </a:tc>
                <a:extLst>
                  <a:ext uri="{0D108BD9-81ED-4DB2-BD59-A6C34878D82A}">
                    <a16:rowId xmlns:a16="http://schemas.microsoft.com/office/drawing/2014/main" val="10002"/>
                  </a:ext>
                </a:extLst>
              </a:tr>
              <a:tr h="359271">
                <a:tc>
                  <a:txBody>
                    <a:bodyPr/>
                    <a:lstStyle/>
                    <a:p>
                      <a:pPr marL="0" indent="0">
                        <a:lnSpc>
                          <a:spcPts val="1820"/>
                        </a:lnSpc>
                        <a:buNone/>
                      </a:pPr>
                      <a:r>
                        <a:rPr lang="en-US" sz="1300" dirty="0">
                          <a:solidFill>
                            <a:srgbClr val="E4E4E7"/>
                          </a:solidFill>
                          <a:latin typeface="Arial" pitchFamily="34" charset="0"/>
                          <a:ea typeface="Arial" pitchFamily="34" charset="-122"/>
                          <a:cs typeface="Arial" pitchFamily="34" charset="-120"/>
                        </a:rPr>
                        <a:t>Árbol (profundidad 3)</a:t>
                      </a:r>
                      <a:endParaRPr lang="en-US" sz="1300" dirty="0">
                        <a:latin typeface="Arial" charset="0"/>
                        <a:ea typeface="Arial" charset="0"/>
                        <a:cs typeface="Arial" charset="0"/>
                      </a:endParaRPr>
                    </a:p>
                  </a:txBody>
                  <a:tcPr marL="57785" marR="57785" marT="57785" marB="57785">
                    <a:lnL w="12700" cap="flat" cmpd="sng" algn="ctr">
                      <a:solidFill>
                        <a:srgbClr val="4B4B4E"/>
                      </a:solidFill>
                      <a:prstDash val="solid"/>
                      <a:round/>
                      <a:headEnd type="none" w="med" len="med"/>
                      <a:tailEnd type="none" w="med" len="med"/>
                    </a:lnL>
                    <a:lnR w="12700" cap="flat" cmpd="sng" algn="ctr">
                      <a:solidFill>
                        <a:srgbClr val="4B4B4E"/>
                      </a:solidFill>
                      <a:prstDash val="solid"/>
                      <a:round/>
                      <a:headEnd type="none" w="med" len="med"/>
                      <a:tailEnd type="none" w="med" len="med"/>
                    </a:lnR>
                    <a:lnT w="12700" cap="flat" cmpd="sng" algn="ctr">
                      <a:solidFill>
                        <a:srgbClr val="4B4B4E"/>
                      </a:solidFill>
                      <a:prstDash val="solid"/>
                      <a:round/>
                      <a:headEnd type="none" w="med" len="med"/>
                      <a:tailEnd type="none" w="med" len="med"/>
                    </a:lnT>
                    <a:lnB w="12700" cap="flat" cmpd="sng" algn="ctr">
                      <a:solidFill>
                        <a:srgbClr val="4B4B4E"/>
                      </a:solidFill>
                      <a:prstDash val="solid"/>
                      <a:round/>
                      <a:headEnd type="none" w="med" len="med"/>
                      <a:tailEnd type="none" w="med" len="med"/>
                    </a:lnB>
                  </a:tcPr>
                </a:tc>
                <a:tc>
                  <a:txBody>
                    <a:bodyPr/>
                    <a:lstStyle/>
                    <a:p>
                      <a:pPr marL="0" indent="0" algn="ctr">
                        <a:lnSpc>
                          <a:spcPts val="1820"/>
                        </a:lnSpc>
                        <a:buNone/>
                      </a:pPr>
                      <a:r>
                        <a:rPr lang="en-US" sz="1300" dirty="0">
                          <a:solidFill>
                            <a:srgbClr val="E4E4E7"/>
                          </a:solidFill>
                          <a:latin typeface="Arial" pitchFamily="34" charset="0"/>
                          <a:ea typeface="Arial" pitchFamily="34" charset="-122"/>
                          <a:cs typeface="Arial" pitchFamily="34" charset="-120"/>
                        </a:rPr>
                        <a:t>0,917 ± 0,022</a:t>
                      </a:r>
                      <a:endParaRPr lang="en-US" sz="1300" dirty="0">
                        <a:latin typeface="Arial" charset="0"/>
                        <a:ea typeface="Arial" charset="0"/>
                        <a:cs typeface="Arial" charset="0"/>
                      </a:endParaRPr>
                    </a:p>
                  </a:txBody>
                  <a:tcPr marL="57785" marR="57785" marT="57785" marB="57785">
                    <a:lnL w="12700" cap="flat" cmpd="sng" algn="ctr">
                      <a:solidFill>
                        <a:srgbClr val="4B4B4E"/>
                      </a:solidFill>
                      <a:prstDash val="solid"/>
                      <a:round/>
                      <a:headEnd type="none" w="med" len="med"/>
                      <a:tailEnd type="none" w="med" len="med"/>
                    </a:lnL>
                    <a:lnR w="12700" cap="flat" cmpd="sng" algn="ctr">
                      <a:solidFill>
                        <a:srgbClr val="4B4B4E"/>
                      </a:solidFill>
                      <a:prstDash val="solid"/>
                      <a:round/>
                      <a:headEnd type="none" w="med" len="med"/>
                      <a:tailEnd type="none" w="med" len="med"/>
                    </a:lnR>
                    <a:lnT w="12700" cap="flat" cmpd="sng" algn="ctr">
                      <a:solidFill>
                        <a:srgbClr val="4B4B4E"/>
                      </a:solidFill>
                      <a:prstDash val="solid"/>
                      <a:round/>
                      <a:headEnd type="none" w="med" len="med"/>
                      <a:tailEnd type="none" w="med" len="med"/>
                    </a:lnT>
                    <a:lnB w="12700" cap="flat" cmpd="sng" algn="ctr">
                      <a:solidFill>
                        <a:srgbClr val="4B4B4E"/>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21" name="Shape 18"/>
          <p:cNvSpPr/>
          <p:nvPr/>
        </p:nvSpPr>
        <p:spPr>
          <a:xfrm>
            <a:off x="819150" y="4348163"/>
            <a:ext cx="10553700" cy="896541"/>
          </a:xfrm>
          <a:prstGeom prst="roundRect">
            <a:avLst>
              <a:gd name="adj" fmla="val 10624"/>
            </a:avLst>
          </a:prstGeom>
          <a:solidFill>
            <a:srgbClr val="0F0F12"/>
          </a:solidFill>
          <a:ln w="12700">
            <a:solidFill>
              <a:srgbClr val="2C2C33"/>
            </a:solidFill>
            <a:prstDash val="solid"/>
          </a:ln>
        </p:spPr>
        <p:txBody>
          <a:bodyPr/>
          <a:lstStyle/>
          <a:p>
            <a:endParaRPr lang="es-CO"/>
          </a:p>
        </p:txBody>
      </p:sp>
      <p:sp>
        <p:nvSpPr>
          <p:cNvPr id="22" name="Text 19"/>
          <p:cNvSpPr/>
          <p:nvPr/>
        </p:nvSpPr>
        <p:spPr>
          <a:xfrm>
            <a:off x="1079500" y="4532313"/>
            <a:ext cx="10333990" cy="553641"/>
          </a:xfrm>
          <a:prstGeom prst="rect">
            <a:avLst/>
          </a:prstGeom>
          <a:noFill/>
          <a:ln/>
        </p:spPr>
        <p:txBody>
          <a:bodyPr wrap="square" lIns="0" tIns="0" rIns="0" bIns="0" rtlCol="0" anchor="t">
            <a:normAutofit/>
          </a:bodyPr>
          <a:lstStyle/>
          <a:p>
            <a:pPr marL="0" indent="0" algn="l">
              <a:lnSpc>
                <a:spcPts val="2080"/>
              </a:lnSpc>
              <a:buNone/>
            </a:pPr>
            <a:r>
              <a:rPr lang="en-US" sz="1300" dirty="0">
                <a:solidFill>
                  <a:srgbClr val="E4E4E7"/>
                </a:solidFill>
                <a:latin typeface="Courier New" pitchFamily="34" charset="0"/>
                <a:ea typeface="Courier New" pitchFamily="34" charset="-122"/>
                <a:cs typeface="Courier New" pitchFamily="34" charset="-120"/>
              </a:rPr>
              <a:t>notas = cross_val_score(modelo, X, y, cv=5)   </a:t>
            </a:r>
            <a:r>
              <a:rPr lang="en-US" sz="1300" dirty="0">
                <a:solidFill>
                  <a:srgbClr val="71717A"/>
                </a:solidFill>
                <a:latin typeface="Courier New" pitchFamily="34" charset="0"/>
                <a:ea typeface="Courier New" pitchFamily="34" charset="-122"/>
                <a:cs typeface="Courier New" pitchFamily="34" charset="-120"/>
              </a:rPr>
              <a:t># 5 exámenes en una sola línea</a:t>
            </a:r>
            <a:endParaRPr lang="en-US" sz="1300" dirty="0"/>
          </a:p>
          <a:p>
            <a:pPr marL="0" indent="0" algn="l">
              <a:lnSpc>
                <a:spcPts val="2080"/>
              </a:lnSpc>
              <a:buNone/>
            </a:pPr>
            <a:r>
              <a:rPr lang="en-US" sz="1300" dirty="0">
                <a:solidFill>
                  <a:srgbClr val="E4E4E7"/>
                </a:solidFill>
                <a:latin typeface="Courier New" pitchFamily="34" charset="0"/>
                <a:ea typeface="Courier New" pitchFamily="34" charset="-122"/>
                <a:cs typeface="Courier New" pitchFamily="34" charset="-120"/>
              </a:rPr>
              <a:t>print(notas.mean(), notas.std())            </a:t>
            </a:r>
            <a:r>
              <a:rPr lang="en-US" sz="1300" dirty="0">
                <a:solidFill>
                  <a:srgbClr val="71717A"/>
                </a:solidFill>
                <a:latin typeface="Courier New" pitchFamily="34" charset="0"/>
                <a:ea typeface="Courier New" pitchFamily="34" charset="-122"/>
                <a:cs typeface="Courier New" pitchFamily="34" charset="-120"/>
              </a:rPr>
              <a:t># promedio y variación</a:t>
            </a:r>
            <a:endParaRPr lang="en-US" sz="1300" dirty="0"/>
          </a:p>
        </p:txBody>
      </p:sp>
      <p:sp>
        <p:nvSpPr>
          <p:cNvPr id="23" name="Text 20"/>
          <p:cNvSpPr/>
          <p:nvPr/>
        </p:nvSpPr>
        <p:spPr>
          <a:xfrm>
            <a:off x="812800" y="6238280"/>
            <a:ext cx="7848600" cy="238720"/>
          </a:xfrm>
          <a:prstGeom prst="rect">
            <a:avLst/>
          </a:prstGeom>
          <a:noFill/>
          <a:ln/>
        </p:spPr>
        <p:txBody>
          <a:bodyPr wrap="square" lIns="0" tIns="0" rIns="0" bIns="0" rtlCol="0" anchor="t">
            <a:normAutofit/>
          </a:bodyPr>
          <a:lstStyle/>
          <a:p>
            <a:pPr marL="0" indent="0" algn="l">
              <a:lnSpc>
                <a:spcPts val="1680"/>
              </a:lnSpc>
              <a:buNone/>
            </a:pPr>
            <a:r>
              <a:rPr lang="en-US" sz="1200" kern="0" spc="100" dirty="0">
                <a:solidFill>
                  <a:srgbClr val="71717A"/>
                </a:solidFill>
                <a:latin typeface="Courier New" pitchFamily="34" charset="0"/>
                <a:ea typeface="Courier New" pitchFamily="34" charset="-122"/>
                <a:cs typeface="Courier New" pitchFamily="34" charset="-120"/>
              </a:rPr>
              <a:t>UNIDAD 4 · VALIDACIÓN DE MODELOS</a:t>
            </a:r>
            <a:endParaRPr lang="en-US" sz="1200" dirty="0"/>
          </a:p>
        </p:txBody>
      </p:sp>
      <p:sp>
        <p:nvSpPr>
          <p:cNvPr id="24" name="Text 21"/>
          <p:cNvSpPr/>
          <p:nvPr/>
        </p:nvSpPr>
        <p:spPr>
          <a:xfrm>
            <a:off x="10058400" y="6238280"/>
            <a:ext cx="1320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71717A"/>
                </a:solidFill>
                <a:latin typeface="Courier New" pitchFamily="34" charset="0"/>
                <a:ea typeface="Courier New" pitchFamily="34" charset="-122"/>
                <a:cs typeface="Courier New" pitchFamily="34" charset="-120"/>
              </a:rPr>
              <a:t>26</a:t>
            </a:r>
            <a:endParaRPr lang="en-US" sz="12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141417"/>
        </a:solidFill>
        <a:effectLst/>
      </p:bgPr>
    </p:bg>
    <p:spTree>
      <p:nvGrpSpPr>
        <p:cNvPr id="1" name=""/>
        <p:cNvGrpSpPr/>
        <p:nvPr/>
      </p:nvGrpSpPr>
      <p:grpSpPr>
        <a:xfrm>
          <a:off x="0" y="0"/>
          <a:ext cx="0" cy="0"/>
          <a:chOff x="0" y="0"/>
          <a:chExt cx="0" cy="0"/>
        </a:xfrm>
      </p:grpSpPr>
      <p:sp>
        <p:nvSpPr>
          <p:cNvPr id="2" name="Text 0"/>
          <p:cNvSpPr/>
          <p:nvPr/>
        </p:nvSpPr>
        <p:spPr>
          <a:xfrm>
            <a:off x="812800" y="1606649"/>
            <a:ext cx="10883392" cy="256480"/>
          </a:xfrm>
          <a:prstGeom prst="rect">
            <a:avLst/>
          </a:prstGeom>
          <a:noFill/>
          <a:ln/>
        </p:spPr>
        <p:txBody>
          <a:bodyPr wrap="square" lIns="0" tIns="0" rIns="0" bIns="0" rtlCol="0" anchor="t">
            <a:normAutofit/>
          </a:bodyPr>
          <a:lstStyle/>
          <a:p>
            <a:pPr marL="0" indent="0" algn="l">
              <a:lnSpc>
                <a:spcPts val="1820"/>
              </a:lnSpc>
              <a:buNone/>
            </a:pPr>
            <a:r>
              <a:rPr lang="en-US" sz="1300" b="1" kern="0" spc="200" dirty="0">
                <a:solidFill>
                  <a:srgbClr val="E4002B"/>
                </a:solidFill>
                <a:latin typeface="Courier New" pitchFamily="34" charset="0"/>
                <a:ea typeface="Courier New" pitchFamily="34" charset="-122"/>
                <a:cs typeface="Courier New" pitchFamily="34" charset="-120"/>
              </a:rPr>
              <a:t>SECCIÓN 04 DE 04</a:t>
            </a:r>
            <a:endParaRPr lang="en-US" sz="1300" dirty="0"/>
          </a:p>
        </p:txBody>
      </p:sp>
      <p:sp>
        <p:nvSpPr>
          <p:cNvPr id="3" name="Text 1"/>
          <p:cNvSpPr/>
          <p:nvPr/>
        </p:nvSpPr>
        <p:spPr>
          <a:xfrm>
            <a:off x="812800" y="1990130"/>
            <a:ext cx="10883392" cy="1549400"/>
          </a:xfrm>
          <a:prstGeom prst="rect">
            <a:avLst/>
          </a:prstGeom>
          <a:noFill/>
          <a:ln/>
        </p:spPr>
        <p:txBody>
          <a:bodyPr wrap="square" lIns="0" tIns="0" rIns="0" bIns="0" rtlCol="0" anchor="t">
            <a:normAutofit/>
          </a:bodyPr>
          <a:lstStyle/>
          <a:p>
            <a:pPr marL="0" indent="0" algn="l">
              <a:lnSpc>
                <a:spcPts val="12000"/>
              </a:lnSpc>
              <a:buNone/>
            </a:pPr>
            <a:r>
              <a:rPr lang="en-US" sz="12000" b="1" dirty="0">
                <a:solidFill>
                  <a:srgbClr val="E4002B"/>
                </a:solidFill>
                <a:latin typeface="Courier New" pitchFamily="34" charset="0"/>
                <a:ea typeface="Courier New" pitchFamily="34" charset="-122"/>
                <a:cs typeface="Courier New" pitchFamily="34" charset="-120"/>
              </a:rPr>
              <a:t>04</a:t>
            </a:r>
            <a:endParaRPr lang="en-US" sz="12000" dirty="0"/>
          </a:p>
        </p:txBody>
      </p:sp>
      <p:sp>
        <p:nvSpPr>
          <p:cNvPr id="4" name="Text 2"/>
          <p:cNvSpPr/>
          <p:nvPr/>
        </p:nvSpPr>
        <p:spPr>
          <a:xfrm>
            <a:off x="812800" y="3666530"/>
            <a:ext cx="10883392" cy="665460"/>
          </a:xfrm>
          <a:prstGeom prst="rect">
            <a:avLst/>
          </a:prstGeom>
          <a:noFill/>
          <a:ln/>
        </p:spPr>
        <p:txBody>
          <a:bodyPr wrap="square" lIns="0" tIns="0" rIns="0" bIns="0" rtlCol="0" anchor="t">
            <a:normAutofit/>
          </a:bodyPr>
          <a:lstStyle/>
          <a:p>
            <a:pPr marL="0" indent="0" algn="l">
              <a:lnSpc>
                <a:spcPts val="5040"/>
              </a:lnSpc>
              <a:buNone/>
            </a:pPr>
            <a:r>
              <a:rPr lang="en-US" sz="4800" b="1" kern="0" spc="-100" dirty="0">
                <a:solidFill>
                  <a:srgbClr val="F4F4F5"/>
                </a:solidFill>
                <a:latin typeface="Arial" pitchFamily="34" charset="0"/>
                <a:ea typeface="Arial" pitchFamily="34" charset="-122"/>
                <a:cs typeface="Arial" pitchFamily="34" charset="-120"/>
              </a:rPr>
              <a:t>Mejora de modelos</a:t>
            </a:r>
            <a:endParaRPr lang="en-US" sz="4800" dirty="0"/>
          </a:p>
        </p:txBody>
      </p:sp>
      <p:sp>
        <p:nvSpPr>
          <p:cNvPr id="5" name="Text 3"/>
          <p:cNvSpPr/>
          <p:nvPr/>
        </p:nvSpPr>
        <p:spPr>
          <a:xfrm>
            <a:off x="812800" y="4458990"/>
            <a:ext cx="7848600" cy="614561"/>
          </a:xfrm>
          <a:prstGeom prst="rect">
            <a:avLst/>
          </a:prstGeom>
          <a:noFill/>
          <a:ln/>
        </p:spPr>
        <p:txBody>
          <a:bodyPr wrap="square" lIns="0" tIns="0" rIns="0" bIns="0" rtlCol="0" anchor="t">
            <a:normAutofit/>
          </a:bodyPr>
          <a:lstStyle/>
          <a:p>
            <a:pPr marL="0" indent="0" algn="l">
              <a:lnSpc>
                <a:spcPts val="2320"/>
              </a:lnSpc>
              <a:buNone/>
            </a:pPr>
            <a:r>
              <a:rPr lang="en-US" sz="1600" dirty="0">
                <a:solidFill>
                  <a:srgbClr val="A1A1AA"/>
                </a:solidFill>
                <a:latin typeface="Arial" pitchFamily="34" charset="0"/>
                <a:ea typeface="Arial" pitchFamily="34" charset="-122"/>
                <a:cs typeface="Arial" pitchFamily="34" charset="-120"/>
              </a:rPr>
              <a:t>Escalado (scaling), hiperparámetros (hyperparameters) y bosque aleatorio (Random Forest): tres ajustes que suben la nota.</a:t>
            </a:r>
            <a:endParaRPr lang="en-US" sz="1600" dirty="0"/>
          </a:p>
        </p:txBody>
      </p:sp>
      <p:sp>
        <p:nvSpPr>
          <p:cNvPr id="6" name="Text 4"/>
          <p:cNvSpPr/>
          <p:nvPr/>
        </p:nvSpPr>
        <p:spPr>
          <a:xfrm>
            <a:off x="812800" y="6238280"/>
            <a:ext cx="7848600" cy="238720"/>
          </a:xfrm>
          <a:prstGeom prst="rect">
            <a:avLst/>
          </a:prstGeom>
          <a:noFill/>
          <a:ln/>
        </p:spPr>
        <p:txBody>
          <a:bodyPr wrap="square" lIns="0" tIns="0" rIns="0" bIns="0" rtlCol="0" anchor="t">
            <a:normAutofit/>
          </a:bodyPr>
          <a:lstStyle/>
          <a:p>
            <a:pPr marL="0" indent="0" algn="l">
              <a:lnSpc>
                <a:spcPts val="1680"/>
              </a:lnSpc>
              <a:buNone/>
            </a:pPr>
            <a:r>
              <a:rPr lang="en-US" sz="1200" kern="0" spc="100" dirty="0">
                <a:solidFill>
                  <a:srgbClr val="71717A"/>
                </a:solidFill>
                <a:latin typeface="Courier New" pitchFamily="34" charset="0"/>
                <a:ea typeface="Courier New" pitchFamily="34" charset="-122"/>
                <a:cs typeface="Courier New" pitchFamily="34" charset="-120"/>
              </a:rPr>
              <a:t>UNIDAD 4 · VALIDACIÓN DE MODELOS</a:t>
            </a:r>
            <a:endParaRPr lang="en-US" sz="1200" dirty="0"/>
          </a:p>
        </p:txBody>
      </p:sp>
      <p:sp>
        <p:nvSpPr>
          <p:cNvPr id="7" name="Text 5"/>
          <p:cNvSpPr/>
          <p:nvPr/>
        </p:nvSpPr>
        <p:spPr>
          <a:xfrm>
            <a:off x="10058400" y="6238280"/>
            <a:ext cx="1320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71717A"/>
                </a:solidFill>
                <a:latin typeface="Courier New" pitchFamily="34" charset="0"/>
                <a:ea typeface="Courier New" pitchFamily="34" charset="-122"/>
                <a:cs typeface="Courier New" pitchFamily="34" charset="-120"/>
              </a:rPr>
              <a:t>27</a:t>
            </a:r>
            <a:endParaRPr lang="en-US" sz="12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0B0B0D"/>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marL="0" indent="0" algn="l">
              <a:lnSpc>
                <a:spcPts val="1820"/>
              </a:lnSpc>
              <a:buNone/>
            </a:pPr>
            <a:r>
              <a:rPr lang="en-US" sz="1300" b="1" kern="0" spc="200" dirty="0">
                <a:solidFill>
                  <a:srgbClr val="E4002B"/>
                </a:solidFill>
                <a:latin typeface="Courier New" pitchFamily="34" charset="0"/>
                <a:ea typeface="Courier New" pitchFamily="34" charset="-122"/>
                <a:cs typeface="Courier New" pitchFamily="34" charset="-120"/>
              </a:rPr>
              <a:t>MEJORA 1 · ESCALADO (SCALING)</a:t>
            </a:r>
            <a:endParaRPr lang="en-US" sz="1300" dirty="0"/>
          </a:p>
        </p:txBody>
      </p:sp>
      <p:sp>
        <p:nvSpPr>
          <p:cNvPr id="3" name="Text 1"/>
          <p:cNvSpPr/>
          <p:nvPr/>
        </p:nvSpPr>
        <p:spPr>
          <a:xfrm>
            <a:off x="812800" y="1145480"/>
            <a:ext cx="10883392" cy="472380"/>
          </a:xfrm>
          <a:prstGeom prst="rect">
            <a:avLst/>
          </a:prstGeom>
          <a:noFill/>
          <a:ln/>
        </p:spPr>
        <p:txBody>
          <a:bodyPr wrap="square" lIns="0" tIns="0" rIns="0" bIns="0" rtlCol="0" anchor="t">
            <a:normAutofit/>
          </a:bodyPr>
          <a:lstStyle/>
          <a:p>
            <a:pPr marL="0" indent="0" algn="l">
              <a:lnSpc>
                <a:spcPts val="3520"/>
              </a:lnSpc>
              <a:buNone/>
            </a:pPr>
            <a:r>
              <a:rPr lang="en-US" sz="3200" b="1" kern="0" spc="-50" dirty="0">
                <a:solidFill>
                  <a:srgbClr val="F4F4F5"/>
                </a:solidFill>
                <a:latin typeface="Arial" pitchFamily="34" charset="0"/>
                <a:ea typeface="Arial" pitchFamily="34" charset="-122"/>
                <a:cs typeface="Arial" pitchFamily="34" charset="-120"/>
              </a:rPr>
              <a:t>Que todas las variables hablen el mismo idioma</a:t>
            </a:r>
            <a:endParaRPr lang="en-US" sz="3200" dirty="0"/>
          </a:p>
        </p:txBody>
      </p:sp>
      <p:sp>
        <p:nvSpPr>
          <p:cNvPr id="4" name="Shape 2"/>
          <p:cNvSpPr/>
          <p:nvPr/>
        </p:nvSpPr>
        <p:spPr>
          <a:xfrm>
            <a:off x="819150" y="1802011"/>
            <a:ext cx="5194300" cy="2076252"/>
          </a:xfrm>
          <a:prstGeom prst="roundRect">
            <a:avLst>
              <a:gd name="adj" fmla="val 5811"/>
            </a:avLst>
          </a:prstGeom>
          <a:solidFill>
            <a:srgbClr val="1A1A1F"/>
          </a:solidFill>
          <a:ln w="12700">
            <a:solidFill>
              <a:srgbClr val="2C2C33"/>
            </a:solidFill>
            <a:prstDash val="solid"/>
          </a:ln>
        </p:spPr>
        <p:txBody>
          <a:bodyPr/>
          <a:lstStyle/>
          <a:p>
            <a:endParaRPr lang="es-CO"/>
          </a:p>
        </p:txBody>
      </p:sp>
      <p:sp>
        <p:nvSpPr>
          <p:cNvPr id="5" name="Text 3"/>
          <p:cNvSpPr/>
          <p:nvPr/>
        </p:nvSpPr>
        <p:spPr>
          <a:xfrm>
            <a:off x="1054100" y="2036961"/>
            <a:ext cx="4866132"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F4F4F5"/>
                </a:solidFill>
                <a:latin typeface="Arial" pitchFamily="34" charset="0"/>
                <a:ea typeface="Arial" pitchFamily="34" charset="-122"/>
                <a:cs typeface="Arial" pitchFamily="34" charset="-120"/>
              </a:rPr>
              <a:t>Como comparar colones con dólares</a:t>
            </a:r>
            <a:endParaRPr lang="en-US" sz="1500" dirty="0"/>
          </a:p>
        </p:txBody>
      </p:sp>
      <p:sp>
        <p:nvSpPr>
          <p:cNvPr id="6" name="Text 4"/>
          <p:cNvSpPr/>
          <p:nvPr/>
        </p:nvSpPr>
        <p:spPr>
          <a:xfrm>
            <a:off x="1054100" y="2367161"/>
            <a:ext cx="4866132" cy="504031"/>
          </a:xfrm>
          <a:prstGeom prst="rect">
            <a:avLst/>
          </a:prstGeom>
          <a:noFill/>
          <a:ln/>
        </p:spPr>
        <p:txBody>
          <a:bodyPr wrap="square" lIns="0" tIns="0" rIns="0" bIns="0" rtlCol="0" anchor="t">
            <a:normAutofit/>
          </a:bodyPr>
          <a:lstStyle/>
          <a:p>
            <a:pPr marL="0" indent="0" algn="l">
              <a:lnSpc>
                <a:spcPts val="1885"/>
              </a:lnSpc>
              <a:buNone/>
            </a:pPr>
            <a:r>
              <a:rPr lang="en-US" sz="1300" dirty="0">
                <a:solidFill>
                  <a:srgbClr val="A1A1AA"/>
                </a:solidFill>
                <a:latin typeface="Arial" pitchFamily="34" charset="0"/>
                <a:ea typeface="Arial" pitchFamily="34" charset="-122"/>
                <a:cs typeface="Arial" pitchFamily="34" charset="-120"/>
              </a:rPr>
              <a:t>Si no conviertes, el número más grande parece más importante aunque no lo sea.</a:t>
            </a:r>
            <a:endParaRPr lang="en-US" sz="1300" dirty="0"/>
          </a:p>
        </p:txBody>
      </p:sp>
      <p:sp>
        <p:nvSpPr>
          <p:cNvPr id="7" name="Text 5"/>
          <p:cNvSpPr/>
          <p:nvPr/>
        </p:nvSpPr>
        <p:spPr>
          <a:xfrm>
            <a:off x="1054100" y="2947392"/>
            <a:ext cx="4866132" cy="512961"/>
          </a:xfrm>
          <a:prstGeom prst="rect">
            <a:avLst/>
          </a:prstGeom>
          <a:noFill/>
          <a:ln/>
        </p:spPr>
        <p:txBody>
          <a:bodyPr wrap="square" lIns="0" tIns="0" rIns="0" bIns="0" rtlCol="0" anchor="t">
            <a:normAutofit/>
          </a:bodyPr>
          <a:lstStyle/>
          <a:p>
            <a:pPr marL="0" indent="0" algn="l">
              <a:lnSpc>
                <a:spcPts val="1920"/>
              </a:lnSpc>
              <a:buNone/>
            </a:pPr>
            <a:r>
              <a:rPr lang="en-US" sz="1200" dirty="0">
                <a:solidFill>
                  <a:srgbClr val="E4E4E7"/>
                </a:solidFill>
                <a:latin typeface="Courier New" pitchFamily="34" charset="0"/>
                <a:ea typeface="Courier New" pitchFamily="34" charset="-122"/>
                <a:cs typeface="Courier New" pitchFamily="34" charset="-120"/>
              </a:rPr>
              <a:t>Suavidad del tumor: 0,05 a 0,16</a:t>
            </a:r>
            <a:endParaRPr lang="en-US" sz="1200" dirty="0"/>
          </a:p>
          <a:p>
            <a:pPr marL="0" indent="0" algn="l">
              <a:lnSpc>
                <a:spcPts val="1920"/>
              </a:lnSpc>
              <a:buNone/>
            </a:pPr>
            <a:r>
              <a:rPr lang="en-US" sz="1200" dirty="0">
                <a:solidFill>
                  <a:srgbClr val="E4E4E7"/>
                </a:solidFill>
                <a:latin typeface="Courier New" pitchFamily="34" charset="0"/>
                <a:ea typeface="Courier New" pitchFamily="34" charset="-122"/>
                <a:cs typeface="Courier New" pitchFamily="34" charset="-120"/>
              </a:rPr>
              <a:t>Área del tumor: 143 a 2501</a:t>
            </a:r>
            <a:endParaRPr lang="en-US" sz="1200" dirty="0"/>
          </a:p>
        </p:txBody>
      </p:sp>
      <p:sp>
        <p:nvSpPr>
          <p:cNvPr id="8" name="Shape 6"/>
          <p:cNvSpPr/>
          <p:nvPr/>
        </p:nvSpPr>
        <p:spPr>
          <a:xfrm>
            <a:off x="6178550" y="1802011"/>
            <a:ext cx="5194300" cy="2076252"/>
          </a:xfrm>
          <a:prstGeom prst="roundRect">
            <a:avLst>
              <a:gd name="adj" fmla="val 5811"/>
            </a:avLst>
          </a:prstGeom>
          <a:solidFill>
            <a:srgbClr val="1A1A1F"/>
          </a:solidFill>
          <a:ln w="12700">
            <a:solidFill>
              <a:srgbClr val="2C2C33"/>
            </a:solidFill>
            <a:prstDash val="solid"/>
          </a:ln>
        </p:spPr>
        <p:txBody>
          <a:bodyPr/>
          <a:lstStyle/>
          <a:p>
            <a:endParaRPr lang="es-CO"/>
          </a:p>
        </p:txBody>
      </p:sp>
      <p:sp>
        <p:nvSpPr>
          <p:cNvPr id="9" name="Text 7"/>
          <p:cNvSpPr/>
          <p:nvPr/>
        </p:nvSpPr>
        <p:spPr>
          <a:xfrm>
            <a:off x="6413500" y="2036961"/>
            <a:ext cx="4866132"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F4F4F5"/>
                </a:solidFill>
                <a:latin typeface="Arial" pitchFamily="34" charset="0"/>
                <a:ea typeface="Arial" pitchFamily="34" charset="-122"/>
                <a:cs typeface="Arial" pitchFamily="34" charset="-120"/>
              </a:rPr>
              <a:t>KNN · K vecinos más cercanos</a:t>
            </a:r>
            <a:endParaRPr lang="en-US" sz="1500" dirty="0"/>
          </a:p>
        </p:txBody>
      </p:sp>
      <p:sp>
        <p:nvSpPr>
          <p:cNvPr id="10" name="Text 8"/>
          <p:cNvSpPr/>
          <p:nvPr/>
        </p:nvSpPr>
        <p:spPr>
          <a:xfrm>
            <a:off x="6413500" y="2367161"/>
            <a:ext cx="1422698"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A1A1AA"/>
                </a:solidFill>
                <a:latin typeface="Arial" pitchFamily="34" charset="0"/>
                <a:ea typeface="Arial" pitchFamily="34" charset="-122"/>
                <a:cs typeface="Arial" pitchFamily="34" charset="-120"/>
              </a:rPr>
              <a:t>Sin escalar</a:t>
            </a:r>
            <a:endParaRPr lang="en-US" sz="1200" dirty="0"/>
          </a:p>
        </p:txBody>
      </p:sp>
      <p:sp>
        <p:nvSpPr>
          <p:cNvPr id="11" name="Text 9"/>
          <p:cNvSpPr/>
          <p:nvPr/>
        </p:nvSpPr>
        <p:spPr>
          <a:xfrm>
            <a:off x="6413500" y="2605881"/>
            <a:ext cx="1422698" cy="482600"/>
          </a:xfrm>
          <a:prstGeom prst="rect">
            <a:avLst/>
          </a:prstGeom>
          <a:noFill/>
          <a:ln/>
        </p:spPr>
        <p:txBody>
          <a:bodyPr wrap="square" lIns="0" tIns="0" rIns="0" bIns="0" rtlCol="0" anchor="t">
            <a:normAutofit/>
          </a:bodyPr>
          <a:lstStyle/>
          <a:p>
            <a:pPr marL="0" indent="0" algn="l">
              <a:lnSpc>
                <a:spcPts val="3600"/>
              </a:lnSpc>
              <a:buNone/>
            </a:pPr>
            <a:r>
              <a:rPr lang="en-US" sz="3600" b="1" dirty="0">
                <a:solidFill>
                  <a:srgbClr val="A1A1AA"/>
                </a:solidFill>
                <a:latin typeface="Courier New" pitchFamily="34" charset="0"/>
                <a:ea typeface="Courier New" pitchFamily="34" charset="-122"/>
                <a:cs typeface="Courier New" pitchFamily="34" charset="-120"/>
              </a:rPr>
              <a:t>0,930</a:t>
            </a:r>
            <a:endParaRPr lang="en-US" sz="3600" dirty="0"/>
          </a:p>
        </p:txBody>
      </p:sp>
      <p:pic>
        <p:nvPicPr>
          <p:cNvPr id="12" name="Image 0" descr="arrow-right"/>
          <p:cNvPicPr>
            <a:picLocks noChangeAspect="1"/>
          </p:cNvPicPr>
          <p:nvPr/>
        </p:nvPicPr>
        <p:blipFill>
          <a:blip r:embed="rId3"/>
          <a:srcRect/>
          <a:stretch/>
        </p:blipFill>
        <p:spPr>
          <a:xfrm>
            <a:off x="7937798" y="2600821"/>
            <a:ext cx="406400" cy="228600"/>
          </a:xfrm>
          <a:prstGeom prst="rect">
            <a:avLst/>
          </a:prstGeom>
        </p:spPr>
      </p:pic>
      <p:sp>
        <p:nvSpPr>
          <p:cNvPr id="13" name="Text 10"/>
          <p:cNvSpPr/>
          <p:nvPr/>
        </p:nvSpPr>
        <p:spPr>
          <a:xfrm>
            <a:off x="8496598" y="2367161"/>
            <a:ext cx="1422698"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F4F4F5"/>
                </a:solidFill>
                <a:latin typeface="Arial" pitchFamily="34" charset="0"/>
                <a:ea typeface="Arial" pitchFamily="34" charset="-122"/>
                <a:cs typeface="Arial" pitchFamily="34" charset="-120"/>
              </a:rPr>
              <a:t>Escalado</a:t>
            </a:r>
            <a:endParaRPr lang="en-US" sz="1200" dirty="0"/>
          </a:p>
        </p:txBody>
      </p:sp>
      <p:sp>
        <p:nvSpPr>
          <p:cNvPr id="14" name="Text 11"/>
          <p:cNvSpPr/>
          <p:nvPr/>
        </p:nvSpPr>
        <p:spPr>
          <a:xfrm>
            <a:off x="8496598" y="2605881"/>
            <a:ext cx="1422698" cy="482600"/>
          </a:xfrm>
          <a:prstGeom prst="rect">
            <a:avLst/>
          </a:prstGeom>
          <a:noFill/>
          <a:ln/>
        </p:spPr>
        <p:txBody>
          <a:bodyPr wrap="square" lIns="0" tIns="0" rIns="0" bIns="0" rtlCol="0" anchor="t">
            <a:normAutofit/>
          </a:bodyPr>
          <a:lstStyle/>
          <a:p>
            <a:pPr marL="0" indent="0" algn="l">
              <a:lnSpc>
                <a:spcPts val="3600"/>
              </a:lnSpc>
              <a:buNone/>
            </a:pPr>
            <a:r>
              <a:rPr lang="en-US" sz="3600" b="1" dirty="0">
                <a:solidFill>
                  <a:srgbClr val="E4002B"/>
                </a:solidFill>
                <a:latin typeface="Courier New" pitchFamily="34" charset="0"/>
                <a:ea typeface="Courier New" pitchFamily="34" charset="-122"/>
                <a:cs typeface="Courier New" pitchFamily="34" charset="-120"/>
              </a:rPr>
              <a:t>0,970</a:t>
            </a:r>
            <a:endParaRPr lang="en-US" sz="3600" dirty="0"/>
          </a:p>
        </p:txBody>
      </p:sp>
      <p:sp>
        <p:nvSpPr>
          <p:cNvPr id="15" name="Text 12"/>
          <p:cNvSpPr/>
          <p:nvPr/>
        </p:nvSpPr>
        <p:spPr>
          <a:xfrm>
            <a:off x="6413500" y="3164681"/>
            <a:ext cx="4866132" cy="504031"/>
          </a:xfrm>
          <a:prstGeom prst="rect">
            <a:avLst/>
          </a:prstGeom>
          <a:noFill/>
          <a:ln/>
        </p:spPr>
        <p:txBody>
          <a:bodyPr wrap="square" lIns="0" tIns="0" rIns="0" bIns="0" rtlCol="0" anchor="t">
            <a:normAutofit/>
          </a:bodyPr>
          <a:lstStyle/>
          <a:p>
            <a:pPr marL="0" indent="0" algn="l">
              <a:lnSpc>
                <a:spcPts val="1885"/>
              </a:lnSpc>
              <a:buNone/>
            </a:pPr>
            <a:r>
              <a:rPr lang="en-US" sz="1300" dirty="0">
                <a:solidFill>
                  <a:srgbClr val="A1A1AA"/>
                </a:solidFill>
                <a:latin typeface="Arial" pitchFamily="34" charset="0"/>
                <a:ea typeface="Arial" pitchFamily="34" charset="-122"/>
                <a:cs typeface="Arial" pitchFamily="34" charset="-120"/>
              </a:rPr>
              <a:t>Nota con validación cruzada: sube 4 puntos sin cambiar de modelo.</a:t>
            </a:r>
            <a:endParaRPr lang="en-US" sz="1300" dirty="0"/>
          </a:p>
        </p:txBody>
      </p:sp>
      <p:sp>
        <p:nvSpPr>
          <p:cNvPr id="16" name="Shape 13"/>
          <p:cNvSpPr/>
          <p:nvPr/>
        </p:nvSpPr>
        <p:spPr>
          <a:xfrm>
            <a:off x="819150" y="4094163"/>
            <a:ext cx="10553700" cy="871736"/>
          </a:xfrm>
          <a:prstGeom prst="roundRect">
            <a:avLst>
              <a:gd name="adj" fmla="val 13840"/>
            </a:avLst>
          </a:prstGeom>
          <a:solidFill>
            <a:srgbClr val="1F0A0F"/>
          </a:solidFill>
          <a:ln w="12700">
            <a:solidFill>
              <a:srgbClr val="E4002B"/>
            </a:solidFill>
            <a:prstDash val="solid"/>
          </a:ln>
        </p:spPr>
        <p:txBody>
          <a:bodyPr/>
          <a:lstStyle/>
          <a:p>
            <a:endParaRPr lang="es-CO"/>
          </a:p>
        </p:txBody>
      </p:sp>
      <p:sp>
        <p:nvSpPr>
          <p:cNvPr id="17" name="Text 14"/>
          <p:cNvSpPr/>
          <p:nvPr/>
        </p:nvSpPr>
        <p:spPr>
          <a:xfrm>
            <a:off x="1079500" y="4278313"/>
            <a:ext cx="10333990"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E4002B"/>
                </a:solidFill>
                <a:latin typeface="Courier New" pitchFamily="34" charset="0"/>
                <a:ea typeface="Courier New" pitchFamily="34" charset="-122"/>
                <a:cs typeface="Courier New" pitchFamily="34" charset="-120"/>
              </a:rPr>
              <a:t>EN PALABRAS SIMPLES</a:t>
            </a:r>
            <a:endParaRPr lang="en-US" sz="1200" dirty="0"/>
          </a:p>
        </p:txBody>
      </p:sp>
      <p:sp>
        <p:nvSpPr>
          <p:cNvPr id="18" name="Text 15"/>
          <p:cNvSpPr/>
          <p:nvPr/>
        </p:nvSpPr>
        <p:spPr>
          <a:xfrm>
            <a:off x="1079500" y="4542433"/>
            <a:ext cx="10333990" cy="264716"/>
          </a:xfrm>
          <a:prstGeom prst="rect">
            <a:avLst/>
          </a:prstGeom>
          <a:noFill/>
          <a:ln/>
        </p:spPr>
        <p:txBody>
          <a:bodyPr wrap="square" lIns="0" tIns="0" rIns="0" bIns="0" rtlCol="0" anchor="t">
            <a:normAutofit/>
          </a:bodyPr>
          <a:lstStyle/>
          <a:p>
            <a:pPr marL="0" indent="0" algn="l">
              <a:lnSpc>
                <a:spcPts val="1885"/>
              </a:lnSpc>
              <a:buNone/>
            </a:pPr>
            <a:r>
              <a:rPr lang="en-US" sz="1300" dirty="0">
                <a:solidFill>
                  <a:srgbClr val="F4F4F5"/>
                </a:solidFill>
                <a:latin typeface="Arial" pitchFamily="34" charset="0"/>
                <a:ea typeface="Arial" pitchFamily="34" charset="-122"/>
                <a:cs typeface="Arial" pitchFamily="34" charset="-120"/>
              </a:rPr>
              <a:t>StandardScaler (escalador estándar) pone todas las variables en la misma escala, para que ninguna «grite» más que las demás.</a:t>
            </a:r>
            <a:endParaRPr lang="en-US" sz="1300" dirty="0"/>
          </a:p>
        </p:txBody>
      </p:sp>
      <p:sp>
        <p:nvSpPr>
          <p:cNvPr id="19" name="Text 16"/>
          <p:cNvSpPr/>
          <p:nvPr/>
        </p:nvSpPr>
        <p:spPr>
          <a:xfrm>
            <a:off x="812800" y="6238280"/>
            <a:ext cx="7848600" cy="238720"/>
          </a:xfrm>
          <a:prstGeom prst="rect">
            <a:avLst/>
          </a:prstGeom>
          <a:noFill/>
          <a:ln/>
        </p:spPr>
        <p:txBody>
          <a:bodyPr wrap="square" lIns="0" tIns="0" rIns="0" bIns="0" rtlCol="0" anchor="t">
            <a:normAutofit/>
          </a:bodyPr>
          <a:lstStyle/>
          <a:p>
            <a:pPr marL="0" indent="0" algn="l">
              <a:lnSpc>
                <a:spcPts val="1680"/>
              </a:lnSpc>
              <a:buNone/>
            </a:pPr>
            <a:r>
              <a:rPr lang="en-US" sz="1200" kern="0" spc="100" dirty="0">
                <a:solidFill>
                  <a:srgbClr val="71717A"/>
                </a:solidFill>
                <a:latin typeface="Courier New" pitchFamily="34" charset="0"/>
                <a:ea typeface="Courier New" pitchFamily="34" charset="-122"/>
                <a:cs typeface="Courier New" pitchFamily="34" charset="-120"/>
              </a:rPr>
              <a:t>UNIDAD 4 · VALIDACIÓN DE MODELOS</a:t>
            </a:r>
            <a:endParaRPr lang="en-US" sz="1200" dirty="0"/>
          </a:p>
        </p:txBody>
      </p:sp>
      <p:sp>
        <p:nvSpPr>
          <p:cNvPr id="20" name="Text 17"/>
          <p:cNvSpPr/>
          <p:nvPr/>
        </p:nvSpPr>
        <p:spPr>
          <a:xfrm>
            <a:off x="10058400" y="6238280"/>
            <a:ext cx="1320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71717A"/>
                </a:solidFill>
                <a:latin typeface="Courier New" pitchFamily="34" charset="0"/>
                <a:ea typeface="Courier New" pitchFamily="34" charset="-122"/>
                <a:cs typeface="Courier New" pitchFamily="34" charset="-120"/>
              </a:rPr>
              <a:t>28</a:t>
            </a:r>
            <a:endParaRPr lang="en-US" sz="12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0B0B0D"/>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marL="0" indent="0" algn="l">
              <a:lnSpc>
                <a:spcPts val="1820"/>
              </a:lnSpc>
              <a:buNone/>
            </a:pPr>
            <a:r>
              <a:rPr lang="en-US" sz="1300" b="1" kern="0" spc="200" dirty="0">
                <a:solidFill>
                  <a:srgbClr val="E4002B"/>
                </a:solidFill>
                <a:latin typeface="Courier New" pitchFamily="34" charset="0"/>
                <a:ea typeface="Courier New" pitchFamily="34" charset="-122"/>
                <a:cs typeface="Courier New" pitchFamily="34" charset="-120"/>
              </a:rPr>
              <a:t>MEJORA 2 · HIPERPARÁMETROS (HYPERPARAMETERS)</a:t>
            </a:r>
            <a:endParaRPr lang="en-US" sz="1300" dirty="0"/>
          </a:p>
        </p:txBody>
      </p:sp>
      <p:sp>
        <p:nvSpPr>
          <p:cNvPr id="3" name="Text 1"/>
          <p:cNvSpPr/>
          <p:nvPr/>
        </p:nvSpPr>
        <p:spPr>
          <a:xfrm>
            <a:off x="812800" y="1145480"/>
            <a:ext cx="10883392" cy="472380"/>
          </a:xfrm>
          <a:prstGeom prst="rect">
            <a:avLst/>
          </a:prstGeom>
          <a:noFill/>
          <a:ln/>
        </p:spPr>
        <p:txBody>
          <a:bodyPr wrap="square" lIns="0" tIns="0" rIns="0" bIns="0" rtlCol="0" anchor="t">
            <a:normAutofit/>
          </a:bodyPr>
          <a:lstStyle/>
          <a:p>
            <a:pPr marL="0" indent="0" algn="l">
              <a:lnSpc>
                <a:spcPts val="3520"/>
              </a:lnSpc>
              <a:buNone/>
            </a:pPr>
            <a:r>
              <a:rPr lang="en-US" sz="3200" b="1" kern="0" spc="-50" dirty="0">
                <a:solidFill>
                  <a:srgbClr val="F4F4F5"/>
                </a:solidFill>
                <a:latin typeface="Arial" pitchFamily="34" charset="0"/>
                <a:ea typeface="Arial" pitchFamily="34" charset="-122"/>
                <a:cs typeface="Arial" pitchFamily="34" charset="-120"/>
              </a:rPr>
              <a:t>Ajustar las perillas del modelo</a:t>
            </a:r>
            <a:endParaRPr lang="en-US" sz="3200" dirty="0"/>
          </a:p>
        </p:txBody>
      </p:sp>
      <p:sp>
        <p:nvSpPr>
          <p:cNvPr id="4" name="Text 2"/>
          <p:cNvSpPr/>
          <p:nvPr/>
        </p:nvSpPr>
        <p:spPr>
          <a:xfrm>
            <a:off x="812800" y="1795661"/>
            <a:ext cx="10883392" cy="540941"/>
          </a:xfrm>
          <a:prstGeom prst="rect">
            <a:avLst/>
          </a:prstGeom>
          <a:noFill/>
          <a:ln/>
        </p:spPr>
        <p:txBody>
          <a:bodyPr wrap="square" lIns="0" tIns="0" rIns="0" bIns="0" rtlCol="0" anchor="t">
            <a:normAutofit/>
          </a:bodyPr>
          <a:lstStyle/>
          <a:p>
            <a:pPr marL="0" indent="0" algn="l">
              <a:lnSpc>
                <a:spcPts val="2030"/>
              </a:lnSpc>
              <a:buNone/>
            </a:pPr>
            <a:r>
              <a:rPr lang="en-US" sz="1400" dirty="0">
                <a:solidFill>
                  <a:srgbClr val="D4D4D8"/>
                </a:solidFill>
                <a:latin typeface="Arial" pitchFamily="34" charset="0"/>
                <a:ea typeface="Arial" pitchFamily="34" charset="-122"/>
                <a:cs typeface="Arial" pitchFamily="34" charset="-120"/>
              </a:rPr>
              <a:t>Un hiperparámetro es una configuración que tú eliges antes de entrenar. GridSearchCV (búsqueda en rejilla con validación cruzada) prueba todas las combinaciones, como probar varias recetas y quedarte con la más rica.</a:t>
            </a:r>
            <a:endParaRPr lang="en-US" sz="1400" dirty="0"/>
          </a:p>
        </p:txBody>
      </p:sp>
      <p:sp>
        <p:nvSpPr>
          <p:cNvPr id="5" name="Shape 3"/>
          <p:cNvSpPr/>
          <p:nvPr/>
        </p:nvSpPr>
        <p:spPr>
          <a:xfrm>
            <a:off x="819150" y="2520752"/>
            <a:ext cx="6139160" cy="2590800"/>
          </a:xfrm>
          <a:prstGeom prst="roundRect">
            <a:avLst>
              <a:gd name="adj" fmla="val 4657"/>
            </a:avLst>
          </a:prstGeom>
          <a:solidFill>
            <a:srgbClr val="1A1A1F"/>
          </a:solidFill>
          <a:ln w="12700">
            <a:solidFill>
              <a:srgbClr val="2C2C33"/>
            </a:solidFill>
            <a:prstDash val="solid"/>
          </a:ln>
        </p:spPr>
        <p:txBody>
          <a:bodyPr/>
          <a:lstStyle/>
          <a:p>
            <a:endParaRPr lang="es-CO"/>
          </a:p>
        </p:txBody>
      </p:sp>
      <p:sp>
        <p:nvSpPr>
          <p:cNvPr id="6" name="Text 4"/>
          <p:cNvSpPr/>
          <p:nvPr/>
        </p:nvSpPr>
        <p:spPr>
          <a:xfrm>
            <a:off x="1054100" y="2755702"/>
            <a:ext cx="5839338"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F4F4F5"/>
                </a:solidFill>
                <a:latin typeface="Arial" pitchFamily="34" charset="0"/>
                <a:ea typeface="Arial" pitchFamily="34" charset="-122"/>
                <a:cs typeface="Arial" pitchFamily="34" charset="-120"/>
              </a:rPr>
              <a:t>Las perillas que probamos en el árbol</a:t>
            </a:r>
            <a:endParaRPr lang="en-US" sz="15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1066800" y="3098602"/>
          <a:ext cx="5656560" cy="1437084"/>
        </p:xfrm>
        <a:graphic>
          <a:graphicData uri="http://schemas.openxmlformats.org/drawingml/2006/table">
            <a:tbl>
              <a:tblPr/>
              <a:tblGrid>
                <a:gridCol w="3393936">
                  <a:extLst>
                    <a:ext uri="{9D8B030D-6E8A-4147-A177-3AD203B41FA5}">
                      <a16:colId xmlns:a16="http://schemas.microsoft.com/office/drawing/2014/main" val="20000"/>
                    </a:ext>
                  </a:extLst>
                </a:gridCol>
                <a:gridCol w="2262624">
                  <a:extLst>
                    <a:ext uri="{9D8B030D-6E8A-4147-A177-3AD203B41FA5}">
                      <a16:colId xmlns:a16="http://schemas.microsoft.com/office/drawing/2014/main" val="20001"/>
                    </a:ext>
                  </a:extLst>
                </a:gridCol>
              </a:tblGrid>
              <a:tr h="359271">
                <a:tc>
                  <a:txBody>
                    <a:bodyPr/>
                    <a:lstStyle/>
                    <a:p>
                      <a:pPr marL="0" indent="0">
                        <a:lnSpc>
                          <a:spcPts val="1820"/>
                        </a:lnSpc>
                        <a:buNone/>
                      </a:pPr>
                      <a:r>
                        <a:rPr lang="en-US" sz="1300" b="1" dirty="0">
                          <a:solidFill>
                            <a:srgbClr val="E4E4E7"/>
                          </a:solidFill>
                          <a:latin typeface="Arial" pitchFamily="34" charset="0"/>
                          <a:ea typeface="Arial" pitchFamily="34" charset="-122"/>
                          <a:cs typeface="Arial" pitchFamily="34" charset="-120"/>
                        </a:rPr>
                        <a:t>Perilla</a:t>
                      </a:r>
                      <a:endParaRPr lang="en-US" sz="1300" dirty="0">
                        <a:latin typeface="Arial" charset="0"/>
                        <a:ea typeface="Arial" charset="0"/>
                        <a:cs typeface="Arial" charset="0"/>
                      </a:endParaRPr>
                    </a:p>
                  </a:txBody>
                  <a:tcPr marL="57785" marR="57785" marT="57785" marB="57785">
                    <a:lnL w="12700" cap="flat" cmpd="sng" algn="ctr">
                      <a:solidFill>
                        <a:srgbClr val="4B4B4E"/>
                      </a:solidFill>
                      <a:prstDash val="solid"/>
                      <a:round/>
                      <a:headEnd type="none" w="med" len="med"/>
                      <a:tailEnd type="none" w="med" len="med"/>
                    </a:lnL>
                    <a:lnR w="12700" cap="flat" cmpd="sng" algn="ctr">
                      <a:solidFill>
                        <a:srgbClr val="59595B"/>
                      </a:solidFill>
                      <a:prstDash val="solid"/>
                      <a:round/>
                      <a:headEnd type="none" w="med" len="med"/>
                      <a:tailEnd type="none" w="med" len="med"/>
                    </a:lnR>
                    <a:lnT w="12700" cap="flat" cmpd="sng" algn="ctr">
                      <a:solidFill>
                        <a:srgbClr val="4B4B4E"/>
                      </a:solidFill>
                      <a:prstDash val="solid"/>
                      <a:round/>
                      <a:headEnd type="none" w="med" len="med"/>
                      <a:tailEnd type="none" w="med" len="med"/>
                    </a:lnT>
                    <a:lnB w="12700" cap="flat" cmpd="sng" algn="ctr">
                      <a:solidFill>
                        <a:srgbClr val="59595B"/>
                      </a:solidFill>
                      <a:prstDash val="solid"/>
                      <a:round/>
                      <a:headEnd type="none" w="med" len="med"/>
                      <a:tailEnd type="none" w="med" len="med"/>
                    </a:lnB>
                    <a:solidFill>
                      <a:srgbClr val="2C2C30"/>
                    </a:solidFill>
                  </a:tcPr>
                </a:tc>
                <a:tc>
                  <a:txBody>
                    <a:bodyPr/>
                    <a:lstStyle/>
                    <a:p>
                      <a:pPr marL="0" indent="0">
                        <a:lnSpc>
                          <a:spcPts val="1820"/>
                        </a:lnSpc>
                        <a:buNone/>
                      </a:pPr>
                      <a:r>
                        <a:rPr lang="en-US" sz="1300" b="1" dirty="0">
                          <a:solidFill>
                            <a:srgbClr val="E4E4E7"/>
                          </a:solidFill>
                          <a:latin typeface="Arial" pitchFamily="34" charset="0"/>
                          <a:ea typeface="Arial" pitchFamily="34" charset="-122"/>
                          <a:cs typeface="Arial" pitchFamily="34" charset="-120"/>
                        </a:rPr>
                        <a:t>Valores</a:t>
                      </a:r>
                      <a:endParaRPr lang="en-US" sz="1300" dirty="0">
                        <a:latin typeface="Arial" charset="0"/>
                        <a:ea typeface="Arial" charset="0"/>
                        <a:cs typeface="Arial" charset="0"/>
                      </a:endParaRPr>
                    </a:p>
                  </a:txBody>
                  <a:tcPr marL="57785" marR="57785" marT="57785" marB="57785">
                    <a:lnL w="12700" cap="flat" cmpd="sng" algn="ctr">
                      <a:solidFill>
                        <a:srgbClr val="59595B"/>
                      </a:solidFill>
                      <a:prstDash val="solid"/>
                      <a:round/>
                      <a:headEnd type="none" w="med" len="med"/>
                      <a:tailEnd type="none" w="med" len="med"/>
                    </a:lnL>
                    <a:lnR w="12700" cap="flat" cmpd="sng" algn="ctr">
                      <a:solidFill>
                        <a:srgbClr val="59595B"/>
                      </a:solidFill>
                      <a:prstDash val="solid"/>
                      <a:round/>
                      <a:headEnd type="none" w="med" len="med"/>
                      <a:tailEnd type="none" w="med" len="med"/>
                    </a:lnR>
                    <a:lnT w="12700" cap="flat" cmpd="sng" algn="ctr">
                      <a:solidFill>
                        <a:srgbClr val="4B4B4E"/>
                      </a:solidFill>
                      <a:prstDash val="solid"/>
                      <a:round/>
                      <a:headEnd type="none" w="med" len="med"/>
                      <a:tailEnd type="none" w="med" len="med"/>
                    </a:lnT>
                    <a:lnB w="12700" cap="flat" cmpd="sng" algn="ctr">
                      <a:solidFill>
                        <a:srgbClr val="59595B"/>
                      </a:solidFill>
                      <a:prstDash val="solid"/>
                      <a:round/>
                      <a:headEnd type="none" w="med" len="med"/>
                      <a:tailEnd type="none" w="med" len="med"/>
                    </a:lnB>
                    <a:solidFill>
                      <a:srgbClr val="2C2C30"/>
                    </a:solidFill>
                  </a:tcPr>
                </a:tc>
                <a:extLst>
                  <a:ext uri="{0D108BD9-81ED-4DB2-BD59-A6C34878D82A}">
                    <a16:rowId xmlns:a16="http://schemas.microsoft.com/office/drawing/2014/main" val="10000"/>
                  </a:ext>
                </a:extLst>
              </a:tr>
              <a:tr h="359271">
                <a:tc>
                  <a:txBody>
                    <a:bodyPr/>
                    <a:lstStyle/>
                    <a:p>
                      <a:pPr marL="0" indent="0">
                        <a:lnSpc>
                          <a:spcPts val="1820"/>
                        </a:lnSpc>
                        <a:buNone/>
                      </a:pPr>
                      <a:r>
                        <a:rPr lang="en-US" sz="1300" dirty="0">
                          <a:solidFill>
                            <a:srgbClr val="E4E4E7"/>
                          </a:solidFill>
                          <a:latin typeface="Arial" pitchFamily="34" charset="0"/>
                          <a:ea typeface="Arial" pitchFamily="34" charset="-122"/>
                          <a:cs typeface="Arial" pitchFamily="34" charset="-120"/>
                        </a:rPr>
                        <a:t>Profundidad máxima (max_depth)</a:t>
                      </a:r>
                      <a:endParaRPr lang="en-US" sz="1300" dirty="0">
                        <a:latin typeface="Arial" charset="0"/>
                        <a:ea typeface="Arial" charset="0"/>
                        <a:cs typeface="Arial" charset="0"/>
                      </a:endParaRPr>
                    </a:p>
                  </a:txBody>
                  <a:tcPr marL="57785" marR="57785" marT="57785" marB="57785">
                    <a:lnL w="12700" cap="flat" cmpd="sng" algn="ctr">
                      <a:solidFill>
                        <a:srgbClr val="4B4B4E"/>
                      </a:solidFill>
                      <a:prstDash val="solid"/>
                      <a:round/>
                      <a:headEnd type="none" w="med" len="med"/>
                      <a:tailEnd type="none" w="med" len="med"/>
                    </a:lnL>
                    <a:lnR w="12700" cap="flat" cmpd="sng" algn="ctr">
                      <a:solidFill>
                        <a:srgbClr val="4B4B4E"/>
                      </a:solidFill>
                      <a:prstDash val="solid"/>
                      <a:round/>
                      <a:headEnd type="none" w="med" len="med"/>
                      <a:tailEnd type="none" w="med" len="med"/>
                    </a:lnR>
                    <a:lnT w="12700" cap="flat" cmpd="sng" algn="ctr">
                      <a:solidFill>
                        <a:srgbClr val="59595B"/>
                      </a:solidFill>
                      <a:prstDash val="solid"/>
                      <a:round/>
                      <a:headEnd type="none" w="med" len="med"/>
                      <a:tailEnd type="none" w="med" len="med"/>
                    </a:lnT>
                    <a:lnB w="12700" cap="flat" cmpd="sng" algn="ctr">
                      <a:solidFill>
                        <a:srgbClr val="4B4B4E"/>
                      </a:solidFill>
                      <a:prstDash val="solid"/>
                      <a:round/>
                      <a:headEnd type="none" w="med" len="med"/>
                      <a:tailEnd type="none" w="med" len="med"/>
                    </a:lnB>
                  </a:tcPr>
                </a:tc>
                <a:tc>
                  <a:txBody>
                    <a:bodyPr/>
                    <a:lstStyle/>
                    <a:p>
                      <a:pPr marL="0" indent="0">
                        <a:lnSpc>
                          <a:spcPts val="1820"/>
                        </a:lnSpc>
                        <a:buNone/>
                      </a:pPr>
                      <a:r>
                        <a:rPr lang="en-US" sz="1300" dirty="0">
                          <a:solidFill>
                            <a:srgbClr val="E4E4E7"/>
                          </a:solidFill>
                          <a:latin typeface="Arial" pitchFamily="34" charset="0"/>
                          <a:ea typeface="Arial" pitchFamily="34" charset="-122"/>
                          <a:cs typeface="Arial" pitchFamily="34" charset="-120"/>
                        </a:rPr>
                        <a:t>2, 3, 4, 5, 6, 8, sin límite</a:t>
                      </a:r>
                      <a:endParaRPr lang="en-US" sz="1300" dirty="0">
                        <a:latin typeface="Arial" charset="0"/>
                        <a:ea typeface="Arial" charset="0"/>
                        <a:cs typeface="Arial" charset="0"/>
                      </a:endParaRPr>
                    </a:p>
                  </a:txBody>
                  <a:tcPr marL="57785" marR="57785" marT="57785" marB="57785">
                    <a:lnL w="12700" cap="flat" cmpd="sng" algn="ctr">
                      <a:solidFill>
                        <a:srgbClr val="4B4B4E"/>
                      </a:solidFill>
                      <a:prstDash val="solid"/>
                      <a:round/>
                      <a:headEnd type="none" w="med" len="med"/>
                      <a:tailEnd type="none" w="med" len="med"/>
                    </a:lnL>
                    <a:lnR w="12700" cap="flat" cmpd="sng" algn="ctr">
                      <a:solidFill>
                        <a:srgbClr val="4B4B4E"/>
                      </a:solidFill>
                      <a:prstDash val="solid"/>
                      <a:round/>
                      <a:headEnd type="none" w="med" len="med"/>
                      <a:tailEnd type="none" w="med" len="med"/>
                    </a:lnR>
                    <a:lnT w="12700" cap="flat" cmpd="sng" algn="ctr">
                      <a:solidFill>
                        <a:srgbClr val="59595B"/>
                      </a:solidFill>
                      <a:prstDash val="solid"/>
                      <a:round/>
                      <a:headEnd type="none" w="med" len="med"/>
                      <a:tailEnd type="none" w="med" len="med"/>
                    </a:lnT>
                    <a:lnB w="12700" cap="flat" cmpd="sng" algn="ctr">
                      <a:solidFill>
                        <a:srgbClr val="4B4B4E"/>
                      </a:solidFill>
                      <a:prstDash val="solid"/>
                      <a:round/>
                      <a:headEnd type="none" w="med" len="med"/>
                      <a:tailEnd type="none" w="med" len="med"/>
                    </a:lnB>
                  </a:tcPr>
                </a:tc>
                <a:extLst>
                  <a:ext uri="{0D108BD9-81ED-4DB2-BD59-A6C34878D82A}">
                    <a16:rowId xmlns:a16="http://schemas.microsoft.com/office/drawing/2014/main" val="10001"/>
                  </a:ext>
                </a:extLst>
              </a:tr>
              <a:tr h="359271">
                <a:tc>
                  <a:txBody>
                    <a:bodyPr/>
                    <a:lstStyle/>
                    <a:p>
                      <a:pPr marL="0" indent="0">
                        <a:lnSpc>
                          <a:spcPts val="1820"/>
                        </a:lnSpc>
                        <a:buNone/>
                      </a:pPr>
                      <a:r>
                        <a:rPr lang="en-US" sz="1300" dirty="0">
                          <a:solidFill>
                            <a:srgbClr val="E4E4E7"/>
                          </a:solidFill>
                          <a:latin typeface="Arial" pitchFamily="34" charset="0"/>
                          <a:ea typeface="Arial" pitchFamily="34" charset="-122"/>
                          <a:cs typeface="Arial" pitchFamily="34" charset="-120"/>
                        </a:rPr>
                        <a:t>Mínimo por hoja (min_samples_leaf)</a:t>
                      </a:r>
                      <a:endParaRPr lang="en-US" sz="1300" dirty="0">
                        <a:latin typeface="Arial" charset="0"/>
                        <a:ea typeface="Arial" charset="0"/>
                        <a:cs typeface="Arial" charset="0"/>
                      </a:endParaRPr>
                    </a:p>
                  </a:txBody>
                  <a:tcPr marL="57785" marR="57785" marT="57785" marB="57785">
                    <a:lnL w="12700" cap="flat" cmpd="sng" algn="ctr">
                      <a:solidFill>
                        <a:srgbClr val="4B4B4E"/>
                      </a:solidFill>
                      <a:prstDash val="solid"/>
                      <a:round/>
                      <a:headEnd type="none" w="med" len="med"/>
                      <a:tailEnd type="none" w="med" len="med"/>
                    </a:lnL>
                    <a:lnR w="12700" cap="flat" cmpd="sng" algn="ctr">
                      <a:solidFill>
                        <a:srgbClr val="4B4B4E"/>
                      </a:solidFill>
                      <a:prstDash val="solid"/>
                      <a:round/>
                      <a:headEnd type="none" w="med" len="med"/>
                      <a:tailEnd type="none" w="med" len="med"/>
                    </a:lnR>
                    <a:lnT w="12700" cap="flat" cmpd="sng" algn="ctr">
                      <a:solidFill>
                        <a:srgbClr val="4B4B4E"/>
                      </a:solidFill>
                      <a:prstDash val="solid"/>
                      <a:round/>
                      <a:headEnd type="none" w="med" len="med"/>
                      <a:tailEnd type="none" w="med" len="med"/>
                    </a:lnT>
                    <a:lnB w="12700" cap="flat" cmpd="sng" algn="ctr">
                      <a:solidFill>
                        <a:srgbClr val="4B4B4E"/>
                      </a:solidFill>
                      <a:prstDash val="solid"/>
                      <a:round/>
                      <a:headEnd type="none" w="med" len="med"/>
                      <a:tailEnd type="none" w="med" len="med"/>
                    </a:lnB>
                  </a:tcPr>
                </a:tc>
                <a:tc>
                  <a:txBody>
                    <a:bodyPr/>
                    <a:lstStyle/>
                    <a:p>
                      <a:pPr marL="0" indent="0">
                        <a:lnSpc>
                          <a:spcPts val="1820"/>
                        </a:lnSpc>
                        <a:buNone/>
                      </a:pPr>
                      <a:r>
                        <a:rPr lang="en-US" sz="1300" dirty="0">
                          <a:solidFill>
                            <a:srgbClr val="E4E4E7"/>
                          </a:solidFill>
                          <a:latin typeface="Arial" pitchFamily="34" charset="0"/>
                          <a:ea typeface="Arial" pitchFamily="34" charset="-122"/>
                          <a:cs typeface="Arial" pitchFamily="34" charset="-120"/>
                        </a:rPr>
                        <a:t>1, 5, 10, 20</a:t>
                      </a:r>
                      <a:endParaRPr lang="en-US" sz="1300" dirty="0">
                        <a:latin typeface="Arial" charset="0"/>
                        <a:ea typeface="Arial" charset="0"/>
                        <a:cs typeface="Arial" charset="0"/>
                      </a:endParaRPr>
                    </a:p>
                  </a:txBody>
                  <a:tcPr marL="57785" marR="57785" marT="57785" marB="57785">
                    <a:lnL w="12700" cap="flat" cmpd="sng" algn="ctr">
                      <a:solidFill>
                        <a:srgbClr val="4B4B4E"/>
                      </a:solidFill>
                      <a:prstDash val="solid"/>
                      <a:round/>
                      <a:headEnd type="none" w="med" len="med"/>
                      <a:tailEnd type="none" w="med" len="med"/>
                    </a:lnL>
                    <a:lnR w="12700" cap="flat" cmpd="sng" algn="ctr">
                      <a:solidFill>
                        <a:srgbClr val="4B4B4E"/>
                      </a:solidFill>
                      <a:prstDash val="solid"/>
                      <a:round/>
                      <a:headEnd type="none" w="med" len="med"/>
                      <a:tailEnd type="none" w="med" len="med"/>
                    </a:lnR>
                    <a:lnT w="12700" cap="flat" cmpd="sng" algn="ctr">
                      <a:solidFill>
                        <a:srgbClr val="4B4B4E"/>
                      </a:solidFill>
                      <a:prstDash val="solid"/>
                      <a:round/>
                      <a:headEnd type="none" w="med" len="med"/>
                      <a:tailEnd type="none" w="med" len="med"/>
                    </a:lnT>
                    <a:lnB w="12700" cap="flat" cmpd="sng" algn="ctr">
                      <a:solidFill>
                        <a:srgbClr val="4B4B4E"/>
                      </a:solidFill>
                      <a:prstDash val="solid"/>
                      <a:round/>
                      <a:headEnd type="none" w="med" len="med"/>
                      <a:tailEnd type="none" w="med" len="med"/>
                    </a:lnB>
                  </a:tcPr>
                </a:tc>
                <a:extLst>
                  <a:ext uri="{0D108BD9-81ED-4DB2-BD59-A6C34878D82A}">
                    <a16:rowId xmlns:a16="http://schemas.microsoft.com/office/drawing/2014/main" val="10002"/>
                  </a:ext>
                </a:extLst>
              </a:tr>
              <a:tr h="359271">
                <a:tc>
                  <a:txBody>
                    <a:bodyPr/>
                    <a:lstStyle/>
                    <a:p>
                      <a:pPr marL="0" indent="0">
                        <a:lnSpc>
                          <a:spcPts val="1820"/>
                        </a:lnSpc>
                        <a:buNone/>
                      </a:pPr>
                      <a:r>
                        <a:rPr lang="en-US" sz="1300" dirty="0">
                          <a:solidFill>
                            <a:srgbClr val="E4E4E7"/>
                          </a:solidFill>
                          <a:latin typeface="Arial" pitchFamily="34" charset="0"/>
                          <a:ea typeface="Arial" pitchFamily="34" charset="-122"/>
                          <a:cs typeface="Arial" pitchFamily="34" charset="-120"/>
                        </a:rPr>
                        <a:t>Criterio (criterion)</a:t>
                      </a:r>
                      <a:endParaRPr lang="en-US" sz="1300" dirty="0">
                        <a:latin typeface="Arial" charset="0"/>
                        <a:ea typeface="Arial" charset="0"/>
                        <a:cs typeface="Arial" charset="0"/>
                      </a:endParaRPr>
                    </a:p>
                  </a:txBody>
                  <a:tcPr marL="57785" marR="57785" marT="57785" marB="57785">
                    <a:lnL w="12700" cap="flat" cmpd="sng" algn="ctr">
                      <a:solidFill>
                        <a:srgbClr val="4B4B4E"/>
                      </a:solidFill>
                      <a:prstDash val="solid"/>
                      <a:round/>
                      <a:headEnd type="none" w="med" len="med"/>
                      <a:tailEnd type="none" w="med" len="med"/>
                    </a:lnL>
                    <a:lnR w="12700" cap="flat" cmpd="sng" algn="ctr">
                      <a:solidFill>
                        <a:srgbClr val="4B4B4E"/>
                      </a:solidFill>
                      <a:prstDash val="solid"/>
                      <a:round/>
                      <a:headEnd type="none" w="med" len="med"/>
                      <a:tailEnd type="none" w="med" len="med"/>
                    </a:lnR>
                    <a:lnT w="12700" cap="flat" cmpd="sng" algn="ctr">
                      <a:solidFill>
                        <a:srgbClr val="4B4B4E"/>
                      </a:solidFill>
                      <a:prstDash val="solid"/>
                      <a:round/>
                      <a:headEnd type="none" w="med" len="med"/>
                      <a:tailEnd type="none" w="med" len="med"/>
                    </a:lnT>
                    <a:lnB w="12700" cap="flat" cmpd="sng" algn="ctr">
                      <a:solidFill>
                        <a:srgbClr val="4B4B4E"/>
                      </a:solidFill>
                      <a:prstDash val="solid"/>
                      <a:round/>
                      <a:headEnd type="none" w="med" len="med"/>
                      <a:tailEnd type="none" w="med" len="med"/>
                    </a:lnB>
                  </a:tcPr>
                </a:tc>
                <a:tc>
                  <a:txBody>
                    <a:bodyPr/>
                    <a:lstStyle/>
                    <a:p>
                      <a:pPr marL="0" indent="0">
                        <a:lnSpc>
                          <a:spcPts val="1820"/>
                        </a:lnSpc>
                        <a:buNone/>
                      </a:pPr>
                      <a:r>
                        <a:rPr lang="en-US" sz="1300" dirty="0">
                          <a:solidFill>
                            <a:srgbClr val="E4E4E7"/>
                          </a:solidFill>
                          <a:latin typeface="Arial" pitchFamily="34" charset="0"/>
                          <a:ea typeface="Arial" pitchFamily="34" charset="-122"/>
                          <a:cs typeface="Arial" pitchFamily="34" charset="-120"/>
                        </a:rPr>
                        <a:t>gini, entropy</a:t>
                      </a:r>
                      <a:endParaRPr lang="en-US" sz="1300" dirty="0">
                        <a:latin typeface="Arial" charset="0"/>
                        <a:ea typeface="Arial" charset="0"/>
                        <a:cs typeface="Arial" charset="0"/>
                      </a:endParaRPr>
                    </a:p>
                  </a:txBody>
                  <a:tcPr marL="57785" marR="57785" marT="57785" marB="57785">
                    <a:lnL w="12700" cap="flat" cmpd="sng" algn="ctr">
                      <a:solidFill>
                        <a:srgbClr val="4B4B4E"/>
                      </a:solidFill>
                      <a:prstDash val="solid"/>
                      <a:round/>
                      <a:headEnd type="none" w="med" len="med"/>
                      <a:tailEnd type="none" w="med" len="med"/>
                    </a:lnL>
                    <a:lnR w="12700" cap="flat" cmpd="sng" algn="ctr">
                      <a:solidFill>
                        <a:srgbClr val="4B4B4E"/>
                      </a:solidFill>
                      <a:prstDash val="solid"/>
                      <a:round/>
                      <a:headEnd type="none" w="med" len="med"/>
                      <a:tailEnd type="none" w="med" len="med"/>
                    </a:lnR>
                    <a:lnT w="12700" cap="flat" cmpd="sng" algn="ctr">
                      <a:solidFill>
                        <a:srgbClr val="4B4B4E"/>
                      </a:solidFill>
                      <a:prstDash val="solid"/>
                      <a:round/>
                      <a:headEnd type="none" w="med" len="med"/>
                      <a:tailEnd type="none" w="med" len="med"/>
                    </a:lnT>
                    <a:lnB w="12700" cap="flat" cmpd="sng" algn="ctr">
                      <a:solidFill>
                        <a:srgbClr val="4B4B4E"/>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8" name="Text 5"/>
          <p:cNvSpPr/>
          <p:nvPr/>
        </p:nvSpPr>
        <p:spPr>
          <a:xfrm>
            <a:off x="1054100" y="4637286"/>
            <a:ext cx="5839338" cy="264716"/>
          </a:xfrm>
          <a:prstGeom prst="rect">
            <a:avLst/>
          </a:prstGeom>
          <a:noFill/>
          <a:ln/>
        </p:spPr>
        <p:txBody>
          <a:bodyPr wrap="square" lIns="0" tIns="0" rIns="0" bIns="0" rtlCol="0" anchor="t">
            <a:normAutofit/>
          </a:bodyPr>
          <a:lstStyle/>
          <a:p>
            <a:pPr marL="0" indent="0" algn="l">
              <a:lnSpc>
                <a:spcPts val="1885"/>
              </a:lnSpc>
              <a:buNone/>
            </a:pPr>
            <a:r>
              <a:rPr lang="en-US" sz="1300" dirty="0">
                <a:solidFill>
                  <a:srgbClr val="A1A1AA"/>
                </a:solidFill>
                <a:latin typeface="Arial" pitchFamily="34" charset="0"/>
                <a:ea typeface="Arial" pitchFamily="34" charset="-122"/>
                <a:cs typeface="Arial" pitchFamily="34" charset="-120"/>
              </a:rPr>
              <a:t>7 × 4 × 2 = 56 recetas, cada una con validación cruzada.</a:t>
            </a:r>
            <a:endParaRPr lang="en-US" sz="1300" dirty="0"/>
          </a:p>
        </p:txBody>
      </p:sp>
      <p:sp>
        <p:nvSpPr>
          <p:cNvPr id="9" name="Shape 6"/>
          <p:cNvSpPr/>
          <p:nvPr/>
        </p:nvSpPr>
        <p:spPr>
          <a:xfrm>
            <a:off x="7123410" y="2520752"/>
            <a:ext cx="4249440" cy="2590800"/>
          </a:xfrm>
          <a:prstGeom prst="roundRect">
            <a:avLst>
              <a:gd name="adj" fmla="val 4657"/>
            </a:avLst>
          </a:prstGeom>
          <a:solidFill>
            <a:srgbClr val="1F0A0F"/>
          </a:solidFill>
          <a:ln w="12700">
            <a:solidFill>
              <a:srgbClr val="E4002B"/>
            </a:solidFill>
            <a:prstDash val="solid"/>
          </a:ln>
        </p:spPr>
        <p:txBody>
          <a:bodyPr/>
          <a:lstStyle/>
          <a:p>
            <a:endParaRPr lang="es-CO"/>
          </a:p>
        </p:txBody>
      </p:sp>
      <p:sp>
        <p:nvSpPr>
          <p:cNvPr id="10" name="Text 7"/>
          <p:cNvSpPr/>
          <p:nvPr/>
        </p:nvSpPr>
        <p:spPr>
          <a:xfrm>
            <a:off x="7358360" y="2755702"/>
            <a:ext cx="3892926"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F4F4F5"/>
                </a:solidFill>
                <a:latin typeface="Arial" pitchFamily="34" charset="0"/>
                <a:ea typeface="Arial" pitchFamily="34" charset="-122"/>
                <a:cs typeface="Arial" pitchFamily="34" charset="-120"/>
              </a:rPr>
              <a:t>Resultado</a:t>
            </a:r>
            <a:endParaRPr lang="en-US" sz="1500" dirty="0"/>
          </a:p>
        </p:txBody>
      </p:sp>
      <p:sp>
        <p:nvSpPr>
          <p:cNvPr id="11" name="Text 8"/>
          <p:cNvSpPr/>
          <p:nvPr/>
        </p:nvSpPr>
        <p:spPr>
          <a:xfrm>
            <a:off x="7358360" y="3085902"/>
            <a:ext cx="3892926" cy="431800"/>
          </a:xfrm>
          <a:prstGeom prst="rect">
            <a:avLst/>
          </a:prstGeom>
          <a:noFill/>
          <a:ln/>
        </p:spPr>
        <p:txBody>
          <a:bodyPr wrap="square" lIns="0" tIns="0" rIns="0" bIns="0" rtlCol="0" anchor="t">
            <a:normAutofit/>
          </a:bodyPr>
          <a:lstStyle/>
          <a:p>
            <a:pPr marL="0" indent="0" algn="l">
              <a:lnSpc>
                <a:spcPts val="3200"/>
              </a:lnSpc>
              <a:buNone/>
            </a:pPr>
            <a:r>
              <a:rPr lang="en-US" sz="3200" b="1" dirty="0">
                <a:solidFill>
                  <a:srgbClr val="FF5C77"/>
                </a:solidFill>
                <a:latin typeface="Courier New" pitchFamily="34" charset="0"/>
                <a:ea typeface="Courier New" pitchFamily="34" charset="-122"/>
                <a:cs typeface="Courier New" pitchFamily="34" charset="-120"/>
              </a:rPr>
              <a:t>0,917 → 0,940</a:t>
            </a:r>
            <a:endParaRPr lang="en-US" sz="3200" dirty="0"/>
          </a:p>
        </p:txBody>
      </p:sp>
      <p:sp>
        <p:nvSpPr>
          <p:cNvPr id="12" name="Text 9"/>
          <p:cNvSpPr/>
          <p:nvPr/>
        </p:nvSpPr>
        <p:spPr>
          <a:xfrm>
            <a:off x="7358360" y="3593902"/>
            <a:ext cx="3892926" cy="504031"/>
          </a:xfrm>
          <a:prstGeom prst="rect">
            <a:avLst/>
          </a:prstGeom>
          <a:noFill/>
          <a:ln/>
        </p:spPr>
        <p:txBody>
          <a:bodyPr wrap="square" lIns="0" tIns="0" rIns="0" bIns="0" rtlCol="0" anchor="t">
            <a:normAutofit/>
          </a:bodyPr>
          <a:lstStyle/>
          <a:p>
            <a:pPr marL="0" indent="0" algn="l">
              <a:lnSpc>
                <a:spcPts val="1885"/>
              </a:lnSpc>
              <a:buNone/>
            </a:pPr>
            <a:r>
              <a:rPr lang="en-US" sz="1300" dirty="0">
                <a:solidFill>
                  <a:srgbClr val="F4F4F5"/>
                </a:solidFill>
                <a:latin typeface="Arial" pitchFamily="34" charset="0"/>
                <a:ea typeface="Arial" pitchFamily="34" charset="-122"/>
                <a:cs typeface="Arial" pitchFamily="34" charset="-120"/>
              </a:rPr>
              <a:t>La mejor receta: profundidad 6, al menos 5 pacientes por hoja y criterio entropy.</a:t>
            </a:r>
            <a:endParaRPr lang="en-US" sz="1300" dirty="0"/>
          </a:p>
        </p:txBody>
      </p:sp>
      <p:sp>
        <p:nvSpPr>
          <p:cNvPr id="13" name="Text 10"/>
          <p:cNvSpPr/>
          <p:nvPr/>
        </p:nvSpPr>
        <p:spPr>
          <a:xfrm>
            <a:off x="812800" y="6238280"/>
            <a:ext cx="7848600" cy="238720"/>
          </a:xfrm>
          <a:prstGeom prst="rect">
            <a:avLst/>
          </a:prstGeom>
          <a:noFill/>
          <a:ln/>
        </p:spPr>
        <p:txBody>
          <a:bodyPr wrap="square" lIns="0" tIns="0" rIns="0" bIns="0" rtlCol="0" anchor="t">
            <a:normAutofit/>
          </a:bodyPr>
          <a:lstStyle/>
          <a:p>
            <a:pPr marL="0" indent="0" algn="l">
              <a:lnSpc>
                <a:spcPts val="1680"/>
              </a:lnSpc>
              <a:buNone/>
            </a:pPr>
            <a:r>
              <a:rPr lang="en-US" sz="1200" kern="0" spc="100" dirty="0">
                <a:solidFill>
                  <a:srgbClr val="71717A"/>
                </a:solidFill>
                <a:latin typeface="Courier New" pitchFamily="34" charset="0"/>
                <a:ea typeface="Courier New" pitchFamily="34" charset="-122"/>
                <a:cs typeface="Courier New" pitchFamily="34" charset="-120"/>
              </a:rPr>
              <a:t>UNIDAD 4 · VALIDACIÓN DE MODELOS</a:t>
            </a:r>
            <a:endParaRPr lang="en-US" sz="1200" dirty="0"/>
          </a:p>
        </p:txBody>
      </p:sp>
      <p:sp>
        <p:nvSpPr>
          <p:cNvPr id="14" name="Text 11"/>
          <p:cNvSpPr/>
          <p:nvPr/>
        </p:nvSpPr>
        <p:spPr>
          <a:xfrm>
            <a:off x="10058400" y="6238280"/>
            <a:ext cx="1320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71717A"/>
                </a:solidFill>
                <a:latin typeface="Courier New" pitchFamily="34" charset="0"/>
                <a:ea typeface="Courier New" pitchFamily="34" charset="-122"/>
                <a:cs typeface="Courier New" pitchFamily="34" charset="-120"/>
              </a:rPr>
              <a:t>29</a:t>
            </a:r>
            <a:endParaRPr lang="en-US" sz="12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0B0B0D"/>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marL="0" indent="0" algn="l">
              <a:lnSpc>
                <a:spcPts val="1820"/>
              </a:lnSpc>
              <a:buNone/>
            </a:pPr>
            <a:r>
              <a:rPr lang="en-US" sz="1300" b="1" kern="0" spc="200" dirty="0">
                <a:solidFill>
                  <a:srgbClr val="E4002B"/>
                </a:solidFill>
                <a:latin typeface="Courier New" pitchFamily="34" charset="0"/>
                <a:ea typeface="Courier New" pitchFamily="34" charset="-122"/>
                <a:cs typeface="Courier New" pitchFamily="34" charset="-120"/>
              </a:rPr>
              <a:t>MEJORA 3 · UN MODELO MÁS FUERTE</a:t>
            </a:r>
            <a:endParaRPr lang="en-US" sz="1300" dirty="0"/>
          </a:p>
        </p:txBody>
      </p:sp>
      <p:sp>
        <p:nvSpPr>
          <p:cNvPr id="3" name="Text 1"/>
          <p:cNvSpPr/>
          <p:nvPr/>
        </p:nvSpPr>
        <p:spPr>
          <a:xfrm>
            <a:off x="812800" y="1145480"/>
            <a:ext cx="10883392" cy="472380"/>
          </a:xfrm>
          <a:prstGeom prst="rect">
            <a:avLst/>
          </a:prstGeom>
          <a:noFill/>
          <a:ln/>
        </p:spPr>
        <p:txBody>
          <a:bodyPr wrap="square" lIns="0" tIns="0" rIns="0" bIns="0" rtlCol="0" anchor="t">
            <a:normAutofit/>
          </a:bodyPr>
          <a:lstStyle/>
          <a:p>
            <a:pPr marL="0" indent="0" algn="l">
              <a:lnSpc>
                <a:spcPts val="3520"/>
              </a:lnSpc>
              <a:buNone/>
            </a:pPr>
            <a:r>
              <a:rPr lang="en-US" sz="3200" b="1" kern="0" spc="-50" dirty="0">
                <a:solidFill>
                  <a:srgbClr val="F4F4F5"/>
                </a:solidFill>
                <a:latin typeface="Arial" pitchFamily="34" charset="0"/>
                <a:ea typeface="Arial" pitchFamily="34" charset="-122"/>
                <a:cs typeface="Arial" pitchFamily="34" charset="-120"/>
              </a:rPr>
              <a:t>Bosque aleatorio (Random Forest): árboles que votan</a:t>
            </a:r>
            <a:endParaRPr lang="en-US" sz="3200" dirty="0"/>
          </a:p>
        </p:txBody>
      </p:sp>
      <p:sp>
        <p:nvSpPr>
          <p:cNvPr id="4" name="Shape 2"/>
          <p:cNvSpPr/>
          <p:nvPr/>
        </p:nvSpPr>
        <p:spPr>
          <a:xfrm>
            <a:off x="819150" y="1802011"/>
            <a:ext cx="3407767" cy="2214563"/>
          </a:xfrm>
          <a:prstGeom prst="roundRect">
            <a:avLst>
              <a:gd name="adj" fmla="val 5448"/>
            </a:avLst>
          </a:prstGeom>
          <a:solidFill>
            <a:srgbClr val="1A1A1F"/>
          </a:solidFill>
          <a:ln w="12700">
            <a:solidFill>
              <a:srgbClr val="2C2C33"/>
            </a:solidFill>
            <a:prstDash val="solid"/>
          </a:ln>
        </p:spPr>
        <p:txBody>
          <a:bodyPr/>
          <a:lstStyle/>
          <a:p>
            <a:endParaRPr lang="es-CO"/>
          </a:p>
        </p:txBody>
      </p:sp>
      <p:pic>
        <p:nvPicPr>
          <p:cNvPr id="5" name="Image 0" descr="Users"/>
          <p:cNvPicPr>
            <a:picLocks noChangeAspect="1"/>
          </p:cNvPicPr>
          <p:nvPr/>
        </p:nvPicPr>
        <p:blipFill>
          <a:blip r:embed="rId3"/>
          <a:srcRect/>
          <a:stretch/>
        </p:blipFill>
        <p:spPr>
          <a:xfrm>
            <a:off x="1054100" y="2036961"/>
            <a:ext cx="355600" cy="355600"/>
          </a:xfrm>
          <a:prstGeom prst="rect">
            <a:avLst/>
          </a:prstGeom>
        </p:spPr>
      </p:pic>
      <p:sp>
        <p:nvSpPr>
          <p:cNvPr id="6" name="Text 3"/>
          <p:cNvSpPr/>
          <p:nvPr/>
        </p:nvSpPr>
        <p:spPr>
          <a:xfrm>
            <a:off x="1054100" y="2494161"/>
            <a:ext cx="3026003"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F4F4F5"/>
                </a:solidFill>
                <a:latin typeface="Arial" pitchFamily="34" charset="0"/>
                <a:ea typeface="Arial" pitchFamily="34" charset="-122"/>
                <a:cs typeface="Arial" pitchFamily="34" charset="-120"/>
              </a:rPr>
              <a:t>La idea</a:t>
            </a:r>
            <a:endParaRPr lang="en-US" sz="1500" dirty="0"/>
          </a:p>
        </p:txBody>
      </p:sp>
      <p:sp>
        <p:nvSpPr>
          <p:cNvPr id="7" name="Text 4"/>
          <p:cNvSpPr/>
          <p:nvPr/>
        </p:nvSpPr>
        <p:spPr>
          <a:xfrm>
            <a:off x="1054100" y="2824361"/>
            <a:ext cx="3026003" cy="982662"/>
          </a:xfrm>
          <a:prstGeom prst="rect">
            <a:avLst/>
          </a:prstGeom>
          <a:noFill/>
          <a:ln/>
        </p:spPr>
        <p:txBody>
          <a:bodyPr wrap="square" lIns="0" tIns="0" rIns="0" bIns="0" rtlCol="0" anchor="t">
            <a:normAutofit/>
          </a:bodyPr>
          <a:lstStyle/>
          <a:p>
            <a:pPr marL="0" indent="0" algn="l">
              <a:lnSpc>
                <a:spcPts val="1885"/>
              </a:lnSpc>
              <a:buNone/>
            </a:pPr>
            <a:r>
              <a:rPr lang="en-US" sz="1300" dirty="0">
                <a:solidFill>
                  <a:srgbClr val="A1A1AA"/>
                </a:solidFill>
                <a:latin typeface="Arial" pitchFamily="34" charset="0"/>
                <a:ea typeface="Arial" pitchFamily="34" charset="-122"/>
                <a:cs typeface="Arial" pitchFamily="34" charset="-120"/>
              </a:rPr>
              <a:t>Es como preguntarle a 200 personas en lugar de a una sola. Cada árbol ve los datos un poco distinto y al final gana la mayoría.</a:t>
            </a:r>
            <a:endParaRPr lang="en-US" sz="1300" dirty="0"/>
          </a:p>
        </p:txBody>
      </p:sp>
      <p:sp>
        <p:nvSpPr>
          <p:cNvPr id="8" name="Shape 5"/>
          <p:cNvSpPr/>
          <p:nvPr/>
        </p:nvSpPr>
        <p:spPr>
          <a:xfrm>
            <a:off x="4392017" y="1802011"/>
            <a:ext cx="3407866" cy="2214563"/>
          </a:xfrm>
          <a:prstGeom prst="roundRect">
            <a:avLst>
              <a:gd name="adj" fmla="val 5448"/>
            </a:avLst>
          </a:prstGeom>
          <a:solidFill>
            <a:srgbClr val="1A1A1F"/>
          </a:solidFill>
          <a:ln w="12700">
            <a:solidFill>
              <a:srgbClr val="2C2C33"/>
            </a:solidFill>
            <a:prstDash val="solid"/>
          </a:ln>
        </p:spPr>
        <p:txBody>
          <a:bodyPr/>
          <a:lstStyle/>
          <a:p>
            <a:endParaRPr lang="es-CO"/>
          </a:p>
        </p:txBody>
      </p:sp>
      <p:sp>
        <p:nvSpPr>
          <p:cNvPr id="9" name="Text 6"/>
          <p:cNvSpPr/>
          <p:nvPr/>
        </p:nvSpPr>
        <p:spPr>
          <a:xfrm>
            <a:off x="4626967" y="2036961"/>
            <a:ext cx="3026105" cy="584200"/>
          </a:xfrm>
          <a:prstGeom prst="rect">
            <a:avLst/>
          </a:prstGeom>
          <a:noFill/>
          <a:ln/>
        </p:spPr>
        <p:txBody>
          <a:bodyPr wrap="square" lIns="0" tIns="0" rIns="0" bIns="0" rtlCol="0" anchor="t">
            <a:normAutofit/>
          </a:bodyPr>
          <a:lstStyle/>
          <a:p>
            <a:pPr marL="0" indent="0" algn="l">
              <a:lnSpc>
                <a:spcPts val="4400"/>
              </a:lnSpc>
              <a:buNone/>
            </a:pPr>
            <a:r>
              <a:rPr lang="en-US" sz="4400" b="1" dirty="0">
                <a:solidFill>
                  <a:srgbClr val="A1A1AA"/>
                </a:solidFill>
                <a:latin typeface="Courier New" pitchFamily="34" charset="0"/>
                <a:ea typeface="Courier New" pitchFamily="34" charset="-122"/>
                <a:cs typeface="Courier New" pitchFamily="34" charset="-120"/>
              </a:rPr>
              <a:t>0,917</a:t>
            </a:r>
            <a:endParaRPr lang="en-US" sz="4400" dirty="0"/>
          </a:p>
        </p:txBody>
      </p:sp>
      <p:sp>
        <p:nvSpPr>
          <p:cNvPr id="10" name="Text 7"/>
          <p:cNvSpPr/>
          <p:nvPr/>
        </p:nvSpPr>
        <p:spPr>
          <a:xfrm>
            <a:off x="4626967" y="2697361"/>
            <a:ext cx="3026105"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F4F4F5"/>
                </a:solidFill>
                <a:latin typeface="Arial" pitchFamily="34" charset="0"/>
                <a:ea typeface="Arial" pitchFamily="34" charset="-122"/>
                <a:cs typeface="Arial" pitchFamily="34" charset="-120"/>
              </a:rPr>
              <a:t>Un solo árbol</a:t>
            </a:r>
            <a:endParaRPr lang="en-US" sz="1500" dirty="0"/>
          </a:p>
        </p:txBody>
      </p:sp>
      <p:sp>
        <p:nvSpPr>
          <p:cNvPr id="11" name="Text 8"/>
          <p:cNvSpPr/>
          <p:nvPr/>
        </p:nvSpPr>
        <p:spPr>
          <a:xfrm>
            <a:off x="4626967" y="3027561"/>
            <a:ext cx="3026105" cy="504031"/>
          </a:xfrm>
          <a:prstGeom prst="rect">
            <a:avLst/>
          </a:prstGeom>
          <a:noFill/>
          <a:ln/>
        </p:spPr>
        <p:txBody>
          <a:bodyPr wrap="square" lIns="0" tIns="0" rIns="0" bIns="0" rtlCol="0" anchor="t">
            <a:normAutofit/>
          </a:bodyPr>
          <a:lstStyle/>
          <a:p>
            <a:pPr marL="0" indent="0" algn="l">
              <a:lnSpc>
                <a:spcPts val="1885"/>
              </a:lnSpc>
              <a:buNone/>
            </a:pPr>
            <a:r>
              <a:rPr lang="en-US" sz="1300" dirty="0">
                <a:solidFill>
                  <a:srgbClr val="A1A1AA"/>
                </a:solidFill>
                <a:latin typeface="Arial" pitchFamily="34" charset="0"/>
                <a:ea typeface="Arial" pitchFamily="34" charset="-122"/>
                <a:cs typeface="Arial" pitchFamily="34" charset="-120"/>
              </a:rPr>
              <a:t>Nota con validación cruzada, sin ajustar.</a:t>
            </a:r>
            <a:endParaRPr lang="en-US" sz="1300" dirty="0"/>
          </a:p>
        </p:txBody>
      </p:sp>
      <p:sp>
        <p:nvSpPr>
          <p:cNvPr id="12" name="Shape 9"/>
          <p:cNvSpPr/>
          <p:nvPr/>
        </p:nvSpPr>
        <p:spPr>
          <a:xfrm>
            <a:off x="7964984" y="1802011"/>
            <a:ext cx="3407866" cy="2214563"/>
          </a:xfrm>
          <a:prstGeom prst="roundRect">
            <a:avLst>
              <a:gd name="adj" fmla="val 5448"/>
            </a:avLst>
          </a:prstGeom>
          <a:solidFill>
            <a:srgbClr val="1F0A0F"/>
          </a:solidFill>
          <a:ln w="12700">
            <a:solidFill>
              <a:srgbClr val="E4002B"/>
            </a:solidFill>
            <a:prstDash val="solid"/>
          </a:ln>
        </p:spPr>
        <p:txBody>
          <a:bodyPr/>
          <a:lstStyle/>
          <a:p>
            <a:endParaRPr lang="es-CO"/>
          </a:p>
        </p:txBody>
      </p:sp>
      <p:sp>
        <p:nvSpPr>
          <p:cNvPr id="13" name="Text 10"/>
          <p:cNvSpPr/>
          <p:nvPr/>
        </p:nvSpPr>
        <p:spPr>
          <a:xfrm>
            <a:off x="8199934" y="2036961"/>
            <a:ext cx="3026105" cy="584200"/>
          </a:xfrm>
          <a:prstGeom prst="rect">
            <a:avLst/>
          </a:prstGeom>
          <a:noFill/>
          <a:ln/>
        </p:spPr>
        <p:txBody>
          <a:bodyPr wrap="square" lIns="0" tIns="0" rIns="0" bIns="0" rtlCol="0" anchor="t">
            <a:normAutofit/>
          </a:bodyPr>
          <a:lstStyle/>
          <a:p>
            <a:pPr marL="0" indent="0" algn="l">
              <a:lnSpc>
                <a:spcPts val="4400"/>
              </a:lnSpc>
              <a:buNone/>
            </a:pPr>
            <a:r>
              <a:rPr lang="en-US" sz="4400" b="1" dirty="0">
                <a:solidFill>
                  <a:srgbClr val="FF5C77"/>
                </a:solidFill>
                <a:latin typeface="Courier New" pitchFamily="34" charset="0"/>
                <a:ea typeface="Courier New" pitchFamily="34" charset="-122"/>
                <a:cs typeface="Courier New" pitchFamily="34" charset="-120"/>
              </a:rPr>
              <a:t>0,950</a:t>
            </a:r>
            <a:endParaRPr lang="en-US" sz="4400" dirty="0"/>
          </a:p>
        </p:txBody>
      </p:sp>
      <p:sp>
        <p:nvSpPr>
          <p:cNvPr id="14" name="Text 11"/>
          <p:cNvSpPr/>
          <p:nvPr/>
        </p:nvSpPr>
        <p:spPr>
          <a:xfrm>
            <a:off x="8199934" y="2697361"/>
            <a:ext cx="3026105"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F4F4F5"/>
                </a:solidFill>
                <a:latin typeface="Arial" pitchFamily="34" charset="0"/>
                <a:ea typeface="Arial" pitchFamily="34" charset="-122"/>
                <a:cs typeface="Arial" pitchFamily="34" charset="-120"/>
              </a:rPr>
              <a:t>Bosque de 200 árboles</a:t>
            </a:r>
            <a:endParaRPr lang="en-US" sz="1500" dirty="0"/>
          </a:p>
        </p:txBody>
      </p:sp>
      <p:sp>
        <p:nvSpPr>
          <p:cNvPr id="15" name="Text 12"/>
          <p:cNvSpPr/>
          <p:nvPr/>
        </p:nvSpPr>
        <p:spPr>
          <a:xfrm>
            <a:off x="8199934" y="3027561"/>
            <a:ext cx="3026105" cy="264716"/>
          </a:xfrm>
          <a:prstGeom prst="rect">
            <a:avLst/>
          </a:prstGeom>
          <a:noFill/>
          <a:ln/>
        </p:spPr>
        <p:txBody>
          <a:bodyPr wrap="square" lIns="0" tIns="0" rIns="0" bIns="0" rtlCol="0" anchor="t">
            <a:normAutofit/>
          </a:bodyPr>
          <a:lstStyle/>
          <a:p>
            <a:pPr marL="0" indent="0" algn="l">
              <a:lnSpc>
                <a:spcPts val="1885"/>
              </a:lnSpc>
              <a:buNone/>
            </a:pPr>
            <a:r>
              <a:rPr lang="en-US" sz="1300" dirty="0">
                <a:solidFill>
                  <a:srgbClr val="F4F4F5"/>
                </a:solidFill>
                <a:latin typeface="Arial" pitchFamily="34" charset="0"/>
                <a:ea typeface="Arial" pitchFamily="34" charset="-122"/>
                <a:cs typeface="Arial" pitchFamily="34" charset="-120"/>
              </a:rPr>
              <a:t>Mismos datos, sin tocar ninguna perilla.</a:t>
            </a:r>
            <a:endParaRPr lang="en-US" sz="1300" dirty="0"/>
          </a:p>
        </p:txBody>
      </p:sp>
      <p:sp>
        <p:nvSpPr>
          <p:cNvPr id="16" name="Shape 13"/>
          <p:cNvSpPr/>
          <p:nvPr/>
        </p:nvSpPr>
        <p:spPr>
          <a:xfrm>
            <a:off x="819150" y="4232473"/>
            <a:ext cx="10553700" cy="871736"/>
          </a:xfrm>
          <a:prstGeom prst="roundRect">
            <a:avLst>
              <a:gd name="adj" fmla="val 13840"/>
            </a:avLst>
          </a:prstGeom>
          <a:solidFill>
            <a:srgbClr val="1F0A0F"/>
          </a:solidFill>
          <a:ln w="12700">
            <a:solidFill>
              <a:srgbClr val="E4002B"/>
            </a:solidFill>
            <a:prstDash val="solid"/>
          </a:ln>
        </p:spPr>
        <p:txBody>
          <a:bodyPr/>
          <a:lstStyle/>
          <a:p>
            <a:endParaRPr lang="es-CO"/>
          </a:p>
        </p:txBody>
      </p:sp>
      <p:sp>
        <p:nvSpPr>
          <p:cNvPr id="17" name="Text 14"/>
          <p:cNvSpPr/>
          <p:nvPr/>
        </p:nvSpPr>
        <p:spPr>
          <a:xfrm>
            <a:off x="1079500" y="4416623"/>
            <a:ext cx="10333990"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E4002B"/>
                </a:solidFill>
                <a:latin typeface="Courier New" pitchFamily="34" charset="0"/>
                <a:ea typeface="Courier New" pitchFamily="34" charset="-122"/>
                <a:cs typeface="Courier New" pitchFamily="34" charset="-120"/>
              </a:rPr>
              <a:t>EN PALABRAS SIMPLES</a:t>
            </a:r>
            <a:endParaRPr lang="en-US" sz="1200" dirty="0"/>
          </a:p>
        </p:txBody>
      </p:sp>
      <p:sp>
        <p:nvSpPr>
          <p:cNvPr id="18" name="Text 15"/>
          <p:cNvSpPr/>
          <p:nvPr/>
        </p:nvSpPr>
        <p:spPr>
          <a:xfrm>
            <a:off x="1079500" y="4680744"/>
            <a:ext cx="10333990" cy="264716"/>
          </a:xfrm>
          <a:prstGeom prst="rect">
            <a:avLst/>
          </a:prstGeom>
          <a:noFill/>
          <a:ln/>
        </p:spPr>
        <p:txBody>
          <a:bodyPr wrap="square" lIns="0" tIns="0" rIns="0" bIns="0" rtlCol="0" anchor="t">
            <a:normAutofit/>
          </a:bodyPr>
          <a:lstStyle/>
          <a:p>
            <a:pPr marL="0" indent="0" algn="l">
              <a:lnSpc>
                <a:spcPts val="1885"/>
              </a:lnSpc>
              <a:buNone/>
            </a:pPr>
            <a:r>
              <a:rPr lang="en-US" sz="1300" dirty="0">
                <a:solidFill>
                  <a:srgbClr val="F4F4F5"/>
                </a:solidFill>
                <a:latin typeface="Arial" pitchFamily="34" charset="0"/>
                <a:ea typeface="Arial" pitchFamily="34" charset="-122"/>
                <a:cs typeface="Arial" pitchFamily="34" charset="-120"/>
              </a:rPr>
              <a:t>Muchas opiniones distintas juntas suelen equivocarse menos que una sola.</a:t>
            </a:r>
            <a:endParaRPr lang="en-US" sz="1300" dirty="0"/>
          </a:p>
        </p:txBody>
      </p:sp>
      <p:sp>
        <p:nvSpPr>
          <p:cNvPr id="19" name="Text 16"/>
          <p:cNvSpPr/>
          <p:nvPr/>
        </p:nvSpPr>
        <p:spPr>
          <a:xfrm>
            <a:off x="812800" y="6238280"/>
            <a:ext cx="7848600" cy="238720"/>
          </a:xfrm>
          <a:prstGeom prst="rect">
            <a:avLst/>
          </a:prstGeom>
          <a:noFill/>
          <a:ln/>
        </p:spPr>
        <p:txBody>
          <a:bodyPr wrap="square" lIns="0" tIns="0" rIns="0" bIns="0" rtlCol="0" anchor="t">
            <a:normAutofit/>
          </a:bodyPr>
          <a:lstStyle/>
          <a:p>
            <a:pPr marL="0" indent="0" algn="l">
              <a:lnSpc>
                <a:spcPts val="1680"/>
              </a:lnSpc>
              <a:buNone/>
            </a:pPr>
            <a:r>
              <a:rPr lang="en-US" sz="1200" kern="0" spc="100" dirty="0">
                <a:solidFill>
                  <a:srgbClr val="71717A"/>
                </a:solidFill>
                <a:latin typeface="Courier New" pitchFamily="34" charset="0"/>
                <a:ea typeface="Courier New" pitchFamily="34" charset="-122"/>
                <a:cs typeface="Courier New" pitchFamily="34" charset="-120"/>
              </a:rPr>
              <a:t>UNIDAD 4 · VALIDACIÓN DE MODELOS</a:t>
            </a:r>
            <a:endParaRPr lang="en-US" sz="1200" dirty="0"/>
          </a:p>
        </p:txBody>
      </p:sp>
      <p:sp>
        <p:nvSpPr>
          <p:cNvPr id="20" name="Text 17"/>
          <p:cNvSpPr/>
          <p:nvPr/>
        </p:nvSpPr>
        <p:spPr>
          <a:xfrm>
            <a:off x="10058400" y="6238280"/>
            <a:ext cx="1320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71717A"/>
                </a:solidFill>
                <a:latin typeface="Courier New" pitchFamily="34" charset="0"/>
                <a:ea typeface="Courier New" pitchFamily="34" charset="-122"/>
                <a:cs typeface="Courier New" pitchFamily="34" charset="-120"/>
              </a:rPr>
              <a:t>30</a:t>
            </a:r>
            <a:endParaRPr lang="en-US" sz="12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0B0B0D"/>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marL="0" indent="0" algn="l">
              <a:lnSpc>
                <a:spcPts val="1820"/>
              </a:lnSpc>
              <a:buNone/>
            </a:pPr>
            <a:r>
              <a:rPr lang="en-US" sz="1300" b="1" kern="0" spc="200" dirty="0">
                <a:solidFill>
                  <a:srgbClr val="E4002B"/>
                </a:solidFill>
                <a:latin typeface="Courier New" pitchFamily="34" charset="0"/>
                <a:ea typeface="Courier New" pitchFamily="34" charset="-122"/>
                <a:cs typeface="Courier New" pitchFamily="34" charset="-120"/>
              </a:rPr>
              <a:t>EL EXAMEN FINAL</a:t>
            </a:r>
            <a:endParaRPr lang="en-US" sz="1300" dirty="0"/>
          </a:p>
        </p:txBody>
      </p:sp>
      <p:sp>
        <p:nvSpPr>
          <p:cNvPr id="3" name="Text 1"/>
          <p:cNvSpPr/>
          <p:nvPr/>
        </p:nvSpPr>
        <p:spPr>
          <a:xfrm>
            <a:off x="812800" y="1145480"/>
            <a:ext cx="10883392" cy="472380"/>
          </a:xfrm>
          <a:prstGeom prst="rect">
            <a:avLst/>
          </a:prstGeom>
          <a:noFill/>
          <a:ln/>
        </p:spPr>
        <p:txBody>
          <a:bodyPr wrap="square" lIns="0" tIns="0" rIns="0" bIns="0" rtlCol="0" anchor="t">
            <a:normAutofit/>
          </a:bodyPr>
          <a:lstStyle/>
          <a:p>
            <a:pPr marL="0" indent="0" algn="l">
              <a:lnSpc>
                <a:spcPts val="3520"/>
              </a:lnSpc>
              <a:buNone/>
            </a:pPr>
            <a:r>
              <a:rPr lang="en-US" sz="3200" b="1" kern="0" spc="-50" dirty="0">
                <a:solidFill>
                  <a:srgbClr val="F4F4F5"/>
                </a:solidFill>
                <a:latin typeface="Arial" pitchFamily="34" charset="0"/>
                <a:ea typeface="Arial" pitchFamily="34" charset="-122"/>
                <a:cs typeface="Arial" pitchFamily="34" charset="-120"/>
              </a:rPr>
              <a:t>Una sola vez, con datos que nadie tocó</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808361"/>
          <a:ext cx="10553700" cy="1929805"/>
        </p:xfrm>
        <a:graphic>
          <a:graphicData uri="http://schemas.openxmlformats.org/drawingml/2006/table">
            <a:tbl>
              <a:tblPr/>
              <a:tblGrid>
                <a:gridCol w="3166110">
                  <a:extLst>
                    <a:ext uri="{9D8B030D-6E8A-4147-A177-3AD203B41FA5}">
                      <a16:colId xmlns:a16="http://schemas.microsoft.com/office/drawing/2014/main" val="20000"/>
                    </a:ext>
                  </a:extLst>
                </a:gridCol>
                <a:gridCol w="2321814">
                  <a:extLst>
                    <a:ext uri="{9D8B030D-6E8A-4147-A177-3AD203B41FA5}">
                      <a16:colId xmlns:a16="http://schemas.microsoft.com/office/drawing/2014/main" val="20001"/>
                    </a:ext>
                  </a:extLst>
                </a:gridCol>
                <a:gridCol w="2532888">
                  <a:extLst>
                    <a:ext uri="{9D8B030D-6E8A-4147-A177-3AD203B41FA5}">
                      <a16:colId xmlns:a16="http://schemas.microsoft.com/office/drawing/2014/main" val="20002"/>
                    </a:ext>
                  </a:extLst>
                </a:gridCol>
                <a:gridCol w="2532888">
                  <a:extLst>
                    <a:ext uri="{9D8B030D-6E8A-4147-A177-3AD203B41FA5}">
                      <a16:colId xmlns:a16="http://schemas.microsoft.com/office/drawing/2014/main" val="20003"/>
                    </a:ext>
                  </a:extLst>
                </a:gridCol>
              </a:tblGrid>
              <a:tr h="385961">
                <a:tc>
                  <a:txBody>
                    <a:bodyPr/>
                    <a:lstStyle/>
                    <a:p>
                      <a:pPr marL="0" indent="0">
                        <a:lnSpc>
                          <a:spcPts val="1960"/>
                        </a:lnSpc>
                        <a:buNone/>
                      </a:pPr>
                      <a:r>
                        <a:rPr lang="en-US" sz="1400" b="1" dirty="0">
                          <a:solidFill>
                            <a:srgbClr val="E4E4E7"/>
                          </a:solidFill>
                          <a:latin typeface="Arial" pitchFamily="34" charset="0"/>
                          <a:ea typeface="Arial" pitchFamily="34" charset="-122"/>
                          <a:cs typeface="Arial" pitchFamily="34" charset="-120"/>
                        </a:rPr>
                        <a:t>Modelo</a:t>
                      </a:r>
                      <a:endParaRPr lang="en-US" sz="1400" dirty="0">
                        <a:latin typeface="Arial" charset="0"/>
                        <a:ea typeface="Arial" charset="0"/>
                        <a:cs typeface="Arial" charset="0"/>
                      </a:endParaRPr>
                    </a:p>
                  </a:txBody>
                  <a:tcPr marL="62230" marR="62230" marT="62230" marB="62230">
                    <a:lnL w="12700" cap="flat" cmpd="sng" algn="ctr">
                      <a:solidFill>
                        <a:srgbClr val="403F40"/>
                      </a:solidFill>
                      <a:prstDash val="solid"/>
                      <a:round/>
                      <a:headEnd type="none" w="med" len="med"/>
                      <a:tailEnd type="none" w="med" len="med"/>
                    </a:lnL>
                    <a:lnR w="12700" cap="flat" cmpd="sng" algn="ctr">
                      <a:solidFill>
                        <a:srgbClr val="4E4E4F"/>
                      </a:solidFill>
                      <a:prstDash val="solid"/>
                      <a:round/>
                      <a:headEnd type="none" w="med" len="med"/>
                      <a:tailEnd type="none" w="med" len="med"/>
                    </a:lnR>
                    <a:lnT w="12700" cap="flat" cmpd="sng" algn="ctr">
                      <a:solidFill>
                        <a:srgbClr val="403F40"/>
                      </a:solidFill>
                      <a:prstDash val="solid"/>
                      <a:round/>
                      <a:headEnd type="none" w="med" len="med"/>
                      <a:tailEnd type="none" w="med" len="med"/>
                    </a:lnT>
                    <a:lnB w="12700" cap="flat" cmpd="sng" algn="ctr">
                      <a:solidFill>
                        <a:srgbClr val="4E4E4F"/>
                      </a:solidFill>
                      <a:prstDash val="solid"/>
                      <a:round/>
                      <a:headEnd type="none" w="med" len="med"/>
                      <a:tailEnd type="none" w="med" len="med"/>
                    </a:lnB>
                    <a:solidFill>
                      <a:srgbClr val="1E1E20"/>
                    </a:solidFill>
                  </a:tcPr>
                </a:tc>
                <a:tc>
                  <a:txBody>
                    <a:bodyPr/>
                    <a:lstStyle/>
                    <a:p>
                      <a:pPr marL="0" indent="0" algn="ctr">
                        <a:lnSpc>
                          <a:spcPts val="1960"/>
                        </a:lnSpc>
                        <a:buNone/>
                      </a:pPr>
                      <a:r>
                        <a:rPr lang="en-US" sz="1400" b="1" dirty="0">
                          <a:solidFill>
                            <a:srgbClr val="E4E4E7"/>
                          </a:solidFill>
                          <a:latin typeface="Arial" pitchFamily="34" charset="0"/>
                          <a:ea typeface="Arial" pitchFamily="34" charset="-122"/>
                          <a:cs typeface="Arial" pitchFamily="34" charset="-120"/>
                        </a:rPr>
                        <a:t>Accuracy (exactitud)</a:t>
                      </a:r>
                      <a:endParaRPr lang="en-US" sz="1400" dirty="0">
                        <a:latin typeface="Arial" charset="0"/>
                        <a:ea typeface="Arial" charset="0"/>
                        <a:cs typeface="Arial" charset="0"/>
                      </a:endParaRPr>
                    </a:p>
                  </a:txBody>
                  <a:tcPr marL="62230" marR="62230" marT="62230" marB="62230">
                    <a:lnL w="12700" cap="flat" cmpd="sng" algn="ctr">
                      <a:solidFill>
                        <a:srgbClr val="4E4E4F"/>
                      </a:solidFill>
                      <a:prstDash val="solid"/>
                      <a:round/>
                      <a:headEnd type="none" w="med" len="med"/>
                      <a:tailEnd type="none" w="med" len="med"/>
                    </a:lnL>
                    <a:lnR w="12700" cap="flat" cmpd="sng" algn="ctr">
                      <a:solidFill>
                        <a:srgbClr val="4E4E4F"/>
                      </a:solidFill>
                      <a:prstDash val="solid"/>
                      <a:round/>
                      <a:headEnd type="none" w="med" len="med"/>
                      <a:tailEnd type="none" w="med" len="med"/>
                    </a:lnR>
                    <a:lnT w="12700" cap="flat" cmpd="sng" algn="ctr">
                      <a:solidFill>
                        <a:srgbClr val="403F40"/>
                      </a:solidFill>
                      <a:prstDash val="solid"/>
                      <a:round/>
                      <a:headEnd type="none" w="med" len="med"/>
                      <a:tailEnd type="none" w="med" len="med"/>
                    </a:lnT>
                    <a:lnB w="12700" cap="flat" cmpd="sng" algn="ctr">
                      <a:solidFill>
                        <a:srgbClr val="4E4E4F"/>
                      </a:solidFill>
                      <a:prstDash val="solid"/>
                      <a:round/>
                      <a:headEnd type="none" w="med" len="med"/>
                      <a:tailEnd type="none" w="med" len="med"/>
                    </a:lnB>
                    <a:solidFill>
                      <a:srgbClr val="1E1E20"/>
                    </a:solidFill>
                  </a:tcPr>
                </a:tc>
                <a:tc>
                  <a:txBody>
                    <a:bodyPr/>
                    <a:lstStyle/>
                    <a:p>
                      <a:pPr marL="0" indent="0" algn="ctr">
                        <a:lnSpc>
                          <a:spcPts val="1960"/>
                        </a:lnSpc>
                        <a:buNone/>
                      </a:pPr>
                      <a:r>
                        <a:rPr lang="en-US" sz="1400" b="1" dirty="0">
                          <a:solidFill>
                            <a:srgbClr val="E4E4E7"/>
                          </a:solidFill>
                          <a:latin typeface="Arial" pitchFamily="34" charset="0"/>
                          <a:ea typeface="Arial" pitchFamily="34" charset="-122"/>
                          <a:cs typeface="Arial" pitchFamily="34" charset="-120"/>
                        </a:rPr>
                        <a:t>Recall (sensibilidad)</a:t>
                      </a:r>
                      <a:endParaRPr lang="en-US" sz="1400" dirty="0">
                        <a:latin typeface="Arial" charset="0"/>
                        <a:ea typeface="Arial" charset="0"/>
                        <a:cs typeface="Arial" charset="0"/>
                      </a:endParaRPr>
                    </a:p>
                  </a:txBody>
                  <a:tcPr marL="62230" marR="62230" marT="62230" marB="62230">
                    <a:lnL w="12700" cap="flat" cmpd="sng" algn="ctr">
                      <a:solidFill>
                        <a:srgbClr val="4E4E4F"/>
                      </a:solidFill>
                      <a:prstDash val="solid"/>
                      <a:round/>
                      <a:headEnd type="none" w="med" len="med"/>
                      <a:tailEnd type="none" w="med" len="med"/>
                    </a:lnL>
                    <a:lnR w="12700" cap="flat" cmpd="sng" algn="ctr">
                      <a:solidFill>
                        <a:srgbClr val="4E4E4F"/>
                      </a:solidFill>
                      <a:prstDash val="solid"/>
                      <a:round/>
                      <a:headEnd type="none" w="med" len="med"/>
                      <a:tailEnd type="none" w="med" len="med"/>
                    </a:lnR>
                    <a:lnT w="12700" cap="flat" cmpd="sng" algn="ctr">
                      <a:solidFill>
                        <a:srgbClr val="403F40"/>
                      </a:solidFill>
                      <a:prstDash val="solid"/>
                      <a:round/>
                      <a:headEnd type="none" w="med" len="med"/>
                      <a:tailEnd type="none" w="med" len="med"/>
                    </a:lnT>
                    <a:lnB w="12700" cap="flat" cmpd="sng" algn="ctr">
                      <a:solidFill>
                        <a:srgbClr val="4E4E4F"/>
                      </a:solidFill>
                      <a:prstDash val="solid"/>
                      <a:round/>
                      <a:headEnd type="none" w="med" len="med"/>
                      <a:tailEnd type="none" w="med" len="med"/>
                    </a:lnB>
                    <a:solidFill>
                      <a:srgbClr val="1E1E20"/>
                    </a:solidFill>
                  </a:tcPr>
                </a:tc>
                <a:tc>
                  <a:txBody>
                    <a:bodyPr/>
                    <a:lstStyle/>
                    <a:p>
                      <a:pPr marL="0" indent="0" algn="ctr">
                        <a:lnSpc>
                          <a:spcPts val="1960"/>
                        </a:lnSpc>
                        <a:buNone/>
                      </a:pPr>
                      <a:r>
                        <a:rPr lang="en-US" sz="1400" b="1" dirty="0">
                          <a:solidFill>
                            <a:srgbClr val="E4E4E7"/>
                          </a:solidFill>
                          <a:latin typeface="Arial" pitchFamily="34" charset="0"/>
                          <a:ea typeface="Arial" pitchFamily="34" charset="-122"/>
                          <a:cs typeface="Arial" pitchFamily="34" charset="-120"/>
                        </a:rPr>
                        <a:t>Tumores detectados</a:t>
                      </a:r>
                      <a:endParaRPr lang="en-US" sz="1400" dirty="0">
                        <a:latin typeface="Arial" charset="0"/>
                        <a:ea typeface="Arial" charset="0"/>
                        <a:cs typeface="Arial" charset="0"/>
                      </a:endParaRPr>
                    </a:p>
                  </a:txBody>
                  <a:tcPr marL="62230" marR="62230" marT="62230" marB="62230">
                    <a:lnL w="12700" cap="flat" cmpd="sng" algn="ctr">
                      <a:solidFill>
                        <a:srgbClr val="4E4E4F"/>
                      </a:solidFill>
                      <a:prstDash val="solid"/>
                      <a:round/>
                      <a:headEnd type="none" w="med" len="med"/>
                      <a:tailEnd type="none" w="med" len="med"/>
                    </a:lnL>
                    <a:lnR w="12700" cap="flat" cmpd="sng" algn="ctr">
                      <a:solidFill>
                        <a:srgbClr val="4E4E4F"/>
                      </a:solidFill>
                      <a:prstDash val="solid"/>
                      <a:round/>
                      <a:headEnd type="none" w="med" len="med"/>
                      <a:tailEnd type="none" w="med" len="med"/>
                    </a:lnR>
                    <a:lnT w="12700" cap="flat" cmpd="sng" algn="ctr">
                      <a:solidFill>
                        <a:srgbClr val="403F40"/>
                      </a:solidFill>
                      <a:prstDash val="solid"/>
                      <a:round/>
                      <a:headEnd type="none" w="med" len="med"/>
                      <a:tailEnd type="none" w="med" len="med"/>
                    </a:lnT>
                    <a:lnB w="12700" cap="flat" cmpd="sng" algn="ctr">
                      <a:solidFill>
                        <a:srgbClr val="4E4E4F"/>
                      </a:solidFill>
                      <a:prstDash val="solid"/>
                      <a:round/>
                      <a:headEnd type="none" w="med" len="med"/>
                      <a:tailEnd type="none" w="med" len="med"/>
                    </a:lnB>
                    <a:solidFill>
                      <a:srgbClr val="1E1E20"/>
                    </a:solidFill>
                  </a:tcPr>
                </a:tc>
                <a:extLst>
                  <a:ext uri="{0D108BD9-81ED-4DB2-BD59-A6C34878D82A}">
                    <a16:rowId xmlns:a16="http://schemas.microsoft.com/office/drawing/2014/main" val="10000"/>
                  </a:ext>
                </a:extLst>
              </a:tr>
              <a:tr h="385961">
                <a:tc>
                  <a:txBody>
                    <a:bodyPr/>
                    <a:lstStyle/>
                    <a:p>
                      <a:pPr marL="0" indent="0">
                        <a:lnSpc>
                          <a:spcPts val="1960"/>
                        </a:lnSpc>
                        <a:buNone/>
                      </a:pPr>
                      <a:r>
                        <a:rPr lang="en-US" sz="1400" dirty="0">
                          <a:solidFill>
                            <a:srgbClr val="E4E4E7"/>
                          </a:solidFill>
                          <a:latin typeface="Arial" pitchFamily="34" charset="0"/>
                          <a:ea typeface="Arial" pitchFamily="34" charset="-122"/>
                          <a:cs typeface="Arial" pitchFamily="34" charset="-120"/>
                        </a:rPr>
                        <a:t>Árbol sin ajustar</a:t>
                      </a:r>
                      <a:endParaRPr lang="en-US" sz="1400" dirty="0">
                        <a:latin typeface="Arial" charset="0"/>
                        <a:ea typeface="Arial" charset="0"/>
                        <a:cs typeface="Arial" charset="0"/>
                      </a:endParaRPr>
                    </a:p>
                  </a:txBody>
                  <a:tcPr marL="62230" marR="62230" marT="62230" marB="62230">
                    <a:lnL w="12700" cap="flat" cmpd="sng" algn="ctr">
                      <a:solidFill>
                        <a:srgbClr val="403F40"/>
                      </a:solidFill>
                      <a:prstDash val="solid"/>
                      <a:round/>
                      <a:headEnd type="none" w="med" len="med"/>
                      <a:tailEnd type="none" w="med" len="med"/>
                    </a:lnL>
                    <a:lnR w="12700" cap="flat" cmpd="sng" algn="ctr">
                      <a:solidFill>
                        <a:srgbClr val="403F40"/>
                      </a:solidFill>
                      <a:prstDash val="solid"/>
                      <a:round/>
                      <a:headEnd type="none" w="med" len="med"/>
                      <a:tailEnd type="none" w="med" len="med"/>
                    </a:lnR>
                    <a:lnT w="12700" cap="flat" cmpd="sng" algn="ctr">
                      <a:solidFill>
                        <a:srgbClr val="4E4E4F"/>
                      </a:solidFill>
                      <a:prstDash val="solid"/>
                      <a:round/>
                      <a:headEnd type="none" w="med" len="med"/>
                      <a:tailEnd type="none" w="med" len="med"/>
                    </a:lnT>
                    <a:lnB w="12700" cap="flat" cmpd="sng" algn="ctr">
                      <a:solidFill>
                        <a:srgbClr val="403F40"/>
                      </a:solidFill>
                      <a:prstDash val="solid"/>
                      <a:round/>
                      <a:headEnd type="none" w="med" len="med"/>
                      <a:tailEnd type="none" w="med" len="med"/>
                    </a:lnB>
                  </a:tcPr>
                </a:tc>
                <a:tc>
                  <a:txBody>
                    <a:bodyPr/>
                    <a:lstStyle/>
                    <a:p>
                      <a:pPr marL="0" indent="0" algn="ctr">
                        <a:lnSpc>
                          <a:spcPts val="1960"/>
                        </a:lnSpc>
                        <a:buNone/>
                      </a:pPr>
                      <a:r>
                        <a:rPr lang="en-US" sz="1400" dirty="0">
                          <a:solidFill>
                            <a:srgbClr val="E4E4E7"/>
                          </a:solidFill>
                          <a:latin typeface="Arial" pitchFamily="34" charset="0"/>
                          <a:ea typeface="Arial" pitchFamily="34" charset="-122"/>
                          <a:cs typeface="Arial" pitchFamily="34" charset="-120"/>
                        </a:rPr>
                        <a:t>0,901</a:t>
                      </a:r>
                      <a:endParaRPr lang="en-US" sz="1400" dirty="0">
                        <a:latin typeface="Arial" charset="0"/>
                        <a:ea typeface="Arial" charset="0"/>
                        <a:cs typeface="Arial" charset="0"/>
                      </a:endParaRPr>
                    </a:p>
                  </a:txBody>
                  <a:tcPr marL="62230" marR="62230" marT="62230" marB="62230">
                    <a:lnL w="12700" cap="flat" cmpd="sng" algn="ctr">
                      <a:solidFill>
                        <a:srgbClr val="403F40"/>
                      </a:solidFill>
                      <a:prstDash val="solid"/>
                      <a:round/>
                      <a:headEnd type="none" w="med" len="med"/>
                      <a:tailEnd type="none" w="med" len="med"/>
                    </a:lnL>
                    <a:lnR w="12700" cap="flat" cmpd="sng" algn="ctr">
                      <a:solidFill>
                        <a:srgbClr val="403F40"/>
                      </a:solidFill>
                      <a:prstDash val="solid"/>
                      <a:round/>
                      <a:headEnd type="none" w="med" len="med"/>
                      <a:tailEnd type="none" w="med" len="med"/>
                    </a:lnR>
                    <a:lnT w="12700" cap="flat" cmpd="sng" algn="ctr">
                      <a:solidFill>
                        <a:srgbClr val="4E4E4F"/>
                      </a:solidFill>
                      <a:prstDash val="solid"/>
                      <a:round/>
                      <a:headEnd type="none" w="med" len="med"/>
                      <a:tailEnd type="none" w="med" len="med"/>
                    </a:lnT>
                    <a:lnB w="12700" cap="flat" cmpd="sng" algn="ctr">
                      <a:solidFill>
                        <a:srgbClr val="403F40"/>
                      </a:solidFill>
                      <a:prstDash val="solid"/>
                      <a:round/>
                      <a:headEnd type="none" w="med" len="med"/>
                      <a:tailEnd type="none" w="med" len="med"/>
                    </a:lnB>
                  </a:tcPr>
                </a:tc>
                <a:tc>
                  <a:txBody>
                    <a:bodyPr/>
                    <a:lstStyle/>
                    <a:p>
                      <a:pPr marL="0" indent="0" algn="ctr">
                        <a:lnSpc>
                          <a:spcPts val="1960"/>
                        </a:lnSpc>
                        <a:buNone/>
                      </a:pPr>
                      <a:r>
                        <a:rPr lang="en-US" sz="1400" dirty="0">
                          <a:solidFill>
                            <a:srgbClr val="E4E4E7"/>
                          </a:solidFill>
                          <a:latin typeface="Arial" pitchFamily="34" charset="0"/>
                          <a:ea typeface="Arial" pitchFamily="34" charset="-122"/>
                          <a:cs typeface="Arial" pitchFamily="34" charset="-120"/>
                        </a:rPr>
                        <a:t>0,844</a:t>
                      </a:r>
                      <a:endParaRPr lang="en-US" sz="1400" dirty="0">
                        <a:latin typeface="Arial" charset="0"/>
                        <a:ea typeface="Arial" charset="0"/>
                        <a:cs typeface="Arial" charset="0"/>
                      </a:endParaRPr>
                    </a:p>
                  </a:txBody>
                  <a:tcPr marL="62230" marR="62230" marT="62230" marB="62230">
                    <a:lnL w="12700" cap="flat" cmpd="sng" algn="ctr">
                      <a:solidFill>
                        <a:srgbClr val="403F40"/>
                      </a:solidFill>
                      <a:prstDash val="solid"/>
                      <a:round/>
                      <a:headEnd type="none" w="med" len="med"/>
                      <a:tailEnd type="none" w="med" len="med"/>
                    </a:lnL>
                    <a:lnR w="12700" cap="flat" cmpd="sng" algn="ctr">
                      <a:solidFill>
                        <a:srgbClr val="403F40"/>
                      </a:solidFill>
                      <a:prstDash val="solid"/>
                      <a:round/>
                      <a:headEnd type="none" w="med" len="med"/>
                      <a:tailEnd type="none" w="med" len="med"/>
                    </a:lnR>
                    <a:lnT w="12700" cap="flat" cmpd="sng" algn="ctr">
                      <a:solidFill>
                        <a:srgbClr val="4E4E4F"/>
                      </a:solidFill>
                      <a:prstDash val="solid"/>
                      <a:round/>
                      <a:headEnd type="none" w="med" len="med"/>
                      <a:tailEnd type="none" w="med" len="med"/>
                    </a:lnT>
                    <a:lnB w="12700" cap="flat" cmpd="sng" algn="ctr">
                      <a:solidFill>
                        <a:srgbClr val="403F40"/>
                      </a:solidFill>
                      <a:prstDash val="solid"/>
                      <a:round/>
                      <a:headEnd type="none" w="med" len="med"/>
                      <a:tailEnd type="none" w="med" len="med"/>
                    </a:lnB>
                  </a:tcPr>
                </a:tc>
                <a:tc>
                  <a:txBody>
                    <a:bodyPr/>
                    <a:lstStyle/>
                    <a:p>
                      <a:pPr marL="0" indent="0" algn="ctr">
                        <a:lnSpc>
                          <a:spcPts val="1960"/>
                        </a:lnSpc>
                        <a:buNone/>
                      </a:pPr>
                      <a:r>
                        <a:rPr lang="en-US" sz="1400" dirty="0">
                          <a:solidFill>
                            <a:srgbClr val="E4E4E7"/>
                          </a:solidFill>
                          <a:latin typeface="Arial" pitchFamily="34" charset="0"/>
                          <a:ea typeface="Arial" pitchFamily="34" charset="-122"/>
                          <a:cs typeface="Arial" pitchFamily="34" charset="-120"/>
                        </a:rPr>
                        <a:t>54 de 64</a:t>
                      </a:r>
                      <a:endParaRPr lang="en-US" sz="1400" dirty="0">
                        <a:latin typeface="Arial" charset="0"/>
                        <a:ea typeface="Arial" charset="0"/>
                        <a:cs typeface="Arial" charset="0"/>
                      </a:endParaRPr>
                    </a:p>
                  </a:txBody>
                  <a:tcPr marL="62230" marR="62230" marT="62230" marB="62230">
                    <a:lnL w="12700" cap="flat" cmpd="sng" algn="ctr">
                      <a:solidFill>
                        <a:srgbClr val="403F40"/>
                      </a:solidFill>
                      <a:prstDash val="solid"/>
                      <a:round/>
                      <a:headEnd type="none" w="med" len="med"/>
                      <a:tailEnd type="none" w="med" len="med"/>
                    </a:lnL>
                    <a:lnR w="12700" cap="flat" cmpd="sng" algn="ctr">
                      <a:solidFill>
                        <a:srgbClr val="403F40"/>
                      </a:solidFill>
                      <a:prstDash val="solid"/>
                      <a:round/>
                      <a:headEnd type="none" w="med" len="med"/>
                      <a:tailEnd type="none" w="med" len="med"/>
                    </a:lnR>
                    <a:lnT w="12700" cap="flat" cmpd="sng" algn="ctr">
                      <a:solidFill>
                        <a:srgbClr val="4E4E4F"/>
                      </a:solidFill>
                      <a:prstDash val="solid"/>
                      <a:round/>
                      <a:headEnd type="none" w="med" len="med"/>
                      <a:tailEnd type="none" w="med" len="med"/>
                    </a:lnT>
                    <a:lnB w="12700" cap="flat" cmpd="sng" algn="ctr">
                      <a:solidFill>
                        <a:srgbClr val="403F40"/>
                      </a:solidFill>
                      <a:prstDash val="solid"/>
                      <a:round/>
                      <a:headEnd type="none" w="med" len="med"/>
                      <a:tailEnd type="none" w="med" len="med"/>
                    </a:lnB>
                  </a:tcPr>
                </a:tc>
                <a:extLst>
                  <a:ext uri="{0D108BD9-81ED-4DB2-BD59-A6C34878D82A}">
                    <a16:rowId xmlns:a16="http://schemas.microsoft.com/office/drawing/2014/main" val="10001"/>
                  </a:ext>
                </a:extLst>
              </a:tr>
              <a:tr h="385961">
                <a:tc>
                  <a:txBody>
                    <a:bodyPr/>
                    <a:lstStyle/>
                    <a:p>
                      <a:pPr marL="0" indent="0">
                        <a:lnSpc>
                          <a:spcPts val="1960"/>
                        </a:lnSpc>
                        <a:buNone/>
                      </a:pPr>
                      <a:r>
                        <a:rPr lang="en-US" sz="1400" dirty="0">
                          <a:solidFill>
                            <a:srgbClr val="E4E4E7"/>
                          </a:solidFill>
                          <a:latin typeface="Arial" pitchFamily="34" charset="0"/>
                          <a:ea typeface="Arial" pitchFamily="34" charset="-122"/>
                          <a:cs typeface="Arial" pitchFamily="34" charset="-120"/>
                        </a:rPr>
                        <a:t>Árbol ajustado</a:t>
                      </a:r>
                      <a:endParaRPr lang="en-US" sz="1400" dirty="0">
                        <a:latin typeface="Arial" charset="0"/>
                        <a:ea typeface="Arial" charset="0"/>
                        <a:cs typeface="Arial" charset="0"/>
                      </a:endParaRPr>
                    </a:p>
                  </a:txBody>
                  <a:tcPr marL="62230" marR="62230" marT="62230" marB="62230">
                    <a:lnL w="12700" cap="flat" cmpd="sng" algn="ctr">
                      <a:solidFill>
                        <a:srgbClr val="403F40"/>
                      </a:solidFill>
                      <a:prstDash val="solid"/>
                      <a:round/>
                      <a:headEnd type="none" w="med" len="med"/>
                      <a:tailEnd type="none" w="med" len="med"/>
                    </a:lnL>
                    <a:lnR w="12700" cap="flat" cmpd="sng" algn="ctr">
                      <a:solidFill>
                        <a:srgbClr val="403F40"/>
                      </a:solidFill>
                      <a:prstDash val="solid"/>
                      <a:round/>
                      <a:headEnd type="none" w="med" len="med"/>
                      <a:tailEnd type="none" w="med" len="med"/>
                    </a:lnR>
                    <a:lnT w="12700" cap="flat" cmpd="sng" algn="ctr">
                      <a:solidFill>
                        <a:srgbClr val="403F40"/>
                      </a:solidFill>
                      <a:prstDash val="solid"/>
                      <a:round/>
                      <a:headEnd type="none" w="med" len="med"/>
                      <a:tailEnd type="none" w="med" len="med"/>
                    </a:lnT>
                    <a:lnB w="12700" cap="flat" cmpd="sng" algn="ctr">
                      <a:solidFill>
                        <a:srgbClr val="403F40"/>
                      </a:solidFill>
                      <a:prstDash val="solid"/>
                      <a:round/>
                      <a:headEnd type="none" w="med" len="med"/>
                      <a:tailEnd type="none" w="med" len="med"/>
                    </a:lnB>
                  </a:tcPr>
                </a:tc>
                <a:tc>
                  <a:txBody>
                    <a:bodyPr/>
                    <a:lstStyle/>
                    <a:p>
                      <a:pPr marL="0" indent="0" algn="ctr">
                        <a:lnSpc>
                          <a:spcPts val="1960"/>
                        </a:lnSpc>
                        <a:buNone/>
                      </a:pPr>
                      <a:r>
                        <a:rPr lang="en-US" sz="1400" dirty="0">
                          <a:solidFill>
                            <a:srgbClr val="E4E4E7"/>
                          </a:solidFill>
                          <a:latin typeface="Arial" pitchFamily="34" charset="0"/>
                          <a:ea typeface="Arial" pitchFamily="34" charset="-122"/>
                          <a:cs typeface="Arial" pitchFamily="34" charset="-120"/>
                        </a:rPr>
                        <a:t>0,930</a:t>
                      </a:r>
                      <a:endParaRPr lang="en-US" sz="1400" dirty="0">
                        <a:latin typeface="Arial" charset="0"/>
                        <a:ea typeface="Arial" charset="0"/>
                        <a:cs typeface="Arial" charset="0"/>
                      </a:endParaRPr>
                    </a:p>
                  </a:txBody>
                  <a:tcPr marL="62230" marR="62230" marT="62230" marB="62230">
                    <a:lnL w="12700" cap="flat" cmpd="sng" algn="ctr">
                      <a:solidFill>
                        <a:srgbClr val="403F40"/>
                      </a:solidFill>
                      <a:prstDash val="solid"/>
                      <a:round/>
                      <a:headEnd type="none" w="med" len="med"/>
                      <a:tailEnd type="none" w="med" len="med"/>
                    </a:lnL>
                    <a:lnR w="12700" cap="flat" cmpd="sng" algn="ctr">
                      <a:solidFill>
                        <a:srgbClr val="403F40"/>
                      </a:solidFill>
                      <a:prstDash val="solid"/>
                      <a:round/>
                      <a:headEnd type="none" w="med" len="med"/>
                      <a:tailEnd type="none" w="med" len="med"/>
                    </a:lnR>
                    <a:lnT w="12700" cap="flat" cmpd="sng" algn="ctr">
                      <a:solidFill>
                        <a:srgbClr val="403F40"/>
                      </a:solidFill>
                      <a:prstDash val="solid"/>
                      <a:round/>
                      <a:headEnd type="none" w="med" len="med"/>
                      <a:tailEnd type="none" w="med" len="med"/>
                    </a:lnT>
                    <a:lnB w="12700" cap="flat" cmpd="sng" algn="ctr">
                      <a:solidFill>
                        <a:srgbClr val="403F40"/>
                      </a:solidFill>
                      <a:prstDash val="solid"/>
                      <a:round/>
                      <a:headEnd type="none" w="med" len="med"/>
                      <a:tailEnd type="none" w="med" len="med"/>
                    </a:lnB>
                  </a:tcPr>
                </a:tc>
                <a:tc>
                  <a:txBody>
                    <a:bodyPr/>
                    <a:lstStyle/>
                    <a:p>
                      <a:pPr marL="0" indent="0" algn="ctr">
                        <a:lnSpc>
                          <a:spcPts val="1960"/>
                        </a:lnSpc>
                        <a:buNone/>
                      </a:pPr>
                      <a:r>
                        <a:rPr lang="en-US" sz="1400" dirty="0">
                          <a:solidFill>
                            <a:srgbClr val="E4E4E7"/>
                          </a:solidFill>
                          <a:latin typeface="Arial" pitchFamily="34" charset="0"/>
                          <a:ea typeface="Arial" pitchFamily="34" charset="-122"/>
                          <a:cs typeface="Arial" pitchFamily="34" charset="-120"/>
                        </a:rPr>
                        <a:t>0,828</a:t>
                      </a:r>
                      <a:endParaRPr lang="en-US" sz="1400" dirty="0">
                        <a:latin typeface="Arial" charset="0"/>
                        <a:ea typeface="Arial" charset="0"/>
                        <a:cs typeface="Arial" charset="0"/>
                      </a:endParaRPr>
                    </a:p>
                  </a:txBody>
                  <a:tcPr marL="62230" marR="62230" marT="62230" marB="62230">
                    <a:lnL w="12700" cap="flat" cmpd="sng" algn="ctr">
                      <a:solidFill>
                        <a:srgbClr val="403F40"/>
                      </a:solidFill>
                      <a:prstDash val="solid"/>
                      <a:round/>
                      <a:headEnd type="none" w="med" len="med"/>
                      <a:tailEnd type="none" w="med" len="med"/>
                    </a:lnL>
                    <a:lnR w="12700" cap="flat" cmpd="sng" algn="ctr">
                      <a:solidFill>
                        <a:srgbClr val="403F40"/>
                      </a:solidFill>
                      <a:prstDash val="solid"/>
                      <a:round/>
                      <a:headEnd type="none" w="med" len="med"/>
                      <a:tailEnd type="none" w="med" len="med"/>
                    </a:lnR>
                    <a:lnT w="12700" cap="flat" cmpd="sng" algn="ctr">
                      <a:solidFill>
                        <a:srgbClr val="403F40"/>
                      </a:solidFill>
                      <a:prstDash val="solid"/>
                      <a:round/>
                      <a:headEnd type="none" w="med" len="med"/>
                      <a:tailEnd type="none" w="med" len="med"/>
                    </a:lnT>
                    <a:lnB w="12700" cap="flat" cmpd="sng" algn="ctr">
                      <a:solidFill>
                        <a:srgbClr val="403F40"/>
                      </a:solidFill>
                      <a:prstDash val="solid"/>
                      <a:round/>
                      <a:headEnd type="none" w="med" len="med"/>
                      <a:tailEnd type="none" w="med" len="med"/>
                    </a:lnB>
                  </a:tcPr>
                </a:tc>
                <a:tc>
                  <a:txBody>
                    <a:bodyPr/>
                    <a:lstStyle/>
                    <a:p>
                      <a:pPr marL="0" indent="0" algn="ctr">
                        <a:lnSpc>
                          <a:spcPts val="1960"/>
                        </a:lnSpc>
                        <a:buNone/>
                      </a:pPr>
                      <a:r>
                        <a:rPr lang="en-US" sz="1400" dirty="0">
                          <a:solidFill>
                            <a:srgbClr val="E4E4E7"/>
                          </a:solidFill>
                          <a:latin typeface="Arial" pitchFamily="34" charset="0"/>
                          <a:ea typeface="Arial" pitchFamily="34" charset="-122"/>
                          <a:cs typeface="Arial" pitchFamily="34" charset="-120"/>
                        </a:rPr>
                        <a:t>53 de 64</a:t>
                      </a:r>
                      <a:endParaRPr lang="en-US" sz="1400" dirty="0">
                        <a:latin typeface="Arial" charset="0"/>
                        <a:ea typeface="Arial" charset="0"/>
                        <a:cs typeface="Arial" charset="0"/>
                      </a:endParaRPr>
                    </a:p>
                  </a:txBody>
                  <a:tcPr marL="62230" marR="62230" marT="62230" marB="62230">
                    <a:lnL w="12700" cap="flat" cmpd="sng" algn="ctr">
                      <a:solidFill>
                        <a:srgbClr val="403F40"/>
                      </a:solidFill>
                      <a:prstDash val="solid"/>
                      <a:round/>
                      <a:headEnd type="none" w="med" len="med"/>
                      <a:tailEnd type="none" w="med" len="med"/>
                    </a:lnL>
                    <a:lnR w="12700" cap="flat" cmpd="sng" algn="ctr">
                      <a:solidFill>
                        <a:srgbClr val="403F40"/>
                      </a:solidFill>
                      <a:prstDash val="solid"/>
                      <a:round/>
                      <a:headEnd type="none" w="med" len="med"/>
                      <a:tailEnd type="none" w="med" len="med"/>
                    </a:lnR>
                    <a:lnT w="12700" cap="flat" cmpd="sng" algn="ctr">
                      <a:solidFill>
                        <a:srgbClr val="403F40"/>
                      </a:solidFill>
                      <a:prstDash val="solid"/>
                      <a:round/>
                      <a:headEnd type="none" w="med" len="med"/>
                      <a:tailEnd type="none" w="med" len="med"/>
                    </a:lnT>
                    <a:lnB w="12700" cap="flat" cmpd="sng" algn="ctr">
                      <a:solidFill>
                        <a:srgbClr val="403F40"/>
                      </a:solidFill>
                      <a:prstDash val="solid"/>
                      <a:round/>
                      <a:headEnd type="none" w="med" len="med"/>
                      <a:tailEnd type="none" w="med" len="med"/>
                    </a:lnB>
                  </a:tcPr>
                </a:tc>
                <a:extLst>
                  <a:ext uri="{0D108BD9-81ED-4DB2-BD59-A6C34878D82A}">
                    <a16:rowId xmlns:a16="http://schemas.microsoft.com/office/drawing/2014/main" val="10002"/>
                  </a:ext>
                </a:extLst>
              </a:tr>
              <a:tr h="385961">
                <a:tc>
                  <a:txBody>
                    <a:bodyPr/>
                    <a:lstStyle/>
                    <a:p>
                      <a:pPr marL="0" indent="0">
                        <a:lnSpc>
                          <a:spcPts val="1960"/>
                        </a:lnSpc>
                        <a:buNone/>
                      </a:pPr>
                      <a:r>
                        <a:rPr lang="en-US" sz="1400" dirty="0">
                          <a:solidFill>
                            <a:srgbClr val="E4E4E7"/>
                          </a:solidFill>
                          <a:latin typeface="Arial" pitchFamily="34" charset="0"/>
                          <a:ea typeface="Arial" pitchFamily="34" charset="-122"/>
                          <a:cs typeface="Arial" pitchFamily="34" charset="-120"/>
                        </a:rPr>
                        <a:t>KNN escalado</a:t>
                      </a:r>
                      <a:endParaRPr lang="en-US" sz="1400" dirty="0">
                        <a:latin typeface="Arial" charset="0"/>
                        <a:ea typeface="Arial" charset="0"/>
                        <a:cs typeface="Arial" charset="0"/>
                      </a:endParaRPr>
                    </a:p>
                  </a:txBody>
                  <a:tcPr marL="62230" marR="62230" marT="62230" marB="62230">
                    <a:lnL w="12700" cap="flat" cmpd="sng" algn="ctr">
                      <a:solidFill>
                        <a:srgbClr val="403F40"/>
                      </a:solidFill>
                      <a:prstDash val="solid"/>
                      <a:round/>
                      <a:headEnd type="none" w="med" len="med"/>
                      <a:tailEnd type="none" w="med" len="med"/>
                    </a:lnL>
                    <a:lnR w="12700" cap="flat" cmpd="sng" algn="ctr">
                      <a:solidFill>
                        <a:srgbClr val="403F40"/>
                      </a:solidFill>
                      <a:prstDash val="solid"/>
                      <a:round/>
                      <a:headEnd type="none" w="med" len="med"/>
                      <a:tailEnd type="none" w="med" len="med"/>
                    </a:lnR>
                    <a:lnT w="12700" cap="flat" cmpd="sng" algn="ctr">
                      <a:solidFill>
                        <a:srgbClr val="403F40"/>
                      </a:solidFill>
                      <a:prstDash val="solid"/>
                      <a:round/>
                      <a:headEnd type="none" w="med" len="med"/>
                      <a:tailEnd type="none" w="med" len="med"/>
                    </a:lnT>
                    <a:lnB w="12700" cap="flat" cmpd="sng" algn="ctr">
                      <a:solidFill>
                        <a:srgbClr val="403F40"/>
                      </a:solidFill>
                      <a:prstDash val="solid"/>
                      <a:round/>
                      <a:headEnd type="none" w="med" len="med"/>
                      <a:tailEnd type="none" w="med" len="med"/>
                    </a:lnB>
                  </a:tcPr>
                </a:tc>
                <a:tc>
                  <a:txBody>
                    <a:bodyPr/>
                    <a:lstStyle/>
                    <a:p>
                      <a:pPr marL="0" indent="0" algn="ctr">
                        <a:lnSpc>
                          <a:spcPts val="1960"/>
                        </a:lnSpc>
                        <a:buNone/>
                      </a:pPr>
                      <a:r>
                        <a:rPr lang="en-US" sz="1400" dirty="0">
                          <a:solidFill>
                            <a:srgbClr val="E4E4E7"/>
                          </a:solidFill>
                          <a:latin typeface="Arial" pitchFamily="34" charset="0"/>
                          <a:ea typeface="Arial" pitchFamily="34" charset="-122"/>
                          <a:cs typeface="Arial" pitchFamily="34" charset="-120"/>
                        </a:rPr>
                        <a:t>0,965</a:t>
                      </a:r>
                      <a:endParaRPr lang="en-US" sz="1400" dirty="0">
                        <a:latin typeface="Arial" charset="0"/>
                        <a:ea typeface="Arial" charset="0"/>
                        <a:cs typeface="Arial" charset="0"/>
                      </a:endParaRPr>
                    </a:p>
                  </a:txBody>
                  <a:tcPr marL="62230" marR="62230" marT="62230" marB="62230">
                    <a:lnL w="12700" cap="flat" cmpd="sng" algn="ctr">
                      <a:solidFill>
                        <a:srgbClr val="403F40"/>
                      </a:solidFill>
                      <a:prstDash val="solid"/>
                      <a:round/>
                      <a:headEnd type="none" w="med" len="med"/>
                      <a:tailEnd type="none" w="med" len="med"/>
                    </a:lnL>
                    <a:lnR w="12700" cap="flat" cmpd="sng" algn="ctr">
                      <a:solidFill>
                        <a:srgbClr val="403F40"/>
                      </a:solidFill>
                      <a:prstDash val="solid"/>
                      <a:round/>
                      <a:headEnd type="none" w="med" len="med"/>
                      <a:tailEnd type="none" w="med" len="med"/>
                    </a:lnR>
                    <a:lnT w="12700" cap="flat" cmpd="sng" algn="ctr">
                      <a:solidFill>
                        <a:srgbClr val="403F40"/>
                      </a:solidFill>
                      <a:prstDash val="solid"/>
                      <a:round/>
                      <a:headEnd type="none" w="med" len="med"/>
                      <a:tailEnd type="none" w="med" len="med"/>
                    </a:lnT>
                    <a:lnB w="12700" cap="flat" cmpd="sng" algn="ctr">
                      <a:solidFill>
                        <a:srgbClr val="403F40"/>
                      </a:solidFill>
                      <a:prstDash val="solid"/>
                      <a:round/>
                      <a:headEnd type="none" w="med" len="med"/>
                      <a:tailEnd type="none" w="med" len="med"/>
                    </a:lnB>
                  </a:tcPr>
                </a:tc>
                <a:tc>
                  <a:txBody>
                    <a:bodyPr/>
                    <a:lstStyle/>
                    <a:p>
                      <a:pPr marL="0" indent="0" algn="ctr">
                        <a:lnSpc>
                          <a:spcPts val="1960"/>
                        </a:lnSpc>
                        <a:buNone/>
                      </a:pPr>
                      <a:r>
                        <a:rPr lang="en-US" sz="1400" dirty="0">
                          <a:solidFill>
                            <a:srgbClr val="E4E4E7"/>
                          </a:solidFill>
                          <a:latin typeface="Arial" pitchFamily="34" charset="0"/>
                          <a:ea typeface="Arial" pitchFamily="34" charset="-122"/>
                          <a:cs typeface="Arial" pitchFamily="34" charset="-120"/>
                        </a:rPr>
                        <a:t>0,906</a:t>
                      </a:r>
                      <a:endParaRPr lang="en-US" sz="1400" dirty="0">
                        <a:latin typeface="Arial" charset="0"/>
                        <a:ea typeface="Arial" charset="0"/>
                        <a:cs typeface="Arial" charset="0"/>
                      </a:endParaRPr>
                    </a:p>
                  </a:txBody>
                  <a:tcPr marL="62230" marR="62230" marT="62230" marB="62230">
                    <a:lnL w="12700" cap="flat" cmpd="sng" algn="ctr">
                      <a:solidFill>
                        <a:srgbClr val="403F40"/>
                      </a:solidFill>
                      <a:prstDash val="solid"/>
                      <a:round/>
                      <a:headEnd type="none" w="med" len="med"/>
                      <a:tailEnd type="none" w="med" len="med"/>
                    </a:lnL>
                    <a:lnR w="12700" cap="flat" cmpd="sng" algn="ctr">
                      <a:solidFill>
                        <a:srgbClr val="403F40"/>
                      </a:solidFill>
                      <a:prstDash val="solid"/>
                      <a:round/>
                      <a:headEnd type="none" w="med" len="med"/>
                      <a:tailEnd type="none" w="med" len="med"/>
                    </a:lnR>
                    <a:lnT w="12700" cap="flat" cmpd="sng" algn="ctr">
                      <a:solidFill>
                        <a:srgbClr val="403F40"/>
                      </a:solidFill>
                      <a:prstDash val="solid"/>
                      <a:round/>
                      <a:headEnd type="none" w="med" len="med"/>
                      <a:tailEnd type="none" w="med" len="med"/>
                    </a:lnT>
                    <a:lnB w="12700" cap="flat" cmpd="sng" algn="ctr">
                      <a:solidFill>
                        <a:srgbClr val="403F40"/>
                      </a:solidFill>
                      <a:prstDash val="solid"/>
                      <a:round/>
                      <a:headEnd type="none" w="med" len="med"/>
                      <a:tailEnd type="none" w="med" len="med"/>
                    </a:lnB>
                  </a:tcPr>
                </a:tc>
                <a:tc>
                  <a:txBody>
                    <a:bodyPr/>
                    <a:lstStyle/>
                    <a:p>
                      <a:pPr marL="0" indent="0" algn="ctr">
                        <a:lnSpc>
                          <a:spcPts val="1960"/>
                        </a:lnSpc>
                        <a:buNone/>
                      </a:pPr>
                      <a:r>
                        <a:rPr lang="en-US" sz="1400" dirty="0">
                          <a:solidFill>
                            <a:srgbClr val="E4E4E7"/>
                          </a:solidFill>
                          <a:latin typeface="Arial" pitchFamily="34" charset="0"/>
                          <a:ea typeface="Arial" pitchFamily="34" charset="-122"/>
                          <a:cs typeface="Arial" pitchFamily="34" charset="-120"/>
                        </a:rPr>
                        <a:t>58 de 64</a:t>
                      </a:r>
                      <a:endParaRPr lang="en-US" sz="1400" dirty="0">
                        <a:latin typeface="Arial" charset="0"/>
                        <a:ea typeface="Arial" charset="0"/>
                        <a:cs typeface="Arial" charset="0"/>
                      </a:endParaRPr>
                    </a:p>
                  </a:txBody>
                  <a:tcPr marL="62230" marR="62230" marT="62230" marB="62230">
                    <a:lnL w="12700" cap="flat" cmpd="sng" algn="ctr">
                      <a:solidFill>
                        <a:srgbClr val="403F40"/>
                      </a:solidFill>
                      <a:prstDash val="solid"/>
                      <a:round/>
                      <a:headEnd type="none" w="med" len="med"/>
                      <a:tailEnd type="none" w="med" len="med"/>
                    </a:lnL>
                    <a:lnR w="12700" cap="flat" cmpd="sng" algn="ctr">
                      <a:solidFill>
                        <a:srgbClr val="403F40"/>
                      </a:solidFill>
                      <a:prstDash val="solid"/>
                      <a:round/>
                      <a:headEnd type="none" w="med" len="med"/>
                      <a:tailEnd type="none" w="med" len="med"/>
                    </a:lnR>
                    <a:lnT w="12700" cap="flat" cmpd="sng" algn="ctr">
                      <a:solidFill>
                        <a:srgbClr val="403F40"/>
                      </a:solidFill>
                      <a:prstDash val="solid"/>
                      <a:round/>
                      <a:headEnd type="none" w="med" len="med"/>
                      <a:tailEnd type="none" w="med" len="med"/>
                    </a:lnT>
                    <a:lnB w="12700" cap="flat" cmpd="sng" algn="ctr">
                      <a:solidFill>
                        <a:srgbClr val="403F40"/>
                      </a:solidFill>
                      <a:prstDash val="solid"/>
                      <a:round/>
                      <a:headEnd type="none" w="med" len="med"/>
                      <a:tailEnd type="none" w="med" len="med"/>
                    </a:lnB>
                  </a:tcPr>
                </a:tc>
                <a:extLst>
                  <a:ext uri="{0D108BD9-81ED-4DB2-BD59-A6C34878D82A}">
                    <a16:rowId xmlns:a16="http://schemas.microsoft.com/office/drawing/2014/main" val="10003"/>
                  </a:ext>
                </a:extLst>
              </a:tr>
              <a:tr h="385961">
                <a:tc>
                  <a:txBody>
                    <a:bodyPr/>
                    <a:lstStyle/>
                    <a:p>
                      <a:pPr marL="0" indent="0">
                        <a:lnSpc>
                          <a:spcPts val="1960"/>
                        </a:lnSpc>
                        <a:buNone/>
                      </a:pPr>
                      <a:r>
                        <a:rPr lang="en-US" sz="1400" dirty="0">
                          <a:solidFill>
                            <a:srgbClr val="F4F4F5"/>
                          </a:solidFill>
                          <a:latin typeface="Arial" pitchFamily="34" charset="0"/>
                          <a:ea typeface="Arial" pitchFamily="34" charset="-122"/>
                          <a:cs typeface="Arial" pitchFamily="34" charset="-120"/>
                        </a:rPr>
                        <a:t>Bosque aleatorio (el mejor)</a:t>
                      </a:r>
                      <a:endParaRPr lang="en-US" sz="1400" dirty="0">
                        <a:latin typeface="Arial" charset="0"/>
                        <a:ea typeface="Arial" charset="0"/>
                        <a:cs typeface="Arial" charset="0"/>
                      </a:endParaRPr>
                    </a:p>
                  </a:txBody>
                  <a:tcPr marL="62230" marR="62230" marT="62230" marB="62230">
                    <a:lnL w="12700" cap="flat" cmpd="sng" algn="ctr">
                      <a:solidFill>
                        <a:srgbClr val="403F40"/>
                      </a:solidFill>
                      <a:prstDash val="solid"/>
                      <a:round/>
                      <a:headEnd type="none" w="med" len="med"/>
                      <a:tailEnd type="none" w="med" len="med"/>
                    </a:lnL>
                    <a:lnR w="12700" cap="flat" cmpd="sng" algn="ctr">
                      <a:solidFill>
                        <a:srgbClr val="4F3F42"/>
                      </a:solidFill>
                      <a:prstDash val="solid"/>
                      <a:round/>
                      <a:headEnd type="none" w="med" len="med"/>
                      <a:tailEnd type="none" w="med" len="med"/>
                    </a:lnR>
                    <a:lnT w="12700" cap="flat" cmpd="sng" algn="ctr">
                      <a:solidFill>
                        <a:srgbClr val="403F40"/>
                      </a:solidFill>
                      <a:prstDash val="solid"/>
                      <a:round/>
                      <a:headEnd type="none" w="med" len="med"/>
                      <a:tailEnd type="none" w="med" len="med"/>
                    </a:lnT>
                    <a:lnB w="12700" cap="flat" cmpd="sng" algn="ctr">
                      <a:solidFill>
                        <a:srgbClr val="4F3F42"/>
                      </a:solidFill>
                      <a:prstDash val="solid"/>
                      <a:round/>
                      <a:headEnd type="none" w="med" len="med"/>
                      <a:tailEnd type="none" w="med" len="med"/>
                    </a:lnB>
                    <a:solidFill>
                      <a:srgbClr val="1F0A0F"/>
                    </a:solidFill>
                  </a:tcPr>
                </a:tc>
                <a:tc>
                  <a:txBody>
                    <a:bodyPr/>
                    <a:lstStyle/>
                    <a:p>
                      <a:pPr marL="0" indent="0" algn="ctr">
                        <a:lnSpc>
                          <a:spcPts val="1960"/>
                        </a:lnSpc>
                        <a:buNone/>
                      </a:pPr>
                      <a:r>
                        <a:rPr lang="en-US" sz="1400" dirty="0">
                          <a:solidFill>
                            <a:srgbClr val="FF5C77"/>
                          </a:solidFill>
                          <a:latin typeface="Arial" pitchFamily="34" charset="0"/>
                          <a:ea typeface="Arial" pitchFamily="34" charset="-122"/>
                          <a:cs typeface="Arial" pitchFamily="34" charset="-120"/>
                        </a:rPr>
                        <a:t>0,971</a:t>
                      </a:r>
                      <a:endParaRPr lang="en-US" sz="1400" dirty="0">
                        <a:latin typeface="Arial" charset="0"/>
                        <a:ea typeface="Arial" charset="0"/>
                        <a:cs typeface="Arial" charset="0"/>
                      </a:endParaRPr>
                    </a:p>
                  </a:txBody>
                  <a:tcPr marL="62230" marR="62230" marT="62230" marB="62230">
                    <a:lnL w="12700" cap="flat" cmpd="sng" algn="ctr">
                      <a:solidFill>
                        <a:srgbClr val="4F3F42"/>
                      </a:solidFill>
                      <a:prstDash val="solid"/>
                      <a:round/>
                      <a:headEnd type="none" w="med" len="med"/>
                      <a:tailEnd type="none" w="med" len="med"/>
                    </a:lnL>
                    <a:lnR w="12700" cap="flat" cmpd="sng" algn="ctr">
                      <a:solidFill>
                        <a:srgbClr val="4F3F42"/>
                      </a:solidFill>
                      <a:prstDash val="solid"/>
                      <a:round/>
                      <a:headEnd type="none" w="med" len="med"/>
                      <a:tailEnd type="none" w="med" len="med"/>
                    </a:lnR>
                    <a:lnT w="12700" cap="flat" cmpd="sng" algn="ctr">
                      <a:solidFill>
                        <a:srgbClr val="403F40"/>
                      </a:solidFill>
                      <a:prstDash val="solid"/>
                      <a:round/>
                      <a:headEnd type="none" w="med" len="med"/>
                      <a:tailEnd type="none" w="med" len="med"/>
                    </a:lnT>
                    <a:lnB w="12700" cap="flat" cmpd="sng" algn="ctr">
                      <a:solidFill>
                        <a:srgbClr val="4F3F42"/>
                      </a:solidFill>
                      <a:prstDash val="solid"/>
                      <a:round/>
                      <a:headEnd type="none" w="med" len="med"/>
                      <a:tailEnd type="none" w="med" len="med"/>
                    </a:lnB>
                    <a:solidFill>
                      <a:srgbClr val="1F0A0F"/>
                    </a:solidFill>
                  </a:tcPr>
                </a:tc>
                <a:tc>
                  <a:txBody>
                    <a:bodyPr/>
                    <a:lstStyle/>
                    <a:p>
                      <a:pPr marL="0" indent="0" algn="ctr">
                        <a:lnSpc>
                          <a:spcPts val="1960"/>
                        </a:lnSpc>
                        <a:buNone/>
                      </a:pPr>
                      <a:r>
                        <a:rPr lang="en-US" sz="1400" dirty="0">
                          <a:solidFill>
                            <a:srgbClr val="FF5C77"/>
                          </a:solidFill>
                          <a:latin typeface="Arial" pitchFamily="34" charset="0"/>
                          <a:ea typeface="Arial" pitchFamily="34" charset="-122"/>
                          <a:cs typeface="Arial" pitchFamily="34" charset="-120"/>
                        </a:rPr>
                        <a:t>0,922</a:t>
                      </a:r>
                      <a:endParaRPr lang="en-US" sz="1400" dirty="0">
                        <a:latin typeface="Arial" charset="0"/>
                        <a:ea typeface="Arial" charset="0"/>
                        <a:cs typeface="Arial" charset="0"/>
                      </a:endParaRPr>
                    </a:p>
                  </a:txBody>
                  <a:tcPr marL="62230" marR="62230" marT="62230" marB="62230">
                    <a:lnL w="12700" cap="flat" cmpd="sng" algn="ctr">
                      <a:solidFill>
                        <a:srgbClr val="4F3F42"/>
                      </a:solidFill>
                      <a:prstDash val="solid"/>
                      <a:round/>
                      <a:headEnd type="none" w="med" len="med"/>
                      <a:tailEnd type="none" w="med" len="med"/>
                    </a:lnL>
                    <a:lnR w="12700" cap="flat" cmpd="sng" algn="ctr">
                      <a:solidFill>
                        <a:srgbClr val="4F3F42"/>
                      </a:solidFill>
                      <a:prstDash val="solid"/>
                      <a:round/>
                      <a:headEnd type="none" w="med" len="med"/>
                      <a:tailEnd type="none" w="med" len="med"/>
                    </a:lnR>
                    <a:lnT w="12700" cap="flat" cmpd="sng" algn="ctr">
                      <a:solidFill>
                        <a:srgbClr val="403F40"/>
                      </a:solidFill>
                      <a:prstDash val="solid"/>
                      <a:round/>
                      <a:headEnd type="none" w="med" len="med"/>
                      <a:tailEnd type="none" w="med" len="med"/>
                    </a:lnT>
                    <a:lnB w="12700" cap="flat" cmpd="sng" algn="ctr">
                      <a:solidFill>
                        <a:srgbClr val="4F3F42"/>
                      </a:solidFill>
                      <a:prstDash val="solid"/>
                      <a:round/>
                      <a:headEnd type="none" w="med" len="med"/>
                      <a:tailEnd type="none" w="med" len="med"/>
                    </a:lnB>
                    <a:solidFill>
                      <a:srgbClr val="1F0A0F"/>
                    </a:solidFill>
                  </a:tcPr>
                </a:tc>
                <a:tc>
                  <a:txBody>
                    <a:bodyPr/>
                    <a:lstStyle/>
                    <a:p>
                      <a:pPr marL="0" indent="0" algn="ctr">
                        <a:lnSpc>
                          <a:spcPts val="1960"/>
                        </a:lnSpc>
                        <a:buNone/>
                      </a:pPr>
                      <a:r>
                        <a:rPr lang="en-US" sz="1400" dirty="0">
                          <a:solidFill>
                            <a:srgbClr val="FF5C77"/>
                          </a:solidFill>
                          <a:latin typeface="Arial" pitchFamily="34" charset="0"/>
                          <a:ea typeface="Arial" pitchFamily="34" charset="-122"/>
                          <a:cs typeface="Arial" pitchFamily="34" charset="-120"/>
                        </a:rPr>
                        <a:t>59 de 64</a:t>
                      </a:r>
                      <a:endParaRPr lang="en-US" sz="1400" dirty="0">
                        <a:latin typeface="Arial" charset="0"/>
                        <a:ea typeface="Arial" charset="0"/>
                        <a:cs typeface="Arial" charset="0"/>
                      </a:endParaRPr>
                    </a:p>
                  </a:txBody>
                  <a:tcPr marL="62230" marR="62230" marT="62230" marB="62230">
                    <a:lnL w="12700" cap="flat" cmpd="sng" algn="ctr">
                      <a:solidFill>
                        <a:srgbClr val="4F3F42"/>
                      </a:solidFill>
                      <a:prstDash val="solid"/>
                      <a:round/>
                      <a:headEnd type="none" w="med" len="med"/>
                      <a:tailEnd type="none" w="med" len="med"/>
                    </a:lnL>
                    <a:lnR w="12700" cap="flat" cmpd="sng" algn="ctr">
                      <a:solidFill>
                        <a:srgbClr val="4F3F42"/>
                      </a:solidFill>
                      <a:prstDash val="solid"/>
                      <a:round/>
                      <a:headEnd type="none" w="med" len="med"/>
                      <a:tailEnd type="none" w="med" len="med"/>
                    </a:lnR>
                    <a:lnT w="12700" cap="flat" cmpd="sng" algn="ctr">
                      <a:solidFill>
                        <a:srgbClr val="403F40"/>
                      </a:solidFill>
                      <a:prstDash val="solid"/>
                      <a:round/>
                      <a:headEnd type="none" w="med" len="med"/>
                      <a:tailEnd type="none" w="med" len="med"/>
                    </a:lnT>
                    <a:lnB w="12700" cap="flat" cmpd="sng" algn="ctr">
                      <a:solidFill>
                        <a:srgbClr val="4F3F42"/>
                      </a:solidFill>
                      <a:prstDash val="solid"/>
                      <a:round/>
                      <a:headEnd type="none" w="med" len="med"/>
                      <a:tailEnd type="none" w="med" len="med"/>
                    </a:lnB>
                    <a:solidFill>
                      <a:srgbClr val="1F0A0F"/>
                    </a:solidFill>
                  </a:tcPr>
                </a:tc>
                <a:extLst>
                  <a:ext uri="{0D108BD9-81ED-4DB2-BD59-A6C34878D82A}">
                    <a16:rowId xmlns:a16="http://schemas.microsoft.com/office/drawing/2014/main" val="10004"/>
                  </a:ext>
                </a:extLst>
              </a:tr>
            </a:tbl>
          </a:graphicData>
        </a:graphic>
      </p:graphicFrame>
      <p:sp>
        <p:nvSpPr>
          <p:cNvPr id="5" name="Shape 2"/>
          <p:cNvSpPr/>
          <p:nvPr/>
        </p:nvSpPr>
        <p:spPr>
          <a:xfrm>
            <a:off x="819150" y="3947716"/>
            <a:ext cx="10553700" cy="1111052"/>
          </a:xfrm>
          <a:prstGeom prst="roundRect">
            <a:avLst>
              <a:gd name="adj" fmla="val 10859"/>
            </a:avLst>
          </a:prstGeom>
          <a:solidFill>
            <a:srgbClr val="1F0A0F"/>
          </a:solidFill>
          <a:ln w="12700">
            <a:solidFill>
              <a:srgbClr val="E4002B"/>
            </a:solidFill>
            <a:prstDash val="solid"/>
          </a:ln>
        </p:spPr>
        <p:txBody>
          <a:bodyPr/>
          <a:lstStyle/>
          <a:p>
            <a:endParaRPr lang="es-CO"/>
          </a:p>
        </p:txBody>
      </p:sp>
      <p:sp>
        <p:nvSpPr>
          <p:cNvPr id="6" name="Text 3"/>
          <p:cNvSpPr/>
          <p:nvPr/>
        </p:nvSpPr>
        <p:spPr>
          <a:xfrm>
            <a:off x="1079500" y="4131866"/>
            <a:ext cx="10333990"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E4002B"/>
                </a:solidFill>
                <a:latin typeface="Courier New" pitchFamily="34" charset="0"/>
                <a:ea typeface="Courier New" pitchFamily="34" charset="-122"/>
                <a:cs typeface="Courier New" pitchFamily="34" charset="-120"/>
              </a:rPr>
              <a:t>EN PALABRAS SIMPLES</a:t>
            </a:r>
            <a:endParaRPr lang="en-US" sz="1200" dirty="0"/>
          </a:p>
        </p:txBody>
      </p:sp>
      <p:sp>
        <p:nvSpPr>
          <p:cNvPr id="7" name="Text 4"/>
          <p:cNvSpPr/>
          <p:nvPr/>
        </p:nvSpPr>
        <p:spPr>
          <a:xfrm>
            <a:off x="1079500" y="4395986"/>
            <a:ext cx="10333990" cy="504031"/>
          </a:xfrm>
          <a:prstGeom prst="rect">
            <a:avLst/>
          </a:prstGeom>
          <a:noFill/>
          <a:ln/>
        </p:spPr>
        <p:txBody>
          <a:bodyPr wrap="square" lIns="0" tIns="0" rIns="0" bIns="0" rtlCol="0" anchor="t">
            <a:normAutofit/>
          </a:bodyPr>
          <a:lstStyle/>
          <a:p>
            <a:pPr marL="0" indent="0" algn="l">
              <a:lnSpc>
                <a:spcPts val="1885"/>
              </a:lnSpc>
              <a:buNone/>
            </a:pPr>
            <a:r>
              <a:rPr lang="en-US" sz="1300" dirty="0">
                <a:solidFill>
                  <a:srgbClr val="F4F4F5"/>
                </a:solidFill>
                <a:latin typeface="Arial" pitchFamily="34" charset="0"/>
                <a:ea typeface="Arial" pitchFamily="34" charset="-122"/>
                <a:cs typeface="Arial" pitchFamily="34" charset="-120"/>
              </a:rPr>
              <a:t>El bosque detecta 59 de 64 tumores. Ojo: el árbol ajustado subió en accuracy, pero detectó uno menos. Mejorar una métrica no siempre mejora todas.</a:t>
            </a:r>
            <a:endParaRPr lang="en-US" sz="1300" dirty="0"/>
          </a:p>
        </p:txBody>
      </p:sp>
      <p:sp>
        <p:nvSpPr>
          <p:cNvPr id="8" name="Text 5"/>
          <p:cNvSpPr/>
          <p:nvPr/>
        </p:nvSpPr>
        <p:spPr>
          <a:xfrm>
            <a:off x="812800" y="6238280"/>
            <a:ext cx="7848600" cy="238720"/>
          </a:xfrm>
          <a:prstGeom prst="rect">
            <a:avLst/>
          </a:prstGeom>
          <a:noFill/>
          <a:ln/>
        </p:spPr>
        <p:txBody>
          <a:bodyPr wrap="square" lIns="0" tIns="0" rIns="0" bIns="0" rtlCol="0" anchor="t">
            <a:normAutofit/>
          </a:bodyPr>
          <a:lstStyle/>
          <a:p>
            <a:pPr marL="0" indent="0" algn="l">
              <a:lnSpc>
                <a:spcPts val="1680"/>
              </a:lnSpc>
              <a:buNone/>
            </a:pPr>
            <a:r>
              <a:rPr lang="en-US" sz="1200" kern="0" spc="100" dirty="0">
                <a:solidFill>
                  <a:srgbClr val="71717A"/>
                </a:solidFill>
                <a:latin typeface="Courier New" pitchFamily="34" charset="0"/>
                <a:ea typeface="Courier New" pitchFamily="34" charset="-122"/>
                <a:cs typeface="Courier New" pitchFamily="34" charset="-120"/>
              </a:rPr>
              <a:t>UNIDAD 4 · VALIDACIÓN DE MODELOS</a:t>
            </a:r>
            <a:endParaRPr lang="en-US" sz="1200" dirty="0"/>
          </a:p>
        </p:txBody>
      </p:sp>
      <p:sp>
        <p:nvSpPr>
          <p:cNvPr id="9" name="Text 6"/>
          <p:cNvSpPr/>
          <p:nvPr/>
        </p:nvSpPr>
        <p:spPr>
          <a:xfrm>
            <a:off x="10058400" y="6238280"/>
            <a:ext cx="1320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71717A"/>
                </a:solidFill>
                <a:latin typeface="Courier New" pitchFamily="34" charset="0"/>
                <a:ea typeface="Courier New" pitchFamily="34" charset="-122"/>
                <a:cs typeface="Courier New" pitchFamily="34" charset="-120"/>
              </a:rPr>
              <a:t>31</a:t>
            </a:r>
            <a:endParaRPr lang="en-US" sz="12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0B0B0D"/>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marL="0" indent="0" algn="l">
              <a:lnSpc>
                <a:spcPts val="1820"/>
              </a:lnSpc>
              <a:buNone/>
            </a:pPr>
            <a:r>
              <a:rPr lang="en-US" sz="1300" b="1" kern="0" spc="200" dirty="0">
                <a:solidFill>
                  <a:srgbClr val="E4002B"/>
                </a:solidFill>
                <a:latin typeface="Courier New" pitchFamily="34" charset="0"/>
                <a:ea typeface="Courier New" pitchFamily="34" charset="-122"/>
                <a:cs typeface="Courier New" pitchFamily="34" charset="-120"/>
              </a:rPr>
              <a:t>PARA LLEVAR</a:t>
            </a:r>
            <a:endParaRPr lang="en-US" sz="1300" dirty="0"/>
          </a:p>
        </p:txBody>
      </p:sp>
      <p:sp>
        <p:nvSpPr>
          <p:cNvPr id="3" name="Text 1"/>
          <p:cNvSpPr/>
          <p:nvPr/>
        </p:nvSpPr>
        <p:spPr>
          <a:xfrm>
            <a:off x="812800" y="1145480"/>
            <a:ext cx="10883392" cy="472380"/>
          </a:xfrm>
          <a:prstGeom prst="rect">
            <a:avLst/>
          </a:prstGeom>
          <a:noFill/>
          <a:ln/>
        </p:spPr>
        <p:txBody>
          <a:bodyPr wrap="square" lIns="0" tIns="0" rIns="0" bIns="0" rtlCol="0" anchor="t">
            <a:normAutofit/>
          </a:bodyPr>
          <a:lstStyle/>
          <a:p>
            <a:pPr marL="0" indent="0" algn="l">
              <a:lnSpc>
                <a:spcPts val="3520"/>
              </a:lnSpc>
              <a:buNone/>
            </a:pPr>
            <a:r>
              <a:rPr lang="en-US" sz="3200" b="1" kern="0" spc="-50" dirty="0">
                <a:solidFill>
                  <a:srgbClr val="F4F4F5"/>
                </a:solidFill>
                <a:latin typeface="Arial" pitchFamily="34" charset="0"/>
                <a:ea typeface="Arial" pitchFamily="34" charset="-122"/>
                <a:cs typeface="Arial" pitchFamily="34" charset="-120"/>
              </a:rPr>
              <a:t>La receta para mejorar un modelo</a:t>
            </a:r>
            <a:endParaRPr lang="en-US" sz="3200" dirty="0"/>
          </a:p>
        </p:txBody>
      </p:sp>
      <p:sp>
        <p:nvSpPr>
          <p:cNvPr id="4" name="Shape 2"/>
          <p:cNvSpPr/>
          <p:nvPr/>
        </p:nvSpPr>
        <p:spPr>
          <a:xfrm>
            <a:off x="819150" y="1802011"/>
            <a:ext cx="2019300" cy="1788021"/>
          </a:xfrm>
          <a:prstGeom prst="roundRect">
            <a:avLst>
              <a:gd name="adj" fmla="val 6748"/>
            </a:avLst>
          </a:prstGeom>
          <a:solidFill>
            <a:srgbClr val="1A1A1F"/>
          </a:solidFill>
          <a:ln w="12700">
            <a:solidFill>
              <a:srgbClr val="2C2C33"/>
            </a:solidFill>
            <a:prstDash val="solid"/>
          </a:ln>
        </p:spPr>
        <p:txBody>
          <a:bodyPr/>
          <a:lstStyle/>
          <a:p>
            <a:endParaRPr lang="es-CO"/>
          </a:p>
        </p:txBody>
      </p:sp>
      <p:sp>
        <p:nvSpPr>
          <p:cNvPr id="5" name="Text 3"/>
          <p:cNvSpPr/>
          <p:nvPr/>
        </p:nvSpPr>
        <p:spPr>
          <a:xfrm>
            <a:off x="1003300" y="1986161"/>
            <a:ext cx="1701800" cy="416520"/>
          </a:xfrm>
          <a:prstGeom prst="rect">
            <a:avLst/>
          </a:prstGeom>
          <a:noFill/>
          <a:ln/>
        </p:spPr>
        <p:txBody>
          <a:bodyPr wrap="square" lIns="0" tIns="0" rIns="0" bIns="0" rtlCol="0" anchor="t">
            <a:normAutofit/>
          </a:bodyPr>
          <a:lstStyle/>
          <a:p>
            <a:pPr marL="0" indent="0" algn="l">
              <a:lnSpc>
                <a:spcPts val="3080"/>
              </a:lnSpc>
              <a:buNone/>
            </a:pPr>
            <a:r>
              <a:rPr lang="en-US" sz="2200" b="1" dirty="0">
                <a:solidFill>
                  <a:srgbClr val="E4002B"/>
                </a:solidFill>
                <a:latin typeface="Courier New" pitchFamily="34" charset="0"/>
                <a:ea typeface="Courier New" pitchFamily="34" charset="-122"/>
                <a:cs typeface="Courier New" pitchFamily="34" charset="-120"/>
              </a:rPr>
              <a:t>1</a:t>
            </a:r>
            <a:endParaRPr lang="en-US" sz="2200" dirty="0"/>
          </a:p>
        </p:txBody>
      </p:sp>
      <p:sp>
        <p:nvSpPr>
          <p:cNvPr id="6" name="Text 4"/>
          <p:cNvSpPr/>
          <p:nvPr/>
        </p:nvSpPr>
        <p:spPr>
          <a:xfrm>
            <a:off x="1003300" y="2453481"/>
            <a:ext cx="1701800" cy="23872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F4F4F5"/>
                </a:solidFill>
                <a:latin typeface="Arial" pitchFamily="34" charset="0"/>
                <a:ea typeface="Arial" pitchFamily="34" charset="-122"/>
                <a:cs typeface="Arial" pitchFamily="34" charset="-120"/>
              </a:rPr>
              <a:t>Revisa los datos</a:t>
            </a:r>
            <a:endParaRPr lang="en-US" sz="1400" dirty="0"/>
          </a:p>
        </p:txBody>
      </p:sp>
      <p:sp>
        <p:nvSpPr>
          <p:cNvPr id="7" name="Text 5"/>
          <p:cNvSpPr/>
          <p:nvPr/>
        </p:nvSpPr>
        <p:spPr>
          <a:xfrm>
            <a:off x="1003300" y="2743002"/>
            <a:ext cx="1701800" cy="688280"/>
          </a:xfrm>
          <a:prstGeom prst="rect">
            <a:avLst/>
          </a:prstGeom>
          <a:noFill/>
          <a:ln/>
        </p:spPr>
        <p:txBody>
          <a:bodyPr wrap="square" lIns="0" tIns="0" rIns="0" bIns="0" rtlCol="0" anchor="t">
            <a:normAutofit/>
          </a:bodyPr>
          <a:lstStyle/>
          <a:p>
            <a:pPr marL="0" indent="0" algn="l">
              <a:lnSpc>
                <a:spcPts val="1740"/>
              </a:lnSpc>
              <a:buNone/>
            </a:pPr>
            <a:r>
              <a:rPr lang="en-US" sz="1200" dirty="0">
                <a:solidFill>
                  <a:srgbClr val="A1A1AA"/>
                </a:solidFill>
                <a:latin typeface="Arial" pitchFamily="34" charset="0"/>
                <a:ea typeface="Arial" pitchFamily="34" charset="-122"/>
                <a:cs typeface="Arial" pitchFamily="34" charset="-120"/>
              </a:rPr>
              <a:t>Datos limpios y completos valen más que cualquier truco.</a:t>
            </a:r>
            <a:endParaRPr lang="en-US" sz="1200" dirty="0"/>
          </a:p>
        </p:txBody>
      </p:sp>
      <p:sp>
        <p:nvSpPr>
          <p:cNvPr id="8" name="Shape 6"/>
          <p:cNvSpPr/>
          <p:nvPr/>
        </p:nvSpPr>
        <p:spPr>
          <a:xfrm>
            <a:off x="2952750" y="1802011"/>
            <a:ext cx="2019300" cy="1788021"/>
          </a:xfrm>
          <a:prstGeom prst="roundRect">
            <a:avLst>
              <a:gd name="adj" fmla="val 6748"/>
            </a:avLst>
          </a:prstGeom>
          <a:solidFill>
            <a:srgbClr val="1A1A1F"/>
          </a:solidFill>
          <a:ln w="12700">
            <a:solidFill>
              <a:srgbClr val="2C2C33"/>
            </a:solidFill>
            <a:prstDash val="solid"/>
          </a:ln>
        </p:spPr>
        <p:txBody>
          <a:bodyPr/>
          <a:lstStyle/>
          <a:p>
            <a:endParaRPr lang="es-CO"/>
          </a:p>
        </p:txBody>
      </p:sp>
      <p:sp>
        <p:nvSpPr>
          <p:cNvPr id="9" name="Text 7"/>
          <p:cNvSpPr/>
          <p:nvPr/>
        </p:nvSpPr>
        <p:spPr>
          <a:xfrm>
            <a:off x="3136900" y="1986161"/>
            <a:ext cx="1701800" cy="416520"/>
          </a:xfrm>
          <a:prstGeom prst="rect">
            <a:avLst/>
          </a:prstGeom>
          <a:noFill/>
          <a:ln/>
        </p:spPr>
        <p:txBody>
          <a:bodyPr wrap="square" lIns="0" tIns="0" rIns="0" bIns="0" rtlCol="0" anchor="t">
            <a:normAutofit/>
          </a:bodyPr>
          <a:lstStyle/>
          <a:p>
            <a:pPr marL="0" indent="0" algn="l">
              <a:lnSpc>
                <a:spcPts val="3080"/>
              </a:lnSpc>
              <a:buNone/>
            </a:pPr>
            <a:r>
              <a:rPr lang="en-US" sz="2200" b="1" dirty="0">
                <a:solidFill>
                  <a:srgbClr val="E4002B"/>
                </a:solidFill>
                <a:latin typeface="Courier New" pitchFamily="34" charset="0"/>
                <a:ea typeface="Courier New" pitchFamily="34" charset="-122"/>
                <a:cs typeface="Courier New" pitchFamily="34" charset="-120"/>
              </a:rPr>
              <a:t>2</a:t>
            </a:r>
            <a:endParaRPr lang="en-US" sz="2200" dirty="0"/>
          </a:p>
        </p:txBody>
      </p:sp>
      <p:sp>
        <p:nvSpPr>
          <p:cNvPr id="10" name="Text 8"/>
          <p:cNvSpPr/>
          <p:nvPr/>
        </p:nvSpPr>
        <p:spPr>
          <a:xfrm>
            <a:off x="3136900" y="2453481"/>
            <a:ext cx="1701800" cy="23872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F4F4F5"/>
                </a:solidFill>
                <a:latin typeface="Arial" pitchFamily="34" charset="0"/>
                <a:ea typeface="Arial" pitchFamily="34" charset="-122"/>
                <a:cs typeface="Arial" pitchFamily="34" charset="-120"/>
              </a:rPr>
              <a:t>Escala</a:t>
            </a:r>
            <a:endParaRPr lang="en-US" sz="1400" dirty="0"/>
          </a:p>
        </p:txBody>
      </p:sp>
      <p:sp>
        <p:nvSpPr>
          <p:cNvPr id="11" name="Text 9"/>
          <p:cNvSpPr/>
          <p:nvPr/>
        </p:nvSpPr>
        <p:spPr>
          <a:xfrm>
            <a:off x="3136900" y="2743002"/>
            <a:ext cx="1701800" cy="688280"/>
          </a:xfrm>
          <a:prstGeom prst="rect">
            <a:avLst/>
          </a:prstGeom>
          <a:noFill/>
          <a:ln/>
        </p:spPr>
        <p:txBody>
          <a:bodyPr wrap="square" lIns="0" tIns="0" rIns="0" bIns="0" rtlCol="0" anchor="t">
            <a:normAutofit/>
          </a:bodyPr>
          <a:lstStyle/>
          <a:p>
            <a:pPr marL="0" indent="0" algn="l">
              <a:lnSpc>
                <a:spcPts val="1740"/>
              </a:lnSpc>
              <a:buNone/>
            </a:pPr>
            <a:r>
              <a:rPr lang="en-US" sz="1200" dirty="0">
                <a:solidFill>
                  <a:srgbClr val="A1A1AA"/>
                </a:solidFill>
                <a:latin typeface="Arial" pitchFamily="34" charset="0"/>
                <a:ea typeface="Arial" pitchFamily="34" charset="-122"/>
                <a:cs typeface="Arial" pitchFamily="34" charset="-120"/>
              </a:rPr>
              <a:t>Si el modelo usa distancias o coeficientes.</a:t>
            </a:r>
            <a:endParaRPr lang="en-US" sz="1200" dirty="0"/>
          </a:p>
        </p:txBody>
      </p:sp>
      <p:sp>
        <p:nvSpPr>
          <p:cNvPr id="12" name="Shape 10"/>
          <p:cNvSpPr/>
          <p:nvPr/>
        </p:nvSpPr>
        <p:spPr>
          <a:xfrm>
            <a:off x="5086350" y="1802011"/>
            <a:ext cx="2019300" cy="1788021"/>
          </a:xfrm>
          <a:prstGeom prst="roundRect">
            <a:avLst>
              <a:gd name="adj" fmla="val 6748"/>
            </a:avLst>
          </a:prstGeom>
          <a:solidFill>
            <a:srgbClr val="1A1A1F"/>
          </a:solidFill>
          <a:ln w="12700">
            <a:solidFill>
              <a:srgbClr val="2C2C33"/>
            </a:solidFill>
            <a:prstDash val="solid"/>
          </a:ln>
        </p:spPr>
        <p:txBody>
          <a:bodyPr/>
          <a:lstStyle/>
          <a:p>
            <a:endParaRPr lang="es-CO"/>
          </a:p>
        </p:txBody>
      </p:sp>
      <p:sp>
        <p:nvSpPr>
          <p:cNvPr id="13" name="Text 11"/>
          <p:cNvSpPr/>
          <p:nvPr/>
        </p:nvSpPr>
        <p:spPr>
          <a:xfrm>
            <a:off x="5270500" y="1986161"/>
            <a:ext cx="1701800" cy="416520"/>
          </a:xfrm>
          <a:prstGeom prst="rect">
            <a:avLst/>
          </a:prstGeom>
          <a:noFill/>
          <a:ln/>
        </p:spPr>
        <p:txBody>
          <a:bodyPr wrap="square" lIns="0" tIns="0" rIns="0" bIns="0" rtlCol="0" anchor="t">
            <a:normAutofit/>
          </a:bodyPr>
          <a:lstStyle/>
          <a:p>
            <a:pPr marL="0" indent="0" algn="l">
              <a:lnSpc>
                <a:spcPts val="3080"/>
              </a:lnSpc>
              <a:buNone/>
            </a:pPr>
            <a:r>
              <a:rPr lang="en-US" sz="2200" b="1" dirty="0">
                <a:solidFill>
                  <a:srgbClr val="E4002B"/>
                </a:solidFill>
                <a:latin typeface="Courier New" pitchFamily="34" charset="0"/>
                <a:ea typeface="Courier New" pitchFamily="34" charset="-122"/>
                <a:cs typeface="Courier New" pitchFamily="34" charset="-120"/>
              </a:rPr>
              <a:t>3</a:t>
            </a:r>
            <a:endParaRPr lang="en-US" sz="2200" dirty="0"/>
          </a:p>
        </p:txBody>
      </p:sp>
      <p:sp>
        <p:nvSpPr>
          <p:cNvPr id="14" name="Text 12"/>
          <p:cNvSpPr/>
          <p:nvPr/>
        </p:nvSpPr>
        <p:spPr>
          <a:xfrm>
            <a:off x="5270500" y="2453481"/>
            <a:ext cx="1701800" cy="23872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F4F4F5"/>
                </a:solidFill>
                <a:latin typeface="Arial" pitchFamily="34" charset="0"/>
                <a:ea typeface="Arial" pitchFamily="34" charset="-122"/>
                <a:cs typeface="Arial" pitchFamily="34" charset="-120"/>
              </a:rPr>
              <a:t>Ajusta perillas</a:t>
            </a:r>
            <a:endParaRPr lang="en-US" sz="1400" dirty="0"/>
          </a:p>
        </p:txBody>
      </p:sp>
      <p:sp>
        <p:nvSpPr>
          <p:cNvPr id="15" name="Text 13"/>
          <p:cNvSpPr/>
          <p:nvPr/>
        </p:nvSpPr>
        <p:spPr>
          <a:xfrm>
            <a:off x="5270500" y="2743002"/>
            <a:ext cx="1701800" cy="467320"/>
          </a:xfrm>
          <a:prstGeom prst="rect">
            <a:avLst/>
          </a:prstGeom>
          <a:noFill/>
          <a:ln/>
        </p:spPr>
        <p:txBody>
          <a:bodyPr wrap="square" lIns="0" tIns="0" rIns="0" bIns="0" rtlCol="0" anchor="t">
            <a:normAutofit/>
          </a:bodyPr>
          <a:lstStyle/>
          <a:p>
            <a:pPr marL="0" indent="0" algn="l">
              <a:lnSpc>
                <a:spcPts val="1740"/>
              </a:lnSpc>
              <a:buNone/>
            </a:pPr>
            <a:r>
              <a:rPr lang="en-US" sz="1200" dirty="0">
                <a:solidFill>
                  <a:srgbClr val="A1A1AA"/>
                </a:solidFill>
                <a:latin typeface="Arial" pitchFamily="34" charset="0"/>
                <a:ea typeface="Arial" pitchFamily="34" charset="-122"/>
                <a:cs typeface="Arial" pitchFamily="34" charset="-120"/>
              </a:rPr>
              <a:t>Con GridSearchCV y la métrica que importa.</a:t>
            </a:r>
            <a:endParaRPr lang="en-US" sz="1200" dirty="0"/>
          </a:p>
        </p:txBody>
      </p:sp>
      <p:sp>
        <p:nvSpPr>
          <p:cNvPr id="16" name="Shape 14"/>
          <p:cNvSpPr/>
          <p:nvPr/>
        </p:nvSpPr>
        <p:spPr>
          <a:xfrm>
            <a:off x="7219950" y="1802011"/>
            <a:ext cx="2019300" cy="1788021"/>
          </a:xfrm>
          <a:prstGeom prst="roundRect">
            <a:avLst>
              <a:gd name="adj" fmla="val 6748"/>
            </a:avLst>
          </a:prstGeom>
          <a:solidFill>
            <a:srgbClr val="1A1A1F"/>
          </a:solidFill>
          <a:ln w="12700">
            <a:solidFill>
              <a:srgbClr val="2C2C33"/>
            </a:solidFill>
            <a:prstDash val="solid"/>
          </a:ln>
        </p:spPr>
        <p:txBody>
          <a:bodyPr/>
          <a:lstStyle/>
          <a:p>
            <a:endParaRPr lang="es-CO"/>
          </a:p>
        </p:txBody>
      </p:sp>
      <p:sp>
        <p:nvSpPr>
          <p:cNvPr id="17" name="Text 15"/>
          <p:cNvSpPr/>
          <p:nvPr/>
        </p:nvSpPr>
        <p:spPr>
          <a:xfrm>
            <a:off x="7404100" y="1986161"/>
            <a:ext cx="1701800" cy="416520"/>
          </a:xfrm>
          <a:prstGeom prst="rect">
            <a:avLst/>
          </a:prstGeom>
          <a:noFill/>
          <a:ln/>
        </p:spPr>
        <p:txBody>
          <a:bodyPr wrap="square" lIns="0" tIns="0" rIns="0" bIns="0" rtlCol="0" anchor="t">
            <a:normAutofit/>
          </a:bodyPr>
          <a:lstStyle/>
          <a:p>
            <a:pPr marL="0" indent="0" algn="l">
              <a:lnSpc>
                <a:spcPts val="3080"/>
              </a:lnSpc>
              <a:buNone/>
            </a:pPr>
            <a:r>
              <a:rPr lang="en-US" sz="2200" b="1" dirty="0">
                <a:solidFill>
                  <a:srgbClr val="E4002B"/>
                </a:solidFill>
                <a:latin typeface="Courier New" pitchFamily="34" charset="0"/>
                <a:ea typeface="Courier New" pitchFamily="34" charset="-122"/>
                <a:cs typeface="Courier New" pitchFamily="34" charset="-120"/>
              </a:rPr>
              <a:t>4</a:t>
            </a:r>
            <a:endParaRPr lang="en-US" sz="2200" dirty="0"/>
          </a:p>
        </p:txBody>
      </p:sp>
      <p:sp>
        <p:nvSpPr>
          <p:cNvPr id="18" name="Text 16"/>
          <p:cNvSpPr/>
          <p:nvPr/>
        </p:nvSpPr>
        <p:spPr>
          <a:xfrm>
            <a:off x="7404100" y="2453481"/>
            <a:ext cx="1701800" cy="452041"/>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F4F4F5"/>
                </a:solidFill>
                <a:latin typeface="Arial" pitchFamily="34" charset="0"/>
                <a:ea typeface="Arial" pitchFamily="34" charset="-122"/>
                <a:cs typeface="Arial" pitchFamily="34" charset="-120"/>
              </a:rPr>
              <a:t>Prueba otro modelo</a:t>
            </a:r>
            <a:endParaRPr lang="en-US" sz="1400" dirty="0"/>
          </a:p>
        </p:txBody>
      </p:sp>
      <p:sp>
        <p:nvSpPr>
          <p:cNvPr id="19" name="Text 17"/>
          <p:cNvSpPr/>
          <p:nvPr/>
        </p:nvSpPr>
        <p:spPr>
          <a:xfrm>
            <a:off x="7404100" y="2956322"/>
            <a:ext cx="1701800" cy="467320"/>
          </a:xfrm>
          <a:prstGeom prst="rect">
            <a:avLst/>
          </a:prstGeom>
          <a:noFill/>
          <a:ln/>
        </p:spPr>
        <p:txBody>
          <a:bodyPr wrap="square" lIns="0" tIns="0" rIns="0" bIns="0" rtlCol="0" anchor="t">
            <a:normAutofit/>
          </a:bodyPr>
          <a:lstStyle/>
          <a:p>
            <a:pPr marL="0" indent="0" algn="l">
              <a:lnSpc>
                <a:spcPts val="1740"/>
              </a:lnSpc>
              <a:buNone/>
            </a:pPr>
            <a:r>
              <a:rPr lang="en-US" sz="1200" dirty="0">
                <a:solidFill>
                  <a:srgbClr val="A1A1AA"/>
                </a:solidFill>
                <a:latin typeface="Arial" pitchFamily="34" charset="0"/>
                <a:ea typeface="Arial" pitchFamily="34" charset="-122"/>
                <a:cs typeface="Arial" pitchFamily="34" charset="-120"/>
              </a:rPr>
              <a:t>Por ejemplo, un bosque aleatorio.</a:t>
            </a:r>
            <a:endParaRPr lang="en-US" sz="1200" dirty="0"/>
          </a:p>
        </p:txBody>
      </p:sp>
      <p:sp>
        <p:nvSpPr>
          <p:cNvPr id="20" name="Shape 18"/>
          <p:cNvSpPr/>
          <p:nvPr/>
        </p:nvSpPr>
        <p:spPr>
          <a:xfrm>
            <a:off x="9353550" y="1802011"/>
            <a:ext cx="2019300" cy="1788021"/>
          </a:xfrm>
          <a:prstGeom prst="roundRect">
            <a:avLst>
              <a:gd name="adj" fmla="val 6748"/>
            </a:avLst>
          </a:prstGeom>
          <a:solidFill>
            <a:srgbClr val="1F0A0F"/>
          </a:solidFill>
          <a:ln w="12700">
            <a:solidFill>
              <a:srgbClr val="E4002B"/>
            </a:solidFill>
            <a:prstDash val="solid"/>
          </a:ln>
        </p:spPr>
        <p:txBody>
          <a:bodyPr/>
          <a:lstStyle/>
          <a:p>
            <a:endParaRPr lang="es-CO"/>
          </a:p>
        </p:txBody>
      </p:sp>
      <p:sp>
        <p:nvSpPr>
          <p:cNvPr id="21" name="Text 19"/>
          <p:cNvSpPr/>
          <p:nvPr/>
        </p:nvSpPr>
        <p:spPr>
          <a:xfrm>
            <a:off x="9537700" y="1986161"/>
            <a:ext cx="1701800" cy="416520"/>
          </a:xfrm>
          <a:prstGeom prst="rect">
            <a:avLst/>
          </a:prstGeom>
          <a:noFill/>
          <a:ln/>
        </p:spPr>
        <p:txBody>
          <a:bodyPr wrap="square" lIns="0" tIns="0" rIns="0" bIns="0" rtlCol="0" anchor="t">
            <a:normAutofit/>
          </a:bodyPr>
          <a:lstStyle/>
          <a:p>
            <a:pPr marL="0" indent="0" algn="l">
              <a:lnSpc>
                <a:spcPts val="3080"/>
              </a:lnSpc>
              <a:buNone/>
            </a:pPr>
            <a:r>
              <a:rPr lang="en-US" sz="2200" b="1" dirty="0">
                <a:solidFill>
                  <a:srgbClr val="FF5C77"/>
                </a:solidFill>
                <a:latin typeface="Courier New" pitchFamily="34" charset="0"/>
                <a:ea typeface="Courier New" pitchFamily="34" charset="-122"/>
                <a:cs typeface="Courier New" pitchFamily="34" charset="-120"/>
              </a:rPr>
              <a:t>5</a:t>
            </a:r>
            <a:endParaRPr lang="en-US" sz="2200" dirty="0"/>
          </a:p>
        </p:txBody>
      </p:sp>
      <p:sp>
        <p:nvSpPr>
          <p:cNvPr id="22" name="Text 20"/>
          <p:cNvSpPr/>
          <p:nvPr/>
        </p:nvSpPr>
        <p:spPr>
          <a:xfrm>
            <a:off x="9537700" y="2453481"/>
            <a:ext cx="1701800" cy="23872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F4F4F5"/>
                </a:solidFill>
                <a:latin typeface="Arial" pitchFamily="34" charset="0"/>
                <a:ea typeface="Arial" pitchFamily="34" charset="-122"/>
                <a:cs typeface="Arial" pitchFamily="34" charset="-120"/>
              </a:rPr>
              <a:t>Mide bien</a:t>
            </a:r>
            <a:endParaRPr lang="en-US" sz="1400" dirty="0"/>
          </a:p>
        </p:txBody>
      </p:sp>
      <p:sp>
        <p:nvSpPr>
          <p:cNvPr id="23" name="Text 21"/>
          <p:cNvSpPr/>
          <p:nvPr/>
        </p:nvSpPr>
        <p:spPr>
          <a:xfrm>
            <a:off x="9537700" y="2743002"/>
            <a:ext cx="1701800" cy="688280"/>
          </a:xfrm>
          <a:prstGeom prst="rect">
            <a:avLst/>
          </a:prstGeom>
          <a:noFill/>
          <a:ln/>
        </p:spPr>
        <p:txBody>
          <a:bodyPr wrap="square" lIns="0" tIns="0" rIns="0" bIns="0" rtlCol="0" anchor="t">
            <a:normAutofit/>
          </a:bodyPr>
          <a:lstStyle/>
          <a:p>
            <a:pPr marL="0" indent="0" algn="l">
              <a:lnSpc>
                <a:spcPts val="1740"/>
              </a:lnSpc>
              <a:buNone/>
            </a:pPr>
            <a:r>
              <a:rPr lang="en-US" sz="1200" dirty="0">
                <a:solidFill>
                  <a:srgbClr val="F4F4F5"/>
                </a:solidFill>
                <a:latin typeface="Arial" pitchFamily="34" charset="0"/>
                <a:ea typeface="Arial" pitchFamily="34" charset="-122"/>
                <a:cs typeface="Arial" pitchFamily="34" charset="-120"/>
              </a:rPr>
              <a:t>Validación cruzada siempre; examen final una sola vez.</a:t>
            </a:r>
            <a:endParaRPr lang="en-US" sz="1200" dirty="0"/>
          </a:p>
        </p:txBody>
      </p:sp>
      <p:sp>
        <p:nvSpPr>
          <p:cNvPr id="24" name="Shape 22"/>
          <p:cNvSpPr/>
          <p:nvPr/>
        </p:nvSpPr>
        <p:spPr>
          <a:xfrm>
            <a:off x="819150" y="3805932"/>
            <a:ext cx="10553700" cy="871736"/>
          </a:xfrm>
          <a:prstGeom prst="roundRect">
            <a:avLst>
              <a:gd name="adj" fmla="val 13840"/>
            </a:avLst>
          </a:prstGeom>
          <a:solidFill>
            <a:srgbClr val="1F0A0F"/>
          </a:solidFill>
          <a:ln w="12700">
            <a:solidFill>
              <a:srgbClr val="E4002B"/>
            </a:solidFill>
            <a:prstDash val="solid"/>
          </a:ln>
        </p:spPr>
        <p:txBody>
          <a:bodyPr/>
          <a:lstStyle/>
          <a:p>
            <a:endParaRPr lang="es-CO"/>
          </a:p>
        </p:txBody>
      </p:sp>
      <p:sp>
        <p:nvSpPr>
          <p:cNvPr id="25" name="Text 23"/>
          <p:cNvSpPr/>
          <p:nvPr/>
        </p:nvSpPr>
        <p:spPr>
          <a:xfrm>
            <a:off x="1079500" y="3990082"/>
            <a:ext cx="10333990"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E4002B"/>
                </a:solidFill>
                <a:latin typeface="Courier New" pitchFamily="34" charset="0"/>
                <a:ea typeface="Courier New" pitchFamily="34" charset="-122"/>
                <a:cs typeface="Courier New" pitchFamily="34" charset="-120"/>
              </a:rPr>
              <a:t>EN PALABRAS SIMPLES</a:t>
            </a:r>
            <a:endParaRPr lang="en-US" sz="1200" dirty="0"/>
          </a:p>
        </p:txBody>
      </p:sp>
      <p:sp>
        <p:nvSpPr>
          <p:cNvPr id="26" name="Text 24"/>
          <p:cNvSpPr/>
          <p:nvPr/>
        </p:nvSpPr>
        <p:spPr>
          <a:xfrm>
            <a:off x="1079500" y="4254202"/>
            <a:ext cx="10333990" cy="264716"/>
          </a:xfrm>
          <a:prstGeom prst="rect">
            <a:avLst/>
          </a:prstGeom>
          <a:noFill/>
          <a:ln/>
        </p:spPr>
        <p:txBody>
          <a:bodyPr wrap="square" lIns="0" tIns="0" rIns="0" bIns="0" rtlCol="0" anchor="t">
            <a:normAutofit/>
          </a:bodyPr>
          <a:lstStyle/>
          <a:p>
            <a:pPr marL="0" indent="0" algn="l">
              <a:lnSpc>
                <a:spcPts val="1885"/>
              </a:lnSpc>
              <a:buNone/>
            </a:pPr>
            <a:r>
              <a:rPr lang="en-US" sz="1300" dirty="0">
                <a:solidFill>
                  <a:srgbClr val="F4F4F5"/>
                </a:solidFill>
                <a:latin typeface="Arial" pitchFamily="34" charset="0"/>
                <a:ea typeface="Arial" pitchFamily="34" charset="-122"/>
                <a:cs typeface="Arial" pitchFamily="34" charset="-120"/>
              </a:rPr>
              <a:t>Cambia una cosa a la vez, mide y quédate con lo que funciona. Así trabaja un científico de datos.</a:t>
            </a:r>
            <a:endParaRPr lang="en-US" sz="1300" dirty="0"/>
          </a:p>
        </p:txBody>
      </p:sp>
      <p:sp>
        <p:nvSpPr>
          <p:cNvPr id="27" name="Text 25"/>
          <p:cNvSpPr/>
          <p:nvPr/>
        </p:nvSpPr>
        <p:spPr>
          <a:xfrm>
            <a:off x="812800" y="6238280"/>
            <a:ext cx="7848600" cy="238720"/>
          </a:xfrm>
          <a:prstGeom prst="rect">
            <a:avLst/>
          </a:prstGeom>
          <a:noFill/>
          <a:ln/>
        </p:spPr>
        <p:txBody>
          <a:bodyPr wrap="square" lIns="0" tIns="0" rIns="0" bIns="0" rtlCol="0" anchor="t">
            <a:normAutofit/>
          </a:bodyPr>
          <a:lstStyle/>
          <a:p>
            <a:pPr marL="0" indent="0" algn="l">
              <a:lnSpc>
                <a:spcPts val="1680"/>
              </a:lnSpc>
              <a:buNone/>
            </a:pPr>
            <a:r>
              <a:rPr lang="en-US" sz="1200" kern="0" spc="100" dirty="0">
                <a:solidFill>
                  <a:srgbClr val="71717A"/>
                </a:solidFill>
                <a:latin typeface="Courier New" pitchFamily="34" charset="0"/>
                <a:ea typeface="Courier New" pitchFamily="34" charset="-122"/>
                <a:cs typeface="Courier New" pitchFamily="34" charset="-120"/>
              </a:rPr>
              <a:t>UNIDAD 4 · VALIDACIÓN DE MODELOS</a:t>
            </a:r>
            <a:endParaRPr lang="en-US" sz="1200" dirty="0"/>
          </a:p>
        </p:txBody>
      </p:sp>
      <p:sp>
        <p:nvSpPr>
          <p:cNvPr id="28" name="Text 26"/>
          <p:cNvSpPr/>
          <p:nvPr/>
        </p:nvSpPr>
        <p:spPr>
          <a:xfrm>
            <a:off x="10058400" y="6238280"/>
            <a:ext cx="1320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71717A"/>
                </a:solidFill>
                <a:latin typeface="Courier New" pitchFamily="34" charset="0"/>
                <a:ea typeface="Courier New" pitchFamily="34" charset="-122"/>
                <a:cs typeface="Courier New" pitchFamily="34" charset="-120"/>
              </a:rPr>
              <a:t>32</a:t>
            </a:r>
            <a:endParaRPr lang="en-US" sz="12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0B0B0D"/>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marL="0" indent="0" algn="l">
              <a:lnSpc>
                <a:spcPts val="1820"/>
              </a:lnSpc>
              <a:buNone/>
            </a:pPr>
            <a:r>
              <a:rPr lang="en-US" sz="1300" b="1" kern="0" spc="200" dirty="0">
                <a:solidFill>
                  <a:srgbClr val="E4002B"/>
                </a:solidFill>
                <a:latin typeface="Courier New" pitchFamily="34" charset="0"/>
                <a:ea typeface="Courier New" pitchFamily="34" charset="-122"/>
                <a:cs typeface="Courier New" pitchFamily="34" charset="-120"/>
              </a:rPr>
              <a:t>MANOS A LA OBRA</a:t>
            </a:r>
            <a:endParaRPr lang="en-US" sz="1300" dirty="0"/>
          </a:p>
        </p:txBody>
      </p:sp>
      <p:sp>
        <p:nvSpPr>
          <p:cNvPr id="3" name="Text 1"/>
          <p:cNvSpPr/>
          <p:nvPr/>
        </p:nvSpPr>
        <p:spPr>
          <a:xfrm>
            <a:off x="812800" y="1145480"/>
            <a:ext cx="10883392" cy="472380"/>
          </a:xfrm>
          <a:prstGeom prst="rect">
            <a:avLst/>
          </a:prstGeom>
          <a:noFill/>
          <a:ln/>
        </p:spPr>
        <p:txBody>
          <a:bodyPr wrap="square" lIns="0" tIns="0" rIns="0" bIns="0" rtlCol="0" anchor="t">
            <a:normAutofit/>
          </a:bodyPr>
          <a:lstStyle/>
          <a:p>
            <a:pPr marL="0" indent="0" algn="l">
              <a:lnSpc>
                <a:spcPts val="3520"/>
              </a:lnSpc>
              <a:buNone/>
            </a:pPr>
            <a:r>
              <a:rPr lang="en-US" sz="3200" b="1" kern="0" spc="-50" dirty="0">
                <a:solidFill>
                  <a:srgbClr val="F4F4F5"/>
                </a:solidFill>
                <a:latin typeface="Arial" pitchFamily="34" charset="0"/>
                <a:ea typeface="Arial" pitchFamily="34" charset="-122"/>
                <a:cs typeface="Arial" pitchFamily="34" charset="-120"/>
              </a:rPr>
              <a:t>Cuatro cuadernos de Colab, uno por tema</a:t>
            </a:r>
            <a:endParaRPr lang="en-US" sz="3200" dirty="0"/>
          </a:p>
        </p:txBody>
      </p:sp>
      <p:sp>
        <p:nvSpPr>
          <p:cNvPr id="4" name="Shape 2"/>
          <p:cNvSpPr/>
          <p:nvPr/>
        </p:nvSpPr>
        <p:spPr>
          <a:xfrm>
            <a:off x="819150" y="1802011"/>
            <a:ext cx="5194300" cy="1234380"/>
          </a:xfrm>
          <a:prstGeom prst="roundRect">
            <a:avLst>
              <a:gd name="adj" fmla="val 9774"/>
            </a:avLst>
          </a:prstGeom>
          <a:solidFill>
            <a:srgbClr val="1A1A1F"/>
          </a:solidFill>
          <a:ln w="12700">
            <a:solidFill>
              <a:srgbClr val="2C2C33"/>
            </a:solidFill>
            <a:prstDash val="solid"/>
          </a:ln>
        </p:spPr>
        <p:txBody>
          <a:bodyPr/>
          <a:lstStyle/>
          <a:p>
            <a:endParaRPr lang="es-CO"/>
          </a:p>
        </p:txBody>
      </p:sp>
      <p:sp>
        <p:nvSpPr>
          <p:cNvPr id="5" name="Text 3"/>
          <p:cNvSpPr/>
          <p:nvPr/>
        </p:nvSpPr>
        <p:spPr>
          <a:xfrm>
            <a:off x="1028700" y="2011561"/>
            <a:ext cx="4918456"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E4002B"/>
                </a:solidFill>
                <a:latin typeface="Arial" pitchFamily="34" charset="0"/>
                <a:ea typeface="Arial" pitchFamily="34" charset="-122"/>
                <a:cs typeface="Arial" pitchFamily="34" charset="-120"/>
              </a:rPr>
              <a:t>1</a:t>
            </a:r>
            <a:r>
              <a:rPr lang="en-US" sz="1500" b="1" dirty="0">
                <a:solidFill>
                  <a:srgbClr val="F4F4F5"/>
                </a:solidFill>
                <a:latin typeface="Arial" pitchFamily="34" charset="0"/>
                <a:ea typeface="Arial" pitchFamily="34" charset="-122"/>
                <a:cs typeface="Arial" pitchFamily="34" charset="-120"/>
              </a:rPr>
              <a:t> · Métricas de evaluación</a:t>
            </a:r>
            <a:endParaRPr lang="en-US" sz="1500" dirty="0"/>
          </a:p>
        </p:txBody>
      </p:sp>
      <p:sp>
        <p:nvSpPr>
          <p:cNvPr id="6" name="Text 4"/>
          <p:cNvSpPr/>
          <p:nvPr/>
        </p:nvSpPr>
        <p:spPr>
          <a:xfrm>
            <a:off x="1028700" y="2316361"/>
            <a:ext cx="4918456" cy="246360"/>
          </a:xfrm>
          <a:prstGeom prst="rect">
            <a:avLst/>
          </a:prstGeom>
          <a:noFill/>
          <a:ln/>
        </p:spPr>
        <p:txBody>
          <a:bodyPr wrap="square" lIns="0" tIns="0" rIns="0" bIns="0" rtlCol="0" anchor="t">
            <a:normAutofit/>
          </a:bodyPr>
          <a:lstStyle/>
          <a:p>
            <a:pPr marL="0" indent="0" algn="l">
              <a:lnSpc>
                <a:spcPts val="1740"/>
              </a:lnSpc>
              <a:buNone/>
            </a:pPr>
            <a:r>
              <a:rPr lang="en-US" sz="1200" dirty="0">
                <a:solidFill>
                  <a:srgbClr val="A1A1AA"/>
                </a:solidFill>
                <a:latin typeface="Arial" pitchFamily="34" charset="0"/>
                <a:ea typeface="Arial" pitchFamily="34" charset="-122"/>
                <a:cs typeface="Arial" pitchFamily="34" charset="-120"/>
              </a:rPr>
              <a:t>Spam, ventas, tumores y la trampa del accuracy.</a:t>
            </a:r>
            <a:endParaRPr lang="en-US" sz="1200" dirty="0"/>
          </a:p>
        </p:txBody>
      </p:sp>
      <p:sp>
        <p:nvSpPr>
          <p:cNvPr id="7" name="Text 5"/>
          <p:cNvSpPr/>
          <p:nvPr/>
        </p:nvSpPr>
        <p:spPr>
          <a:xfrm>
            <a:off x="1028700" y="2613521"/>
            <a:ext cx="4918456"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E4E4E7"/>
                </a:solidFill>
                <a:latin typeface="Courier New" pitchFamily="34" charset="0"/>
                <a:ea typeface="Courier New" pitchFamily="34" charset="-122"/>
                <a:cs typeface="Courier New" pitchFamily="34" charset="-120"/>
              </a:rPr>
              <a:t>U4_Ejemplo1_Metricas.ipynb</a:t>
            </a:r>
            <a:endParaRPr lang="en-US" sz="1200" dirty="0"/>
          </a:p>
        </p:txBody>
      </p:sp>
      <p:sp>
        <p:nvSpPr>
          <p:cNvPr id="8" name="Shape 6"/>
          <p:cNvSpPr/>
          <p:nvPr/>
        </p:nvSpPr>
        <p:spPr>
          <a:xfrm>
            <a:off x="6178550" y="1802011"/>
            <a:ext cx="5194300" cy="1234380"/>
          </a:xfrm>
          <a:prstGeom prst="roundRect">
            <a:avLst>
              <a:gd name="adj" fmla="val 9774"/>
            </a:avLst>
          </a:prstGeom>
          <a:solidFill>
            <a:srgbClr val="1A1A1F"/>
          </a:solidFill>
          <a:ln w="12700">
            <a:solidFill>
              <a:srgbClr val="2C2C33"/>
            </a:solidFill>
            <a:prstDash val="solid"/>
          </a:ln>
        </p:spPr>
        <p:txBody>
          <a:bodyPr/>
          <a:lstStyle/>
          <a:p>
            <a:endParaRPr lang="es-CO"/>
          </a:p>
        </p:txBody>
      </p:sp>
      <p:sp>
        <p:nvSpPr>
          <p:cNvPr id="9" name="Text 7"/>
          <p:cNvSpPr/>
          <p:nvPr/>
        </p:nvSpPr>
        <p:spPr>
          <a:xfrm>
            <a:off x="6388100" y="2011561"/>
            <a:ext cx="4918456"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E4002B"/>
                </a:solidFill>
                <a:latin typeface="Arial" pitchFamily="34" charset="0"/>
                <a:ea typeface="Arial" pitchFamily="34" charset="-122"/>
                <a:cs typeface="Arial" pitchFamily="34" charset="-120"/>
              </a:rPr>
              <a:t>2</a:t>
            </a:r>
            <a:r>
              <a:rPr lang="en-US" sz="1500" b="1" dirty="0">
                <a:solidFill>
                  <a:srgbClr val="F4F4F5"/>
                </a:solidFill>
                <a:latin typeface="Arial" pitchFamily="34" charset="0"/>
                <a:ea typeface="Arial" pitchFamily="34" charset="-122"/>
                <a:cs typeface="Arial" pitchFamily="34" charset="-120"/>
              </a:rPr>
              <a:t> · Overfitting vs. underfitting</a:t>
            </a:r>
            <a:endParaRPr lang="en-US" sz="1500" dirty="0"/>
          </a:p>
        </p:txBody>
      </p:sp>
      <p:sp>
        <p:nvSpPr>
          <p:cNvPr id="10" name="Text 8"/>
          <p:cNvSpPr/>
          <p:nvPr/>
        </p:nvSpPr>
        <p:spPr>
          <a:xfrm>
            <a:off x="6388100" y="2316361"/>
            <a:ext cx="4918456" cy="246360"/>
          </a:xfrm>
          <a:prstGeom prst="rect">
            <a:avLst/>
          </a:prstGeom>
          <a:noFill/>
          <a:ln/>
        </p:spPr>
        <p:txBody>
          <a:bodyPr wrap="square" lIns="0" tIns="0" rIns="0" bIns="0" rtlCol="0" anchor="t">
            <a:normAutofit/>
          </a:bodyPr>
          <a:lstStyle/>
          <a:p>
            <a:pPr marL="0" indent="0" algn="l">
              <a:lnSpc>
                <a:spcPts val="1740"/>
              </a:lnSpc>
              <a:buNone/>
            </a:pPr>
            <a:r>
              <a:rPr lang="en-US" sz="1200" dirty="0">
                <a:solidFill>
                  <a:srgbClr val="A1A1AA"/>
                </a:solidFill>
                <a:latin typeface="Arial" pitchFamily="34" charset="0"/>
                <a:ea typeface="Arial" pitchFamily="34" charset="-122"/>
                <a:cs typeface="Arial" pitchFamily="34" charset="-120"/>
              </a:rPr>
              <a:t>Las tres curvas y el árbol que crece demasiado.</a:t>
            </a:r>
            <a:endParaRPr lang="en-US" sz="1200" dirty="0"/>
          </a:p>
        </p:txBody>
      </p:sp>
      <p:sp>
        <p:nvSpPr>
          <p:cNvPr id="11" name="Text 9"/>
          <p:cNvSpPr/>
          <p:nvPr/>
        </p:nvSpPr>
        <p:spPr>
          <a:xfrm>
            <a:off x="6388100" y="2613521"/>
            <a:ext cx="4918456"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E4E4E7"/>
                </a:solidFill>
                <a:latin typeface="Courier New" pitchFamily="34" charset="0"/>
                <a:ea typeface="Courier New" pitchFamily="34" charset="-122"/>
                <a:cs typeface="Courier New" pitchFamily="34" charset="-120"/>
              </a:rPr>
              <a:t>U4_Ejemplo2_Overfitting_Underfitting.ipynb</a:t>
            </a:r>
            <a:endParaRPr lang="en-US" sz="1200" dirty="0"/>
          </a:p>
        </p:txBody>
      </p:sp>
      <p:sp>
        <p:nvSpPr>
          <p:cNvPr id="12" name="Shape 10"/>
          <p:cNvSpPr/>
          <p:nvPr/>
        </p:nvSpPr>
        <p:spPr>
          <a:xfrm>
            <a:off x="819150" y="3201491"/>
            <a:ext cx="5194300" cy="1234380"/>
          </a:xfrm>
          <a:prstGeom prst="roundRect">
            <a:avLst>
              <a:gd name="adj" fmla="val 9774"/>
            </a:avLst>
          </a:prstGeom>
          <a:solidFill>
            <a:srgbClr val="1A1A1F"/>
          </a:solidFill>
          <a:ln w="12700">
            <a:solidFill>
              <a:srgbClr val="2C2C33"/>
            </a:solidFill>
            <a:prstDash val="solid"/>
          </a:ln>
        </p:spPr>
        <p:txBody>
          <a:bodyPr/>
          <a:lstStyle/>
          <a:p>
            <a:endParaRPr lang="es-CO"/>
          </a:p>
        </p:txBody>
      </p:sp>
      <p:sp>
        <p:nvSpPr>
          <p:cNvPr id="13" name="Text 11"/>
          <p:cNvSpPr/>
          <p:nvPr/>
        </p:nvSpPr>
        <p:spPr>
          <a:xfrm>
            <a:off x="1028700" y="3411041"/>
            <a:ext cx="4918456"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E4002B"/>
                </a:solidFill>
                <a:latin typeface="Arial" pitchFamily="34" charset="0"/>
                <a:ea typeface="Arial" pitchFamily="34" charset="-122"/>
                <a:cs typeface="Arial" pitchFamily="34" charset="-120"/>
              </a:rPr>
              <a:t>3</a:t>
            </a:r>
            <a:r>
              <a:rPr lang="en-US" sz="1500" b="1" dirty="0">
                <a:solidFill>
                  <a:srgbClr val="F4F4F5"/>
                </a:solidFill>
                <a:latin typeface="Arial" pitchFamily="34" charset="0"/>
                <a:ea typeface="Arial" pitchFamily="34" charset="-122"/>
                <a:cs typeface="Arial" pitchFamily="34" charset="-120"/>
              </a:rPr>
              <a:t> · Validación cruzada</a:t>
            </a:r>
            <a:endParaRPr lang="en-US" sz="1500" dirty="0"/>
          </a:p>
        </p:txBody>
      </p:sp>
      <p:sp>
        <p:nvSpPr>
          <p:cNvPr id="14" name="Text 12"/>
          <p:cNvSpPr/>
          <p:nvPr/>
        </p:nvSpPr>
        <p:spPr>
          <a:xfrm>
            <a:off x="1028700" y="3715841"/>
            <a:ext cx="4918456" cy="246360"/>
          </a:xfrm>
          <a:prstGeom prst="rect">
            <a:avLst/>
          </a:prstGeom>
          <a:noFill/>
          <a:ln/>
        </p:spPr>
        <p:txBody>
          <a:bodyPr wrap="square" lIns="0" tIns="0" rIns="0" bIns="0" rtlCol="0" anchor="t">
            <a:normAutofit/>
          </a:bodyPr>
          <a:lstStyle/>
          <a:p>
            <a:pPr marL="0" indent="0" algn="l">
              <a:lnSpc>
                <a:spcPts val="1740"/>
              </a:lnSpc>
              <a:buNone/>
            </a:pPr>
            <a:r>
              <a:rPr lang="en-US" sz="1200" dirty="0">
                <a:solidFill>
                  <a:srgbClr val="A1A1AA"/>
                </a:solidFill>
                <a:latin typeface="Arial" pitchFamily="34" charset="0"/>
                <a:ea typeface="Arial" pitchFamily="34" charset="-122"/>
                <a:cs typeface="Arial" pitchFamily="34" charset="-120"/>
              </a:rPr>
              <a:t>Suerte, 5 pliegues y comparación de modelos.</a:t>
            </a:r>
            <a:endParaRPr lang="en-US" sz="1200" dirty="0"/>
          </a:p>
        </p:txBody>
      </p:sp>
      <p:sp>
        <p:nvSpPr>
          <p:cNvPr id="15" name="Text 13"/>
          <p:cNvSpPr/>
          <p:nvPr/>
        </p:nvSpPr>
        <p:spPr>
          <a:xfrm>
            <a:off x="1028700" y="4013002"/>
            <a:ext cx="4918456"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E4E4E7"/>
                </a:solidFill>
                <a:latin typeface="Courier New" pitchFamily="34" charset="0"/>
                <a:ea typeface="Courier New" pitchFamily="34" charset="-122"/>
                <a:cs typeface="Courier New" pitchFamily="34" charset="-120"/>
              </a:rPr>
              <a:t>U4_Ejemplo3_Validacion_Cruzada.ipynb</a:t>
            </a:r>
            <a:endParaRPr lang="en-US" sz="1200" dirty="0"/>
          </a:p>
        </p:txBody>
      </p:sp>
      <p:sp>
        <p:nvSpPr>
          <p:cNvPr id="16" name="Shape 14"/>
          <p:cNvSpPr/>
          <p:nvPr/>
        </p:nvSpPr>
        <p:spPr>
          <a:xfrm>
            <a:off x="6178550" y="3201491"/>
            <a:ext cx="5194300" cy="1234380"/>
          </a:xfrm>
          <a:prstGeom prst="roundRect">
            <a:avLst>
              <a:gd name="adj" fmla="val 9774"/>
            </a:avLst>
          </a:prstGeom>
          <a:solidFill>
            <a:srgbClr val="1A1A1F"/>
          </a:solidFill>
          <a:ln w="12700">
            <a:solidFill>
              <a:srgbClr val="2C2C33"/>
            </a:solidFill>
            <a:prstDash val="solid"/>
          </a:ln>
        </p:spPr>
        <p:txBody>
          <a:bodyPr/>
          <a:lstStyle/>
          <a:p>
            <a:endParaRPr lang="es-CO"/>
          </a:p>
        </p:txBody>
      </p:sp>
      <p:sp>
        <p:nvSpPr>
          <p:cNvPr id="17" name="Text 15"/>
          <p:cNvSpPr/>
          <p:nvPr/>
        </p:nvSpPr>
        <p:spPr>
          <a:xfrm>
            <a:off x="6388100" y="3411041"/>
            <a:ext cx="4918456"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E4002B"/>
                </a:solidFill>
                <a:latin typeface="Arial" pitchFamily="34" charset="0"/>
                <a:ea typeface="Arial" pitchFamily="34" charset="-122"/>
                <a:cs typeface="Arial" pitchFamily="34" charset="-120"/>
              </a:rPr>
              <a:t>4</a:t>
            </a:r>
            <a:r>
              <a:rPr lang="en-US" sz="1500" b="1" dirty="0">
                <a:solidFill>
                  <a:srgbClr val="F4F4F5"/>
                </a:solidFill>
                <a:latin typeface="Arial" pitchFamily="34" charset="0"/>
                <a:ea typeface="Arial" pitchFamily="34" charset="-122"/>
                <a:cs typeface="Arial" pitchFamily="34" charset="-120"/>
              </a:rPr>
              <a:t> · Mejora de modelos</a:t>
            </a:r>
            <a:endParaRPr lang="en-US" sz="1500" dirty="0"/>
          </a:p>
        </p:txBody>
      </p:sp>
      <p:sp>
        <p:nvSpPr>
          <p:cNvPr id="18" name="Text 16"/>
          <p:cNvSpPr/>
          <p:nvPr/>
        </p:nvSpPr>
        <p:spPr>
          <a:xfrm>
            <a:off x="6388100" y="3715841"/>
            <a:ext cx="4918456" cy="246360"/>
          </a:xfrm>
          <a:prstGeom prst="rect">
            <a:avLst/>
          </a:prstGeom>
          <a:noFill/>
          <a:ln/>
        </p:spPr>
        <p:txBody>
          <a:bodyPr wrap="square" lIns="0" tIns="0" rIns="0" bIns="0" rtlCol="0" anchor="t">
            <a:normAutofit/>
          </a:bodyPr>
          <a:lstStyle/>
          <a:p>
            <a:pPr marL="0" indent="0" algn="l">
              <a:lnSpc>
                <a:spcPts val="1740"/>
              </a:lnSpc>
              <a:buNone/>
            </a:pPr>
            <a:r>
              <a:rPr lang="en-US" sz="1200" dirty="0">
                <a:solidFill>
                  <a:srgbClr val="A1A1AA"/>
                </a:solidFill>
                <a:latin typeface="Arial" pitchFamily="34" charset="0"/>
                <a:ea typeface="Arial" pitchFamily="34" charset="-122"/>
                <a:cs typeface="Arial" pitchFamily="34" charset="-120"/>
              </a:rPr>
              <a:t>Escalado, GridSearchCV, bosque y examen final.</a:t>
            </a:r>
            <a:endParaRPr lang="en-US" sz="1200" dirty="0"/>
          </a:p>
        </p:txBody>
      </p:sp>
      <p:sp>
        <p:nvSpPr>
          <p:cNvPr id="19" name="Text 17"/>
          <p:cNvSpPr/>
          <p:nvPr/>
        </p:nvSpPr>
        <p:spPr>
          <a:xfrm>
            <a:off x="6388100" y="4013002"/>
            <a:ext cx="4918456"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E4E4E7"/>
                </a:solidFill>
                <a:latin typeface="Courier New" pitchFamily="34" charset="0"/>
                <a:ea typeface="Courier New" pitchFamily="34" charset="-122"/>
                <a:cs typeface="Courier New" pitchFamily="34" charset="-120"/>
              </a:rPr>
              <a:t>U4_Ejemplo4_Mejora_de_Modelos.ipynb</a:t>
            </a:r>
            <a:endParaRPr lang="en-US" sz="1200" dirty="0"/>
          </a:p>
        </p:txBody>
      </p:sp>
      <p:sp>
        <p:nvSpPr>
          <p:cNvPr id="20" name="Text 18"/>
          <p:cNvSpPr/>
          <p:nvPr/>
        </p:nvSpPr>
        <p:spPr>
          <a:xfrm>
            <a:off x="812800" y="6238280"/>
            <a:ext cx="7848600" cy="238720"/>
          </a:xfrm>
          <a:prstGeom prst="rect">
            <a:avLst/>
          </a:prstGeom>
          <a:noFill/>
          <a:ln/>
        </p:spPr>
        <p:txBody>
          <a:bodyPr wrap="square" lIns="0" tIns="0" rIns="0" bIns="0" rtlCol="0" anchor="t">
            <a:normAutofit/>
          </a:bodyPr>
          <a:lstStyle/>
          <a:p>
            <a:pPr marL="0" indent="0" algn="l">
              <a:lnSpc>
                <a:spcPts val="1680"/>
              </a:lnSpc>
              <a:buNone/>
            </a:pPr>
            <a:r>
              <a:rPr lang="en-US" sz="1200" kern="0" spc="100" dirty="0">
                <a:solidFill>
                  <a:srgbClr val="71717A"/>
                </a:solidFill>
                <a:latin typeface="Courier New" pitchFamily="34" charset="0"/>
                <a:ea typeface="Courier New" pitchFamily="34" charset="-122"/>
                <a:cs typeface="Courier New" pitchFamily="34" charset="-120"/>
              </a:rPr>
              <a:t>UNIDAD 4 · VALIDACIÓN DE MODELOS</a:t>
            </a:r>
            <a:endParaRPr lang="en-US" sz="1200" dirty="0"/>
          </a:p>
        </p:txBody>
      </p:sp>
      <p:sp>
        <p:nvSpPr>
          <p:cNvPr id="21" name="Text 19"/>
          <p:cNvSpPr/>
          <p:nvPr/>
        </p:nvSpPr>
        <p:spPr>
          <a:xfrm>
            <a:off x="10058400" y="6238280"/>
            <a:ext cx="1320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71717A"/>
                </a:solidFill>
                <a:latin typeface="Courier New" pitchFamily="34" charset="0"/>
                <a:ea typeface="Courier New" pitchFamily="34" charset="-122"/>
                <a:cs typeface="Courier New" pitchFamily="34" charset="-120"/>
              </a:rPr>
              <a:t>33</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213</TotalTime>
  <Words>5428</Words>
  <Application>Microsoft Office PowerPoint</Application>
  <PresentationFormat>Panorámica</PresentationFormat>
  <Paragraphs>629</Paragraphs>
  <Slides>33</Slides>
  <Notes>33</Notes>
  <HiddenSlides>0</HiddenSlides>
  <MMClips>0</MMClips>
  <ScaleCrop>false</ScaleCrop>
  <HeadingPairs>
    <vt:vector size="6" baseType="variant">
      <vt:variant>
        <vt:lpstr>Fuentes usadas</vt:lpstr>
      </vt:variant>
      <vt:variant>
        <vt:i4>2</vt:i4>
      </vt:variant>
      <vt:variant>
        <vt:lpstr>Tema</vt:lpstr>
      </vt:variant>
      <vt:variant>
        <vt:i4>1</vt:i4>
      </vt:variant>
      <vt:variant>
        <vt:lpstr>Títulos de diapositiva</vt:lpstr>
      </vt:variant>
      <vt:variant>
        <vt:i4>33</vt:i4>
      </vt:variant>
    </vt:vector>
  </HeadingPairs>
  <TitlesOfParts>
    <vt:vector size="36" baseType="lpstr">
      <vt:lpstr>Arial</vt:lpstr>
      <vt:lpstr>Courier New</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Unidad 4 · Validación de modelos</dc:title>
  <dc:subject>PptxGenJS Presentation</dc:subject>
  <dc:creator>PptxGenJS</dc:creator>
  <cp:lastModifiedBy>Alonso Moya</cp:lastModifiedBy>
  <cp:revision>3</cp:revision>
  <dcterms:created xsi:type="dcterms:W3CDTF">2026-09-28T02:19:49Z</dcterms:created>
  <dcterms:modified xsi:type="dcterms:W3CDTF">2026-09-28T17:17:20Z</dcterms:modified>
</cp:coreProperties>
</file>