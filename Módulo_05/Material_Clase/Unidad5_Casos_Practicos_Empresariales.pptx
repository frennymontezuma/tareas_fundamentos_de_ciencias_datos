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5.xml" ContentType="application/vnd.openxmlformats-officedocument.drawingml.chart+xml"/>
  <Override PartName="/ppt/notesSlides/notesSlide27.xml" ContentType="application/vnd.openxmlformats-officedocument.presentationml.notesSlide+xml"/>
  <Override PartName="/ppt/charts/chart6.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Venta diaria promedio (miles de ₡)</a:t>
            </a:r>
          </a:p>
        </c:rich>
      </c:tx>
      <c:overlay val="0"/>
    </c:title>
    <c:autoTitleDeleted val="0"/>
    <c:plotArea>
      <c:layout/>
      <c:barChart>
        <c:barDir val="col"/>
        <c:grouping val="clustered"/>
        <c:varyColors val="0"/>
        <c:ser>
          <c:idx val="0"/>
          <c:order val="0"/>
          <c:tx>
            <c:strRef>
              <c:f>Sheet1!$B$1</c:f>
              <c:strCache>
                <c:ptCount val="1"/>
                <c:pt idx="0">
                  <c:v>Venta promedio</c:v>
                </c:pt>
              </c:strCache>
            </c:strRef>
          </c:tx>
          <c:spPr>
            <a:solidFill>
              <a:srgbClr val="555555"/>
            </a:solidFill>
            <a:effectLst/>
          </c:spPr>
          <c:invertIfNegative val="0"/>
          <c:dPt>
            <c:idx val="0"/>
            <c:invertIfNegative val="0"/>
            <c:bubble3D val="0"/>
            <c:extLst>
              <c:ext xmlns:c16="http://schemas.microsoft.com/office/drawing/2014/chart" uri="{C3380CC4-5D6E-409C-BE32-E72D297353CC}">
                <c16:uniqueId val="{00000001-8C7B-4CB0-AA8B-D22744EE7327}"/>
              </c:ext>
            </c:extLst>
          </c:dPt>
          <c:dPt>
            <c:idx val="1"/>
            <c:invertIfNegative val="0"/>
            <c:bubble3D val="0"/>
            <c:extLst>
              <c:ext xmlns:c16="http://schemas.microsoft.com/office/drawing/2014/chart" uri="{C3380CC4-5D6E-409C-BE32-E72D297353CC}">
                <c16:uniqueId val="{00000003-8C7B-4CB0-AA8B-D22744EE7327}"/>
              </c:ext>
            </c:extLst>
          </c:dPt>
          <c:dPt>
            <c:idx val="2"/>
            <c:invertIfNegative val="0"/>
            <c:bubble3D val="0"/>
            <c:extLst>
              <c:ext xmlns:c16="http://schemas.microsoft.com/office/drawing/2014/chart" uri="{C3380CC4-5D6E-409C-BE32-E72D297353CC}">
                <c16:uniqueId val="{00000005-8C7B-4CB0-AA8B-D22744EE7327}"/>
              </c:ext>
            </c:extLst>
          </c:dPt>
          <c:dPt>
            <c:idx val="3"/>
            <c:invertIfNegative val="0"/>
            <c:bubble3D val="0"/>
            <c:extLst>
              <c:ext xmlns:c16="http://schemas.microsoft.com/office/drawing/2014/chart" uri="{C3380CC4-5D6E-409C-BE32-E72D297353CC}">
                <c16:uniqueId val="{00000007-8C7B-4CB0-AA8B-D22744EE7327}"/>
              </c:ext>
            </c:extLst>
          </c:dPt>
          <c:dPt>
            <c:idx val="4"/>
            <c:invertIfNegative val="0"/>
            <c:bubble3D val="0"/>
            <c:extLst>
              <c:ext xmlns:c16="http://schemas.microsoft.com/office/drawing/2014/chart" uri="{C3380CC4-5D6E-409C-BE32-E72D297353CC}">
                <c16:uniqueId val="{00000009-8C7B-4CB0-AA8B-D22744EE7327}"/>
              </c:ext>
            </c:extLst>
          </c:dPt>
          <c:dPt>
            <c:idx val="5"/>
            <c:invertIfNegative val="0"/>
            <c:bubble3D val="0"/>
            <c:spPr>
              <a:solidFill>
                <a:srgbClr val="E4002B"/>
              </a:solidFill>
              <a:effectLst/>
            </c:spPr>
            <c:extLst>
              <c:ext xmlns:c16="http://schemas.microsoft.com/office/drawing/2014/chart" uri="{C3380CC4-5D6E-409C-BE32-E72D297353CC}">
                <c16:uniqueId val="{0000000B-8C7B-4CB0-AA8B-D22744EE7327}"/>
              </c:ext>
            </c:extLst>
          </c:dPt>
          <c:dPt>
            <c:idx val="6"/>
            <c:invertIfNegative val="0"/>
            <c:bubble3D val="0"/>
            <c:spPr>
              <a:solidFill>
                <a:srgbClr val="E4002B"/>
              </a:solidFill>
              <a:effectLst/>
            </c:spPr>
            <c:extLst>
              <c:ext xmlns:c16="http://schemas.microsoft.com/office/drawing/2014/chart" uri="{C3380CC4-5D6E-409C-BE32-E72D297353CC}">
                <c16:uniqueId val="{0000000D-8C7B-4CB0-AA8B-D22744EE7327}"/>
              </c:ext>
            </c:extLst>
          </c:dPt>
          <c:dLbls>
            <c:numFmt formatCode="#,##0" sourceLinked="0"/>
            <c:spPr>
              <a:noFill/>
              <a:ln>
                <a:noFill/>
              </a:ln>
              <a:effectLst/>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Lun</c:v>
                </c:pt>
                <c:pt idx="1">
                  <c:v>Mar</c:v>
                </c:pt>
                <c:pt idx="2">
                  <c:v>Mié</c:v>
                </c:pt>
                <c:pt idx="3">
                  <c:v>Jue</c:v>
                </c:pt>
                <c:pt idx="4">
                  <c:v>Vie</c:v>
                </c:pt>
                <c:pt idx="5">
                  <c:v>Sáb</c:v>
                </c:pt>
                <c:pt idx="6">
                  <c:v>Dom</c:v>
                </c:pt>
              </c:strCache>
            </c:strRef>
          </c:cat>
          <c:val>
            <c:numRef>
              <c:f>Sheet1!$B$2:$B$8</c:f>
              <c:numCache>
                <c:formatCode>General</c:formatCode>
                <c:ptCount val="7"/>
                <c:pt idx="0">
                  <c:v>980</c:v>
                </c:pt>
                <c:pt idx="1">
                  <c:v>950</c:v>
                </c:pt>
                <c:pt idx="2">
                  <c:v>996</c:v>
                </c:pt>
                <c:pt idx="3">
                  <c:v>1017</c:v>
                </c:pt>
                <c:pt idx="4">
                  <c:v>1124</c:v>
                </c:pt>
                <c:pt idx="5">
                  <c:v>1366</c:v>
                </c:pt>
                <c:pt idx="6">
                  <c:v>1240</c:v>
                </c:pt>
              </c:numCache>
            </c:numRef>
          </c:val>
          <c:extLst>
            <c:ext xmlns:c16="http://schemas.microsoft.com/office/drawing/2014/chart" uri="{C3380CC4-5D6E-409C-BE32-E72D297353CC}">
              <c16:uniqueId val="{0000000E-8C7B-4CB0-AA8B-D22744EE732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Error promedio diario (% de la venta) · menos es mejor</a:t>
            </a:r>
          </a:p>
        </c:rich>
      </c:tx>
      <c:overlay val="0"/>
    </c:title>
    <c:autoTitleDeleted val="0"/>
    <c:plotArea>
      <c:layout/>
      <c:barChart>
        <c:barDir val="bar"/>
        <c:grouping val="clustered"/>
        <c:varyColors val="0"/>
        <c:ser>
          <c:idx val="0"/>
          <c:order val="0"/>
          <c:tx>
            <c:strRef>
              <c:f>Sheet1!$B$1</c:f>
              <c:strCache>
                <c:ptCount val="1"/>
                <c:pt idx="0">
                  <c:v>Error %</c:v>
                </c:pt>
              </c:strCache>
            </c:strRef>
          </c:tx>
          <c:spPr>
            <a:solidFill>
              <a:srgbClr val="555555"/>
            </a:solidFill>
            <a:effectLst/>
          </c:spPr>
          <c:invertIfNegative val="0"/>
          <c:dPt>
            <c:idx val="0"/>
            <c:invertIfNegative val="0"/>
            <c:bubble3D val="0"/>
            <c:extLst>
              <c:ext xmlns:c16="http://schemas.microsoft.com/office/drawing/2014/chart" uri="{C3380CC4-5D6E-409C-BE32-E72D297353CC}">
                <c16:uniqueId val="{00000001-820F-4223-9A10-7593ED35D3CA}"/>
              </c:ext>
            </c:extLst>
          </c:dPt>
          <c:dPt>
            <c:idx val="1"/>
            <c:invertIfNegative val="0"/>
            <c:bubble3D val="0"/>
            <c:spPr>
              <a:solidFill>
                <a:srgbClr val="888888"/>
              </a:solidFill>
              <a:effectLst/>
            </c:spPr>
            <c:extLst>
              <c:ext xmlns:c16="http://schemas.microsoft.com/office/drawing/2014/chart" uri="{C3380CC4-5D6E-409C-BE32-E72D297353CC}">
                <c16:uniqueId val="{00000003-820F-4223-9A10-7593ED35D3CA}"/>
              </c:ext>
            </c:extLst>
          </c:dPt>
          <c:dPt>
            <c:idx val="2"/>
            <c:invertIfNegative val="0"/>
            <c:bubble3D val="0"/>
            <c:spPr>
              <a:solidFill>
                <a:srgbClr val="E4002B"/>
              </a:solidFill>
              <a:effectLst/>
            </c:spPr>
            <c:extLst>
              <c:ext xmlns:c16="http://schemas.microsoft.com/office/drawing/2014/chart" uri="{C3380CC4-5D6E-409C-BE32-E72D297353CC}">
                <c16:uniqueId val="{00000005-820F-4223-9A10-7593ED35D3CA}"/>
              </c:ext>
            </c:extLst>
          </c:dPt>
          <c:dLbls>
            <c:numFmt formatCode="0.0&quot; %&quot;" sourceLinked="0"/>
            <c:spPr>
              <a:noFill/>
              <a:ln>
                <a:noFill/>
              </a:ln>
              <a:effectLst/>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Regla: igual que la semana pasada</c:v>
                </c:pt>
                <c:pt idx="1">
                  <c:v>Random Forest</c:v>
                </c:pt>
                <c:pt idx="2">
                  <c:v>Regresión lineal</c:v>
                </c:pt>
              </c:strCache>
            </c:strRef>
          </c:cat>
          <c:val>
            <c:numRef>
              <c:f>Sheet1!$B$2:$B$4</c:f>
              <c:numCache>
                <c:formatCode>General</c:formatCode>
                <c:ptCount val="3"/>
                <c:pt idx="0">
                  <c:v>10.7</c:v>
                </c:pt>
                <c:pt idx="1">
                  <c:v>7.7</c:v>
                </c:pt>
                <c:pt idx="2">
                  <c:v>3.9</c:v>
                </c:pt>
              </c:numCache>
            </c:numRef>
          </c:val>
          <c:extLst>
            <c:ext xmlns:c16="http://schemas.microsoft.com/office/drawing/2014/chart" uri="{C3380CC4-5D6E-409C-BE32-E72D297353CC}">
              <c16:uniqueId val="{00000006-820F-4223-9A10-7593ED35D3C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Cambio en la demanda en días de lluvia</a:t>
            </a:r>
          </a:p>
        </c:rich>
      </c:tx>
      <c:overlay val="0"/>
    </c:title>
    <c:autoTitleDeleted val="0"/>
    <c:plotArea>
      <c:layout/>
      <c:barChart>
        <c:barDir val="col"/>
        <c:grouping val="clustered"/>
        <c:varyColors val="0"/>
        <c:ser>
          <c:idx val="0"/>
          <c:order val="0"/>
          <c:tx>
            <c:strRef>
              <c:f>Sheet1!$B$1</c:f>
              <c:strCache>
                <c:ptCount val="1"/>
                <c:pt idx="0">
                  <c:v>Cambio con lluvia</c:v>
                </c:pt>
              </c:strCache>
            </c:strRef>
          </c:tx>
          <c:spPr>
            <a:solidFill>
              <a:srgbClr val="E4002B"/>
            </a:solidFill>
            <a:effectLst/>
          </c:spPr>
          <c:invertIfNegative val="0"/>
          <c:dPt>
            <c:idx val="0"/>
            <c:invertIfNegative val="0"/>
            <c:bubble3D val="0"/>
            <c:extLst>
              <c:ext xmlns:c16="http://schemas.microsoft.com/office/drawing/2014/chart" uri="{C3380CC4-5D6E-409C-BE32-E72D297353CC}">
                <c16:uniqueId val="{00000001-49F6-4590-9418-10AE5587E28A}"/>
              </c:ext>
            </c:extLst>
          </c:dPt>
          <c:dPt>
            <c:idx val="1"/>
            <c:invertIfNegative val="0"/>
            <c:bubble3D val="0"/>
            <c:extLst>
              <c:ext xmlns:c16="http://schemas.microsoft.com/office/drawing/2014/chart" uri="{C3380CC4-5D6E-409C-BE32-E72D297353CC}">
                <c16:uniqueId val="{00000003-49F6-4590-9418-10AE5587E28A}"/>
              </c:ext>
            </c:extLst>
          </c:dPt>
          <c:dPt>
            <c:idx val="2"/>
            <c:invertIfNegative val="0"/>
            <c:bubble3D val="0"/>
            <c:spPr>
              <a:solidFill>
                <a:srgbClr val="888888"/>
              </a:solidFill>
              <a:effectLst/>
            </c:spPr>
            <c:extLst>
              <c:ext xmlns:c16="http://schemas.microsoft.com/office/drawing/2014/chart" uri="{C3380CC4-5D6E-409C-BE32-E72D297353CC}">
                <c16:uniqueId val="{00000005-49F6-4590-9418-10AE5587E28A}"/>
              </c:ext>
            </c:extLst>
          </c:dPt>
          <c:dLbls>
            <c:numFmt formatCode="\+0&quot; %&quot;;\-0&quot; %&quot;" sourceLinked="0"/>
            <c:spPr>
              <a:noFill/>
              <a:ln>
                <a:noFill/>
              </a:ln>
              <a:effectLst/>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Pan casero</c:v>
                </c:pt>
                <c:pt idx="1">
                  <c:v>Queque</c:v>
                </c:pt>
                <c:pt idx="2">
                  <c:v>Empanada</c:v>
                </c:pt>
              </c:strCache>
            </c:strRef>
          </c:cat>
          <c:val>
            <c:numRef>
              <c:f>Sheet1!$B$2:$B$4</c:f>
              <c:numCache>
                <c:formatCode>General</c:formatCode>
                <c:ptCount val="3"/>
                <c:pt idx="0">
                  <c:v>9</c:v>
                </c:pt>
                <c:pt idx="1">
                  <c:v>5</c:v>
                </c:pt>
                <c:pt idx="2">
                  <c:v>-19</c:v>
                </c:pt>
              </c:numCache>
            </c:numRef>
          </c:val>
          <c:extLst>
            <c:ext xmlns:c16="http://schemas.microsoft.com/office/drawing/2014/chart" uri="{C3380CC4-5D6E-409C-BE32-E72D297353CC}">
              <c16:uniqueId val="{00000006-49F6-4590-9418-10AE5587E28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Pérdida total en 61 días (sobrantes + ventas perdidas)</a:t>
            </a:r>
          </a:p>
        </c:rich>
      </c:tx>
      <c:overlay val="0"/>
    </c:title>
    <c:autoTitleDeleted val="0"/>
    <c:plotArea>
      <c:layout/>
      <c:barChart>
        <c:barDir val="col"/>
        <c:grouping val="clustered"/>
        <c:varyColors val="0"/>
        <c:ser>
          <c:idx val="0"/>
          <c:order val="0"/>
          <c:tx>
            <c:strRef>
              <c:f>Sheet1!$B$1</c:f>
              <c:strCache>
                <c:ptCount val="1"/>
                <c:pt idx="0">
                  <c:v>Pérdida</c:v>
                </c:pt>
              </c:strCache>
            </c:strRef>
          </c:tx>
          <c:spPr>
            <a:solidFill>
              <a:srgbClr val="555555"/>
            </a:solidFill>
            <a:effectLst/>
          </c:spPr>
          <c:invertIfNegative val="0"/>
          <c:dPt>
            <c:idx val="0"/>
            <c:invertIfNegative val="0"/>
            <c:bubble3D val="0"/>
            <c:extLst>
              <c:ext xmlns:c16="http://schemas.microsoft.com/office/drawing/2014/chart" uri="{C3380CC4-5D6E-409C-BE32-E72D297353CC}">
                <c16:uniqueId val="{00000001-EA9C-4970-94EA-1B733CB26AA0}"/>
              </c:ext>
            </c:extLst>
          </c:dPt>
          <c:dPt>
            <c:idx val="1"/>
            <c:invertIfNegative val="0"/>
            <c:bubble3D val="0"/>
            <c:spPr>
              <a:solidFill>
                <a:srgbClr val="E4002B"/>
              </a:solidFill>
              <a:effectLst/>
            </c:spPr>
            <c:extLst>
              <c:ext xmlns:c16="http://schemas.microsoft.com/office/drawing/2014/chart" uri="{C3380CC4-5D6E-409C-BE32-E72D297353CC}">
                <c16:uniqueId val="{00000003-EA9C-4970-94EA-1B733CB26AA0}"/>
              </c:ext>
            </c:extLst>
          </c:dPt>
          <c:dLbls>
            <c:numFmt formatCode="&quot;₡&quot;#,##0" sourceLinked="0"/>
            <c:spPr>
              <a:noFill/>
              <a:ln>
                <a:noFill/>
              </a:ln>
              <a:effectLst/>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Hornear siempre lo mismo</c:v>
                </c:pt>
                <c:pt idx="1">
                  <c:v>Hornear según el modelo</c:v>
                </c:pt>
              </c:strCache>
            </c:strRef>
          </c:cat>
          <c:val>
            <c:numRef>
              <c:f>Sheet1!$B$2:$B$3</c:f>
              <c:numCache>
                <c:formatCode>General</c:formatCode>
                <c:ptCount val="2"/>
                <c:pt idx="0">
                  <c:v>813380</c:v>
                </c:pt>
                <c:pt idx="1">
                  <c:v>416140</c:v>
                </c:pt>
              </c:numCache>
            </c:numRef>
          </c:val>
          <c:extLst>
            <c:ext xmlns:c16="http://schemas.microsoft.com/office/drawing/2014/chart" uri="{C3380CC4-5D6E-409C-BE32-E72D297353CC}">
              <c16:uniqueId val="{00000004-EA9C-4970-94EA-1B733CB26AA0}"/>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 que compró por decil (1 = los que el modelo considera más probables)</a:t>
            </a:r>
          </a:p>
        </c:rich>
      </c:tx>
      <c:overlay val="0"/>
    </c:title>
    <c:autoTitleDeleted val="0"/>
    <c:plotArea>
      <c:layout/>
      <c:barChart>
        <c:barDir val="col"/>
        <c:grouping val="clustered"/>
        <c:varyColors val="0"/>
        <c:ser>
          <c:idx val="0"/>
          <c:order val="0"/>
          <c:tx>
            <c:strRef>
              <c:f>Sheet1!$B$1</c:f>
              <c:strCache>
                <c:ptCount val="1"/>
                <c:pt idx="0">
                  <c:v>% que compró</c:v>
                </c:pt>
              </c:strCache>
            </c:strRef>
          </c:tx>
          <c:spPr>
            <a:solidFill>
              <a:srgbClr val="E4002B"/>
            </a:solidFill>
            <a:effectLst/>
          </c:spPr>
          <c:invertIfNegative val="0"/>
          <c:dPt>
            <c:idx val="0"/>
            <c:invertIfNegative val="0"/>
            <c:bubble3D val="0"/>
            <c:extLst>
              <c:ext xmlns:c16="http://schemas.microsoft.com/office/drawing/2014/chart" uri="{C3380CC4-5D6E-409C-BE32-E72D297353CC}">
                <c16:uniqueId val="{00000001-DC64-4FC2-BAE9-C87D5A912100}"/>
              </c:ext>
            </c:extLst>
          </c:dPt>
          <c:dPt>
            <c:idx val="1"/>
            <c:invertIfNegative val="0"/>
            <c:bubble3D val="0"/>
            <c:extLst>
              <c:ext xmlns:c16="http://schemas.microsoft.com/office/drawing/2014/chart" uri="{C3380CC4-5D6E-409C-BE32-E72D297353CC}">
                <c16:uniqueId val="{00000003-DC64-4FC2-BAE9-C87D5A912100}"/>
              </c:ext>
            </c:extLst>
          </c:dPt>
          <c:dPt>
            <c:idx val="2"/>
            <c:invertIfNegative val="0"/>
            <c:bubble3D val="0"/>
            <c:spPr>
              <a:solidFill>
                <a:srgbClr val="555555"/>
              </a:solidFill>
              <a:effectLst/>
            </c:spPr>
            <c:extLst>
              <c:ext xmlns:c16="http://schemas.microsoft.com/office/drawing/2014/chart" uri="{C3380CC4-5D6E-409C-BE32-E72D297353CC}">
                <c16:uniqueId val="{00000005-DC64-4FC2-BAE9-C87D5A912100}"/>
              </c:ext>
            </c:extLst>
          </c:dPt>
          <c:dPt>
            <c:idx val="3"/>
            <c:invertIfNegative val="0"/>
            <c:bubble3D val="0"/>
            <c:spPr>
              <a:solidFill>
                <a:srgbClr val="555555"/>
              </a:solidFill>
              <a:effectLst/>
            </c:spPr>
            <c:extLst>
              <c:ext xmlns:c16="http://schemas.microsoft.com/office/drawing/2014/chart" uri="{C3380CC4-5D6E-409C-BE32-E72D297353CC}">
                <c16:uniqueId val="{00000007-DC64-4FC2-BAE9-C87D5A912100}"/>
              </c:ext>
            </c:extLst>
          </c:dPt>
          <c:dPt>
            <c:idx val="4"/>
            <c:invertIfNegative val="0"/>
            <c:bubble3D val="0"/>
            <c:spPr>
              <a:solidFill>
                <a:srgbClr val="555555"/>
              </a:solidFill>
              <a:effectLst/>
            </c:spPr>
            <c:extLst>
              <c:ext xmlns:c16="http://schemas.microsoft.com/office/drawing/2014/chart" uri="{C3380CC4-5D6E-409C-BE32-E72D297353CC}">
                <c16:uniqueId val="{00000009-DC64-4FC2-BAE9-C87D5A912100}"/>
              </c:ext>
            </c:extLst>
          </c:dPt>
          <c:dPt>
            <c:idx val="5"/>
            <c:invertIfNegative val="0"/>
            <c:bubble3D val="0"/>
            <c:spPr>
              <a:solidFill>
                <a:srgbClr val="555555"/>
              </a:solidFill>
              <a:effectLst/>
            </c:spPr>
            <c:extLst>
              <c:ext xmlns:c16="http://schemas.microsoft.com/office/drawing/2014/chart" uri="{C3380CC4-5D6E-409C-BE32-E72D297353CC}">
                <c16:uniqueId val="{0000000B-DC64-4FC2-BAE9-C87D5A912100}"/>
              </c:ext>
            </c:extLst>
          </c:dPt>
          <c:dPt>
            <c:idx val="6"/>
            <c:invertIfNegative val="0"/>
            <c:bubble3D val="0"/>
            <c:spPr>
              <a:solidFill>
                <a:srgbClr val="555555"/>
              </a:solidFill>
              <a:effectLst/>
            </c:spPr>
            <c:extLst>
              <c:ext xmlns:c16="http://schemas.microsoft.com/office/drawing/2014/chart" uri="{C3380CC4-5D6E-409C-BE32-E72D297353CC}">
                <c16:uniqueId val="{0000000D-DC64-4FC2-BAE9-C87D5A912100}"/>
              </c:ext>
            </c:extLst>
          </c:dPt>
          <c:dPt>
            <c:idx val="7"/>
            <c:invertIfNegative val="0"/>
            <c:bubble3D val="0"/>
            <c:spPr>
              <a:solidFill>
                <a:srgbClr val="555555"/>
              </a:solidFill>
              <a:effectLst/>
            </c:spPr>
            <c:extLst>
              <c:ext xmlns:c16="http://schemas.microsoft.com/office/drawing/2014/chart" uri="{C3380CC4-5D6E-409C-BE32-E72D297353CC}">
                <c16:uniqueId val="{0000000F-DC64-4FC2-BAE9-C87D5A912100}"/>
              </c:ext>
            </c:extLst>
          </c:dPt>
          <c:dPt>
            <c:idx val="8"/>
            <c:invertIfNegative val="0"/>
            <c:bubble3D val="0"/>
            <c:spPr>
              <a:solidFill>
                <a:srgbClr val="555555"/>
              </a:solidFill>
              <a:effectLst/>
            </c:spPr>
            <c:extLst>
              <c:ext xmlns:c16="http://schemas.microsoft.com/office/drawing/2014/chart" uri="{C3380CC4-5D6E-409C-BE32-E72D297353CC}">
                <c16:uniqueId val="{00000011-DC64-4FC2-BAE9-C87D5A912100}"/>
              </c:ext>
            </c:extLst>
          </c:dPt>
          <c:dPt>
            <c:idx val="9"/>
            <c:invertIfNegative val="0"/>
            <c:bubble3D val="0"/>
            <c:spPr>
              <a:solidFill>
                <a:srgbClr val="555555"/>
              </a:solidFill>
              <a:effectLst/>
            </c:spPr>
            <c:extLst>
              <c:ext xmlns:c16="http://schemas.microsoft.com/office/drawing/2014/chart" uri="{C3380CC4-5D6E-409C-BE32-E72D297353CC}">
                <c16:uniqueId val="{00000013-DC64-4FC2-BAE9-C87D5A912100}"/>
              </c:ext>
            </c:extLst>
          </c:dPt>
          <c:dLbls>
            <c:numFmt formatCode="0.0&quot;%&quot;" sourceLinked="0"/>
            <c:spPr>
              <a:noFill/>
              <a:ln>
                <a:noFill/>
              </a:ln>
              <a:effectLst/>
            </c:spPr>
            <c:txPr>
              <a:bodyPr/>
              <a:lstStyle/>
              <a:p>
                <a:pPr>
                  <a:defRPr sz="10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35.6</c:v>
                </c:pt>
                <c:pt idx="1">
                  <c:v>13.9</c:v>
                </c:pt>
                <c:pt idx="2">
                  <c:v>6.7</c:v>
                </c:pt>
                <c:pt idx="3">
                  <c:v>7.8</c:v>
                </c:pt>
                <c:pt idx="4">
                  <c:v>3.9</c:v>
                </c:pt>
                <c:pt idx="5">
                  <c:v>2.2000000000000002</c:v>
                </c:pt>
                <c:pt idx="6">
                  <c:v>3.3</c:v>
                </c:pt>
                <c:pt idx="7">
                  <c:v>2.2000000000000002</c:v>
                </c:pt>
                <c:pt idx="8">
                  <c:v>1.7</c:v>
                </c:pt>
                <c:pt idx="9">
                  <c:v>0.6</c:v>
                </c:pt>
              </c:numCache>
            </c:numRef>
          </c:val>
          <c:extLst>
            <c:ext xmlns:c16="http://schemas.microsoft.com/office/drawing/2014/chart" uri="{C3380CC4-5D6E-409C-BE32-E72D297353CC}">
              <c16:uniqueId val="{00000014-DC64-4FC2-BAE9-C87D5A91210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D4D4D4"/>
                </a:solidFill>
                <a:latin typeface="Calibri"/>
              </a:defRPr>
            </a:pPr>
            <a:r>
              <a:rPr sz="1300" b="0" i="0" u="none" strike="noStrike">
                <a:solidFill>
                  <a:srgbClr val="D4D4D4"/>
                </a:solidFill>
                <a:latin typeface="Calibri"/>
              </a:rPr>
              <a:t>Ganancia de la campaña en el grupo de prueba</a:t>
            </a:r>
          </a:p>
        </c:rich>
      </c:tx>
      <c:overlay val="0"/>
    </c:title>
    <c:autoTitleDeleted val="0"/>
    <c:plotArea>
      <c:layout/>
      <c:barChart>
        <c:barDir val="col"/>
        <c:grouping val="clustered"/>
        <c:varyColors val="0"/>
        <c:ser>
          <c:idx val="0"/>
          <c:order val="0"/>
          <c:tx>
            <c:strRef>
              <c:f>Sheet1!$B$1</c:f>
              <c:strCache>
                <c:ptCount val="1"/>
                <c:pt idx="0">
                  <c:v>Ganancia</c:v>
                </c:pt>
              </c:strCache>
            </c:strRef>
          </c:tx>
          <c:spPr>
            <a:solidFill>
              <a:srgbClr val="888888"/>
            </a:solidFill>
            <a:effectLst/>
          </c:spPr>
          <c:invertIfNegative val="0"/>
          <c:dPt>
            <c:idx val="0"/>
            <c:invertIfNegative val="0"/>
            <c:bubble3D val="0"/>
            <c:extLst>
              <c:ext xmlns:c16="http://schemas.microsoft.com/office/drawing/2014/chart" uri="{C3380CC4-5D6E-409C-BE32-E72D297353CC}">
                <c16:uniqueId val="{00000001-088E-4B5F-AEFE-DD49867CCF91}"/>
              </c:ext>
            </c:extLst>
          </c:dPt>
          <c:dPt>
            <c:idx val="1"/>
            <c:invertIfNegative val="0"/>
            <c:bubble3D val="0"/>
            <c:spPr>
              <a:solidFill>
                <a:srgbClr val="E4002B"/>
              </a:solidFill>
              <a:effectLst/>
            </c:spPr>
            <c:extLst>
              <c:ext xmlns:c16="http://schemas.microsoft.com/office/drawing/2014/chart" uri="{C3380CC4-5D6E-409C-BE32-E72D297353CC}">
                <c16:uniqueId val="{00000003-088E-4B5F-AEFE-DD49867CCF91}"/>
              </c:ext>
            </c:extLst>
          </c:dPt>
          <c:dLbls>
            <c:numFmt formatCode="&quot;₡&quot;#,##0;&quot;-₡&quot;#,##0" sourceLinked="0"/>
            <c:spPr>
              <a:noFill/>
              <a:ln>
                <a:noFill/>
              </a:ln>
              <a:effectLst/>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Llamar a todos (1 800)</c:v>
                </c:pt>
                <c:pt idx="1">
                  <c:v>Llamar al 20 % mejor (367)</c:v>
                </c:pt>
              </c:strCache>
            </c:strRef>
          </c:cat>
          <c:val>
            <c:numRef>
              <c:f>Sheet1!$B$2:$B$3</c:f>
              <c:numCache>
                <c:formatCode>General</c:formatCode>
                <c:ptCount val="2"/>
                <c:pt idx="0">
                  <c:v>-1000000</c:v>
                </c:pt>
                <c:pt idx="1">
                  <c:v>1357500</c:v>
                </c:pt>
              </c:numCache>
            </c:numRef>
          </c:val>
          <c:extLst>
            <c:ext xmlns:c16="http://schemas.microsoft.com/office/drawing/2014/chart" uri="{C3380CC4-5D6E-409C-BE32-E72D297353CC}">
              <c16:uniqueId val="{00000004-088E-4B5F-AEFE-DD49867CCF91}"/>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D4D4D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0A0A0A"/>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846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Unidad 5. Esta es la unidad donde todo lo aprendido se aplica a problemas reales de empresas. Mensaje clave para abrir: en una empresa nadie paga por un modelo con buen accuracy; pagan por una mejor decisión. Cada caso termina con un número en colones.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Distribución sugerida: cada caso ocupa un bloque de 2 horas (≈30 min de explicación con estas diapositivas + ≈75 min en Colab + ≈15 min de discusión de resultados). El caso 4 cierra con el reto final en parejas, que puede quedar como trabajo extraclase.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rápido (5 min). Preguntar a la clase: ¿qué métrica usarían para un modelo de ventas? ¿y para uno de clientes que se van? Conectar con la Unidad 4. Luego plantear el cambio de mentalidad: de métrica técnica a impacto de negocio.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frase se repite al final de cada caso. Pedir a los estudiantes que, en cada cuaderno, identifiquen: ¿cuál es la predicción? ¿cuál es la decisión? ¿quién la toma?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ciclo en forma de U (fila de arriba de izquierda a derecha, fila de abajo de derecha a izquierda). Resaltar los pasos 1, 6 y 7: pregunta mal planteada, resultado que no se traduce en decisión, y modelo que nunca llega a usarse. El caso 4 recorre el ciclo completo.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3 años de ventas diarias (2023-2025). El gerente usa el pronóstico para decidir personal, inventario y efectivo en caja. Abrir el cuaderno 1 en Colab al terminar esta sección.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igual que el tráfico en San José. Sabemos que el viernes en la tarde hay más presas y que en diciembre todo se complica. Nadie lo calcula, lo sabemos por patrón. El modelo aprende esos mismos patrones, pero con números.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del cuaderno 1 (Paso 2). Sábado ≈ ₡1 366 000 vs martes ≈ ₡950 000 de venta promedio. Preguntar: ¿qué otros patrones creen que tienen los supermercados en Costa Rica? (feriados, inicio de clases, Semana Santa).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esto se le llama feature engineering (ingeniería de variables). Es el paso donde el conocimiento del negocio vale más que el algoritmo. En el cuaderno está en la función crear_pistas(). Reto rápido: ¿qué otra pista agregarían? (feriado, lluvia, inicio de clases).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muy común en proyectos reales: usar train_test_split con shuffle en series de tiempo. Los resultados se ven espectaculares en el cuaderno y fallan en la vida real. Conectar con la Unidad 4 (validación).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Números del cuaderno 1, Paso 6: línea base ≈ ₡144 000 de error por día (10.7 %), Random Forest ≈ ₡104 000 (7.7 %), regresión lineal ≈ ₡53 000 (3.9 %). Siempre comparar contra una línea base: si el modelo no le gana a una regla simple, no vale la pena el esfuerzo. Lección: complejo ≠ mejor.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1, Pasos 8 y 9. Primero se reentrena el modelo con todos los datos (incluido el examen) y después se predice enero con el plan de promociones que definió el gerente. Ejercicio sugerido: poner promo viernes y sábados y ver cuánto cambia la venta de enero.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18 meses de datos diarios de 3 productos. Doña Rosa hoy hornea siempre lo mismo (el promedio). Vamos a ver si un modelo le ahorra dinero.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para la clase: ¿qué es peor para Doña Rosa, que sobre o que falte? Como faltar cuesta más (₡220 de ganancia perdida vs ₡80 de costo botado), más adelante vamos a hornear un poquito más de lo que dice el modelo: el colchón.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Discusión: ¿por qué la lluvia sube el pan y baja la empanada? Posible explicación: con lluvia la gente compra pan para el cafecito en casa, mientras que la empanada la compra quien pasa caminando. Este es el valor del conocimiento del negocio. Un solo modelo aprende los tres productos gracias al one-hot del producto.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2, Paso 5. La fórmula de pérdida: cada unidad que sobra cuesta su costo; cada unidad que falta cuesta su ganancia. Al gerente no le importa el MAE; le importa cuánto dinero pierde. Esa traducción a colones es la habilidad más valiosa de esta unidad.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2, Pasos 6 y 7. El colchón traduce la predicción en una decisión que considera el riesgo. Ejercicio avanzado: buscar un colchón distinto para cada producto (el queque tiene más margen que el pan).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tienda en línea con 2 000 clientes y un resumen de sus últimos 12 meses. Este caso combina aprendizaje no supervisado (segmentar) y supervisado (predecir abandono).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 diferencia de la Unidad 1: en supervisado tenemos la columna respuesta (se_fue); en no supervisado no. En la vida real se usan juntos: primero se segmenta y luego se predice el riesgo dentro de cada segmento.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es como la libreta de la pulpería. La dueña sabe quién viene todos los días (F), quién no aparece hace semanas (R) y quién gasta más (M). RFM es la versión ordenada de esa intuición. En el cuaderno se calcula con pd.qcut en quintiles.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3, Pasos 3 y 4. Dos cuidados antes de K-Means: escalar (si no, el monto en colones aplasta a la frecuencia) y aplicar logaritmo a monto y frecuencia (unos pocos clientes gastan muchísimo). El método del codo sugiere k = 4, que además es un número manejable para mercadeo. Los nombres los decide la persona, no el algoritmo.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de la regresión logística con class_weight='balanced' en el cuaderno 3 (el árbol de profundidad 3 logra recall 65 % y precisión 60 %). Preguntar: ¿en qué negocio preferirían alta precisión en vez de alto recall? (ejemplo: cuando la acción es cara, como enviar un técnico o regalar un producto costoso).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3, Pasos 8 y 9. La influencia de cada variable sale de los coeficientes de la regresión logística con datos escalados. Los dormidos quedan fuera de la lista porque ya casi se fueron: la prioridad son los que todavía se pueden rescatar.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integrador: recorre el ciclo completo, desde la pregunta de negocio hasta vigilar el modelo en producción. Usa Pipeline, validación cruzada, deciles, curva de ganancia, joblib y detección de cambios en los datos.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de equilibrio sin ML. Hacer la cuenta en la pizarra con los estudiantes: 0,078 × 25 000 = ₡1 950 de ganancia esperada por llamada, menor que el costo de ₡2 500. La campaña completa pierde dinero.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4, Pasos 3 y 4. Se ordenan los clientes de prueba de mayor a menor probabilidad y se parten en 10 grupos iguales. La tabla de deciles es la forma más fácil de explicarle un modelo a un gerente. AUC con validación cruzada: regresión logística 0,79 vs Random Forest 0,77.</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4, Paso 5: curva de ganancia acumulada. Es la lección más importante de la unidad. Ejercicio: cambiar COSTO_LLAMADA a 1 500 y ver cuántos clientes conviene llamar ahora.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Cuaderno 4, Pasos 2, 6, 7 y 8. El Pipeline evita el error más común en producción: preparar los datos nuevos de forma distinta a como se prepararon para entrenar. La función lista_de_llamadas() es lo que usaría el equipo de ventas sin saber nada de ML.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(15 min): en parejas, elegir una empresa costarricense que conozcan y proponer una pregunta de ML con su decisión asociada. Compartir 3 o 4 ideas en voz alta; son buenos candidatos para el reto final.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Espacio para discutir ética: en el caso 4, ¿es correcto usar la edad para decidir a quién llamar? (ejercicio 3 del cuaderno). Mencionar la Ley 8968 de Costa Rica sobre protección de datos personales y la importancia del consentimiento del cliente.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reto también aparece al final del cuaderno 4. Sugerencia: dar una semana para entregar y dedicar la primera sesión de la siguiente unidad a las presentaciones. Los criterios con más peso son modelado/validación y traducción a dinero, que son el corazón del curso.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unidad y del curso de ML. Repasar una frase por caso. Recordar la fecha de entrega del reto final.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11887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MACHINE LEARNING APLICADO · UNIDAD 5</a:t>
            </a:r>
            <a:endParaRPr lang="en-US" sz="1300" dirty="0"/>
          </a:p>
        </p:txBody>
      </p:sp>
      <p:sp>
        <p:nvSpPr>
          <p:cNvPr id="3" name="Text 1"/>
          <p:cNvSpPr txBox="1"/>
          <p:nvPr/>
        </p:nvSpPr>
        <p:spPr>
          <a:xfrm>
            <a:off x="548640" y="1645920"/>
            <a:ext cx="7772400" cy="2194560"/>
          </a:xfrm>
          <a:prstGeom prst="rect">
            <a:avLst/>
          </a:prstGeom>
          <a:noFill/>
          <a:ln/>
        </p:spPr>
        <p:txBody>
          <a:bodyPr wrap="square" lIns="0" tIns="0" rIns="0" bIns="0" rtlCol="0" anchor="t"/>
          <a:lstStyle/>
          <a:p>
            <a:pPr marL="0" indent="0">
              <a:buNone/>
            </a:pPr>
            <a:r>
              <a:rPr lang="en-US" sz="5400" b="1" dirty="0">
                <a:solidFill>
                  <a:srgbClr val="FFFFFF"/>
                </a:solidFill>
                <a:latin typeface="Arial" pitchFamily="34" charset="0"/>
                <a:ea typeface="Arial" pitchFamily="34" charset="-122"/>
                <a:cs typeface="Arial" pitchFamily="34" charset="-120"/>
              </a:rPr>
              <a:t>Casos prácticos</a:t>
            </a:r>
            <a:endParaRPr lang="en-US" sz="5400" dirty="0"/>
          </a:p>
          <a:p>
            <a:pPr marL="0" indent="0">
              <a:buNone/>
            </a:pPr>
            <a:r>
              <a:rPr lang="en-US" sz="5400" b="1" dirty="0">
                <a:solidFill>
                  <a:srgbClr val="FFFFFF"/>
                </a:solidFill>
                <a:latin typeface="Arial" pitchFamily="34" charset="0"/>
                <a:ea typeface="Arial" pitchFamily="34" charset="-122"/>
                <a:cs typeface="Arial" pitchFamily="34" charset="-120"/>
              </a:rPr>
              <a:t>empresariales</a:t>
            </a:r>
            <a:endParaRPr lang="en-US" sz="5400" dirty="0"/>
          </a:p>
        </p:txBody>
      </p:sp>
      <p:sp>
        <p:nvSpPr>
          <p:cNvPr id="4" name="Text 2"/>
          <p:cNvSpPr txBox="1"/>
          <p:nvPr/>
        </p:nvSpPr>
        <p:spPr>
          <a:xfrm>
            <a:off x="548640" y="3931920"/>
            <a:ext cx="7132320" cy="822960"/>
          </a:xfrm>
          <a:prstGeom prst="rect">
            <a:avLst/>
          </a:prstGeom>
          <a:noFill/>
          <a:ln/>
        </p:spPr>
        <p:txBody>
          <a:bodyPr wrap="square" lIns="0" tIns="0" rIns="0" bIns="0" rtlCol="0" anchor="t"/>
          <a:lstStyle/>
          <a:p>
            <a:pPr marL="0" indent="0">
              <a:buNone/>
            </a:pPr>
            <a:r>
              <a:rPr lang="en-US" sz="2000" dirty="0">
                <a:solidFill>
                  <a:srgbClr val="D4D4D4"/>
                </a:solidFill>
                <a:latin typeface="Calibri" pitchFamily="34" charset="0"/>
                <a:ea typeface="Calibri" pitchFamily="34" charset="-122"/>
                <a:cs typeface="Calibri" pitchFamily="34" charset="-120"/>
              </a:rPr>
              <a:t>Del modelo a la decisión: cómo las empresas ganan (o ahorran) dinero con ML</a:t>
            </a:r>
            <a:endParaRPr lang="en-US" sz="2000" dirty="0"/>
          </a:p>
        </p:txBody>
      </p:sp>
      <p:sp>
        <p:nvSpPr>
          <p:cNvPr id="5" name="Text 3"/>
          <p:cNvSpPr txBox="1"/>
          <p:nvPr/>
        </p:nvSpPr>
        <p:spPr>
          <a:xfrm>
            <a:off x="548640" y="4892040"/>
            <a:ext cx="7315200" cy="365760"/>
          </a:xfrm>
          <a:prstGeom prst="rect">
            <a:avLst/>
          </a:prstGeom>
          <a:noFill/>
          <a:ln/>
        </p:spPr>
        <p:txBody>
          <a:bodyPr wrap="square" lIns="0" tIns="0" rIns="0" bIns="0" rtlCol="0" anchor="ctr"/>
          <a:lstStyle/>
          <a:p>
            <a:pPr marL="0" indent="0">
              <a:buNone/>
            </a:pPr>
            <a:r>
              <a:rPr lang="en-US" sz="1300" kern="0" spc="200" dirty="0">
                <a:solidFill>
                  <a:srgbClr val="8C8C8C"/>
                </a:solidFill>
                <a:latin typeface="Courier New" pitchFamily="34" charset="0"/>
                <a:ea typeface="Courier New" pitchFamily="34" charset="-122"/>
                <a:cs typeface="Courier New" pitchFamily="34" charset="-120"/>
              </a:rPr>
              <a:t>·   4 CASOS   ·   4 CUADERNOS COLAB</a:t>
            </a:r>
            <a:endParaRPr lang="en-US" sz="1300" dirty="0"/>
          </a:p>
        </p:txBody>
      </p:sp>
      <p:sp>
        <p:nvSpPr>
          <p:cNvPr id="6" name="Text 4"/>
          <p:cNvSpPr txBox="1"/>
          <p:nvPr/>
        </p:nvSpPr>
        <p:spPr>
          <a:xfrm>
            <a:off x="548640" y="5760720"/>
            <a:ext cx="548640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Ing. Berman Moya Umaña</a:t>
            </a:r>
            <a:endParaRPr lang="en-US" sz="1600" dirty="0"/>
          </a:p>
        </p:txBody>
      </p:sp>
      <p:sp>
        <p:nvSpPr>
          <p:cNvPr id="7" name="Shape 5"/>
          <p:cNvSpPr/>
          <p:nvPr/>
        </p:nvSpPr>
        <p:spPr>
          <a:xfrm>
            <a:off x="8595360" y="1554480"/>
            <a:ext cx="1325880" cy="132588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8940089" y="1899209"/>
            <a:ext cx="636422" cy="636422"/>
          </a:xfrm>
          <a:prstGeom prst="rect">
            <a:avLst/>
          </a:prstGeom>
        </p:spPr>
      </p:pic>
      <p:sp>
        <p:nvSpPr>
          <p:cNvPr id="9" name="Shape 6"/>
          <p:cNvSpPr/>
          <p:nvPr/>
        </p:nvSpPr>
        <p:spPr>
          <a:xfrm>
            <a:off x="10195560" y="1554480"/>
            <a:ext cx="1325880" cy="1325880"/>
          </a:xfrm>
          <a:prstGeom prst="ellipse">
            <a:avLst/>
          </a:prstGeom>
          <a:solidFill>
            <a:srgbClr val="242424"/>
          </a:solidFill>
          <a:ln w="12700">
            <a:solidFill>
              <a:srgbClr val="242424"/>
            </a:solidFill>
            <a:prstDash val="solid"/>
          </a:ln>
        </p:spPr>
        <p:txBody>
          <a:bodyPr/>
          <a:lstStyle/>
          <a:p>
            <a:endParaRPr lang="es-CO"/>
          </a:p>
        </p:txBody>
      </p:sp>
      <p:pic>
        <p:nvPicPr>
          <p:cNvPr id="10" name="Image 1" descr="preencoded.png"/>
          <p:cNvPicPr>
            <a:picLocks noChangeAspect="1"/>
          </p:cNvPicPr>
          <p:nvPr/>
        </p:nvPicPr>
        <p:blipFill>
          <a:blip r:embed="rId4"/>
          <a:stretch>
            <a:fillRect/>
          </a:stretch>
        </p:blipFill>
        <p:spPr>
          <a:xfrm>
            <a:off x="10540289" y="1899209"/>
            <a:ext cx="636422" cy="636422"/>
          </a:xfrm>
          <a:prstGeom prst="rect">
            <a:avLst/>
          </a:prstGeom>
        </p:spPr>
      </p:pic>
      <p:sp>
        <p:nvSpPr>
          <p:cNvPr id="11" name="Shape 7"/>
          <p:cNvSpPr/>
          <p:nvPr/>
        </p:nvSpPr>
        <p:spPr>
          <a:xfrm>
            <a:off x="8595360" y="3154680"/>
            <a:ext cx="1325880" cy="1325880"/>
          </a:xfrm>
          <a:prstGeom prst="ellipse">
            <a:avLst/>
          </a:prstGeom>
          <a:solidFill>
            <a:srgbClr val="242424"/>
          </a:solidFill>
          <a:ln w="12700">
            <a:solidFill>
              <a:srgbClr val="242424"/>
            </a:solidFill>
            <a:prstDash val="solid"/>
          </a:ln>
        </p:spPr>
        <p:txBody>
          <a:bodyPr/>
          <a:lstStyle/>
          <a:p>
            <a:endParaRPr lang="es-CO"/>
          </a:p>
        </p:txBody>
      </p:sp>
      <p:pic>
        <p:nvPicPr>
          <p:cNvPr id="12" name="Image 2" descr="preencoded.png"/>
          <p:cNvPicPr>
            <a:picLocks noChangeAspect="1"/>
          </p:cNvPicPr>
          <p:nvPr/>
        </p:nvPicPr>
        <p:blipFill>
          <a:blip r:embed="rId5"/>
          <a:stretch>
            <a:fillRect/>
          </a:stretch>
        </p:blipFill>
        <p:spPr>
          <a:xfrm>
            <a:off x="8940089" y="3499409"/>
            <a:ext cx="636422" cy="636422"/>
          </a:xfrm>
          <a:prstGeom prst="rect">
            <a:avLst/>
          </a:prstGeom>
        </p:spPr>
      </p:pic>
      <p:sp>
        <p:nvSpPr>
          <p:cNvPr id="13" name="Shape 8"/>
          <p:cNvSpPr/>
          <p:nvPr/>
        </p:nvSpPr>
        <p:spPr>
          <a:xfrm>
            <a:off x="10195560" y="3154680"/>
            <a:ext cx="1325880" cy="1325880"/>
          </a:xfrm>
          <a:prstGeom prst="ellipse">
            <a:avLst/>
          </a:prstGeom>
          <a:solidFill>
            <a:srgbClr val="E4002B"/>
          </a:solidFill>
          <a:ln w="12700">
            <a:solidFill>
              <a:srgbClr val="E4002B"/>
            </a:solidFill>
            <a:prstDash val="solid"/>
          </a:ln>
        </p:spPr>
        <p:txBody>
          <a:bodyPr/>
          <a:lstStyle/>
          <a:p>
            <a:endParaRPr lang="es-CO"/>
          </a:p>
        </p:txBody>
      </p:sp>
      <p:pic>
        <p:nvPicPr>
          <p:cNvPr id="14" name="Image 3" descr="preencoded.png"/>
          <p:cNvPicPr>
            <a:picLocks noChangeAspect="1"/>
          </p:cNvPicPr>
          <p:nvPr/>
        </p:nvPicPr>
        <p:blipFill>
          <a:blip r:embed="rId6"/>
          <a:stretch>
            <a:fillRect/>
          </a:stretch>
        </p:blipFill>
        <p:spPr>
          <a:xfrm>
            <a:off x="10540289" y="3499409"/>
            <a:ext cx="636422" cy="6364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02</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LA RUTA DE HOY</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4 casos, 4 industrias, 8 horas</a:t>
            </a:r>
            <a:endParaRPr lang="en-US" sz="3200" dirty="0"/>
          </a:p>
        </p:txBody>
      </p:sp>
      <p:sp>
        <p:nvSpPr>
          <p:cNvPr id="6" name="Shape 4"/>
          <p:cNvSpPr/>
          <p:nvPr/>
        </p:nvSpPr>
        <p:spPr>
          <a:xfrm>
            <a:off x="548640" y="2011680"/>
            <a:ext cx="2606040" cy="356616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822960" y="2331720"/>
            <a:ext cx="822960" cy="82296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36930" y="2545690"/>
            <a:ext cx="395021" cy="395021"/>
          </a:xfrm>
          <a:prstGeom prst="rect">
            <a:avLst/>
          </a:prstGeom>
        </p:spPr>
      </p:pic>
      <p:sp>
        <p:nvSpPr>
          <p:cNvPr id="9" name="Text 6"/>
          <p:cNvSpPr txBox="1"/>
          <p:nvPr/>
        </p:nvSpPr>
        <p:spPr>
          <a:xfrm>
            <a:off x="1965960" y="2331720"/>
            <a:ext cx="914400" cy="548640"/>
          </a:xfrm>
          <a:prstGeom prst="rect">
            <a:avLst/>
          </a:prstGeom>
          <a:noFill/>
          <a:ln/>
        </p:spPr>
        <p:txBody>
          <a:bodyPr wrap="square" lIns="0" tIns="0" rIns="0" bIns="0" rtlCol="0" anchor="ctr"/>
          <a:lstStyle/>
          <a:p>
            <a:pPr marL="0" indent="0" algn="r">
              <a:buNone/>
            </a:pPr>
            <a:r>
              <a:rPr lang="en-US" sz="3000" b="1" dirty="0">
                <a:solidFill>
                  <a:srgbClr val="3A3A3A"/>
                </a:solidFill>
                <a:latin typeface="Arial" pitchFamily="34" charset="0"/>
                <a:ea typeface="Arial" pitchFamily="34" charset="-122"/>
                <a:cs typeface="Arial" pitchFamily="34" charset="-120"/>
              </a:rPr>
              <a:t>01</a:t>
            </a:r>
            <a:endParaRPr lang="en-US" sz="3000" dirty="0"/>
          </a:p>
        </p:txBody>
      </p:sp>
      <p:sp>
        <p:nvSpPr>
          <p:cNvPr id="10" name="Text 7"/>
          <p:cNvSpPr txBox="1"/>
          <p:nvPr/>
        </p:nvSpPr>
        <p:spPr>
          <a:xfrm>
            <a:off x="822960" y="3383280"/>
            <a:ext cx="2057400" cy="7315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Predicción de ventas</a:t>
            </a:r>
            <a:endParaRPr lang="en-US" sz="1800" dirty="0"/>
          </a:p>
        </p:txBody>
      </p:sp>
      <p:sp>
        <p:nvSpPr>
          <p:cNvPr id="11" name="Text 8"/>
          <p:cNvSpPr txBox="1"/>
          <p:nvPr/>
        </p:nvSpPr>
        <p:spPr>
          <a:xfrm>
            <a:off x="822960" y="4160520"/>
            <a:ext cx="2057400" cy="365760"/>
          </a:xfrm>
          <a:prstGeom prst="rect">
            <a:avLst/>
          </a:prstGeom>
          <a:noFill/>
          <a:ln/>
        </p:spPr>
        <p:txBody>
          <a:bodyPr wrap="square" lIns="0" tIns="0" rIns="0" bIns="0" rtlCol="0" anchor="t"/>
          <a:lstStyle/>
          <a:p>
            <a:pPr marL="0" indent="0">
              <a:buNone/>
            </a:pPr>
            <a:r>
              <a:rPr lang="en-US" sz="1300" b="1" dirty="0">
                <a:solidFill>
                  <a:srgbClr val="E4002B"/>
                </a:solidFill>
                <a:latin typeface="Calibri" pitchFamily="34" charset="0"/>
                <a:ea typeface="Calibri" pitchFamily="34" charset="-122"/>
                <a:cs typeface="Calibri" pitchFamily="34" charset="-120"/>
              </a:rPr>
              <a:t>Supermercado La Esquina</a:t>
            </a:r>
            <a:endParaRPr lang="en-US" sz="1300" dirty="0"/>
          </a:p>
        </p:txBody>
      </p:sp>
      <p:sp>
        <p:nvSpPr>
          <p:cNvPr id="12" name="Text 9"/>
          <p:cNvSpPr txBox="1"/>
          <p:nvPr/>
        </p:nvSpPr>
        <p:spPr>
          <a:xfrm>
            <a:off x="822960" y="4572000"/>
            <a:ext cx="2057400" cy="73152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¿Cuánto vamos a vender en enero?</a:t>
            </a:r>
            <a:endParaRPr lang="en-US" sz="1500" dirty="0"/>
          </a:p>
        </p:txBody>
      </p:sp>
      <p:sp>
        <p:nvSpPr>
          <p:cNvPr id="14" name="Shape 11"/>
          <p:cNvSpPr/>
          <p:nvPr/>
        </p:nvSpPr>
        <p:spPr>
          <a:xfrm>
            <a:off x="3364992" y="2011680"/>
            <a:ext cx="2606040" cy="356616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15" name="Shape 12"/>
          <p:cNvSpPr/>
          <p:nvPr/>
        </p:nvSpPr>
        <p:spPr>
          <a:xfrm>
            <a:off x="3639312" y="2331720"/>
            <a:ext cx="822960" cy="822960"/>
          </a:xfrm>
          <a:prstGeom prst="ellipse">
            <a:avLst/>
          </a:prstGeom>
          <a:solidFill>
            <a:srgbClr val="E4002B"/>
          </a:solidFill>
          <a:ln w="12700">
            <a:solidFill>
              <a:srgbClr val="E4002B"/>
            </a:solidFill>
            <a:prstDash val="solid"/>
          </a:ln>
        </p:spPr>
        <p:txBody>
          <a:bodyPr/>
          <a:lstStyle/>
          <a:p>
            <a:endParaRPr lang="es-CO"/>
          </a:p>
        </p:txBody>
      </p:sp>
      <p:pic>
        <p:nvPicPr>
          <p:cNvPr id="16" name="Image 1" descr="preencoded.png"/>
          <p:cNvPicPr>
            <a:picLocks noChangeAspect="1"/>
          </p:cNvPicPr>
          <p:nvPr/>
        </p:nvPicPr>
        <p:blipFill>
          <a:blip r:embed="rId4"/>
          <a:stretch>
            <a:fillRect/>
          </a:stretch>
        </p:blipFill>
        <p:spPr>
          <a:xfrm>
            <a:off x="3853282" y="2545690"/>
            <a:ext cx="395021" cy="395021"/>
          </a:xfrm>
          <a:prstGeom prst="rect">
            <a:avLst/>
          </a:prstGeom>
        </p:spPr>
      </p:pic>
      <p:sp>
        <p:nvSpPr>
          <p:cNvPr id="17" name="Text 13"/>
          <p:cNvSpPr txBox="1"/>
          <p:nvPr/>
        </p:nvSpPr>
        <p:spPr>
          <a:xfrm>
            <a:off x="4782312" y="2331720"/>
            <a:ext cx="914400" cy="548640"/>
          </a:xfrm>
          <a:prstGeom prst="rect">
            <a:avLst/>
          </a:prstGeom>
          <a:noFill/>
          <a:ln/>
        </p:spPr>
        <p:txBody>
          <a:bodyPr wrap="square" lIns="0" tIns="0" rIns="0" bIns="0" rtlCol="0" anchor="ctr"/>
          <a:lstStyle/>
          <a:p>
            <a:pPr marL="0" indent="0" algn="r">
              <a:buNone/>
            </a:pPr>
            <a:r>
              <a:rPr lang="en-US" sz="3000" b="1" dirty="0">
                <a:solidFill>
                  <a:srgbClr val="3A3A3A"/>
                </a:solidFill>
                <a:latin typeface="Arial" pitchFamily="34" charset="0"/>
                <a:ea typeface="Arial" pitchFamily="34" charset="-122"/>
                <a:cs typeface="Arial" pitchFamily="34" charset="-120"/>
              </a:rPr>
              <a:t>02</a:t>
            </a:r>
            <a:endParaRPr lang="en-US" sz="3000" dirty="0"/>
          </a:p>
        </p:txBody>
      </p:sp>
      <p:sp>
        <p:nvSpPr>
          <p:cNvPr id="18" name="Text 14"/>
          <p:cNvSpPr txBox="1"/>
          <p:nvPr/>
        </p:nvSpPr>
        <p:spPr>
          <a:xfrm>
            <a:off x="3639312" y="3383280"/>
            <a:ext cx="2057400" cy="7315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Predicción de demanda</a:t>
            </a:r>
            <a:endParaRPr lang="en-US" sz="1800" dirty="0"/>
          </a:p>
        </p:txBody>
      </p:sp>
      <p:sp>
        <p:nvSpPr>
          <p:cNvPr id="19" name="Text 15"/>
          <p:cNvSpPr txBox="1"/>
          <p:nvPr/>
        </p:nvSpPr>
        <p:spPr>
          <a:xfrm>
            <a:off x="3639312" y="4160520"/>
            <a:ext cx="2057400" cy="365760"/>
          </a:xfrm>
          <a:prstGeom prst="rect">
            <a:avLst/>
          </a:prstGeom>
          <a:noFill/>
          <a:ln/>
        </p:spPr>
        <p:txBody>
          <a:bodyPr wrap="square" lIns="0" tIns="0" rIns="0" bIns="0" rtlCol="0" anchor="t"/>
          <a:lstStyle/>
          <a:p>
            <a:pPr marL="0" indent="0">
              <a:buNone/>
            </a:pPr>
            <a:r>
              <a:rPr lang="en-US" sz="1300" b="1" dirty="0">
                <a:solidFill>
                  <a:srgbClr val="E4002B"/>
                </a:solidFill>
                <a:latin typeface="Calibri" pitchFamily="34" charset="0"/>
                <a:ea typeface="Calibri" pitchFamily="34" charset="-122"/>
                <a:cs typeface="Calibri" pitchFamily="34" charset="-120"/>
              </a:rPr>
              <a:t>Panadería Doña Rosa</a:t>
            </a:r>
            <a:endParaRPr lang="en-US" sz="1300" dirty="0"/>
          </a:p>
        </p:txBody>
      </p:sp>
      <p:sp>
        <p:nvSpPr>
          <p:cNvPr id="20" name="Text 16"/>
          <p:cNvSpPr txBox="1"/>
          <p:nvPr/>
        </p:nvSpPr>
        <p:spPr>
          <a:xfrm>
            <a:off x="3639312" y="4572000"/>
            <a:ext cx="2057400" cy="73152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¿Cuánto pan hornear mañana?</a:t>
            </a:r>
            <a:endParaRPr lang="en-US" sz="1500" dirty="0"/>
          </a:p>
        </p:txBody>
      </p:sp>
      <p:sp>
        <p:nvSpPr>
          <p:cNvPr id="22" name="Shape 18"/>
          <p:cNvSpPr/>
          <p:nvPr/>
        </p:nvSpPr>
        <p:spPr>
          <a:xfrm>
            <a:off x="6181344" y="2011680"/>
            <a:ext cx="2606040" cy="356616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23" name="Shape 19"/>
          <p:cNvSpPr/>
          <p:nvPr/>
        </p:nvSpPr>
        <p:spPr>
          <a:xfrm>
            <a:off x="6455664" y="2331720"/>
            <a:ext cx="822960" cy="822960"/>
          </a:xfrm>
          <a:prstGeom prst="ellipse">
            <a:avLst/>
          </a:prstGeom>
          <a:solidFill>
            <a:srgbClr val="E4002B"/>
          </a:solidFill>
          <a:ln w="12700">
            <a:solidFill>
              <a:srgbClr val="E4002B"/>
            </a:solidFill>
            <a:prstDash val="solid"/>
          </a:ln>
        </p:spPr>
        <p:txBody>
          <a:bodyPr/>
          <a:lstStyle/>
          <a:p>
            <a:endParaRPr lang="es-CO"/>
          </a:p>
        </p:txBody>
      </p:sp>
      <p:pic>
        <p:nvPicPr>
          <p:cNvPr id="24" name="Image 2" descr="preencoded.png"/>
          <p:cNvPicPr>
            <a:picLocks noChangeAspect="1"/>
          </p:cNvPicPr>
          <p:nvPr/>
        </p:nvPicPr>
        <p:blipFill>
          <a:blip r:embed="rId5"/>
          <a:stretch>
            <a:fillRect/>
          </a:stretch>
        </p:blipFill>
        <p:spPr>
          <a:xfrm>
            <a:off x="6669634" y="2545690"/>
            <a:ext cx="395021" cy="395021"/>
          </a:xfrm>
          <a:prstGeom prst="rect">
            <a:avLst/>
          </a:prstGeom>
        </p:spPr>
      </p:pic>
      <p:sp>
        <p:nvSpPr>
          <p:cNvPr id="25" name="Text 20"/>
          <p:cNvSpPr txBox="1"/>
          <p:nvPr/>
        </p:nvSpPr>
        <p:spPr>
          <a:xfrm>
            <a:off x="7598664" y="2331720"/>
            <a:ext cx="914400" cy="548640"/>
          </a:xfrm>
          <a:prstGeom prst="rect">
            <a:avLst/>
          </a:prstGeom>
          <a:noFill/>
          <a:ln/>
        </p:spPr>
        <p:txBody>
          <a:bodyPr wrap="square" lIns="0" tIns="0" rIns="0" bIns="0" rtlCol="0" anchor="ctr"/>
          <a:lstStyle/>
          <a:p>
            <a:pPr marL="0" indent="0" algn="r">
              <a:buNone/>
            </a:pPr>
            <a:r>
              <a:rPr lang="en-US" sz="3000" b="1" dirty="0">
                <a:solidFill>
                  <a:srgbClr val="3A3A3A"/>
                </a:solidFill>
                <a:latin typeface="Arial" pitchFamily="34" charset="0"/>
                <a:ea typeface="Arial" pitchFamily="34" charset="-122"/>
                <a:cs typeface="Arial" pitchFamily="34" charset="-120"/>
              </a:rPr>
              <a:t>03</a:t>
            </a:r>
            <a:endParaRPr lang="en-US" sz="3000" dirty="0"/>
          </a:p>
        </p:txBody>
      </p:sp>
      <p:sp>
        <p:nvSpPr>
          <p:cNvPr id="26" name="Text 21"/>
          <p:cNvSpPr txBox="1"/>
          <p:nvPr/>
        </p:nvSpPr>
        <p:spPr>
          <a:xfrm>
            <a:off x="6455664" y="3383280"/>
            <a:ext cx="2057400" cy="7315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Comportamiento de clientes</a:t>
            </a:r>
            <a:endParaRPr lang="en-US" sz="1800" dirty="0"/>
          </a:p>
        </p:txBody>
      </p:sp>
      <p:sp>
        <p:nvSpPr>
          <p:cNvPr id="27" name="Text 22"/>
          <p:cNvSpPr txBox="1"/>
          <p:nvPr/>
        </p:nvSpPr>
        <p:spPr>
          <a:xfrm>
            <a:off x="6455664" y="4160520"/>
            <a:ext cx="2057400" cy="365760"/>
          </a:xfrm>
          <a:prstGeom prst="rect">
            <a:avLst/>
          </a:prstGeom>
          <a:noFill/>
          <a:ln/>
        </p:spPr>
        <p:txBody>
          <a:bodyPr wrap="square" lIns="0" tIns="0" rIns="0" bIns="0" rtlCol="0" anchor="t"/>
          <a:lstStyle/>
          <a:p>
            <a:pPr marL="0" indent="0">
              <a:buNone/>
            </a:pPr>
            <a:r>
              <a:rPr lang="en-US" sz="1300" b="1" dirty="0">
                <a:solidFill>
                  <a:srgbClr val="E4002B"/>
                </a:solidFill>
                <a:latin typeface="Calibri" pitchFamily="34" charset="0"/>
                <a:ea typeface="Calibri" pitchFamily="34" charset="-122"/>
                <a:cs typeface="Calibri" pitchFamily="34" charset="-120"/>
              </a:rPr>
              <a:t>TicoShop (tienda en línea)</a:t>
            </a:r>
            <a:endParaRPr lang="en-US" sz="1300" dirty="0"/>
          </a:p>
        </p:txBody>
      </p:sp>
      <p:sp>
        <p:nvSpPr>
          <p:cNvPr id="28" name="Text 23"/>
          <p:cNvSpPr txBox="1"/>
          <p:nvPr/>
        </p:nvSpPr>
        <p:spPr>
          <a:xfrm>
            <a:off x="6455664" y="4572000"/>
            <a:ext cx="2057400" cy="73152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¿Quiénes son y quién se va a ir?</a:t>
            </a:r>
            <a:endParaRPr lang="en-US" sz="1500" dirty="0"/>
          </a:p>
        </p:txBody>
      </p:sp>
      <p:sp>
        <p:nvSpPr>
          <p:cNvPr id="30" name="Shape 25"/>
          <p:cNvSpPr/>
          <p:nvPr/>
        </p:nvSpPr>
        <p:spPr>
          <a:xfrm>
            <a:off x="8997696" y="2011680"/>
            <a:ext cx="2606040" cy="356616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31" name="Shape 26"/>
          <p:cNvSpPr/>
          <p:nvPr/>
        </p:nvSpPr>
        <p:spPr>
          <a:xfrm>
            <a:off x="9272016" y="2331720"/>
            <a:ext cx="822960" cy="822960"/>
          </a:xfrm>
          <a:prstGeom prst="ellipse">
            <a:avLst/>
          </a:prstGeom>
          <a:solidFill>
            <a:srgbClr val="E4002B"/>
          </a:solidFill>
          <a:ln w="12700">
            <a:solidFill>
              <a:srgbClr val="E4002B"/>
            </a:solidFill>
            <a:prstDash val="solid"/>
          </a:ln>
        </p:spPr>
        <p:txBody>
          <a:bodyPr/>
          <a:lstStyle/>
          <a:p>
            <a:endParaRPr lang="es-CO"/>
          </a:p>
        </p:txBody>
      </p:sp>
      <p:pic>
        <p:nvPicPr>
          <p:cNvPr id="32" name="Image 3" descr="preencoded.png"/>
          <p:cNvPicPr>
            <a:picLocks noChangeAspect="1"/>
          </p:cNvPicPr>
          <p:nvPr/>
        </p:nvPicPr>
        <p:blipFill>
          <a:blip r:embed="rId6"/>
          <a:stretch>
            <a:fillRect/>
          </a:stretch>
        </p:blipFill>
        <p:spPr>
          <a:xfrm>
            <a:off x="9485986" y="2545690"/>
            <a:ext cx="395021" cy="395021"/>
          </a:xfrm>
          <a:prstGeom prst="rect">
            <a:avLst/>
          </a:prstGeom>
        </p:spPr>
      </p:pic>
      <p:sp>
        <p:nvSpPr>
          <p:cNvPr id="33" name="Text 27"/>
          <p:cNvSpPr txBox="1"/>
          <p:nvPr/>
        </p:nvSpPr>
        <p:spPr>
          <a:xfrm>
            <a:off x="10415016" y="2331720"/>
            <a:ext cx="914400" cy="548640"/>
          </a:xfrm>
          <a:prstGeom prst="rect">
            <a:avLst/>
          </a:prstGeom>
          <a:noFill/>
          <a:ln/>
        </p:spPr>
        <p:txBody>
          <a:bodyPr wrap="square" lIns="0" tIns="0" rIns="0" bIns="0" rtlCol="0" anchor="ctr"/>
          <a:lstStyle/>
          <a:p>
            <a:pPr marL="0" indent="0" algn="r">
              <a:buNone/>
            </a:pPr>
            <a:r>
              <a:rPr lang="en-US" sz="3000" b="1" dirty="0">
                <a:solidFill>
                  <a:srgbClr val="3A3A3A"/>
                </a:solidFill>
                <a:latin typeface="Arial" pitchFamily="34" charset="0"/>
                <a:ea typeface="Arial" pitchFamily="34" charset="-122"/>
                <a:cs typeface="Arial" pitchFamily="34" charset="-120"/>
              </a:rPr>
              <a:t>04</a:t>
            </a:r>
            <a:endParaRPr lang="en-US" sz="3000" dirty="0"/>
          </a:p>
        </p:txBody>
      </p:sp>
      <p:sp>
        <p:nvSpPr>
          <p:cNvPr id="34" name="Text 28"/>
          <p:cNvSpPr txBox="1"/>
          <p:nvPr/>
        </p:nvSpPr>
        <p:spPr>
          <a:xfrm>
            <a:off x="9272016" y="3383280"/>
            <a:ext cx="2057400" cy="7315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ML en empresas</a:t>
            </a:r>
            <a:endParaRPr lang="en-US" sz="1800" dirty="0"/>
          </a:p>
        </p:txBody>
      </p:sp>
      <p:sp>
        <p:nvSpPr>
          <p:cNvPr id="35" name="Text 29"/>
          <p:cNvSpPr txBox="1"/>
          <p:nvPr/>
        </p:nvSpPr>
        <p:spPr>
          <a:xfrm>
            <a:off x="9272016" y="4160520"/>
            <a:ext cx="2057400" cy="365760"/>
          </a:xfrm>
          <a:prstGeom prst="rect">
            <a:avLst/>
          </a:prstGeom>
          <a:noFill/>
          <a:ln/>
        </p:spPr>
        <p:txBody>
          <a:bodyPr wrap="square" lIns="0" tIns="0" rIns="0" bIns="0" rtlCol="0" anchor="t"/>
          <a:lstStyle/>
          <a:p>
            <a:pPr marL="0" indent="0">
              <a:buNone/>
            </a:pPr>
            <a:r>
              <a:rPr lang="en-US" sz="1300" b="1" dirty="0">
                <a:solidFill>
                  <a:srgbClr val="E4002B"/>
                </a:solidFill>
                <a:latin typeface="Calibri" pitchFamily="34" charset="0"/>
                <a:ea typeface="Calibri" pitchFamily="34" charset="-122"/>
                <a:cs typeface="Calibri" pitchFamily="34" charset="-120"/>
              </a:rPr>
              <a:t>Almacén El Hogar</a:t>
            </a:r>
            <a:endParaRPr lang="en-US" sz="1300" dirty="0"/>
          </a:p>
        </p:txBody>
      </p:sp>
      <p:sp>
        <p:nvSpPr>
          <p:cNvPr id="36" name="Text 30"/>
          <p:cNvSpPr txBox="1"/>
          <p:nvPr/>
        </p:nvSpPr>
        <p:spPr>
          <a:xfrm>
            <a:off x="9272016" y="4572000"/>
            <a:ext cx="2057400" cy="73152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¿A quién llamar para vender más?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03</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DE DÓNDE VENIMOS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Ya tenemos las piezas: hoy armamos el rompecabezas</a:t>
            </a:r>
            <a:endParaRPr lang="en-US" sz="3200" dirty="0"/>
          </a:p>
        </p:txBody>
      </p:sp>
      <p:sp>
        <p:nvSpPr>
          <p:cNvPr id="6" name="Shape 4"/>
          <p:cNvSpPr/>
          <p:nvPr/>
        </p:nvSpPr>
        <p:spPr>
          <a:xfrm>
            <a:off x="548640" y="2377440"/>
            <a:ext cx="2057400" cy="1920240"/>
          </a:xfrm>
          <a:prstGeom prst="roundRect">
            <a:avLst>
              <a:gd name="adj" fmla="val 5714"/>
            </a:avLst>
          </a:prstGeom>
          <a:solidFill>
            <a:srgbClr val="1A1A1A"/>
          </a:solidFill>
          <a:ln w="12700">
            <a:solidFill>
              <a:srgbClr val="1A1A1A"/>
            </a:solidFill>
            <a:prstDash val="solid"/>
          </a:ln>
        </p:spPr>
        <p:txBody>
          <a:bodyPr/>
          <a:lstStyle/>
          <a:p>
            <a:endParaRPr lang="es-CO"/>
          </a:p>
        </p:txBody>
      </p:sp>
      <p:sp>
        <p:nvSpPr>
          <p:cNvPr id="7" name="Text 5"/>
          <p:cNvSpPr txBox="1"/>
          <p:nvPr/>
        </p:nvSpPr>
        <p:spPr>
          <a:xfrm>
            <a:off x="777240" y="2606040"/>
            <a:ext cx="1645920" cy="640080"/>
          </a:xfrm>
          <a:prstGeom prst="rect">
            <a:avLst/>
          </a:prstGeom>
          <a:noFill/>
          <a:ln/>
        </p:spPr>
        <p:txBody>
          <a:bodyPr wrap="square" lIns="0" tIns="0" rIns="0" bIns="0" rtlCol="0" anchor="ctr"/>
          <a:lstStyle/>
          <a:p>
            <a:pPr marL="0" indent="0">
              <a:buNone/>
            </a:pPr>
            <a:r>
              <a:rPr lang="en-US" sz="3200" b="1" dirty="0">
                <a:solidFill>
                  <a:srgbClr val="E4002B"/>
                </a:solidFill>
                <a:latin typeface="Arial" pitchFamily="34" charset="0"/>
                <a:ea typeface="Arial" pitchFamily="34" charset="-122"/>
                <a:cs typeface="Arial" pitchFamily="34" charset="-120"/>
              </a:rPr>
              <a:t>U1</a:t>
            </a:r>
            <a:endParaRPr lang="en-US" sz="3200" dirty="0"/>
          </a:p>
        </p:txBody>
      </p:sp>
      <p:sp>
        <p:nvSpPr>
          <p:cNvPr id="8" name="Text 6"/>
          <p:cNvSpPr txBox="1"/>
          <p:nvPr/>
        </p:nvSpPr>
        <p:spPr>
          <a:xfrm>
            <a:off x="777240" y="3337560"/>
            <a:ext cx="1645920" cy="8229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¿Qué es ML?</a:t>
            </a:r>
            <a:endParaRPr lang="en-US" sz="1500" dirty="0"/>
          </a:p>
        </p:txBody>
      </p:sp>
      <p:sp>
        <p:nvSpPr>
          <p:cNvPr id="9" name="Text 7"/>
          <p:cNvSpPr txBox="1"/>
          <p:nvPr/>
        </p:nvSpPr>
        <p:spPr>
          <a:xfrm>
            <a:off x="2578608" y="3017520"/>
            <a:ext cx="274320" cy="548640"/>
          </a:xfrm>
          <a:prstGeom prst="rect">
            <a:avLst/>
          </a:prstGeom>
          <a:noFill/>
          <a:ln/>
        </p:spPr>
        <p:txBody>
          <a:bodyPr wrap="square" lIns="0" tIns="0" rIns="0" bIns="0" rtlCol="0" anchor="ctr"/>
          <a:lstStyle/>
          <a:p>
            <a:pPr marL="0" indent="0" algn="ctr">
              <a:buNone/>
            </a:pPr>
            <a:r>
              <a:rPr lang="en-US" sz="2800" dirty="0">
                <a:solidFill>
                  <a:srgbClr val="8C8C8C"/>
                </a:solidFill>
                <a:latin typeface="Arial" pitchFamily="34" charset="0"/>
                <a:ea typeface="Arial" pitchFamily="34" charset="-122"/>
                <a:cs typeface="Arial" pitchFamily="34" charset="-120"/>
              </a:rPr>
              <a:t>›</a:t>
            </a:r>
            <a:endParaRPr lang="en-US" sz="2800" dirty="0"/>
          </a:p>
        </p:txBody>
      </p:sp>
      <p:sp>
        <p:nvSpPr>
          <p:cNvPr id="10" name="Shape 8"/>
          <p:cNvSpPr/>
          <p:nvPr/>
        </p:nvSpPr>
        <p:spPr>
          <a:xfrm>
            <a:off x="2834640" y="2377440"/>
            <a:ext cx="2057400" cy="1920240"/>
          </a:xfrm>
          <a:prstGeom prst="roundRect">
            <a:avLst>
              <a:gd name="adj" fmla="val 5714"/>
            </a:avLst>
          </a:prstGeom>
          <a:solidFill>
            <a:srgbClr val="1A1A1A"/>
          </a:solidFill>
          <a:ln w="12700">
            <a:solidFill>
              <a:srgbClr val="1A1A1A"/>
            </a:solidFill>
            <a:prstDash val="solid"/>
          </a:ln>
        </p:spPr>
        <p:txBody>
          <a:bodyPr/>
          <a:lstStyle/>
          <a:p>
            <a:endParaRPr lang="es-CO"/>
          </a:p>
        </p:txBody>
      </p:sp>
      <p:sp>
        <p:nvSpPr>
          <p:cNvPr id="11" name="Text 9"/>
          <p:cNvSpPr txBox="1"/>
          <p:nvPr/>
        </p:nvSpPr>
        <p:spPr>
          <a:xfrm>
            <a:off x="3063240" y="2606040"/>
            <a:ext cx="1645920" cy="640080"/>
          </a:xfrm>
          <a:prstGeom prst="rect">
            <a:avLst/>
          </a:prstGeom>
          <a:noFill/>
          <a:ln/>
        </p:spPr>
        <p:txBody>
          <a:bodyPr wrap="square" lIns="0" tIns="0" rIns="0" bIns="0" rtlCol="0" anchor="ctr"/>
          <a:lstStyle/>
          <a:p>
            <a:pPr marL="0" indent="0">
              <a:buNone/>
            </a:pPr>
            <a:r>
              <a:rPr lang="en-US" sz="3200" b="1" dirty="0">
                <a:solidFill>
                  <a:srgbClr val="E4002B"/>
                </a:solidFill>
                <a:latin typeface="Arial" pitchFamily="34" charset="0"/>
                <a:ea typeface="Arial" pitchFamily="34" charset="-122"/>
                <a:cs typeface="Arial" pitchFamily="34" charset="-120"/>
              </a:rPr>
              <a:t>U2</a:t>
            </a:r>
            <a:endParaRPr lang="en-US" sz="3200" dirty="0"/>
          </a:p>
        </p:txBody>
      </p:sp>
      <p:sp>
        <p:nvSpPr>
          <p:cNvPr id="12" name="Text 10"/>
          <p:cNvSpPr txBox="1"/>
          <p:nvPr/>
        </p:nvSpPr>
        <p:spPr>
          <a:xfrm>
            <a:off x="3063240" y="3337560"/>
            <a:ext cx="1645920" cy="8229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Modelos supervisados</a:t>
            </a:r>
            <a:endParaRPr lang="en-US" sz="1500" dirty="0"/>
          </a:p>
        </p:txBody>
      </p:sp>
      <p:sp>
        <p:nvSpPr>
          <p:cNvPr id="13" name="Text 11"/>
          <p:cNvSpPr txBox="1"/>
          <p:nvPr/>
        </p:nvSpPr>
        <p:spPr>
          <a:xfrm>
            <a:off x="4864608" y="3017520"/>
            <a:ext cx="274320" cy="548640"/>
          </a:xfrm>
          <a:prstGeom prst="rect">
            <a:avLst/>
          </a:prstGeom>
          <a:noFill/>
          <a:ln/>
        </p:spPr>
        <p:txBody>
          <a:bodyPr wrap="square" lIns="0" tIns="0" rIns="0" bIns="0" rtlCol="0" anchor="ctr"/>
          <a:lstStyle/>
          <a:p>
            <a:pPr marL="0" indent="0" algn="ctr">
              <a:buNone/>
            </a:pPr>
            <a:r>
              <a:rPr lang="en-US" sz="2800" dirty="0">
                <a:solidFill>
                  <a:srgbClr val="8C8C8C"/>
                </a:solidFill>
                <a:latin typeface="Arial" pitchFamily="34" charset="0"/>
                <a:ea typeface="Arial" pitchFamily="34" charset="-122"/>
                <a:cs typeface="Arial" pitchFamily="34" charset="-120"/>
              </a:rPr>
              <a:t>›</a:t>
            </a:r>
            <a:endParaRPr lang="en-US" sz="2800" dirty="0"/>
          </a:p>
        </p:txBody>
      </p:sp>
      <p:sp>
        <p:nvSpPr>
          <p:cNvPr id="14" name="Shape 12"/>
          <p:cNvSpPr/>
          <p:nvPr/>
        </p:nvSpPr>
        <p:spPr>
          <a:xfrm>
            <a:off x="5120640" y="2377440"/>
            <a:ext cx="2057400" cy="1920240"/>
          </a:xfrm>
          <a:prstGeom prst="roundRect">
            <a:avLst>
              <a:gd name="adj" fmla="val 5714"/>
            </a:avLst>
          </a:prstGeom>
          <a:solidFill>
            <a:srgbClr val="1A1A1A"/>
          </a:solidFill>
          <a:ln w="12700">
            <a:solidFill>
              <a:srgbClr val="1A1A1A"/>
            </a:solidFill>
            <a:prstDash val="solid"/>
          </a:ln>
        </p:spPr>
        <p:txBody>
          <a:bodyPr/>
          <a:lstStyle/>
          <a:p>
            <a:endParaRPr lang="es-CO"/>
          </a:p>
        </p:txBody>
      </p:sp>
      <p:sp>
        <p:nvSpPr>
          <p:cNvPr id="15" name="Text 13"/>
          <p:cNvSpPr txBox="1"/>
          <p:nvPr/>
        </p:nvSpPr>
        <p:spPr>
          <a:xfrm>
            <a:off x="5349240" y="2606040"/>
            <a:ext cx="1645920" cy="640080"/>
          </a:xfrm>
          <a:prstGeom prst="rect">
            <a:avLst/>
          </a:prstGeom>
          <a:noFill/>
          <a:ln/>
        </p:spPr>
        <p:txBody>
          <a:bodyPr wrap="square" lIns="0" tIns="0" rIns="0" bIns="0" rtlCol="0" anchor="ctr"/>
          <a:lstStyle/>
          <a:p>
            <a:pPr marL="0" indent="0">
              <a:buNone/>
            </a:pPr>
            <a:r>
              <a:rPr lang="en-US" sz="3200" b="1" dirty="0">
                <a:solidFill>
                  <a:srgbClr val="E4002B"/>
                </a:solidFill>
                <a:latin typeface="Arial" pitchFamily="34" charset="0"/>
                <a:ea typeface="Arial" pitchFamily="34" charset="-122"/>
                <a:cs typeface="Arial" pitchFamily="34" charset="-120"/>
              </a:rPr>
              <a:t>U3</a:t>
            </a:r>
            <a:endParaRPr lang="en-US" sz="3200" dirty="0"/>
          </a:p>
        </p:txBody>
      </p:sp>
      <p:sp>
        <p:nvSpPr>
          <p:cNvPr id="16" name="Text 14"/>
          <p:cNvSpPr txBox="1"/>
          <p:nvPr/>
        </p:nvSpPr>
        <p:spPr>
          <a:xfrm>
            <a:off x="5349240" y="3337560"/>
            <a:ext cx="1645920" cy="8229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Regresión y clasificación</a:t>
            </a:r>
            <a:endParaRPr lang="en-US" sz="1500" dirty="0"/>
          </a:p>
        </p:txBody>
      </p:sp>
      <p:sp>
        <p:nvSpPr>
          <p:cNvPr id="17" name="Text 15"/>
          <p:cNvSpPr txBox="1"/>
          <p:nvPr/>
        </p:nvSpPr>
        <p:spPr>
          <a:xfrm>
            <a:off x="7150608" y="3017520"/>
            <a:ext cx="274320" cy="548640"/>
          </a:xfrm>
          <a:prstGeom prst="rect">
            <a:avLst/>
          </a:prstGeom>
          <a:noFill/>
          <a:ln/>
        </p:spPr>
        <p:txBody>
          <a:bodyPr wrap="square" lIns="0" tIns="0" rIns="0" bIns="0" rtlCol="0" anchor="ctr"/>
          <a:lstStyle/>
          <a:p>
            <a:pPr marL="0" indent="0" algn="ctr">
              <a:buNone/>
            </a:pPr>
            <a:r>
              <a:rPr lang="en-US" sz="2800" dirty="0">
                <a:solidFill>
                  <a:srgbClr val="8C8C8C"/>
                </a:solidFill>
                <a:latin typeface="Arial" pitchFamily="34" charset="0"/>
                <a:ea typeface="Arial" pitchFamily="34" charset="-122"/>
                <a:cs typeface="Arial" pitchFamily="34" charset="-120"/>
              </a:rPr>
              <a:t>›</a:t>
            </a:r>
            <a:endParaRPr lang="en-US" sz="2800" dirty="0"/>
          </a:p>
        </p:txBody>
      </p:sp>
      <p:sp>
        <p:nvSpPr>
          <p:cNvPr id="18" name="Shape 16"/>
          <p:cNvSpPr/>
          <p:nvPr/>
        </p:nvSpPr>
        <p:spPr>
          <a:xfrm>
            <a:off x="7406640" y="2377440"/>
            <a:ext cx="2057400" cy="1920240"/>
          </a:xfrm>
          <a:prstGeom prst="roundRect">
            <a:avLst>
              <a:gd name="adj" fmla="val 5714"/>
            </a:avLst>
          </a:prstGeom>
          <a:solidFill>
            <a:srgbClr val="1A1A1A"/>
          </a:solidFill>
          <a:ln w="12700">
            <a:solidFill>
              <a:srgbClr val="1A1A1A"/>
            </a:solidFill>
            <a:prstDash val="solid"/>
          </a:ln>
        </p:spPr>
        <p:txBody>
          <a:bodyPr/>
          <a:lstStyle/>
          <a:p>
            <a:endParaRPr lang="es-CO"/>
          </a:p>
        </p:txBody>
      </p:sp>
      <p:sp>
        <p:nvSpPr>
          <p:cNvPr id="19" name="Text 17"/>
          <p:cNvSpPr txBox="1"/>
          <p:nvPr/>
        </p:nvSpPr>
        <p:spPr>
          <a:xfrm>
            <a:off x="7635240" y="2606040"/>
            <a:ext cx="1645920" cy="640080"/>
          </a:xfrm>
          <a:prstGeom prst="rect">
            <a:avLst/>
          </a:prstGeom>
          <a:noFill/>
          <a:ln/>
        </p:spPr>
        <p:txBody>
          <a:bodyPr wrap="square" lIns="0" tIns="0" rIns="0" bIns="0" rtlCol="0" anchor="ctr"/>
          <a:lstStyle/>
          <a:p>
            <a:pPr marL="0" indent="0">
              <a:buNone/>
            </a:pPr>
            <a:r>
              <a:rPr lang="en-US" sz="3200" b="1" dirty="0">
                <a:solidFill>
                  <a:srgbClr val="E4002B"/>
                </a:solidFill>
                <a:latin typeface="Arial" pitchFamily="34" charset="0"/>
                <a:ea typeface="Arial" pitchFamily="34" charset="-122"/>
                <a:cs typeface="Arial" pitchFamily="34" charset="-120"/>
              </a:rPr>
              <a:t>U4</a:t>
            </a:r>
            <a:endParaRPr lang="en-US" sz="3200" dirty="0"/>
          </a:p>
        </p:txBody>
      </p:sp>
      <p:sp>
        <p:nvSpPr>
          <p:cNvPr id="20" name="Text 18"/>
          <p:cNvSpPr txBox="1"/>
          <p:nvPr/>
        </p:nvSpPr>
        <p:spPr>
          <a:xfrm>
            <a:off x="7635240" y="3337560"/>
            <a:ext cx="1645920" cy="8229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Validación de modelos</a:t>
            </a:r>
            <a:endParaRPr lang="en-US" sz="1500" dirty="0"/>
          </a:p>
        </p:txBody>
      </p:sp>
      <p:sp>
        <p:nvSpPr>
          <p:cNvPr id="21" name="Text 19"/>
          <p:cNvSpPr txBox="1"/>
          <p:nvPr/>
        </p:nvSpPr>
        <p:spPr>
          <a:xfrm>
            <a:off x="9436608" y="3017520"/>
            <a:ext cx="274320" cy="548640"/>
          </a:xfrm>
          <a:prstGeom prst="rect">
            <a:avLst/>
          </a:prstGeom>
          <a:noFill/>
          <a:ln/>
        </p:spPr>
        <p:txBody>
          <a:bodyPr wrap="square" lIns="0" tIns="0" rIns="0" bIns="0" rtlCol="0" anchor="ctr"/>
          <a:lstStyle/>
          <a:p>
            <a:pPr marL="0" indent="0" algn="ctr">
              <a:buNone/>
            </a:pPr>
            <a:r>
              <a:rPr lang="en-US" sz="2800" dirty="0">
                <a:solidFill>
                  <a:srgbClr val="8C8C8C"/>
                </a:solidFill>
                <a:latin typeface="Arial" pitchFamily="34" charset="0"/>
                <a:ea typeface="Arial" pitchFamily="34" charset="-122"/>
                <a:cs typeface="Arial" pitchFamily="34" charset="-120"/>
              </a:rPr>
              <a:t>›</a:t>
            </a:r>
            <a:endParaRPr lang="en-US" sz="2800" dirty="0"/>
          </a:p>
        </p:txBody>
      </p:sp>
      <p:sp>
        <p:nvSpPr>
          <p:cNvPr id="22" name="Shape 20"/>
          <p:cNvSpPr/>
          <p:nvPr/>
        </p:nvSpPr>
        <p:spPr>
          <a:xfrm>
            <a:off x="9692640" y="2377440"/>
            <a:ext cx="2057400" cy="1920240"/>
          </a:xfrm>
          <a:prstGeom prst="roundRect">
            <a:avLst>
              <a:gd name="adj" fmla="val 5714"/>
            </a:avLst>
          </a:prstGeom>
          <a:solidFill>
            <a:srgbClr val="E4002B"/>
          </a:solidFill>
          <a:ln w="12700">
            <a:solidFill>
              <a:srgbClr val="E4002B"/>
            </a:solidFill>
            <a:prstDash val="solid"/>
          </a:ln>
        </p:spPr>
        <p:txBody>
          <a:bodyPr/>
          <a:lstStyle/>
          <a:p>
            <a:endParaRPr lang="es-CO"/>
          </a:p>
        </p:txBody>
      </p:sp>
      <p:sp>
        <p:nvSpPr>
          <p:cNvPr id="23" name="Text 21"/>
          <p:cNvSpPr txBox="1"/>
          <p:nvPr/>
        </p:nvSpPr>
        <p:spPr>
          <a:xfrm>
            <a:off x="9921240" y="2606040"/>
            <a:ext cx="1645920" cy="64008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U5</a:t>
            </a:r>
            <a:endParaRPr lang="en-US" sz="3200" dirty="0"/>
          </a:p>
        </p:txBody>
      </p:sp>
      <p:sp>
        <p:nvSpPr>
          <p:cNvPr id="24" name="Text 22"/>
          <p:cNvSpPr txBox="1"/>
          <p:nvPr/>
        </p:nvSpPr>
        <p:spPr>
          <a:xfrm>
            <a:off x="9921240" y="3337560"/>
            <a:ext cx="1645920" cy="8229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Casos empresariales</a:t>
            </a:r>
            <a:endParaRPr lang="en-US" sz="1500" dirty="0"/>
          </a:p>
        </p:txBody>
      </p:sp>
      <p:sp>
        <p:nvSpPr>
          <p:cNvPr id="25" name="Text 23"/>
          <p:cNvSpPr txBox="1"/>
          <p:nvPr/>
        </p:nvSpPr>
        <p:spPr>
          <a:xfrm>
            <a:off x="548640" y="4754880"/>
            <a:ext cx="10972800" cy="365760"/>
          </a:xfrm>
          <a:prstGeom prst="rect">
            <a:avLst/>
          </a:prstGeom>
          <a:noFill/>
          <a:ln/>
        </p:spPr>
        <p:txBody>
          <a:bodyPr wrap="square" lIns="0" tIns="0" rIns="0" bIns="0" rtlCol="0" anchor="t"/>
          <a:lstStyle/>
          <a:p>
            <a:pPr marL="0" indent="0">
              <a:buNone/>
            </a:pPr>
            <a:r>
              <a:rPr lang="en-US" sz="1700" dirty="0">
                <a:solidFill>
                  <a:srgbClr val="D4D4D4"/>
                </a:solidFill>
                <a:latin typeface="Calibri" pitchFamily="34" charset="0"/>
                <a:ea typeface="Calibri" pitchFamily="34" charset="-122"/>
                <a:cs typeface="Calibri" pitchFamily="34" charset="-120"/>
              </a:rPr>
              <a:t>La diferencia en esta unidad: ya no preguntamos "¿qué tan exacto es el modelo?" sino</a:t>
            </a:r>
            <a:endParaRPr lang="en-US" sz="1700" dirty="0"/>
          </a:p>
        </p:txBody>
      </p:sp>
      <p:sp>
        <p:nvSpPr>
          <p:cNvPr id="26" name="Text 24"/>
          <p:cNvSpPr txBox="1"/>
          <p:nvPr/>
        </p:nvSpPr>
        <p:spPr>
          <a:xfrm>
            <a:off x="548640" y="5166360"/>
            <a:ext cx="10972800" cy="548640"/>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"¿cuánta plata gana o ahorra la empresa con él?"</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04</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LA IDEA MÁS IMPORTANTE DE LA UNIDAD</a:t>
            </a:r>
            <a:endParaRPr lang="en-US" sz="1300" dirty="0"/>
          </a:p>
        </p:txBody>
      </p:sp>
      <p:sp>
        <p:nvSpPr>
          <p:cNvPr id="5" name="Text 3"/>
          <p:cNvSpPr txBox="1"/>
          <p:nvPr/>
        </p:nvSpPr>
        <p:spPr>
          <a:xfrm>
            <a:off x="548640" y="1371600"/>
            <a:ext cx="7498080" cy="219456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Un modelo que nadie usa</a:t>
            </a:r>
            <a:endParaRPr lang="en-US" sz="4400" dirty="0"/>
          </a:p>
          <a:p>
            <a:pPr marL="0" indent="0">
              <a:buNone/>
            </a:pPr>
            <a:r>
              <a:rPr lang="en-US" sz="4400" b="1" dirty="0">
                <a:solidFill>
                  <a:srgbClr val="FFFFFF"/>
                </a:solidFill>
                <a:latin typeface="Arial" pitchFamily="34" charset="0"/>
                <a:ea typeface="Arial" pitchFamily="34" charset="-122"/>
                <a:cs typeface="Arial" pitchFamily="34" charset="-120"/>
              </a:rPr>
              <a:t>vale ₡0</a:t>
            </a:r>
            <a:endParaRPr lang="en-US" sz="4400" dirty="0"/>
          </a:p>
        </p:txBody>
      </p:sp>
      <p:sp>
        <p:nvSpPr>
          <p:cNvPr id="6" name="Text 4"/>
          <p:cNvSpPr txBox="1"/>
          <p:nvPr/>
        </p:nvSpPr>
        <p:spPr>
          <a:xfrm>
            <a:off x="548640" y="3840480"/>
            <a:ext cx="6858000" cy="457200"/>
          </a:xfrm>
          <a:prstGeom prst="rect">
            <a:avLst/>
          </a:prstGeom>
          <a:noFill/>
          <a:ln/>
        </p:spPr>
        <p:txBody>
          <a:bodyPr wrap="square" lIns="0" tIns="0" rIns="0" bIns="0" rtlCol="0" anchor="t"/>
          <a:lstStyle/>
          <a:p>
            <a:pPr marL="0" indent="0">
              <a:buNone/>
            </a:pPr>
            <a:r>
              <a:rPr lang="en-US" sz="1800" dirty="0">
                <a:solidFill>
                  <a:srgbClr val="D4D4D4"/>
                </a:solidFill>
                <a:latin typeface="Calibri" pitchFamily="34" charset="0"/>
                <a:ea typeface="Calibri" pitchFamily="34" charset="-122"/>
                <a:cs typeface="Calibri" pitchFamily="34" charset="-120"/>
              </a:rPr>
              <a:t>Las empresas no compran predicciones. Compran mejores decisiones:</a:t>
            </a:r>
            <a:endParaRPr lang="en-US" sz="1800" dirty="0"/>
          </a:p>
        </p:txBody>
      </p:sp>
      <p:sp>
        <p:nvSpPr>
          <p:cNvPr id="7" name="Text 5"/>
          <p:cNvSpPr txBox="1"/>
          <p:nvPr/>
        </p:nvSpPr>
        <p:spPr>
          <a:xfrm>
            <a:off x="548640" y="4389120"/>
            <a:ext cx="6858000" cy="14630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D4D4D4"/>
                </a:solidFill>
                <a:latin typeface="Calibri" pitchFamily="34" charset="0"/>
                <a:ea typeface="Calibri" pitchFamily="34" charset="-122"/>
                <a:cs typeface="Calibri" pitchFamily="34" charset="-120"/>
              </a:rPr>
              <a:t>cuántos cajeros poner el sábado</a:t>
            </a:r>
            <a:endParaRPr lang="en-US" sz="1800" dirty="0"/>
          </a:p>
          <a:p>
            <a:pPr marL="228600" indent="-228600">
              <a:spcAft>
                <a:spcPts val="800"/>
              </a:spcAft>
              <a:buSzPct val="100000"/>
              <a:buChar char="•"/>
            </a:pPr>
            <a:r>
              <a:rPr lang="en-US" sz="1800" dirty="0">
                <a:solidFill>
                  <a:srgbClr val="D4D4D4"/>
                </a:solidFill>
                <a:latin typeface="Calibri" pitchFamily="34" charset="0"/>
                <a:ea typeface="Calibri" pitchFamily="34" charset="-122"/>
                <a:cs typeface="Calibri" pitchFamily="34" charset="-120"/>
              </a:rPr>
              <a:t>cuánto pan hornear mañana</a:t>
            </a:r>
            <a:endParaRPr lang="en-US" sz="1800" dirty="0"/>
          </a:p>
          <a:p>
            <a:pPr marL="228600" indent="-228600">
              <a:spcAft>
                <a:spcPts val="800"/>
              </a:spcAft>
              <a:buSzPct val="100000"/>
              <a:buChar char="•"/>
            </a:pPr>
            <a:r>
              <a:rPr lang="en-US" sz="1800" dirty="0">
                <a:solidFill>
                  <a:srgbClr val="D4D4D4"/>
                </a:solidFill>
                <a:latin typeface="Calibri" pitchFamily="34" charset="0"/>
                <a:ea typeface="Calibri" pitchFamily="34" charset="-122"/>
                <a:cs typeface="Calibri" pitchFamily="34" charset="-120"/>
              </a:rPr>
              <a:t>a qué cliente llamar primero</a:t>
            </a:r>
            <a:endParaRPr lang="en-US" sz="1800" dirty="0"/>
          </a:p>
        </p:txBody>
      </p:sp>
      <p:sp>
        <p:nvSpPr>
          <p:cNvPr id="8" name="Shape 6"/>
          <p:cNvSpPr/>
          <p:nvPr/>
        </p:nvSpPr>
        <p:spPr>
          <a:xfrm>
            <a:off x="8138160" y="1463040"/>
            <a:ext cx="3474720" cy="4206240"/>
          </a:xfrm>
          <a:prstGeom prst="roundRect">
            <a:avLst>
              <a:gd name="adj" fmla="val 3158"/>
            </a:avLst>
          </a:prstGeom>
          <a:solidFill>
            <a:srgbClr val="1A1A1A"/>
          </a:solidFill>
          <a:ln w="12700">
            <a:solidFill>
              <a:srgbClr val="1A1A1A"/>
            </a:solidFill>
            <a:prstDash val="solid"/>
          </a:ln>
        </p:spPr>
        <p:txBody>
          <a:bodyPr/>
          <a:lstStyle/>
          <a:p>
            <a:endParaRPr lang="es-CO"/>
          </a:p>
        </p:txBody>
      </p:sp>
      <p:sp>
        <p:nvSpPr>
          <p:cNvPr id="9" name="Shape 7"/>
          <p:cNvSpPr/>
          <p:nvPr/>
        </p:nvSpPr>
        <p:spPr>
          <a:xfrm>
            <a:off x="8549640" y="1783080"/>
            <a:ext cx="822960" cy="822960"/>
          </a:xfrm>
          <a:prstGeom prst="ellipse">
            <a:avLst/>
          </a:prstGeom>
          <a:solidFill>
            <a:srgbClr val="E4002B"/>
          </a:solidFill>
          <a:ln w="12700">
            <a:solidFill>
              <a:srgbClr val="E4002B"/>
            </a:solidFill>
            <a:prstDash val="solid"/>
          </a:ln>
        </p:spPr>
        <p:txBody>
          <a:bodyPr/>
          <a:lstStyle/>
          <a:p>
            <a:endParaRPr lang="es-CO"/>
          </a:p>
        </p:txBody>
      </p:sp>
      <p:pic>
        <p:nvPicPr>
          <p:cNvPr id="10" name="Image 0" descr="preencoded.png"/>
          <p:cNvPicPr>
            <a:picLocks noChangeAspect="1"/>
          </p:cNvPicPr>
          <p:nvPr/>
        </p:nvPicPr>
        <p:blipFill>
          <a:blip r:embed="rId3"/>
          <a:stretch>
            <a:fillRect/>
          </a:stretch>
        </p:blipFill>
        <p:spPr>
          <a:xfrm>
            <a:off x="8763610" y="1997050"/>
            <a:ext cx="395021" cy="395021"/>
          </a:xfrm>
          <a:prstGeom prst="rect">
            <a:avLst/>
          </a:prstGeom>
        </p:spPr>
      </p:pic>
      <p:sp>
        <p:nvSpPr>
          <p:cNvPr id="11" name="Text 8"/>
          <p:cNvSpPr txBox="1"/>
          <p:nvPr/>
        </p:nvSpPr>
        <p:spPr>
          <a:xfrm>
            <a:off x="8549640" y="2788920"/>
            <a:ext cx="2743200" cy="36576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Analogía</a:t>
            </a:r>
            <a:endParaRPr lang="en-US" sz="1200" dirty="0"/>
          </a:p>
        </p:txBody>
      </p:sp>
      <p:sp>
        <p:nvSpPr>
          <p:cNvPr id="12" name="Text 9"/>
          <p:cNvSpPr txBox="1"/>
          <p:nvPr/>
        </p:nvSpPr>
        <p:spPr>
          <a:xfrm>
            <a:off x="8549640" y="3200400"/>
            <a:ext cx="2743200" cy="2194560"/>
          </a:xfrm>
          <a:prstGeom prst="rect">
            <a:avLst/>
          </a:prstGeom>
          <a:noFill/>
          <a:ln/>
        </p:spPr>
        <p:txBody>
          <a:bodyPr wrap="square" lIns="0" tIns="0" rIns="0" bIns="0" rtlCol="0" anchor="t"/>
          <a:lstStyle/>
          <a:p>
            <a:pPr marL="0" indent="0">
              <a:buNone/>
            </a:pPr>
            <a:r>
              <a:rPr lang="en-US" sz="1700" i="1" dirty="0">
                <a:solidFill>
                  <a:srgbClr val="FFFFFF"/>
                </a:solidFill>
                <a:latin typeface="Calibri" pitchFamily="34" charset="0"/>
                <a:ea typeface="Calibri" pitchFamily="34" charset="-122"/>
                <a:cs typeface="Calibri" pitchFamily="34" charset="-120"/>
              </a:rPr>
              <a:t>El pronóstico del tiempo no sirve de nada si no te hace decidir llevar o no el paraguas.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05</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CÓMO SE HACE EN LA VIDA REAL</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ciclo de un proyecto de ML en una empresa</a:t>
            </a:r>
            <a:endParaRPr lang="en-US" sz="3200" dirty="0"/>
          </a:p>
        </p:txBody>
      </p:sp>
      <p:sp>
        <p:nvSpPr>
          <p:cNvPr id="6" name="Shape 4"/>
          <p:cNvSpPr/>
          <p:nvPr/>
        </p:nvSpPr>
        <p:spPr>
          <a:xfrm>
            <a:off x="548640" y="1965960"/>
            <a:ext cx="2560320" cy="1600200"/>
          </a:xfrm>
          <a:prstGeom prst="roundRect">
            <a:avLst>
              <a:gd name="adj" fmla="val 6857"/>
            </a:avLst>
          </a:prstGeom>
          <a:solidFill>
            <a:srgbClr val="2A0A10"/>
          </a:solidFill>
          <a:ln w="12700">
            <a:solidFill>
              <a:srgbClr val="2A0A10"/>
            </a:solidFill>
            <a:prstDash val="solid"/>
          </a:ln>
        </p:spPr>
        <p:txBody>
          <a:bodyPr/>
          <a:lstStyle/>
          <a:p>
            <a:endParaRPr lang="es-CO"/>
          </a:p>
        </p:txBody>
      </p:sp>
      <p:sp>
        <p:nvSpPr>
          <p:cNvPr id="7" name="Shape 5"/>
          <p:cNvSpPr/>
          <p:nvPr/>
        </p:nvSpPr>
        <p:spPr>
          <a:xfrm>
            <a:off x="777240" y="2240280"/>
            <a:ext cx="685800" cy="68580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955548" y="2418588"/>
            <a:ext cx="329184" cy="329184"/>
          </a:xfrm>
          <a:prstGeom prst="rect">
            <a:avLst/>
          </a:prstGeom>
        </p:spPr>
      </p:pic>
      <p:sp>
        <p:nvSpPr>
          <p:cNvPr id="9" name="Text 6"/>
          <p:cNvSpPr txBox="1"/>
          <p:nvPr/>
        </p:nvSpPr>
        <p:spPr>
          <a:xfrm>
            <a:off x="2377440" y="2194560"/>
            <a:ext cx="502920" cy="457200"/>
          </a:xfrm>
          <a:prstGeom prst="rect">
            <a:avLst/>
          </a:prstGeom>
          <a:noFill/>
          <a:ln/>
        </p:spPr>
        <p:txBody>
          <a:bodyPr wrap="square" lIns="0" tIns="0" rIns="0" bIns="0" rtlCol="0" anchor="ctr"/>
          <a:lstStyle/>
          <a:p>
            <a:pPr marL="0" indent="0" algn="r">
              <a:buNone/>
            </a:pPr>
            <a:r>
              <a:rPr lang="en-US" sz="2200" b="1" dirty="0">
                <a:solidFill>
                  <a:srgbClr val="E4002B"/>
                </a:solidFill>
                <a:latin typeface="Arial" pitchFamily="34" charset="0"/>
                <a:ea typeface="Arial" pitchFamily="34" charset="-122"/>
                <a:cs typeface="Arial" pitchFamily="34" charset="-120"/>
              </a:rPr>
              <a:t>1</a:t>
            </a:r>
            <a:endParaRPr lang="en-US" sz="2200" dirty="0"/>
          </a:p>
        </p:txBody>
      </p:sp>
      <p:sp>
        <p:nvSpPr>
          <p:cNvPr id="10" name="Text 7"/>
          <p:cNvSpPr txBox="1"/>
          <p:nvPr/>
        </p:nvSpPr>
        <p:spPr>
          <a:xfrm>
            <a:off x="777240" y="301752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Pregunta de negocio</a:t>
            </a:r>
            <a:endParaRPr lang="en-US" sz="1600" dirty="0"/>
          </a:p>
        </p:txBody>
      </p:sp>
      <p:sp>
        <p:nvSpPr>
          <p:cNvPr id="11" name="Shape 8"/>
          <p:cNvSpPr/>
          <p:nvPr/>
        </p:nvSpPr>
        <p:spPr>
          <a:xfrm>
            <a:off x="3383280" y="1965960"/>
            <a:ext cx="2560320" cy="1600200"/>
          </a:xfrm>
          <a:prstGeom prst="roundRect">
            <a:avLst>
              <a:gd name="adj" fmla="val 6857"/>
            </a:avLst>
          </a:prstGeom>
          <a:solidFill>
            <a:srgbClr val="1A1A1A"/>
          </a:solidFill>
          <a:ln w="12700">
            <a:solidFill>
              <a:srgbClr val="1A1A1A"/>
            </a:solidFill>
            <a:prstDash val="solid"/>
          </a:ln>
        </p:spPr>
        <p:txBody>
          <a:bodyPr/>
          <a:lstStyle/>
          <a:p>
            <a:endParaRPr lang="es-CO"/>
          </a:p>
        </p:txBody>
      </p:sp>
      <p:sp>
        <p:nvSpPr>
          <p:cNvPr id="12" name="Shape 9"/>
          <p:cNvSpPr/>
          <p:nvPr/>
        </p:nvSpPr>
        <p:spPr>
          <a:xfrm>
            <a:off x="3611880" y="224028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13" name="Image 1" descr="preencoded.png"/>
          <p:cNvPicPr>
            <a:picLocks noChangeAspect="1"/>
          </p:cNvPicPr>
          <p:nvPr/>
        </p:nvPicPr>
        <p:blipFill>
          <a:blip r:embed="rId4"/>
          <a:stretch>
            <a:fillRect/>
          </a:stretch>
        </p:blipFill>
        <p:spPr>
          <a:xfrm>
            <a:off x="3790188" y="2418588"/>
            <a:ext cx="329184" cy="329184"/>
          </a:xfrm>
          <a:prstGeom prst="rect">
            <a:avLst/>
          </a:prstGeom>
        </p:spPr>
      </p:pic>
      <p:sp>
        <p:nvSpPr>
          <p:cNvPr id="14" name="Text 10"/>
          <p:cNvSpPr txBox="1"/>
          <p:nvPr/>
        </p:nvSpPr>
        <p:spPr>
          <a:xfrm>
            <a:off x="5212080" y="2194560"/>
            <a:ext cx="502920" cy="457200"/>
          </a:xfrm>
          <a:prstGeom prst="rect">
            <a:avLst/>
          </a:prstGeom>
          <a:noFill/>
          <a:ln/>
        </p:spPr>
        <p:txBody>
          <a:bodyPr wrap="square" lIns="0" tIns="0" rIns="0" bIns="0" rtlCol="0" anchor="ctr"/>
          <a:lstStyle/>
          <a:p>
            <a:pPr marL="0" indent="0" algn="r">
              <a:buNone/>
            </a:pPr>
            <a:r>
              <a:rPr lang="en-US" sz="2200" b="1" dirty="0">
                <a:solidFill>
                  <a:srgbClr val="4A4A4A"/>
                </a:solidFill>
                <a:latin typeface="Arial" pitchFamily="34" charset="0"/>
                <a:ea typeface="Arial" pitchFamily="34" charset="-122"/>
                <a:cs typeface="Arial" pitchFamily="34" charset="-120"/>
              </a:rPr>
              <a:t>2</a:t>
            </a:r>
            <a:endParaRPr lang="en-US" sz="2200" dirty="0"/>
          </a:p>
        </p:txBody>
      </p:sp>
      <p:sp>
        <p:nvSpPr>
          <p:cNvPr id="15" name="Text 11"/>
          <p:cNvSpPr txBox="1"/>
          <p:nvPr/>
        </p:nvSpPr>
        <p:spPr>
          <a:xfrm>
            <a:off x="3611880" y="301752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Datos</a:t>
            </a:r>
            <a:endParaRPr lang="en-US" sz="1600" dirty="0"/>
          </a:p>
        </p:txBody>
      </p:sp>
      <p:sp>
        <p:nvSpPr>
          <p:cNvPr id="16" name="Shape 12"/>
          <p:cNvSpPr/>
          <p:nvPr/>
        </p:nvSpPr>
        <p:spPr>
          <a:xfrm>
            <a:off x="6217920" y="1965960"/>
            <a:ext cx="2560320" cy="1600200"/>
          </a:xfrm>
          <a:prstGeom prst="roundRect">
            <a:avLst>
              <a:gd name="adj" fmla="val 6857"/>
            </a:avLst>
          </a:prstGeom>
          <a:solidFill>
            <a:srgbClr val="1A1A1A"/>
          </a:solidFill>
          <a:ln w="12700">
            <a:solidFill>
              <a:srgbClr val="1A1A1A"/>
            </a:solidFill>
            <a:prstDash val="solid"/>
          </a:ln>
        </p:spPr>
        <p:txBody>
          <a:bodyPr/>
          <a:lstStyle/>
          <a:p>
            <a:endParaRPr lang="es-CO"/>
          </a:p>
        </p:txBody>
      </p:sp>
      <p:sp>
        <p:nvSpPr>
          <p:cNvPr id="17" name="Shape 13"/>
          <p:cNvSpPr/>
          <p:nvPr/>
        </p:nvSpPr>
        <p:spPr>
          <a:xfrm>
            <a:off x="6446520" y="224028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18" name="Image 2" descr="preencoded.png"/>
          <p:cNvPicPr>
            <a:picLocks noChangeAspect="1"/>
          </p:cNvPicPr>
          <p:nvPr/>
        </p:nvPicPr>
        <p:blipFill>
          <a:blip r:embed="rId5"/>
          <a:stretch>
            <a:fillRect/>
          </a:stretch>
        </p:blipFill>
        <p:spPr>
          <a:xfrm>
            <a:off x="6624828" y="2418588"/>
            <a:ext cx="329184" cy="329184"/>
          </a:xfrm>
          <a:prstGeom prst="rect">
            <a:avLst/>
          </a:prstGeom>
        </p:spPr>
      </p:pic>
      <p:sp>
        <p:nvSpPr>
          <p:cNvPr id="19" name="Text 14"/>
          <p:cNvSpPr txBox="1"/>
          <p:nvPr/>
        </p:nvSpPr>
        <p:spPr>
          <a:xfrm>
            <a:off x="8046720" y="2194560"/>
            <a:ext cx="502920" cy="457200"/>
          </a:xfrm>
          <a:prstGeom prst="rect">
            <a:avLst/>
          </a:prstGeom>
          <a:noFill/>
          <a:ln/>
        </p:spPr>
        <p:txBody>
          <a:bodyPr wrap="square" lIns="0" tIns="0" rIns="0" bIns="0" rtlCol="0" anchor="ctr"/>
          <a:lstStyle/>
          <a:p>
            <a:pPr marL="0" indent="0" algn="r">
              <a:buNone/>
            </a:pPr>
            <a:r>
              <a:rPr lang="en-US" sz="2200" b="1" dirty="0">
                <a:solidFill>
                  <a:srgbClr val="4A4A4A"/>
                </a:solidFill>
                <a:latin typeface="Arial" pitchFamily="34" charset="0"/>
                <a:ea typeface="Arial" pitchFamily="34" charset="-122"/>
                <a:cs typeface="Arial" pitchFamily="34" charset="-120"/>
              </a:rPr>
              <a:t>3</a:t>
            </a:r>
            <a:endParaRPr lang="en-US" sz="2200" dirty="0"/>
          </a:p>
        </p:txBody>
      </p:sp>
      <p:sp>
        <p:nvSpPr>
          <p:cNvPr id="20" name="Text 15"/>
          <p:cNvSpPr txBox="1"/>
          <p:nvPr/>
        </p:nvSpPr>
        <p:spPr>
          <a:xfrm>
            <a:off x="6446520" y="301752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Preparación</a:t>
            </a:r>
            <a:endParaRPr lang="en-US" sz="1600" dirty="0"/>
          </a:p>
        </p:txBody>
      </p:sp>
      <p:sp>
        <p:nvSpPr>
          <p:cNvPr id="21" name="Shape 16"/>
          <p:cNvSpPr/>
          <p:nvPr/>
        </p:nvSpPr>
        <p:spPr>
          <a:xfrm>
            <a:off x="9052560" y="1965960"/>
            <a:ext cx="2560320" cy="1600200"/>
          </a:xfrm>
          <a:prstGeom prst="roundRect">
            <a:avLst>
              <a:gd name="adj" fmla="val 6857"/>
            </a:avLst>
          </a:prstGeom>
          <a:solidFill>
            <a:srgbClr val="1A1A1A"/>
          </a:solidFill>
          <a:ln w="12700">
            <a:solidFill>
              <a:srgbClr val="1A1A1A"/>
            </a:solidFill>
            <a:prstDash val="solid"/>
          </a:ln>
        </p:spPr>
        <p:txBody>
          <a:bodyPr/>
          <a:lstStyle/>
          <a:p>
            <a:endParaRPr lang="es-CO"/>
          </a:p>
        </p:txBody>
      </p:sp>
      <p:sp>
        <p:nvSpPr>
          <p:cNvPr id="22" name="Shape 17"/>
          <p:cNvSpPr/>
          <p:nvPr/>
        </p:nvSpPr>
        <p:spPr>
          <a:xfrm>
            <a:off x="9281160" y="224028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23" name="Image 3" descr="preencoded.png"/>
          <p:cNvPicPr>
            <a:picLocks noChangeAspect="1"/>
          </p:cNvPicPr>
          <p:nvPr/>
        </p:nvPicPr>
        <p:blipFill>
          <a:blip r:embed="rId6"/>
          <a:stretch>
            <a:fillRect/>
          </a:stretch>
        </p:blipFill>
        <p:spPr>
          <a:xfrm>
            <a:off x="9459468" y="2418588"/>
            <a:ext cx="329184" cy="329184"/>
          </a:xfrm>
          <a:prstGeom prst="rect">
            <a:avLst/>
          </a:prstGeom>
        </p:spPr>
      </p:pic>
      <p:sp>
        <p:nvSpPr>
          <p:cNvPr id="24" name="Text 18"/>
          <p:cNvSpPr txBox="1"/>
          <p:nvPr/>
        </p:nvSpPr>
        <p:spPr>
          <a:xfrm>
            <a:off x="10881360" y="2194560"/>
            <a:ext cx="502920" cy="457200"/>
          </a:xfrm>
          <a:prstGeom prst="rect">
            <a:avLst/>
          </a:prstGeom>
          <a:noFill/>
          <a:ln/>
        </p:spPr>
        <p:txBody>
          <a:bodyPr wrap="square" lIns="0" tIns="0" rIns="0" bIns="0" rtlCol="0" anchor="ctr"/>
          <a:lstStyle/>
          <a:p>
            <a:pPr marL="0" indent="0" algn="r">
              <a:buNone/>
            </a:pPr>
            <a:r>
              <a:rPr lang="en-US" sz="2200" b="1" dirty="0">
                <a:solidFill>
                  <a:srgbClr val="4A4A4A"/>
                </a:solidFill>
                <a:latin typeface="Arial" pitchFamily="34" charset="0"/>
                <a:ea typeface="Arial" pitchFamily="34" charset="-122"/>
                <a:cs typeface="Arial" pitchFamily="34" charset="-120"/>
              </a:rPr>
              <a:t>4</a:t>
            </a:r>
            <a:endParaRPr lang="en-US" sz="2200" dirty="0"/>
          </a:p>
        </p:txBody>
      </p:sp>
      <p:sp>
        <p:nvSpPr>
          <p:cNvPr id="25" name="Text 19"/>
          <p:cNvSpPr txBox="1"/>
          <p:nvPr/>
        </p:nvSpPr>
        <p:spPr>
          <a:xfrm>
            <a:off x="9281160" y="301752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Modelo</a:t>
            </a:r>
            <a:endParaRPr lang="en-US" sz="1600" dirty="0"/>
          </a:p>
        </p:txBody>
      </p:sp>
      <p:sp>
        <p:nvSpPr>
          <p:cNvPr id="26" name="Shape 20"/>
          <p:cNvSpPr/>
          <p:nvPr/>
        </p:nvSpPr>
        <p:spPr>
          <a:xfrm>
            <a:off x="9052560" y="3977640"/>
            <a:ext cx="2560320" cy="1600200"/>
          </a:xfrm>
          <a:prstGeom prst="roundRect">
            <a:avLst>
              <a:gd name="adj" fmla="val 6857"/>
            </a:avLst>
          </a:prstGeom>
          <a:solidFill>
            <a:srgbClr val="1A1A1A"/>
          </a:solidFill>
          <a:ln w="12700">
            <a:solidFill>
              <a:srgbClr val="1A1A1A"/>
            </a:solidFill>
            <a:prstDash val="solid"/>
          </a:ln>
        </p:spPr>
        <p:txBody>
          <a:bodyPr/>
          <a:lstStyle/>
          <a:p>
            <a:endParaRPr lang="es-CO"/>
          </a:p>
        </p:txBody>
      </p:sp>
      <p:sp>
        <p:nvSpPr>
          <p:cNvPr id="27" name="Shape 21"/>
          <p:cNvSpPr/>
          <p:nvPr/>
        </p:nvSpPr>
        <p:spPr>
          <a:xfrm>
            <a:off x="9281160" y="425196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28" name="Image 4" descr="preencoded.png"/>
          <p:cNvPicPr>
            <a:picLocks noChangeAspect="1"/>
          </p:cNvPicPr>
          <p:nvPr/>
        </p:nvPicPr>
        <p:blipFill>
          <a:blip r:embed="rId7"/>
          <a:stretch>
            <a:fillRect/>
          </a:stretch>
        </p:blipFill>
        <p:spPr>
          <a:xfrm>
            <a:off x="9459468" y="4430268"/>
            <a:ext cx="329184" cy="329184"/>
          </a:xfrm>
          <a:prstGeom prst="rect">
            <a:avLst/>
          </a:prstGeom>
        </p:spPr>
      </p:pic>
      <p:sp>
        <p:nvSpPr>
          <p:cNvPr id="29" name="Text 22"/>
          <p:cNvSpPr txBox="1"/>
          <p:nvPr/>
        </p:nvSpPr>
        <p:spPr>
          <a:xfrm>
            <a:off x="10881360" y="4206240"/>
            <a:ext cx="502920" cy="457200"/>
          </a:xfrm>
          <a:prstGeom prst="rect">
            <a:avLst/>
          </a:prstGeom>
          <a:noFill/>
          <a:ln/>
        </p:spPr>
        <p:txBody>
          <a:bodyPr wrap="square" lIns="0" tIns="0" rIns="0" bIns="0" rtlCol="0" anchor="ctr"/>
          <a:lstStyle/>
          <a:p>
            <a:pPr marL="0" indent="0" algn="r">
              <a:buNone/>
            </a:pPr>
            <a:r>
              <a:rPr lang="en-US" sz="2200" b="1" dirty="0">
                <a:solidFill>
                  <a:srgbClr val="4A4A4A"/>
                </a:solidFill>
                <a:latin typeface="Arial" pitchFamily="34" charset="0"/>
                <a:ea typeface="Arial" pitchFamily="34" charset="-122"/>
                <a:cs typeface="Arial" pitchFamily="34" charset="-120"/>
              </a:rPr>
              <a:t>5</a:t>
            </a:r>
            <a:endParaRPr lang="en-US" sz="2200" dirty="0"/>
          </a:p>
        </p:txBody>
      </p:sp>
      <p:sp>
        <p:nvSpPr>
          <p:cNvPr id="30" name="Text 23"/>
          <p:cNvSpPr txBox="1"/>
          <p:nvPr/>
        </p:nvSpPr>
        <p:spPr>
          <a:xfrm>
            <a:off x="9281160" y="502920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Validación</a:t>
            </a:r>
            <a:endParaRPr lang="en-US" sz="1600" dirty="0"/>
          </a:p>
        </p:txBody>
      </p:sp>
      <p:sp>
        <p:nvSpPr>
          <p:cNvPr id="31" name="Shape 24"/>
          <p:cNvSpPr/>
          <p:nvPr/>
        </p:nvSpPr>
        <p:spPr>
          <a:xfrm>
            <a:off x="6217920" y="3977640"/>
            <a:ext cx="2560320" cy="1600200"/>
          </a:xfrm>
          <a:prstGeom prst="roundRect">
            <a:avLst>
              <a:gd name="adj" fmla="val 6857"/>
            </a:avLst>
          </a:prstGeom>
          <a:solidFill>
            <a:srgbClr val="2A0A10"/>
          </a:solidFill>
          <a:ln w="12700">
            <a:solidFill>
              <a:srgbClr val="2A0A10"/>
            </a:solidFill>
            <a:prstDash val="solid"/>
          </a:ln>
        </p:spPr>
        <p:txBody>
          <a:bodyPr/>
          <a:lstStyle/>
          <a:p>
            <a:endParaRPr lang="es-CO"/>
          </a:p>
        </p:txBody>
      </p:sp>
      <p:sp>
        <p:nvSpPr>
          <p:cNvPr id="32" name="Shape 25"/>
          <p:cNvSpPr/>
          <p:nvPr/>
        </p:nvSpPr>
        <p:spPr>
          <a:xfrm>
            <a:off x="6446520" y="4251960"/>
            <a:ext cx="685800" cy="685800"/>
          </a:xfrm>
          <a:prstGeom prst="ellipse">
            <a:avLst/>
          </a:prstGeom>
          <a:solidFill>
            <a:srgbClr val="E4002B"/>
          </a:solidFill>
          <a:ln w="12700">
            <a:solidFill>
              <a:srgbClr val="E4002B"/>
            </a:solidFill>
            <a:prstDash val="solid"/>
          </a:ln>
        </p:spPr>
        <p:txBody>
          <a:bodyPr/>
          <a:lstStyle/>
          <a:p>
            <a:endParaRPr lang="es-CO"/>
          </a:p>
        </p:txBody>
      </p:sp>
      <p:pic>
        <p:nvPicPr>
          <p:cNvPr id="33" name="Image 5" descr="preencoded.png"/>
          <p:cNvPicPr>
            <a:picLocks noChangeAspect="1"/>
          </p:cNvPicPr>
          <p:nvPr/>
        </p:nvPicPr>
        <p:blipFill>
          <a:blip r:embed="rId8"/>
          <a:stretch>
            <a:fillRect/>
          </a:stretch>
        </p:blipFill>
        <p:spPr>
          <a:xfrm>
            <a:off x="6624828" y="4430268"/>
            <a:ext cx="329184" cy="329184"/>
          </a:xfrm>
          <a:prstGeom prst="rect">
            <a:avLst/>
          </a:prstGeom>
        </p:spPr>
      </p:pic>
      <p:sp>
        <p:nvSpPr>
          <p:cNvPr id="34" name="Text 26"/>
          <p:cNvSpPr txBox="1"/>
          <p:nvPr/>
        </p:nvSpPr>
        <p:spPr>
          <a:xfrm>
            <a:off x="8046720" y="4206240"/>
            <a:ext cx="502920" cy="457200"/>
          </a:xfrm>
          <a:prstGeom prst="rect">
            <a:avLst/>
          </a:prstGeom>
          <a:noFill/>
          <a:ln/>
        </p:spPr>
        <p:txBody>
          <a:bodyPr wrap="square" lIns="0" tIns="0" rIns="0" bIns="0" rtlCol="0" anchor="ctr"/>
          <a:lstStyle/>
          <a:p>
            <a:pPr marL="0" indent="0" algn="r">
              <a:buNone/>
            </a:pPr>
            <a:r>
              <a:rPr lang="en-US" sz="2200" b="1" dirty="0">
                <a:solidFill>
                  <a:srgbClr val="E4002B"/>
                </a:solidFill>
                <a:latin typeface="Arial" pitchFamily="34" charset="0"/>
                <a:ea typeface="Arial" pitchFamily="34" charset="-122"/>
                <a:cs typeface="Arial" pitchFamily="34" charset="-120"/>
              </a:rPr>
              <a:t>6</a:t>
            </a:r>
            <a:endParaRPr lang="en-US" sz="2200" dirty="0"/>
          </a:p>
        </p:txBody>
      </p:sp>
      <p:sp>
        <p:nvSpPr>
          <p:cNvPr id="35" name="Text 27"/>
          <p:cNvSpPr txBox="1"/>
          <p:nvPr/>
        </p:nvSpPr>
        <p:spPr>
          <a:xfrm>
            <a:off x="6446520" y="502920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Decisión en ₡</a:t>
            </a:r>
            <a:endParaRPr lang="en-US" sz="1600" dirty="0"/>
          </a:p>
        </p:txBody>
      </p:sp>
      <p:sp>
        <p:nvSpPr>
          <p:cNvPr id="36" name="Shape 28"/>
          <p:cNvSpPr/>
          <p:nvPr/>
        </p:nvSpPr>
        <p:spPr>
          <a:xfrm>
            <a:off x="3383280" y="3977640"/>
            <a:ext cx="2560320" cy="1600200"/>
          </a:xfrm>
          <a:prstGeom prst="roundRect">
            <a:avLst>
              <a:gd name="adj" fmla="val 6857"/>
            </a:avLst>
          </a:prstGeom>
          <a:solidFill>
            <a:srgbClr val="2A0A10"/>
          </a:solidFill>
          <a:ln w="12700">
            <a:solidFill>
              <a:srgbClr val="2A0A10"/>
            </a:solidFill>
            <a:prstDash val="solid"/>
          </a:ln>
        </p:spPr>
        <p:txBody>
          <a:bodyPr/>
          <a:lstStyle/>
          <a:p>
            <a:endParaRPr lang="es-CO"/>
          </a:p>
        </p:txBody>
      </p:sp>
      <p:sp>
        <p:nvSpPr>
          <p:cNvPr id="37" name="Shape 29"/>
          <p:cNvSpPr/>
          <p:nvPr/>
        </p:nvSpPr>
        <p:spPr>
          <a:xfrm>
            <a:off x="3611880" y="4251960"/>
            <a:ext cx="685800" cy="685800"/>
          </a:xfrm>
          <a:prstGeom prst="ellipse">
            <a:avLst/>
          </a:prstGeom>
          <a:solidFill>
            <a:srgbClr val="E4002B"/>
          </a:solidFill>
          <a:ln w="12700">
            <a:solidFill>
              <a:srgbClr val="E4002B"/>
            </a:solidFill>
            <a:prstDash val="solid"/>
          </a:ln>
        </p:spPr>
        <p:txBody>
          <a:bodyPr/>
          <a:lstStyle/>
          <a:p>
            <a:endParaRPr lang="es-CO"/>
          </a:p>
        </p:txBody>
      </p:sp>
      <p:pic>
        <p:nvPicPr>
          <p:cNvPr id="38" name="Image 6" descr="preencoded.png"/>
          <p:cNvPicPr>
            <a:picLocks noChangeAspect="1"/>
          </p:cNvPicPr>
          <p:nvPr/>
        </p:nvPicPr>
        <p:blipFill>
          <a:blip r:embed="rId9"/>
          <a:stretch>
            <a:fillRect/>
          </a:stretch>
        </p:blipFill>
        <p:spPr>
          <a:xfrm>
            <a:off x="3790188" y="4430268"/>
            <a:ext cx="329184" cy="329184"/>
          </a:xfrm>
          <a:prstGeom prst="rect">
            <a:avLst/>
          </a:prstGeom>
        </p:spPr>
      </p:pic>
      <p:sp>
        <p:nvSpPr>
          <p:cNvPr id="39" name="Text 30"/>
          <p:cNvSpPr txBox="1"/>
          <p:nvPr/>
        </p:nvSpPr>
        <p:spPr>
          <a:xfrm>
            <a:off x="5212080" y="4206240"/>
            <a:ext cx="502920" cy="457200"/>
          </a:xfrm>
          <a:prstGeom prst="rect">
            <a:avLst/>
          </a:prstGeom>
          <a:noFill/>
          <a:ln/>
        </p:spPr>
        <p:txBody>
          <a:bodyPr wrap="square" lIns="0" tIns="0" rIns="0" bIns="0" rtlCol="0" anchor="ctr"/>
          <a:lstStyle/>
          <a:p>
            <a:pPr marL="0" indent="0" algn="r">
              <a:buNone/>
            </a:pPr>
            <a:r>
              <a:rPr lang="en-US" sz="2200" b="1" dirty="0">
                <a:solidFill>
                  <a:srgbClr val="E4002B"/>
                </a:solidFill>
                <a:latin typeface="Arial" pitchFamily="34" charset="0"/>
                <a:ea typeface="Arial" pitchFamily="34" charset="-122"/>
                <a:cs typeface="Arial" pitchFamily="34" charset="-120"/>
              </a:rPr>
              <a:t>7</a:t>
            </a:r>
            <a:endParaRPr lang="en-US" sz="2200" dirty="0"/>
          </a:p>
        </p:txBody>
      </p:sp>
      <p:sp>
        <p:nvSpPr>
          <p:cNvPr id="40" name="Text 31"/>
          <p:cNvSpPr txBox="1"/>
          <p:nvPr/>
        </p:nvSpPr>
        <p:spPr>
          <a:xfrm>
            <a:off x="3611880" y="502920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Poner en uso</a:t>
            </a:r>
            <a:endParaRPr lang="en-US" sz="1600" dirty="0"/>
          </a:p>
        </p:txBody>
      </p:sp>
      <p:sp>
        <p:nvSpPr>
          <p:cNvPr id="41" name="Shape 32"/>
          <p:cNvSpPr/>
          <p:nvPr/>
        </p:nvSpPr>
        <p:spPr>
          <a:xfrm>
            <a:off x="548640" y="3977640"/>
            <a:ext cx="2560320" cy="1600200"/>
          </a:xfrm>
          <a:prstGeom prst="roundRect">
            <a:avLst>
              <a:gd name="adj" fmla="val 6857"/>
            </a:avLst>
          </a:prstGeom>
          <a:solidFill>
            <a:srgbClr val="1A1A1A"/>
          </a:solidFill>
          <a:ln w="12700">
            <a:solidFill>
              <a:srgbClr val="1A1A1A"/>
            </a:solidFill>
            <a:prstDash val="solid"/>
          </a:ln>
        </p:spPr>
        <p:txBody>
          <a:bodyPr/>
          <a:lstStyle/>
          <a:p>
            <a:endParaRPr lang="es-CO"/>
          </a:p>
        </p:txBody>
      </p:sp>
      <p:sp>
        <p:nvSpPr>
          <p:cNvPr id="42" name="Shape 33"/>
          <p:cNvSpPr/>
          <p:nvPr/>
        </p:nvSpPr>
        <p:spPr>
          <a:xfrm>
            <a:off x="777240" y="425196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43" name="Image 7" descr="preencoded.png"/>
          <p:cNvPicPr>
            <a:picLocks noChangeAspect="1"/>
          </p:cNvPicPr>
          <p:nvPr/>
        </p:nvPicPr>
        <p:blipFill>
          <a:blip r:embed="rId10"/>
          <a:stretch>
            <a:fillRect/>
          </a:stretch>
        </p:blipFill>
        <p:spPr>
          <a:xfrm>
            <a:off x="955548" y="4430268"/>
            <a:ext cx="329184" cy="329184"/>
          </a:xfrm>
          <a:prstGeom prst="rect">
            <a:avLst/>
          </a:prstGeom>
        </p:spPr>
      </p:pic>
      <p:sp>
        <p:nvSpPr>
          <p:cNvPr id="44" name="Text 34"/>
          <p:cNvSpPr txBox="1"/>
          <p:nvPr/>
        </p:nvSpPr>
        <p:spPr>
          <a:xfrm>
            <a:off x="2377440" y="4206240"/>
            <a:ext cx="502920" cy="457200"/>
          </a:xfrm>
          <a:prstGeom prst="rect">
            <a:avLst/>
          </a:prstGeom>
          <a:noFill/>
          <a:ln/>
        </p:spPr>
        <p:txBody>
          <a:bodyPr wrap="square" lIns="0" tIns="0" rIns="0" bIns="0" rtlCol="0" anchor="ctr"/>
          <a:lstStyle/>
          <a:p>
            <a:pPr marL="0" indent="0" algn="r">
              <a:buNone/>
            </a:pPr>
            <a:r>
              <a:rPr lang="en-US" sz="2200" b="1" dirty="0">
                <a:solidFill>
                  <a:srgbClr val="4A4A4A"/>
                </a:solidFill>
                <a:latin typeface="Arial" pitchFamily="34" charset="0"/>
                <a:ea typeface="Arial" pitchFamily="34" charset="-122"/>
                <a:cs typeface="Arial" pitchFamily="34" charset="-120"/>
              </a:rPr>
              <a:t>8</a:t>
            </a:r>
            <a:endParaRPr lang="en-US" sz="2200" dirty="0"/>
          </a:p>
        </p:txBody>
      </p:sp>
      <p:sp>
        <p:nvSpPr>
          <p:cNvPr id="45" name="Text 35"/>
          <p:cNvSpPr txBox="1"/>
          <p:nvPr/>
        </p:nvSpPr>
        <p:spPr>
          <a:xfrm>
            <a:off x="777240" y="5029200"/>
            <a:ext cx="219456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Vigilar y mejorar</a:t>
            </a:r>
            <a:endParaRPr lang="en-US" sz="1600" dirty="0"/>
          </a:p>
        </p:txBody>
      </p:sp>
      <p:sp>
        <p:nvSpPr>
          <p:cNvPr id="46" name="Text 36"/>
          <p:cNvSpPr txBox="1"/>
          <p:nvPr/>
        </p:nvSpPr>
        <p:spPr>
          <a:xfrm>
            <a:off x="548640" y="5897880"/>
            <a:ext cx="10972800" cy="365760"/>
          </a:xfrm>
          <a:prstGeom prst="rect">
            <a:avLst/>
          </a:prstGeom>
          <a:noFill/>
          <a:ln/>
        </p:spPr>
        <p:txBody>
          <a:bodyPr wrap="square" lIns="0" tIns="0" rIns="0" bIns="0" rtlCol="0" anchor="t"/>
          <a:lstStyle/>
          <a:p>
            <a:pPr marL="0" indent="0">
              <a:buNone/>
            </a:pPr>
            <a:r>
              <a:rPr lang="en-US" sz="1500" i="1" dirty="0">
                <a:solidFill>
                  <a:srgbClr val="8C8C8C"/>
                </a:solidFill>
                <a:latin typeface="Calibri" pitchFamily="34" charset="0"/>
                <a:ea typeface="Calibri" pitchFamily="34" charset="-122"/>
                <a:cs typeface="Calibri" pitchFamily="34" charset="-120"/>
              </a:rPr>
              <a:t>Los pasos en rojo son donde más proyectos fracasan: casi nunca es culpa del algoritmo.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06</a:t>
            </a:r>
            <a:endParaRPr lang="en-US" sz="900" dirty="0"/>
          </a:p>
        </p:txBody>
      </p:sp>
      <p:sp>
        <p:nvSpPr>
          <p:cNvPr id="4" name="Text 2"/>
          <p:cNvSpPr txBox="1"/>
          <p:nvPr/>
        </p:nvSpPr>
        <p:spPr>
          <a:xfrm>
            <a:off x="548640" y="1005840"/>
            <a:ext cx="3657600" cy="2011680"/>
          </a:xfrm>
          <a:prstGeom prst="rect">
            <a:avLst/>
          </a:prstGeom>
          <a:noFill/>
          <a:ln/>
        </p:spPr>
        <p:txBody>
          <a:bodyPr wrap="square" lIns="0" tIns="0" rIns="0" bIns="0" rtlCol="0" anchor="ctr"/>
          <a:lstStyle/>
          <a:p>
            <a:pPr marL="0" indent="0">
              <a:buNone/>
            </a:pPr>
            <a:r>
              <a:rPr lang="en-US" sz="15000" b="1" dirty="0">
                <a:solidFill>
                  <a:srgbClr val="E4002B"/>
                </a:solidFill>
                <a:latin typeface="Arial" pitchFamily="34" charset="0"/>
                <a:ea typeface="Arial" pitchFamily="34" charset="-122"/>
                <a:cs typeface="Arial" pitchFamily="34" charset="-120"/>
              </a:rPr>
              <a:t>01</a:t>
            </a:r>
            <a:endParaRPr lang="en-US" sz="15000" dirty="0"/>
          </a:p>
        </p:txBody>
      </p:sp>
      <p:sp>
        <p:nvSpPr>
          <p:cNvPr id="5" name="Text 3"/>
          <p:cNvSpPr txBox="1"/>
          <p:nvPr/>
        </p:nvSpPr>
        <p:spPr>
          <a:xfrm>
            <a:off x="548640" y="32461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PRÁCTICO 01</a:t>
            </a:r>
            <a:endParaRPr lang="en-US" sz="1300" dirty="0"/>
          </a:p>
        </p:txBody>
      </p:sp>
      <p:sp>
        <p:nvSpPr>
          <p:cNvPr id="6" name="Text 4"/>
          <p:cNvSpPr txBox="1"/>
          <p:nvPr/>
        </p:nvSpPr>
        <p:spPr>
          <a:xfrm>
            <a:off x="548640" y="3611880"/>
            <a:ext cx="7680960"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Predicción de ventas</a:t>
            </a:r>
            <a:endParaRPr lang="en-US" sz="4000" dirty="0"/>
          </a:p>
        </p:txBody>
      </p:sp>
      <p:sp>
        <p:nvSpPr>
          <p:cNvPr id="7" name="Text 5"/>
          <p:cNvSpPr txBox="1"/>
          <p:nvPr/>
        </p:nvSpPr>
        <p:spPr>
          <a:xfrm>
            <a:off x="548640" y="4572000"/>
            <a:ext cx="6858000" cy="914400"/>
          </a:xfrm>
          <a:prstGeom prst="rect">
            <a:avLst/>
          </a:prstGeom>
          <a:noFill/>
          <a:ln/>
        </p:spPr>
        <p:txBody>
          <a:bodyPr wrap="square" lIns="0" tIns="0" rIns="0" bIns="0" rtlCol="0" anchor="t"/>
          <a:lstStyle/>
          <a:p>
            <a:pPr marL="0" indent="0">
              <a:buNone/>
            </a:pPr>
            <a:r>
              <a:rPr lang="en-US" sz="2000" i="1" dirty="0">
                <a:solidFill>
                  <a:srgbClr val="D4D4D4"/>
                </a:solidFill>
                <a:latin typeface="Calibri" pitchFamily="34" charset="0"/>
                <a:ea typeface="Calibri" pitchFamily="34" charset="-122"/>
                <a:cs typeface="Calibri" pitchFamily="34" charset="-120"/>
              </a:rPr>
              <a:t>Supermercado La Esquina quiere saber cuánto va a vender cada día de enero 2026.</a:t>
            </a:r>
            <a:endParaRPr lang="en-US" sz="2000" dirty="0"/>
          </a:p>
        </p:txBody>
      </p:sp>
      <p:sp>
        <p:nvSpPr>
          <p:cNvPr id="8" name="Shape 6"/>
          <p:cNvSpPr/>
          <p:nvPr/>
        </p:nvSpPr>
        <p:spPr>
          <a:xfrm>
            <a:off x="8503920" y="1463040"/>
            <a:ext cx="2743200" cy="274320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9217152" y="2176272"/>
            <a:ext cx="1316736" cy="1316736"/>
          </a:xfrm>
          <a:prstGeom prst="rect">
            <a:avLst/>
          </a:prstGeom>
        </p:spPr>
      </p:pic>
      <p:sp>
        <p:nvSpPr>
          <p:cNvPr id="10" name="Text 7"/>
          <p:cNvSpPr txBox="1"/>
          <p:nvPr/>
        </p:nvSpPr>
        <p:spPr>
          <a:xfrm>
            <a:off x="8138160" y="4663440"/>
            <a:ext cx="3474720" cy="274320"/>
          </a:xfrm>
          <a:prstGeom prst="rect">
            <a:avLst/>
          </a:prstGeom>
          <a:noFill/>
          <a:ln/>
        </p:spPr>
        <p:txBody>
          <a:bodyPr wrap="square" lIns="0" tIns="0" rIns="0" bIns="0" rtlCol="0" anchor="ctr"/>
          <a:lstStyle/>
          <a:p>
            <a:pPr marL="0" indent="0" algn="ctr">
              <a:buNone/>
            </a:pPr>
            <a:r>
              <a:rPr lang="en-US" sz="1000" kern="0" spc="200" dirty="0">
                <a:solidFill>
                  <a:srgbClr val="8C8C8C"/>
                </a:solidFill>
                <a:latin typeface="Courier New" pitchFamily="34" charset="0"/>
                <a:ea typeface="Courier New" pitchFamily="34" charset="-122"/>
                <a:cs typeface="Courier New" pitchFamily="34" charset="-120"/>
              </a:rPr>
              <a:t>CUADERNO COLAB</a:t>
            </a:r>
            <a:endParaRPr lang="en-US" sz="1000" dirty="0"/>
          </a:p>
        </p:txBody>
      </p:sp>
      <p:sp>
        <p:nvSpPr>
          <p:cNvPr id="11" name="Text 8"/>
          <p:cNvSpPr txBox="1"/>
          <p:nvPr/>
        </p:nvSpPr>
        <p:spPr>
          <a:xfrm>
            <a:off x="7863840" y="4937760"/>
            <a:ext cx="402336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U5_Caso1_Prediccion_Ventas.ipynb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07</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PASO 1: MIRAR ANTES DE PREDECIR</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Las ventas tienen patrones que se repiten</a:t>
            </a:r>
            <a:endParaRPr lang="en-US" sz="3200" dirty="0"/>
          </a:p>
        </p:txBody>
      </p:sp>
      <p:sp>
        <p:nvSpPr>
          <p:cNvPr id="6" name="Shape 4"/>
          <p:cNvSpPr/>
          <p:nvPr/>
        </p:nvSpPr>
        <p:spPr>
          <a:xfrm>
            <a:off x="548640" y="2103120"/>
            <a:ext cx="2057400" cy="3108960"/>
          </a:xfrm>
          <a:prstGeom prst="roundRect">
            <a:avLst>
              <a:gd name="adj" fmla="val 5333"/>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777240" y="237744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979322" y="2579522"/>
            <a:ext cx="373075" cy="373075"/>
          </a:xfrm>
          <a:prstGeom prst="rect">
            <a:avLst/>
          </a:prstGeom>
        </p:spPr>
      </p:pic>
      <p:sp>
        <p:nvSpPr>
          <p:cNvPr id="9" name="Text 6"/>
          <p:cNvSpPr txBox="1"/>
          <p:nvPr/>
        </p:nvSpPr>
        <p:spPr>
          <a:xfrm>
            <a:off x="777240" y="3383280"/>
            <a:ext cx="1737360"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Tendencia</a:t>
            </a:r>
            <a:endParaRPr lang="en-US" sz="1800" dirty="0"/>
          </a:p>
        </p:txBody>
      </p:sp>
      <p:sp>
        <p:nvSpPr>
          <p:cNvPr id="10" name="Text 7"/>
          <p:cNvSpPr txBox="1"/>
          <p:nvPr/>
        </p:nvSpPr>
        <p:spPr>
          <a:xfrm>
            <a:off x="777240" y="4069080"/>
            <a:ext cx="169164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negocio crece poquito a poco cada día</a:t>
            </a:r>
            <a:endParaRPr lang="en-US" sz="1400" dirty="0"/>
          </a:p>
        </p:txBody>
      </p:sp>
      <p:sp>
        <p:nvSpPr>
          <p:cNvPr id="11" name="Shape 8"/>
          <p:cNvSpPr/>
          <p:nvPr/>
        </p:nvSpPr>
        <p:spPr>
          <a:xfrm>
            <a:off x="2798064" y="2103120"/>
            <a:ext cx="2057400" cy="3108960"/>
          </a:xfrm>
          <a:prstGeom prst="roundRect">
            <a:avLst>
              <a:gd name="adj" fmla="val 5333"/>
            </a:avLst>
          </a:prstGeom>
          <a:solidFill>
            <a:srgbClr val="1A1A1A"/>
          </a:solidFill>
          <a:ln w="12700">
            <a:solidFill>
              <a:srgbClr val="1A1A1A"/>
            </a:solidFill>
            <a:prstDash val="solid"/>
          </a:ln>
        </p:spPr>
        <p:txBody>
          <a:bodyPr/>
          <a:lstStyle/>
          <a:p>
            <a:endParaRPr lang="es-CO"/>
          </a:p>
        </p:txBody>
      </p:sp>
      <p:sp>
        <p:nvSpPr>
          <p:cNvPr id="12" name="Shape 9"/>
          <p:cNvSpPr/>
          <p:nvPr/>
        </p:nvSpPr>
        <p:spPr>
          <a:xfrm>
            <a:off x="3026664" y="237744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13" name="Image 1" descr="preencoded.png"/>
          <p:cNvPicPr>
            <a:picLocks noChangeAspect="1"/>
          </p:cNvPicPr>
          <p:nvPr/>
        </p:nvPicPr>
        <p:blipFill>
          <a:blip r:embed="rId4"/>
          <a:stretch>
            <a:fillRect/>
          </a:stretch>
        </p:blipFill>
        <p:spPr>
          <a:xfrm>
            <a:off x="3228746" y="2579522"/>
            <a:ext cx="373075" cy="373075"/>
          </a:xfrm>
          <a:prstGeom prst="rect">
            <a:avLst/>
          </a:prstGeom>
        </p:spPr>
      </p:pic>
      <p:sp>
        <p:nvSpPr>
          <p:cNvPr id="14" name="Text 10"/>
          <p:cNvSpPr txBox="1"/>
          <p:nvPr/>
        </p:nvSpPr>
        <p:spPr>
          <a:xfrm>
            <a:off x="3026664" y="3383280"/>
            <a:ext cx="1737360"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Día de la semana</a:t>
            </a:r>
            <a:endParaRPr lang="en-US" sz="1800" dirty="0"/>
          </a:p>
        </p:txBody>
      </p:sp>
      <p:sp>
        <p:nvSpPr>
          <p:cNvPr id="15" name="Text 11"/>
          <p:cNvSpPr txBox="1"/>
          <p:nvPr/>
        </p:nvSpPr>
        <p:spPr>
          <a:xfrm>
            <a:off x="3026664" y="4069080"/>
            <a:ext cx="169164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Sábado y domingo se vende más</a:t>
            </a:r>
            <a:endParaRPr lang="en-US" sz="1400" dirty="0"/>
          </a:p>
        </p:txBody>
      </p:sp>
      <p:sp>
        <p:nvSpPr>
          <p:cNvPr id="16" name="Shape 12"/>
          <p:cNvSpPr/>
          <p:nvPr/>
        </p:nvSpPr>
        <p:spPr>
          <a:xfrm>
            <a:off x="5047488" y="2103120"/>
            <a:ext cx="2057400" cy="3108960"/>
          </a:xfrm>
          <a:prstGeom prst="roundRect">
            <a:avLst>
              <a:gd name="adj" fmla="val 5333"/>
            </a:avLst>
          </a:prstGeom>
          <a:solidFill>
            <a:srgbClr val="1A1A1A"/>
          </a:solidFill>
          <a:ln w="12700">
            <a:solidFill>
              <a:srgbClr val="1A1A1A"/>
            </a:solidFill>
            <a:prstDash val="solid"/>
          </a:ln>
        </p:spPr>
        <p:txBody>
          <a:bodyPr/>
          <a:lstStyle/>
          <a:p>
            <a:endParaRPr lang="es-CO"/>
          </a:p>
        </p:txBody>
      </p:sp>
      <p:sp>
        <p:nvSpPr>
          <p:cNvPr id="17" name="Shape 13"/>
          <p:cNvSpPr/>
          <p:nvPr/>
        </p:nvSpPr>
        <p:spPr>
          <a:xfrm>
            <a:off x="5276088" y="237744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18" name="Image 2" descr="preencoded.png"/>
          <p:cNvPicPr>
            <a:picLocks noChangeAspect="1"/>
          </p:cNvPicPr>
          <p:nvPr/>
        </p:nvPicPr>
        <p:blipFill>
          <a:blip r:embed="rId5"/>
          <a:stretch>
            <a:fillRect/>
          </a:stretch>
        </p:blipFill>
        <p:spPr>
          <a:xfrm>
            <a:off x="5478170" y="2579522"/>
            <a:ext cx="373075" cy="373075"/>
          </a:xfrm>
          <a:prstGeom prst="rect">
            <a:avLst/>
          </a:prstGeom>
        </p:spPr>
      </p:pic>
      <p:sp>
        <p:nvSpPr>
          <p:cNvPr id="19" name="Text 14"/>
          <p:cNvSpPr txBox="1"/>
          <p:nvPr/>
        </p:nvSpPr>
        <p:spPr>
          <a:xfrm>
            <a:off x="5276088" y="3383280"/>
            <a:ext cx="1737360"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Temporada</a:t>
            </a:r>
            <a:endParaRPr lang="en-US" sz="1800" dirty="0"/>
          </a:p>
        </p:txBody>
      </p:sp>
      <p:sp>
        <p:nvSpPr>
          <p:cNvPr id="20" name="Text 15"/>
          <p:cNvSpPr txBox="1"/>
          <p:nvPr/>
        </p:nvSpPr>
        <p:spPr>
          <a:xfrm>
            <a:off x="5276088" y="4069080"/>
            <a:ext cx="169164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Diciembre es el mes fuerte; febrero, el flojo</a:t>
            </a:r>
            <a:endParaRPr lang="en-US" sz="1400" dirty="0"/>
          </a:p>
        </p:txBody>
      </p:sp>
      <p:sp>
        <p:nvSpPr>
          <p:cNvPr id="21" name="Shape 16"/>
          <p:cNvSpPr/>
          <p:nvPr/>
        </p:nvSpPr>
        <p:spPr>
          <a:xfrm>
            <a:off x="7296912" y="2103120"/>
            <a:ext cx="2057400" cy="3108960"/>
          </a:xfrm>
          <a:prstGeom prst="roundRect">
            <a:avLst>
              <a:gd name="adj" fmla="val 5333"/>
            </a:avLst>
          </a:prstGeom>
          <a:solidFill>
            <a:srgbClr val="1A1A1A"/>
          </a:solidFill>
          <a:ln w="12700">
            <a:solidFill>
              <a:srgbClr val="1A1A1A"/>
            </a:solidFill>
            <a:prstDash val="solid"/>
          </a:ln>
        </p:spPr>
        <p:txBody>
          <a:bodyPr/>
          <a:lstStyle/>
          <a:p>
            <a:endParaRPr lang="es-CO"/>
          </a:p>
        </p:txBody>
      </p:sp>
      <p:sp>
        <p:nvSpPr>
          <p:cNvPr id="22" name="Shape 17"/>
          <p:cNvSpPr/>
          <p:nvPr/>
        </p:nvSpPr>
        <p:spPr>
          <a:xfrm>
            <a:off x="7525512" y="237744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23" name="Image 3" descr="preencoded.png"/>
          <p:cNvPicPr>
            <a:picLocks noChangeAspect="1"/>
          </p:cNvPicPr>
          <p:nvPr/>
        </p:nvPicPr>
        <p:blipFill>
          <a:blip r:embed="rId6"/>
          <a:stretch>
            <a:fillRect/>
          </a:stretch>
        </p:blipFill>
        <p:spPr>
          <a:xfrm>
            <a:off x="7727594" y="2579522"/>
            <a:ext cx="373075" cy="373075"/>
          </a:xfrm>
          <a:prstGeom prst="rect">
            <a:avLst/>
          </a:prstGeom>
        </p:spPr>
      </p:pic>
      <p:sp>
        <p:nvSpPr>
          <p:cNvPr id="24" name="Text 18"/>
          <p:cNvSpPr txBox="1"/>
          <p:nvPr/>
        </p:nvSpPr>
        <p:spPr>
          <a:xfrm>
            <a:off x="7525512" y="3383280"/>
            <a:ext cx="1737360"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Quincena</a:t>
            </a:r>
            <a:endParaRPr lang="en-US" sz="1800" dirty="0"/>
          </a:p>
        </p:txBody>
      </p:sp>
      <p:sp>
        <p:nvSpPr>
          <p:cNvPr id="25" name="Text 19"/>
          <p:cNvSpPr txBox="1"/>
          <p:nvPr/>
        </p:nvSpPr>
        <p:spPr>
          <a:xfrm>
            <a:off x="7525512" y="4069080"/>
            <a:ext cx="169164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Días 1, 15, 16 y fin de mes: hay salario</a:t>
            </a:r>
            <a:endParaRPr lang="en-US" sz="1400" dirty="0"/>
          </a:p>
        </p:txBody>
      </p:sp>
      <p:sp>
        <p:nvSpPr>
          <p:cNvPr id="26" name="Shape 20"/>
          <p:cNvSpPr/>
          <p:nvPr/>
        </p:nvSpPr>
        <p:spPr>
          <a:xfrm>
            <a:off x="9546336" y="2103120"/>
            <a:ext cx="2057400" cy="3108960"/>
          </a:xfrm>
          <a:prstGeom prst="roundRect">
            <a:avLst>
              <a:gd name="adj" fmla="val 5333"/>
            </a:avLst>
          </a:prstGeom>
          <a:solidFill>
            <a:srgbClr val="1A1A1A"/>
          </a:solidFill>
          <a:ln w="12700">
            <a:solidFill>
              <a:srgbClr val="1A1A1A"/>
            </a:solidFill>
            <a:prstDash val="solid"/>
          </a:ln>
        </p:spPr>
        <p:txBody>
          <a:bodyPr/>
          <a:lstStyle/>
          <a:p>
            <a:endParaRPr lang="es-CO"/>
          </a:p>
        </p:txBody>
      </p:sp>
      <p:sp>
        <p:nvSpPr>
          <p:cNvPr id="27" name="Shape 21"/>
          <p:cNvSpPr/>
          <p:nvPr/>
        </p:nvSpPr>
        <p:spPr>
          <a:xfrm>
            <a:off x="9774936" y="237744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28" name="Image 4" descr="preencoded.png"/>
          <p:cNvPicPr>
            <a:picLocks noChangeAspect="1"/>
          </p:cNvPicPr>
          <p:nvPr/>
        </p:nvPicPr>
        <p:blipFill>
          <a:blip r:embed="rId7"/>
          <a:stretch>
            <a:fillRect/>
          </a:stretch>
        </p:blipFill>
        <p:spPr>
          <a:xfrm>
            <a:off x="9977018" y="2579522"/>
            <a:ext cx="373075" cy="373075"/>
          </a:xfrm>
          <a:prstGeom prst="rect">
            <a:avLst/>
          </a:prstGeom>
        </p:spPr>
      </p:pic>
      <p:sp>
        <p:nvSpPr>
          <p:cNvPr id="29" name="Text 22"/>
          <p:cNvSpPr txBox="1"/>
          <p:nvPr/>
        </p:nvSpPr>
        <p:spPr>
          <a:xfrm>
            <a:off x="9774936" y="3383280"/>
            <a:ext cx="1737360"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Promoción</a:t>
            </a:r>
            <a:endParaRPr lang="en-US" sz="1800" dirty="0"/>
          </a:p>
        </p:txBody>
      </p:sp>
      <p:sp>
        <p:nvSpPr>
          <p:cNvPr id="30" name="Text 23"/>
          <p:cNvSpPr txBox="1"/>
          <p:nvPr/>
        </p:nvSpPr>
        <p:spPr>
          <a:xfrm>
            <a:off x="9774936" y="4069080"/>
            <a:ext cx="169164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Con promo se vende alrededor de 15 % más</a:t>
            </a:r>
            <a:endParaRPr lang="en-US" sz="1400" dirty="0"/>
          </a:p>
        </p:txBody>
      </p:sp>
      <p:sp>
        <p:nvSpPr>
          <p:cNvPr id="31" name="Text 24"/>
          <p:cNvSpPr txBox="1"/>
          <p:nvPr/>
        </p:nvSpPr>
        <p:spPr>
          <a:xfrm>
            <a:off x="548640" y="5532120"/>
            <a:ext cx="10972800" cy="548640"/>
          </a:xfrm>
          <a:prstGeom prst="rect">
            <a:avLst/>
          </a:prstGeom>
          <a:noFill/>
          <a:ln/>
        </p:spPr>
        <p:txBody>
          <a:bodyPr wrap="square" lIns="0" tIns="0" rIns="0" bIns="0" rtlCol="0" anchor="t"/>
          <a:lstStyle/>
          <a:p>
            <a:pPr marL="0" indent="0">
              <a:buNone/>
            </a:pPr>
            <a:r>
              <a:rPr lang="en-US" sz="1600" i="1" dirty="0">
                <a:solidFill>
                  <a:srgbClr val="FFFFFF"/>
                </a:solidFill>
                <a:latin typeface="Calibri" pitchFamily="34" charset="0"/>
                <a:ea typeface="Calibri" pitchFamily="34" charset="-122"/>
                <a:cs typeface="Calibri" pitchFamily="34" charset="-120"/>
              </a:rPr>
              <a:t>Regla de oro: antes de entrenar cualquier modelo, grafica los datos. El gráfico te dice qué pistas vas a necesitar.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08</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LO QUE DICEN LOS DATOS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sábado se vende 44 % más que el martes</a:t>
            </a:r>
            <a:endParaRPr lang="en-US" sz="3200" dirty="0"/>
          </a:p>
        </p:txBody>
      </p:sp>
      <p:graphicFrame>
        <p:nvGraphicFramePr>
          <p:cNvPr id="6" name="Chart 0"/>
          <p:cNvGraphicFramePr/>
          <p:nvPr/>
        </p:nvGraphicFramePr>
        <p:xfrm>
          <a:off x="548640" y="182880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955280" y="1920240"/>
            <a:ext cx="3657600" cy="4023360"/>
          </a:xfrm>
          <a:prstGeom prst="roundRect">
            <a:avLst>
              <a:gd name="adj" fmla="val 3000"/>
            </a:avLst>
          </a:prstGeom>
          <a:solidFill>
            <a:srgbClr val="1A1A1A"/>
          </a:solidFill>
          <a:ln w="12700">
            <a:solidFill>
              <a:srgbClr val="1A1A1A"/>
            </a:solidFill>
            <a:prstDash val="solid"/>
          </a:ln>
        </p:spPr>
        <p:txBody>
          <a:bodyPr/>
          <a:lstStyle/>
          <a:p>
            <a:endParaRPr lang="es-CO"/>
          </a:p>
        </p:txBody>
      </p:sp>
      <p:sp>
        <p:nvSpPr>
          <p:cNvPr id="8" name="Text 5"/>
          <p:cNvSpPr txBox="1"/>
          <p:nvPr/>
        </p:nvSpPr>
        <p:spPr>
          <a:xfrm>
            <a:off x="8229600" y="2194560"/>
            <a:ext cx="3108960" cy="7315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¿Qué hace el gerente con esto?</a:t>
            </a:r>
            <a:endParaRPr lang="en-US" sz="1800" dirty="0"/>
          </a:p>
        </p:txBody>
      </p:sp>
      <p:sp>
        <p:nvSpPr>
          <p:cNvPr id="9" name="Text 6"/>
          <p:cNvSpPr txBox="1"/>
          <p:nvPr/>
        </p:nvSpPr>
        <p:spPr>
          <a:xfrm>
            <a:off x="8229600" y="3017520"/>
            <a:ext cx="3108960" cy="27432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D4D4D4"/>
                </a:solidFill>
                <a:latin typeface="Calibri" pitchFamily="34" charset="0"/>
                <a:ea typeface="Calibri" pitchFamily="34" charset="-122"/>
                <a:cs typeface="Calibri" pitchFamily="34" charset="-120"/>
              </a:rPr>
              <a:t>Más cajeros el fin de semana</a:t>
            </a:r>
            <a:endParaRPr lang="en-US" sz="1500" dirty="0"/>
          </a:p>
          <a:p>
            <a:pPr marL="228600" indent="-228600">
              <a:spcAft>
                <a:spcPts val="800"/>
              </a:spcAft>
              <a:buSzPct val="100000"/>
              <a:buChar char="•"/>
            </a:pPr>
            <a:r>
              <a:rPr lang="en-US" sz="1500" dirty="0">
                <a:solidFill>
                  <a:srgbClr val="D4D4D4"/>
                </a:solidFill>
                <a:latin typeface="Calibri" pitchFamily="34" charset="0"/>
                <a:ea typeface="Calibri" pitchFamily="34" charset="-122"/>
                <a:cs typeface="Calibri" pitchFamily="34" charset="-120"/>
              </a:rPr>
              <a:t>Reponer góndolas el viernes en la noche</a:t>
            </a:r>
            <a:endParaRPr lang="en-US" sz="1500" dirty="0"/>
          </a:p>
          <a:p>
            <a:pPr marL="228600" indent="-228600">
              <a:spcAft>
                <a:spcPts val="800"/>
              </a:spcAft>
              <a:buSzPct val="100000"/>
              <a:buChar char="•"/>
            </a:pPr>
            <a:r>
              <a:rPr lang="en-US" sz="1500" dirty="0">
                <a:solidFill>
                  <a:srgbClr val="D4D4D4"/>
                </a:solidFill>
                <a:latin typeface="Calibri" pitchFamily="34" charset="0"/>
                <a:ea typeface="Calibri" pitchFamily="34" charset="-122"/>
                <a:cs typeface="Calibri" pitchFamily="34" charset="-120"/>
              </a:rPr>
              <a:t>Promociones entre semana para levantar lunes y martes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09</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PASO 2: CONVERTIR LA FECHA EN PISTAS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Hay que traducirle la fecha al modelo</a:t>
            </a:r>
            <a:endParaRPr lang="en-US" sz="3200" dirty="0"/>
          </a:p>
        </p:txBody>
      </p:sp>
      <p:sp>
        <p:nvSpPr>
          <p:cNvPr id="6" name="Shape 4"/>
          <p:cNvSpPr/>
          <p:nvPr/>
        </p:nvSpPr>
        <p:spPr>
          <a:xfrm>
            <a:off x="548640" y="2194560"/>
            <a:ext cx="3291840" cy="3017520"/>
          </a:xfrm>
          <a:prstGeom prst="roundRect">
            <a:avLst>
              <a:gd name="adj" fmla="val 3636"/>
            </a:avLst>
          </a:prstGeom>
          <a:solidFill>
            <a:srgbClr val="2A0A10"/>
          </a:solidFill>
          <a:ln w="12700">
            <a:solidFill>
              <a:srgbClr val="2A0A10"/>
            </a:solidFill>
            <a:prstDash val="solid"/>
          </a:ln>
        </p:spPr>
        <p:txBody>
          <a:bodyPr/>
          <a:lstStyle/>
          <a:p>
            <a:endParaRPr lang="es-CO"/>
          </a:p>
        </p:txBody>
      </p:sp>
      <p:sp>
        <p:nvSpPr>
          <p:cNvPr id="7" name="Text 5"/>
          <p:cNvSpPr txBox="1"/>
          <p:nvPr/>
        </p:nvSpPr>
        <p:spPr>
          <a:xfrm>
            <a:off x="822960" y="2423160"/>
            <a:ext cx="27432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ENTRA</a:t>
            </a:r>
            <a:endParaRPr lang="en-US" sz="1200" dirty="0"/>
          </a:p>
        </p:txBody>
      </p:sp>
      <p:sp>
        <p:nvSpPr>
          <p:cNvPr id="8" name="Text 6"/>
          <p:cNvSpPr txBox="1"/>
          <p:nvPr/>
        </p:nvSpPr>
        <p:spPr>
          <a:xfrm>
            <a:off x="822960" y="3063240"/>
            <a:ext cx="2834640" cy="731520"/>
          </a:xfrm>
          <a:prstGeom prst="rect">
            <a:avLst/>
          </a:prstGeom>
          <a:noFill/>
          <a:ln/>
        </p:spPr>
        <p:txBody>
          <a:bodyPr wrap="square" lIns="0" tIns="0" rIns="0" bIns="0" rtlCol="0" anchor="ctr"/>
          <a:lstStyle/>
          <a:p>
            <a:pPr marL="0" indent="0">
              <a:buNone/>
            </a:pPr>
            <a:r>
              <a:rPr lang="en-US" sz="3000" b="1" dirty="0">
                <a:solidFill>
                  <a:srgbClr val="FFFFFF"/>
                </a:solidFill>
                <a:latin typeface="Courier New" pitchFamily="34" charset="0"/>
                <a:ea typeface="Courier New" pitchFamily="34" charset="-122"/>
                <a:cs typeface="Courier New" pitchFamily="34" charset="-120"/>
              </a:rPr>
              <a:t>2025-12-24</a:t>
            </a:r>
            <a:endParaRPr lang="en-US" sz="3000" dirty="0"/>
          </a:p>
        </p:txBody>
      </p:sp>
      <p:sp>
        <p:nvSpPr>
          <p:cNvPr id="9" name="Text 7"/>
          <p:cNvSpPr txBox="1"/>
          <p:nvPr/>
        </p:nvSpPr>
        <p:spPr>
          <a:xfrm>
            <a:off x="822960" y="4023360"/>
            <a:ext cx="274320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Una fecha: para la computadora es solo texto</a:t>
            </a:r>
            <a:endParaRPr lang="en-US" sz="1400" dirty="0"/>
          </a:p>
        </p:txBody>
      </p:sp>
      <p:sp>
        <p:nvSpPr>
          <p:cNvPr id="10" name="Text 8"/>
          <p:cNvSpPr txBox="1"/>
          <p:nvPr/>
        </p:nvSpPr>
        <p:spPr>
          <a:xfrm>
            <a:off x="3931920" y="3154680"/>
            <a:ext cx="731520" cy="731520"/>
          </a:xfrm>
          <a:prstGeom prst="rect">
            <a:avLst/>
          </a:prstGeom>
          <a:noFill/>
          <a:ln/>
        </p:spPr>
        <p:txBody>
          <a:bodyPr wrap="square" lIns="0" tIns="0" rIns="0" bIns="0" rtlCol="0" anchor="ctr"/>
          <a:lstStyle/>
          <a:p>
            <a:pPr marL="0" indent="0" algn="ctr">
              <a:buNone/>
            </a:pPr>
            <a:r>
              <a:rPr lang="en-US" sz="4000" b="1" dirty="0">
                <a:solidFill>
                  <a:srgbClr val="E4002B"/>
                </a:solidFill>
                <a:latin typeface="Arial" pitchFamily="34" charset="0"/>
                <a:ea typeface="Arial" pitchFamily="34" charset="-122"/>
                <a:cs typeface="Arial" pitchFamily="34" charset="-120"/>
              </a:rPr>
              <a:t>→</a:t>
            </a:r>
            <a:endParaRPr lang="en-US" sz="4000" dirty="0"/>
          </a:p>
        </p:txBody>
      </p:sp>
      <p:sp>
        <p:nvSpPr>
          <p:cNvPr id="11" name="Shape 9"/>
          <p:cNvSpPr/>
          <p:nvPr/>
        </p:nvSpPr>
        <p:spPr>
          <a:xfrm>
            <a:off x="4754880" y="2194560"/>
            <a:ext cx="6858000" cy="512064"/>
          </a:xfrm>
          <a:prstGeom prst="roundRect">
            <a:avLst>
              <a:gd name="adj" fmla="val 21429"/>
            </a:avLst>
          </a:prstGeom>
          <a:solidFill>
            <a:srgbClr val="242424"/>
          </a:solidFill>
          <a:ln w="12700">
            <a:solidFill>
              <a:srgbClr val="242424"/>
            </a:solidFill>
            <a:prstDash val="solid"/>
          </a:ln>
        </p:spPr>
        <p:txBody>
          <a:bodyPr/>
          <a:lstStyle/>
          <a:p>
            <a:endParaRPr lang="es-CO"/>
          </a:p>
        </p:txBody>
      </p:sp>
      <p:sp>
        <p:nvSpPr>
          <p:cNvPr id="12" name="Text 10"/>
          <p:cNvSpPr txBox="1"/>
          <p:nvPr/>
        </p:nvSpPr>
        <p:spPr>
          <a:xfrm>
            <a:off x="4983480" y="2194560"/>
            <a:ext cx="2011680" cy="512064"/>
          </a:xfrm>
          <a:prstGeom prst="rect">
            <a:avLst/>
          </a:prstGeom>
          <a:noFill/>
          <a:ln/>
        </p:spPr>
        <p:txBody>
          <a:bodyPr wrap="square" lIns="0" tIns="0" rIns="0" bIns="0" rtlCol="0" anchor="ctr"/>
          <a:lstStyle/>
          <a:p>
            <a:pPr marL="0" indent="0">
              <a:buNone/>
            </a:pPr>
            <a:r>
              <a:rPr lang="en-US" sz="1400" b="1" dirty="0">
                <a:solidFill>
                  <a:srgbClr val="E4002B"/>
                </a:solidFill>
                <a:latin typeface="Courier New" pitchFamily="34" charset="0"/>
                <a:ea typeface="Courier New" pitchFamily="34" charset="-122"/>
                <a:cs typeface="Courier New" pitchFamily="34" charset="-120"/>
              </a:rPr>
              <a:t>tendencia</a:t>
            </a:r>
            <a:endParaRPr lang="en-US" sz="1400" dirty="0"/>
          </a:p>
        </p:txBody>
      </p:sp>
      <p:sp>
        <p:nvSpPr>
          <p:cNvPr id="13" name="Text 11"/>
          <p:cNvSpPr txBox="1"/>
          <p:nvPr/>
        </p:nvSpPr>
        <p:spPr>
          <a:xfrm>
            <a:off x="6949440" y="2194560"/>
            <a:ext cx="1554480" cy="512064"/>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1 088</a:t>
            </a:r>
            <a:endParaRPr lang="en-US" sz="1600" dirty="0"/>
          </a:p>
        </p:txBody>
      </p:sp>
      <p:sp>
        <p:nvSpPr>
          <p:cNvPr id="14" name="Text 12"/>
          <p:cNvSpPr txBox="1"/>
          <p:nvPr/>
        </p:nvSpPr>
        <p:spPr>
          <a:xfrm>
            <a:off x="8503920" y="2194560"/>
            <a:ext cx="3017520" cy="512064"/>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días desde el inicio → crecimiento</a:t>
            </a:r>
            <a:endParaRPr lang="en-US" sz="1400" dirty="0"/>
          </a:p>
        </p:txBody>
      </p:sp>
      <p:sp>
        <p:nvSpPr>
          <p:cNvPr id="15" name="Shape 13"/>
          <p:cNvSpPr/>
          <p:nvPr/>
        </p:nvSpPr>
        <p:spPr>
          <a:xfrm>
            <a:off x="4754880" y="2816352"/>
            <a:ext cx="6858000" cy="512064"/>
          </a:xfrm>
          <a:prstGeom prst="roundRect">
            <a:avLst>
              <a:gd name="adj" fmla="val 21429"/>
            </a:avLst>
          </a:prstGeom>
          <a:solidFill>
            <a:srgbClr val="1A1A1A"/>
          </a:solidFill>
          <a:ln w="12700">
            <a:solidFill>
              <a:srgbClr val="1A1A1A"/>
            </a:solidFill>
            <a:prstDash val="solid"/>
          </a:ln>
        </p:spPr>
        <p:txBody>
          <a:bodyPr/>
          <a:lstStyle/>
          <a:p>
            <a:endParaRPr lang="es-CO"/>
          </a:p>
        </p:txBody>
      </p:sp>
      <p:sp>
        <p:nvSpPr>
          <p:cNvPr id="16" name="Text 14"/>
          <p:cNvSpPr txBox="1"/>
          <p:nvPr/>
        </p:nvSpPr>
        <p:spPr>
          <a:xfrm>
            <a:off x="4983480" y="2816352"/>
            <a:ext cx="2011680" cy="512064"/>
          </a:xfrm>
          <a:prstGeom prst="rect">
            <a:avLst/>
          </a:prstGeom>
          <a:noFill/>
          <a:ln/>
        </p:spPr>
        <p:txBody>
          <a:bodyPr wrap="square" lIns="0" tIns="0" rIns="0" bIns="0" rtlCol="0" anchor="ctr"/>
          <a:lstStyle/>
          <a:p>
            <a:pPr marL="0" indent="0">
              <a:buNone/>
            </a:pPr>
            <a:r>
              <a:rPr lang="en-US" sz="1400" b="1" dirty="0">
                <a:solidFill>
                  <a:srgbClr val="E4002B"/>
                </a:solidFill>
                <a:latin typeface="Courier New" pitchFamily="34" charset="0"/>
                <a:ea typeface="Courier New" pitchFamily="34" charset="-122"/>
                <a:cs typeface="Courier New" pitchFamily="34" charset="-120"/>
              </a:rPr>
              <a:t>dia_semana</a:t>
            </a:r>
            <a:endParaRPr lang="en-US" sz="1400" dirty="0"/>
          </a:p>
        </p:txBody>
      </p:sp>
      <p:sp>
        <p:nvSpPr>
          <p:cNvPr id="17" name="Text 15"/>
          <p:cNvSpPr txBox="1"/>
          <p:nvPr/>
        </p:nvSpPr>
        <p:spPr>
          <a:xfrm>
            <a:off x="6949440" y="2816352"/>
            <a:ext cx="1554480" cy="512064"/>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miércoles</a:t>
            </a:r>
            <a:endParaRPr lang="en-US" sz="1600" dirty="0"/>
          </a:p>
        </p:txBody>
      </p:sp>
      <p:sp>
        <p:nvSpPr>
          <p:cNvPr id="18" name="Text 16"/>
          <p:cNvSpPr txBox="1"/>
          <p:nvPr/>
        </p:nvSpPr>
        <p:spPr>
          <a:xfrm>
            <a:off x="8503920" y="2816352"/>
            <a:ext cx="3017520" cy="512064"/>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patrón semanal</a:t>
            </a:r>
            <a:endParaRPr lang="en-US" sz="1400" dirty="0"/>
          </a:p>
        </p:txBody>
      </p:sp>
      <p:sp>
        <p:nvSpPr>
          <p:cNvPr id="19" name="Shape 17"/>
          <p:cNvSpPr/>
          <p:nvPr/>
        </p:nvSpPr>
        <p:spPr>
          <a:xfrm>
            <a:off x="4754880" y="3438144"/>
            <a:ext cx="6858000" cy="512064"/>
          </a:xfrm>
          <a:prstGeom prst="roundRect">
            <a:avLst>
              <a:gd name="adj" fmla="val 21429"/>
            </a:avLst>
          </a:prstGeom>
          <a:solidFill>
            <a:srgbClr val="242424"/>
          </a:solidFill>
          <a:ln w="12700">
            <a:solidFill>
              <a:srgbClr val="242424"/>
            </a:solidFill>
            <a:prstDash val="solid"/>
          </a:ln>
        </p:spPr>
        <p:txBody>
          <a:bodyPr/>
          <a:lstStyle/>
          <a:p>
            <a:endParaRPr lang="es-CO"/>
          </a:p>
        </p:txBody>
      </p:sp>
      <p:sp>
        <p:nvSpPr>
          <p:cNvPr id="20" name="Text 18"/>
          <p:cNvSpPr txBox="1"/>
          <p:nvPr/>
        </p:nvSpPr>
        <p:spPr>
          <a:xfrm>
            <a:off x="4983480" y="3438144"/>
            <a:ext cx="2011680" cy="512064"/>
          </a:xfrm>
          <a:prstGeom prst="rect">
            <a:avLst/>
          </a:prstGeom>
          <a:noFill/>
          <a:ln/>
        </p:spPr>
        <p:txBody>
          <a:bodyPr wrap="square" lIns="0" tIns="0" rIns="0" bIns="0" rtlCol="0" anchor="ctr"/>
          <a:lstStyle/>
          <a:p>
            <a:pPr marL="0" indent="0">
              <a:buNone/>
            </a:pPr>
            <a:r>
              <a:rPr lang="en-US" sz="1400" b="1" dirty="0">
                <a:solidFill>
                  <a:srgbClr val="E4002B"/>
                </a:solidFill>
                <a:latin typeface="Courier New" pitchFamily="34" charset="0"/>
                <a:ea typeface="Courier New" pitchFamily="34" charset="-122"/>
                <a:cs typeface="Courier New" pitchFamily="34" charset="-120"/>
              </a:rPr>
              <a:t>mes</a:t>
            </a:r>
            <a:endParaRPr lang="en-US" sz="1400" dirty="0"/>
          </a:p>
        </p:txBody>
      </p:sp>
      <p:sp>
        <p:nvSpPr>
          <p:cNvPr id="21" name="Text 19"/>
          <p:cNvSpPr txBox="1"/>
          <p:nvPr/>
        </p:nvSpPr>
        <p:spPr>
          <a:xfrm>
            <a:off x="6949440" y="3438144"/>
            <a:ext cx="1554480" cy="512064"/>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22" name="Text 20"/>
          <p:cNvSpPr txBox="1"/>
          <p:nvPr/>
        </p:nvSpPr>
        <p:spPr>
          <a:xfrm>
            <a:off x="8503920" y="3438144"/>
            <a:ext cx="3017520" cy="512064"/>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temporada navideña</a:t>
            </a:r>
            <a:endParaRPr lang="en-US" sz="1400" dirty="0"/>
          </a:p>
        </p:txBody>
      </p:sp>
      <p:sp>
        <p:nvSpPr>
          <p:cNvPr id="23" name="Shape 21"/>
          <p:cNvSpPr/>
          <p:nvPr/>
        </p:nvSpPr>
        <p:spPr>
          <a:xfrm>
            <a:off x="4754880" y="4059936"/>
            <a:ext cx="6858000" cy="512064"/>
          </a:xfrm>
          <a:prstGeom prst="roundRect">
            <a:avLst>
              <a:gd name="adj" fmla="val 21429"/>
            </a:avLst>
          </a:prstGeom>
          <a:solidFill>
            <a:srgbClr val="1A1A1A"/>
          </a:solidFill>
          <a:ln w="12700">
            <a:solidFill>
              <a:srgbClr val="1A1A1A"/>
            </a:solidFill>
            <a:prstDash val="solid"/>
          </a:ln>
        </p:spPr>
        <p:txBody>
          <a:bodyPr/>
          <a:lstStyle/>
          <a:p>
            <a:endParaRPr lang="es-CO"/>
          </a:p>
        </p:txBody>
      </p:sp>
      <p:sp>
        <p:nvSpPr>
          <p:cNvPr id="24" name="Text 22"/>
          <p:cNvSpPr txBox="1"/>
          <p:nvPr/>
        </p:nvSpPr>
        <p:spPr>
          <a:xfrm>
            <a:off x="4983480" y="4059936"/>
            <a:ext cx="2011680" cy="512064"/>
          </a:xfrm>
          <a:prstGeom prst="rect">
            <a:avLst/>
          </a:prstGeom>
          <a:noFill/>
          <a:ln/>
        </p:spPr>
        <p:txBody>
          <a:bodyPr wrap="square" lIns="0" tIns="0" rIns="0" bIns="0" rtlCol="0" anchor="ctr"/>
          <a:lstStyle/>
          <a:p>
            <a:pPr marL="0" indent="0">
              <a:buNone/>
            </a:pPr>
            <a:r>
              <a:rPr lang="en-US" sz="1400" b="1" dirty="0">
                <a:solidFill>
                  <a:srgbClr val="E4002B"/>
                </a:solidFill>
                <a:latin typeface="Courier New" pitchFamily="34" charset="0"/>
                <a:ea typeface="Courier New" pitchFamily="34" charset="-122"/>
                <a:cs typeface="Courier New" pitchFamily="34" charset="-120"/>
              </a:rPr>
              <a:t>quincena</a:t>
            </a:r>
            <a:endParaRPr lang="en-US" sz="1400" dirty="0"/>
          </a:p>
        </p:txBody>
      </p:sp>
      <p:sp>
        <p:nvSpPr>
          <p:cNvPr id="25" name="Text 23"/>
          <p:cNvSpPr txBox="1"/>
          <p:nvPr/>
        </p:nvSpPr>
        <p:spPr>
          <a:xfrm>
            <a:off x="6949440" y="4059936"/>
            <a:ext cx="1554480" cy="512064"/>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26" name="Text 24"/>
          <p:cNvSpPr txBox="1"/>
          <p:nvPr/>
        </p:nvSpPr>
        <p:spPr>
          <a:xfrm>
            <a:off x="8503920" y="4059936"/>
            <a:ext cx="3017520" cy="512064"/>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¿es día de pago?</a:t>
            </a:r>
            <a:endParaRPr lang="en-US" sz="1400" dirty="0"/>
          </a:p>
        </p:txBody>
      </p:sp>
      <p:sp>
        <p:nvSpPr>
          <p:cNvPr id="27" name="Shape 25"/>
          <p:cNvSpPr/>
          <p:nvPr/>
        </p:nvSpPr>
        <p:spPr>
          <a:xfrm>
            <a:off x="4754880" y="4681728"/>
            <a:ext cx="6858000" cy="512064"/>
          </a:xfrm>
          <a:prstGeom prst="roundRect">
            <a:avLst>
              <a:gd name="adj" fmla="val 21429"/>
            </a:avLst>
          </a:prstGeom>
          <a:solidFill>
            <a:srgbClr val="242424"/>
          </a:solidFill>
          <a:ln w="12700">
            <a:solidFill>
              <a:srgbClr val="242424"/>
            </a:solidFill>
            <a:prstDash val="solid"/>
          </a:ln>
        </p:spPr>
        <p:txBody>
          <a:bodyPr/>
          <a:lstStyle/>
          <a:p>
            <a:endParaRPr lang="es-CO"/>
          </a:p>
        </p:txBody>
      </p:sp>
      <p:sp>
        <p:nvSpPr>
          <p:cNvPr id="28" name="Text 26"/>
          <p:cNvSpPr txBox="1"/>
          <p:nvPr/>
        </p:nvSpPr>
        <p:spPr>
          <a:xfrm>
            <a:off x="4983480" y="4681728"/>
            <a:ext cx="2011680" cy="512064"/>
          </a:xfrm>
          <a:prstGeom prst="rect">
            <a:avLst/>
          </a:prstGeom>
          <a:noFill/>
          <a:ln/>
        </p:spPr>
        <p:txBody>
          <a:bodyPr wrap="square" lIns="0" tIns="0" rIns="0" bIns="0" rtlCol="0" anchor="ctr"/>
          <a:lstStyle/>
          <a:p>
            <a:pPr marL="0" indent="0">
              <a:buNone/>
            </a:pPr>
            <a:r>
              <a:rPr lang="en-US" sz="1400" b="1" dirty="0">
                <a:solidFill>
                  <a:srgbClr val="E4002B"/>
                </a:solidFill>
                <a:latin typeface="Courier New" pitchFamily="34" charset="0"/>
                <a:ea typeface="Courier New" pitchFamily="34" charset="-122"/>
                <a:cs typeface="Courier New" pitchFamily="34" charset="-120"/>
              </a:rPr>
              <a:t>promo</a:t>
            </a:r>
            <a:endParaRPr lang="en-US" sz="1400" dirty="0"/>
          </a:p>
        </p:txBody>
      </p:sp>
      <p:sp>
        <p:nvSpPr>
          <p:cNvPr id="29" name="Text 27"/>
          <p:cNvSpPr txBox="1"/>
          <p:nvPr/>
        </p:nvSpPr>
        <p:spPr>
          <a:xfrm>
            <a:off x="6949440" y="4681728"/>
            <a:ext cx="1554480" cy="512064"/>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30" name="Text 28"/>
          <p:cNvSpPr txBox="1"/>
          <p:nvPr/>
        </p:nvSpPr>
        <p:spPr>
          <a:xfrm>
            <a:off x="8503920" y="4681728"/>
            <a:ext cx="3017520" cy="512064"/>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¿hay promoción?</a:t>
            </a:r>
            <a:endParaRPr lang="en-US" sz="1400" dirty="0"/>
          </a:p>
        </p:txBody>
      </p:sp>
      <p:sp>
        <p:nvSpPr>
          <p:cNvPr id="31" name="Text 29"/>
          <p:cNvSpPr txBox="1"/>
          <p:nvPr/>
        </p:nvSpPr>
        <p:spPr>
          <a:xfrm>
            <a:off x="548640" y="5577840"/>
            <a:ext cx="10972800" cy="457200"/>
          </a:xfrm>
          <a:prstGeom prst="rect">
            <a:avLst/>
          </a:prstGeom>
          <a:noFill/>
          <a:ln/>
        </p:spPr>
        <p:txBody>
          <a:bodyPr wrap="square" lIns="0" tIns="0" rIns="0" bIns="0" rtlCol="0" anchor="t"/>
          <a:lstStyle/>
          <a:p>
            <a:pPr marL="0" indent="0">
              <a:buNone/>
            </a:pPr>
            <a:r>
              <a:rPr lang="en-US" sz="1500" i="1" dirty="0">
                <a:solidFill>
                  <a:srgbClr val="8C8C8C"/>
                </a:solidFill>
                <a:latin typeface="Calibri" pitchFamily="34" charset="0"/>
                <a:ea typeface="Calibri" pitchFamily="34" charset="-122"/>
                <a:cs typeface="Calibri" pitchFamily="34" charset="-120"/>
              </a:rPr>
              <a:t>Día y mes son categorías (el domingo no es "7 veces" el lunes), por eso usamos one-hot encoding.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10</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PASO 3: SEPARAR RESPETANDO EL TIEMPO</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Separar por fecha: el futuro no se puede ver</a:t>
            </a:r>
            <a:endParaRPr lang="en-US" sz="3200" dirty="0"/>
          </a:p>
        </p:txBody>
      </p:sp>
      <p:sp>
        <p:nvSpPr>
          <p:cNvPr id="6" name="Shape 4"/>
          <p:cNvSpPr/>
          <p:nvPr/>
        </p:nvSpPr>
        <p:spPr>
          <a:xfrm>
            <a:off x="548640" y="2468880"/>
            <a:ext cx="8595360" cy="914400"/>
          </a:xfrm>
          <a:prstGeom prst="roundRect">
            <a:avLst>
              <a:gd name="adj" fmla="val 10000"/>
            </a:avLst>
          </a:prstGeom>
          <a:solidFill>
            <a:srgbClr val="3A3A3A"/>
          </a:solidFill>
          <a:ln w="12700">
            <a:solidFill>
              <a:srgbClr val="3A3A3A"/>
            </a:solidFill>
            <a:prstDash val="solid"/>
          </a:ln>
        </p:spPr>
        <p:txBody>
          <a:bodyPr/>
          <a:lstStyle/>
          <a:p>
            <a:endParaRPr lang="es-CO"/>
          </a:p>
        </p:txBody>
      </p:sp>
      <p:sp>
        <p:nvSpPr>
          <p:cNvPr id="7" name="Shape 5"/>
          <p:cNvSpPr/>
          <p:nvPr/>
        </p:nvSpPr>
        <p:spPr>
          <a:xfrm>
            <a:off x="9235440" y="2468880"/>
            <a:ext cx="2377440" cy="914400"/>
          </a:xfrm>
          <a:prstGeom prst="roundRect">
            <a:avLst>
              <a:gd name="adj" fmla="val 10000"/>
            </a:avLst>
          </a:prstGeom>
          <a:solidFill>
            <a:srgbClr val="E4002B"/>
          </a:solidFill>
          <a:ln w="12700">
            <a:solidFill>
              <a:srgbClr val="E4002B"/>
            </a:solidFill>
            <a:prstDash val="solid"/>
          </a:ln>
        </p:spPr>
        <p:txBody>
          <a:bodyPr/>
          <a:lstStyle/>
          <a:p>
            <a:endParaRPr lang="es-CO"/>
          </a:p>
        </p:txBody>
      </p:sp>
      <p:sp>
        <p:nvSpPr>
          <p:cNvPr id="8" name="Text 6"/>
          <p:cNvSpPr txBox="1"/>
          <p:nvPr/>
        </p:nvSpPr>
        <p:spPr>
          <a:xfrm>
            <a:off x="822960" y="2468880"/>
            <a:ext cx="8229600" cy="91440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ENTRENAMIENTO · ene 2023 → set 2025 · 1 004 días</a:t>
            </a:r>
            <a:endParaRPr lang="en-US" sz="1400" dirty="0"/>
          </a:p>
        </p:txBody>
      </p:sp>
      <p:sp>
        <p:nvSpPr>
          <p:cNvPr id="9" name="Text 7"/>
          <p:cNvSpPr txBox="1"/>
          <p:nvPr/>
        </p:nvSpPr>
        <p:spPr>
          <a:xfrm>
            <a:off x="9235440" y="2468880"/>
            <a:ext cx="237744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PRUEBA · oct–dic 2025</a:t>
            </a:r>
            <a:endParaRPr lang="en-US" sz="1200" dirty="0"/>
          </a:p>
        </p:txBody>
      </p:sp>
      <p:sp>
        <p:nvSpPr>
          <p:cNvPr id="10" name="Text 8"/>
          <p:cNvSpPr txBox="1"/>
          <p:nvPr/>
        </p:nvSpPr>
        <p:spPr>
          <a:xfrm>
            <a:off x="548640" y="3520440"/>
            <a:ext cx="5486400" cy="365760"/>
          </a:xfrm>
          <a:prstGeom prst="rect">
            <a:avLst/>
          </a:prstGeom>
          <a:noFill/>
          <a:ln/>
        </p:spPr>
        <p:txBody>
          <a:bodyPr wrap="square" lIns="0" tIns="0" rIns="0" bIns="0" rtlCol="0" anchor="t"/>
          <a:lstStyle/>
          <a:p>
            <a:pPr marL="0" indent="0">
              <a:buNone/>
            </a:pPr>
            <a:r>
              <a:rPr lang="en-US" sz="1400" i="1" dirty="0">
                <a:solidFill>
                  <a:srgbClr val="8C8C8C"/>
                </a:solidFill>
                <a:latin typeface="Calibri" pitchFamily="34" charset="0"/>
                <a:ea typeface="Calibri" pitchFamily="34" charset="-122"/>
                <a:cs typeface="Calibri" pitchFamily="34" charset="-120"/>
              </a:rPr>
              <a:t>el pasado: el modelo estudia</a:t>
            </a:r>
            <a:endParaRPr lang="en-US" sz="1400" dirty="0"/>
          </a:p>
        </p:txBody>
      </p:sp>
      <p:sp>
        <p:nvSpPr>
          <p:cNvPr id="11" name="Text 9"/>
          <p:cNvSpPr txBox="1"/>
          <p:nvPr/>
        </p:nvSpPr>
        <p:spPr>
          <a:xfrm>
            <a:off x="9235440" y="3520440"/>
            <a:ext cx="2377440" cy="365760"/>
          </a:xfrm>
          <a:prstGeom prst="rect">
            <a:avLst/>
          </a:prstGeom>
          <a:noFill/>
          <a:ln/>
        </p:spPr>
        <p:txBody>
          <a:bodyPr wrap="square" lIns="0" tIns="0" rIns="0" bIns="0" rtlCol="0" anchor="t"/>
          <a:lstStyle/>
          <a:p>
            <a:pPr marL="0" indent="0" algn="ctr">
              <a:buNone/>
            </a:pPr>
            <a:r>
              <a:rPr lang="en-US" sz="1400" i="1" dirty="0">
                <a:solidFill>
                  <a:srgbClr val="8C8C8C"/>
                </a:solidFill>
                <a:latin typeface="Calibri" pitchFamily="34" charset="0"/>
                <a:ea typeface="Calibri" pitchFamily="34" charset="-122"/>
                <a:cs typeface="Calibri" pitchFamily="34" charset="-120"/>
              </a:rPr>
              <a:t>el examen</a:t>
            </a:r>
            <a:endParaRPr lang="en-US" sz="1400" dirty="0"/>
          </a:p>
        </p:txBody>
      </p:sp>
      <p:sp>
        <p:nvSpPr>
          <p:cNvPr id="12" name="Shape 10"/>
          <p:cNvSpPr/>
          <p:nvPr/>
        </p:nvSpPr>
        <p:spPr>
          <a:xfrm>
            <a:off x="548640" y="4206240"/>
            <a:ext cx="5394960" cy="1645920"/>
          </a:xfrm>
          <a:prstGeom prst="roundRect">
            <a:avLst>
              <a:gd name="adj" fmla="val 6667"/>
            </a:avLst>
          </a:prstGeom>
          <a:solidFill>
            <a:srgbClr val="2A0A10"/>
          </a:solidFill>
          <a:ln w="12700">
            <a:solidFill>
              <a:srgbClr val="2A0A10"/>
            </a:solidFill>
            <a:prstDash val="solid"/>
          </a:ln>
        </p:spPr>
        <p:txBody>
          <a:bodyPr/>
          <a:lstStyle/>
          <a:p>
            <a:endParaRPr lang="es-CO"/>
          </a:p>
        </p:txBody>
      </p:sp>
      <p:sp>
        <p:nvSpPr>
          <p:cNvPr id="13" name="Text 11"/>
          <p:cNvSpPr txBox="1"/>
          <p:nvPr/>
        </p:nvSpPr>
        <p:spPr>
          <a:xfrm>
            <a:off x="822960" y="4434840"/>
            <a:ext cx="4937760" cy="365760"/>
          </a:xfrm>
          <a:prstGeom prst="rect">
            <a:avLst/>
          </a:prstGeom>
          <a:noFill/>
          <a:ln/>
        </p:spPr>
        <p:txBody>
          <a:bodyPr wrap="square" lIns="0" tIns="0" rIns="0" bIns="0" rtlCol="0" anchor="t"/>
          <a:lstStyle/>
          <a:p>
            <a:pPr marL="0" indent="0">
              <a:buNone/>
            </a:pPr>
            <a:r>
              <a:rPr lang="en-US" sz="1700" b="1" dirty="0">
                <a:solidFill>
                  <a:srgbClr val="E4002B"/>
                </a:solidFill>
                <a:latin typeface="Arial" pitchFamily="34" charset="0"/>
                <a:ea typeface="Arial" pitchFamily="34" charset="-122"/>
                <a:cs typeface="Arial" pitchFamily="34" charset="-120"/>
              </a:rPr>
              <a:t>✗  train_test_split al azar</a:t>
            </a:r>
            <a:endParaRPr lang="en-US" sz="1700" dirty="0"/>
          </a:p>
        </p:txBody>
      </p:sp>
      <p:sp>
        <p:nvSpPr>
          <p:cNvPr id="14" name="Text 12"/>
          <p:cNvSpPr txBox="1"/>
          <p:nvPr/>
        </p:nvSpPr>
        <p:spPr>
          <a:xfrm>
            <a:off x="822960" y="4846320"/>
            <a:ext cx="49377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modelo estudia con noviembre y lo examinamos con octubre. Es como hacer el examen con las respuestas en la mano.</a:t>
            </a:r>
            <a:endParaRPr lang="en-US" sz="1400" dirty="0"/>
          </a:p>
        </p:txBody>
      </p:sp>
      <p:sp>
        <p:nvSpPr>
          <p:cNvPr id="15" name="Shape 13"/>
          <p:cNvSpPr/>
          <p:nvPr/>
        </p:nvSpPr>
        <p:spPr>
          <a:xfrm>
            <a:off x="6217920" y="4206240"/>
            <a:ext cx="5394960" cy="1645920"/>
          </a:xfrm>
          <a:prstGeom prst="roundRect">
            <a:avLst>
              <a:gd name="adj" fmla="val 6667"/>
            </a:avLst>
          </a:prstGeom>
          <a:solidFill>
            <a:srgbClr val="1A1A1A"/>
          </a:solidFill>
          <a:ln w="12700">
            <a:solidFill>
              <a:srgbClr val="1A1A1A"/>
            </a:solidFill>
            <a:prstDash val="solid"/>
          </a:ln>
        </p:spPr>
        <p:txBody>
          <a:bodyPr/>
          <a:lstStyle/>
          <a:p>
            <a:endParaRPr lang="es-CO"/>
          </a:p>
        </p:txBody>
      </p:sp>
      <p:sp>
        <p:nvSpPr>
          <p:cNvPr id="16" name="Text 14"/>
          <p:cNvSpPr txBox="1"/>
          <p:nvPr/>
        </p:nvSpPr>
        <p:spPr>
          <a:xfrm>
            <a:off x="6492240" y="4434840"/>
            <a:ext cx="493776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  corte por fecha</a:t>
            </a:r>
            <a:endParaRPr lang="en-US" sz="1700" dirty="0"/>
          </a:p>
        </p:txBody>
      </p:sp>
      <p:sp>
        <p:nvSpPr>
          <p:cNvPr id="17" name="Text 15"/>
          <p:cNvSpPr txBox="1"/>
          <p:nvPr/>
        </p:nvSpPr>
        <p:spPr>
          <a:xfrm>
            <a:off x="6492240" y="4846320"/>
            <a:ext cx="49377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Entreno con todo lo anterior a octubre y examino con los últimos 3 meses (incluye diciembre, el mes más difícil).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11</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PASO 4: COMPARAR CONTRA EL SENTIDO COMÚN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modelo más sencillo le ganó al más complejo</a:t>
            </a:r>
            <a:endParaRPr lang="en-US" sz="3200" dirty="0"/>
          </a:p>
        </p:txBody>
      </p:sp>
      <p:graphicFrame>
        <p:nvGraphicFramePr>
          <p:cNvPr id="6" name="Chart 0"/>
          <p:cNvGraphicFramePr/>
          <p:nvPr/>
        </p:nvGraphicFramePr>
        <p:xfrm>
          <a:off x="548640" y="182880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772400" y="1828800"/>
            <a:ext cx="3840480" cy="3931920"/>
          </a:xfrm>
          <a:prstGeom prst="roundRect">
            <a:avLst>
              <a:gd name="adj" fmla="val 2857"/>
            </a:avLst>
          </a:prstGeom>
          <a:solidFill>
            <a:srgbClr val="1A1A1A"/>
          </a:solidFill>
          <a:ln w="12700">
            <a:solidFill>
              <a:srgbClr val="1A1A1A"/>
            </a:solidFill>
            <a:prstDash val="solid"/>
          </a:ln>
        </p:spPr>
        <p:txBody>
          <a:bodyPr/>
          <a:lstStyle/>
          <a:p>
            <a:endParaRPr lang="es-CO"/>
          </a:p>
        </p:txBody>
      </p:sp>
      <p:sp>
        <p:nvSpPr>
          <p:cNvPr id="8" name="Shape 5"/>
          <p:cNvSpPr/>
          <p:nvPr/>
        </p:nvSpPr>
        <p:spPr>
          <a:xfrm>
            <a:off x="8046720" y="210312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4"/>
          <a:stretch>
            <a:fillRect/>
          </a:stretch>
        </p:blipFill>
        <p:spPr>
          <a:xfrm>
            <a:off x="8236915" y="2293315"/>
            <a:ext cx="351130" cy="351130"/>
          </a:xfrm>
          <a:prstGeom prst="rect">
            <a:avLst/>
          </a:prstGeom>
        </p:spPr>
      </p:pic>
      <p:sp>
        <p:nvSpPr>
          <p:cNvPr id="10" name="Text 6"/>
          <p:cNvSpPr txBox="1"/>
          <p:nvPr/>
        </p:nvSpPr>
        <p:spPr>
          <a:xfrm>
            <a:off x="8046720" y="2971800"/>
            <a:ext cx="329184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¿Por qué?</a:t>
            </a:r>
            <a:endParaRPr lang="en-US" sz="1800" dirty="0"/>
          </a:p>
        </p:txBody>
      </p:sp>
      <p:sp>
        <p:nvSpPr>
          <p:cNvPr id="11" name="Text 7"/>
          <p:cNvSpPr txBox="1"/>
          <p:nvPr/>
        </p:nvSpPr>
        <p:spPr>
          <a:xfrm>
            <a:off x="8046720" y="3383280"/>
            <a:ext cx="3291840" cy="13716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Random Forest aprende con reglas "si... entonces" y no sabe extrapolar: nunca vio ventas tan altas como las de diciembre 2025.</a:t>
            </a:r>
            <a:endParaRPr lang="en-US" sz="1400" dirty="0"/>
          </a:p>
        </p:txBody>
      </p:sp>
      <p:sp>
        <p:nvSpPr>
          <p:cNvPr id="12" name="Text 8"/>
          <p:cNvSpPr txBox="1"/>
          <p:nvPr/>
        </p:nvSpPr>
        <p:spPr>
          <a:xfrm>
            <a:off x="8046720" y="4754880"/>
            <a:ext cx="3291840" cy="8229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La regresión lineal sí entiende que "cada día se vende un poquito más".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12</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01 · PASO 5: DE LA PREDICCIÓN A LA DECISIÓN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Enero 2026: del pronóstico al plan de personal</a:t>
            </a:r>
            <a:endParaRPr lang="en-US" sz="3200" dirty="0"/>
          </a:p>
        </p:txBody>
      </p:sp>
      <p:sp>
        <p:nvSpPr>
          <p:cNvPr id="6" name="Text 4"/>
          <p:cNvSpPr txBox="1"/>
          <p:nvPr/>
        </p:nvSpPr>
        <p:spPr>
          <a:xfrm>
            <a:off x="548640" y="2103120"/>
            <a:ext cx="3657600" cy="822960"/>
          </a:xfrm>
          <a:prstGeom prst="rect">
            <a:avLst/>
          </a:prstGeom>
          <a:noFill/>
          <a:ln/>
        </p:spPr>
        <p:txBody>
          <a:bodyPr wrap="square" lIns="0" tIns="0" rIns="0" bIns="0" rtlCol="0" anchor="ctr"/>
          <a:lstStyle/>
          <a:p>
            <a:pPr marL="0" indent="0">
              <a:buNone/>
            </a:pPr>
            <a:r>
              <a:rPr lang="en-US" sz="4800" b="1" dirty="0">
                <a:solidFill>
                  <a:srgbClr val="E4002B"/>
                </a:solidFill>
                <a:latin typeface="Arial" pitchFamily="34" charset="0"/>
                <a:ea typeface="Arial" pitchFamily="34" charset="-122"/>
                <a:cs typeface="Arial" pitchFamily="34" charset="-120"/>
              </a:rPr>
              <a:t>₡37,1 M</a:t>
            </a:r>
            <a:endParaRPr lang="en-US" sz="4800" dirty="0"/>
          </a:p>
        </p:txBody>
      </p:sp>
      <p:sp>
        <p:nvSpPr>
          <p:cNvPr id="7" name="Text 5"/>
          <p:cNvSpPr txBox="1"/>
          <p:nvPr/>
        </p:nvSpPr>
        <p:spPr>
          <a:xfrm>
            <a:off x="548640" y="2971800"/>
            <a:ext cx="365760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venta total esperada en enero 2026 (con promo los sábados)</a:t>
            </a:r>
            <a:endParaRPr lang="en-US" sz="1400" dirty="0"/>
          </a:p>
        </p:txBody>
      </p:sp>
      <p:sp>
        <p:nvSpPr>
          <p:cNvPr id="8" name="Text 6"/>
          <p:cNvSpPr txBox="1"/>
          <p:nvPr/>
        </p:nvSpPr>
        <p:spPr>
          <a:xfrm>
            <a:off x="548640" y="3840480"/>
            <a:ext cx="365760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+₡153 mil</a:t>
            </a:r>
            <a:endParaRPr lang="en-US" sz="4000" dirty="0"/>
          </a:p>
        </p:txBody>
      </p:sp>
      <p:sp>
        <p:nvSpPr>
          <p:cNvPr id="9" name="Text 7"/>
          <p:cNvSpPr txBox="1"/>
          <p:nvPr/>
        </p:nvSpPr>
        <p:spPr>
          <a:xfrm>
            <a:off x="548640" y="4709160"/>
            <a:ext cx="365760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suma una promoción en un día (lo que aprendió el modelo)</a:t>
            </a:r>
            <a:endParaRPr lang="en-US" sz="1400" dirty="0"/>
          </a:p>
        </p:txBody>
      </p:sp>
      <p:sp>
        <p:nvSpPr>
          <p:cNvPr id="10" name="Shape 8"/>
          <p:cNvSpPr/>
          <p:nvPr/>
        </p:nvSpPr>
        <p:spPr>
          <a:xfrm>
            <a:off x="4754880" y="2011680"/>
            <a:ext cx="6858000" cy="3931920"/>
          </a:xfrm>
          <a:prstGeom prst="roundRect">
            <a:avLst>
              <a:gd name="adj" fmla="val 2791"/>
            </a:avLst>
          </a:prstGeom>
          <a:solidFill>
            <a:srgbClr val="1A1A1A"/>
          </a:solidFill>
          <a:ln w="12700">
            <a:solidFill>
              <a:srgbClr val="1A1A1A"/>
            </a:solidFill>
            <a:prstDash val="solid"/>
          </a:ln>
        </p:spPr>
        <p:txBody>
          <a:bodyPr/>
          <a:lstStyle/>
          <a:p>
            <a:endParaRPr lang="es-CO"/>
          </a:p>
        </p:txBody>
      </p:sp>
      <p:sp>
        <p:nvSpPr>
          <p:cNvPr id="11" name="Text 9"/>
          <p:cNvSpPr txBox="1"/>
          <p:nvPr/>
        </p:nvSpPr>
        <p:spPr>
          <a:xfrm>
            <a:off x="5029200" y="2240280"/>
            <a:ext cx="64008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REGLA DEL GERENTE</a:t>
            </a:r>
            <a:endParaRPr lang="en-US" sz="1200" dirty="0"/>
          </a:p>
        </p:txBody>
      </p:sp>
      <p:sp>
        <p:nvSpPr>
          <p:cNvPr id="12" name="Text 10"/>
          <p:cNvSpPr txBox="1"/>
          <p:nvPr/>
        </p:nvSpPr>
        <p:spPr>
          <a:xfrm>
            <a:off x="5029200" y="2560320"/>
            <a:ext cx="6400800" cy="3657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Cada cajero atiende ≈ ₡350 000 al día · mínimo 3 cajeros</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0" y="3108960"/>
          <a:ext cx="63093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8C8C8C"/>
                          </a:solidFill>
                          <a:latin typeface="Calibri" pitchFamily="34" charset="0"/>
                          <a:ea typeface="Calibri" pitchFamily="34" charset="-122"/>
                          <a:cs typeface="Calibri" pitchFamily="34" charset="-120"/>
                        </a:rPr>
                        <a:t>Día</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8C8C8C"/>
                          </a:solidFill>
                          <a:latin typeface="Calibri" pitchFamily="34" charset="0"/>
                          <a:ea typeface="Calibri" pitchFamily="34" charset="-122"/>
                          <a:cs typeface="Calibri" pitchFamily="34" charset="-120"/>
                        </a:rPr>
                        <a:t>Pronóstico</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8C8C8C"/>
                          </a:solidFill>
                          <a:latin typeface="Calibri" pitchFamily="34" charset="0"/>
                          <a:ea typeface="Calibri" pitchFamily="34" charset="-122"/>
                          <a:cs typeface="Calibri" pitchFamily="34" charset="-120"/>
                        </a:rPr>
                        <a:t>Cajeros</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Lun 05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₡1 019 000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Mié 07</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₡1 035 000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Vie 09</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₡1 168 000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Sáb 10 (promo)</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₡1 551 000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E4002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4"/>
                  </a:ext>
                </a:extLst>
              </a:tr>
              <a:tr h="411480">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Dom 11</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₡1 282 000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13</a:t>
            </a:r>
            <a:endParaRPr lang="en-US" sz="900" dirty="0"/>
          </a:p>
        </p:txBody>
      </p:sp>
      <p:sp>
        <p:nvSpPr>
          <p:cNvPr id="4" name="Text 2"/>
          <p:cNvSpPr txBox="1"/>
          <p:nvPr/>
        </p:nvSpPr>
        <p:spPr>
          <a:xfrm>
            <a:off x="548640" y="1005840"/>
            <a:ext cx="3657600" cy="2011680"/>
          </a:xfrm>
          <a:prstGeom prst="rect">
            <a:avLst/>
          </a:prstGeom>
          <a:noFill/>
          <a:ln/>
        </p:spPr>
        <p:txBody>
          <a:bodyPr wrap="square" lIns="0" tIns="0" rIns="0" bIns="0" rtlCol="0" anchor="ctr"/>
          <a:lstStyle/>
          <a:p>
            <a:pPr marL="0" indent="0">
              <a:buNone/>
            </a:pPr>
            <a:r>
              <a:rPr lang="en-US" sz="15000" b="1" dirty="0">
                <a:solidFill>
                  <a:srgbClr val="E4002B"/>
                </a:solidFill>
                <a:latin typeface="Arial" pitchFamily="34" charset="0"/>
                <a:ea typeface="Arial" pitchFamily="34" charset="-122"/>
                <a:cs typeface="Arial" pitchFamily="34" charset="-120"/>
              </a:rPr>
              <a:t>02</a:t>
            </a:r>
            <a:endParaRPr lang="en-US" sz="15000" dirty="0"/>
          </a:p>
        </p:txBody>
      </p:sp>
      <p:sp>
        <p:nvSpPr>
          <p:cNvPr id="5" name="Text 3"/>
          <p:cNvSpPr txBox="1"/>
          <p:nvPr/>
        </p:nvSpPr>
        <p:spPr>
          <a:xfrm>
            <a:off x="548640" y="32461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PRÁCTICO 02</a:t>
            </a:r>
            <a:endParaRPr lang="en-US" sz="1300" dirty="0"/>
          </a:p>
        </p:txBody>
      </p:sp>
      <p:sp>
        <p:nvSpPr>
          <p:cNvPr id="6" name="Text 4"/>
          <p:cNvSpPr txBox="1"/>
          <p:nvPr/>
        </p:nvSpPr>
        <p:spPr>
          <a:xfrm>
            <a:off x="548640" y="3611880"/>
            <a:ext cx="7680960"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Predicción de demanda</a:t>
            </a:r>
            <a:endParaRPr lang="en-US" sz="4000" dirty="0"/>
          </a:p>
        </p:txBody>
      </p:sp>
      <p:sp>
        <p:nvSpPr>
          <p:cNvPr id="7" name="Text 5"/>
          <p:cNvSpPr txBox="1"/>
          <p:nvPr/>
        </p:nvSpPr>
        <p:spPr>
          <a:xfrm>
            <a:off x="548640" y="4572000"/>
            <a:ext cx="6858000" cy="914400"/>
          </a:xfrm>
          <a:prstGeom prst="rect">
            <a:avLst/>
          </a:prstGeom>
          <a:noFill/>
          <a:ln/>
        </p:spPr>
        <p:txBody>
          <a:bodyPr wrap="square" lIns="0" tIns="0" rIns="0" bIns="0" rtlCol="0" anchor="t"/>
          <a:lstStyle/>
          <a:p>
            <a:pPr marL="0" indent="0">
              <a:buNone/>
            </a:pPr>
            <a:r>
              <a:rPr lang="en-US" sz="2000" i="1" dirty="0">
                <a:solidFill>
                  <a:srgbClr val="D4D4D4"/>
                </a:solidFill>
                <a:latin typeface="Calibri" pitchFamily="34" charset="0"/>
                <a:ea typeface="Calibri" pitchFamily="34" charset="-122"/>
                <a:cs typeface="Calibri" pitchFamily="34" charset="-120"/>
              </a:rPr>
              <a:t>Panadería Doña Rosa: ¿cuánto pan casero, empanadas y queque hornear mañana?</a:t>
            </a:r>
            <a:endParaRPr lang="en-US" sz="2000" dirty="0"/>
          </a:p>
        </p:txBody>
      </p:sp>
      <p:sp>
        <p:nvSpPr>
          <p:cNvPr id="8" name="Shape 6"/>
          <p:cNvSpPr/>
          <p:nvPr/>
        </p:nvSpPr>
        <p:spPr>
          <a:xfrm>
            <a:off x="8503920" y="1463040"/>
            <a:ext cx="2743200" cy="274320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9217152" y="2176272"/>
            <a:ext cx="1316736" cy="1316736"/>
          </a:xfrm>
          <a:prstGeom prst="rect">
            <a:avLst/>
          </a:prstGeom>
        </p:spPr>
      </p:pic>
      <p:sp>
        <p:nvSpPr>
          <p:cNvPr id="10" name="Text 7"/>
          <p:cNvSpPr txBox="1"/>
          <p:nvPr/>
        </p:nvSpPr>
        <p:spPr>
          <a:xfrm>
            <a:off x="8138160" y="4663440"/>
            <a:ext cx="3474720" cy="274320"/>
          </a:xfrm>
          <a:prstGeom prst="rect">
            <a:avLst/>
          </a:prstGeom>
          <a:noFill/>
          <a:ln/>
        </p:spPr>
        <p:txBody>
          <a:bodyPr wrap="square" lIns="0" tIns="0" rIns="0" bIns="0" rtlCol="0" anchor="ctr"/>
          <a:lstStyle/>
          <a:p>
            <a:pPr marL="0" indent="0" algn="ctr">
              <a:buNone/>
            </a:pPr>
            <a:r>
              <a:rPr lang="en-US" sz="1000" kern="0" spc="200" dirty="0">
                <a:solidFill>
                  <a:srgbClr val="8C8C8C"/>
                </a:solidFill>
                <a:latin typeface="Courier New" pitchFamily="34" charset="0"/>
                <a:ea typeface="Courier New" pitchFamily="34" charset="-122"/>
                <a:cs typeface="Courier New" pitchFamily="34" charset="-120"/>
              </a:rPr>
              <a:t>CUADERNO COLAB</a:t>
            </a:r>
            <a:endParaRPr lang="en-US" sz="1000" dirty="0"/>
          </a:p>
        </p:txBody>
      </p:sp>
      <p:sp>
        <p:nvSpPr>
          <p:cNvPr id="11" name="Text 8"/>
          <p:cNvSpPr txBox="1"/>
          <p:nvPr/>
        </p:nvSpPr>
        <p:spPr>
          <a:xfrm>
            <a:off x="7863840" y="4937760"/>
            <a:ext cx="402336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U5_Caso2_Prediccion_Demanda.ipynb</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14</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02 · VENTAS VS. DEMANDA</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Demanda = unidades, producto por producto</a:t>
            </a:r>
            <a:endParaRPr lang="en-US" sz="3200" dirty="0"/>
          </a:p>
        </p:txBody>
      </p:sp>
      <p:sp>
        <p:nvSpPr>
          <p:cNvPr id="6" name="Shape 4"/>
          <p:cNvSpPr/>
          <p:nvPr/>
        </p:nvSpPr>
        <p:spPr>
          <a:xfrm>
            <a:off x="548640" y="2011680"/>
            <a:ext cx="3474720" cy="1828800"/>
          </a:xfrm>
          <a:prstGeom prst="roundRect">
            <a:avLst>
              <a:gd name="adj" fmla="val 6000"/>
            </a:avLst>
          </a:prstGeom>
          <a:solidFill>
            <a:srgbClr val="1A1A1A"/>
          </a:solidFill>
          <a:ln w="12700">
            <a:solidFill>
              <a:srgbClr val="1A1A1A"/>
            </a:solidFill>
            <a:prstDash val="solid"/>
          </a:ln>
        </p:spPr>
        <p:txBody>
          <a:bodyPr/>
          <a:lstStyle/>
          <a:p>
            <a:endParaRPr lang="es-CO"/>
          </a:p>
        </p:txBody>
      </p:sp>
      <p:sp>
        <p:nvSpPr>
          <p:cNvPr id="7" name="Text 5"/>
          <p:cNvSpPr txBox="1"/>
          <p:nvPr/>
        </p:nvSpPr>
        <p:spPr>
          <a:xfrm>
            <a:off x="822960" y="2240280"/>
            <a:ext cx="301752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Ventas</a:t>
            </a:r>
            <a:endParaRPr lang="en-US" sz="1800" dirty="0"/>
          </a:p>
        </p:txBody>
      </p:sp>
      <p:sp>
        <p:nvSpPr>
          <p:cNvPr id="8" name="Text 6"/>
          <p:cNvSpPr txBox="1"/>
          <p:nvPr/>
        </p:nvSpPr>
        <p:spPr>
          <a:xfrm>
            <a:off x="822960" y="2697480"/>
            <a:ext cx="3017520" cy="10058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¿Cuánto dinero va a entrar? Sirve para finanzas y metas.</a:t>
            </a:r>
            <a:endParaRPr lang="en-US" sz="1400" dirty="0"/>
          </a:p>
        </p:txBody>
      </p:sp>
      <p:sp>
        <p:nvSpPr>
          <p:cNvPr id="9" name="Shape 7"/>
          <p:cNvSpPr/>
          <p:nvPr/>
        </p:nvSpPr>
        <p:spPr>
          <a:xfrm>
            <a:off x="548640" y="4069080"/>
            <a:ext cx="3474720" cy="1828800"/>
          </a:xfrm>
          <a:prstGeom prst="roundRect">
            <a:avLst>
              <a:gd name="adj" fmla="val 6000"/>
            </a:avLst>
          </a:prstGeom>
          <a:solidFill>
            <a:srgbClr val="2A0A10"/>
          </a:solidFill>
          <a:ln w="12700">
            <a:solidFill>
              <a:srgbClr val="2A0A10"/>
            </a:solidFill>
            <a:prstDash val="solid"/>
          </a:ln>
        </p:spPr>
        <p:txBody>
          <a:bodyPr/>
          <a:lstStyle/>
          <a:p>
            <a:endParaRPr lang="es-CO"/>
          </a:p>
        </p:txBody>
      </p:sp>
      <p:sp>
        <p:nvSpPr>
          <p:cNvPr id="10" name="Text 8"/>
          <p:cNvSpPr txBox="1"/>
          <p:nvPr/>
        </p:nvSpPr>
        <p:spPr>
          <a:xfrm>
            <a:off x="822960" y="4297680"/>
            <a:ext cx="3017520" cy="365760"/>
          </a:xfrm>
          <a:prstGeom prst="rect">
            <a:avLst/>
          </a:prstGeom>
          <a:noFill/>
          <a:ln/>
        </p:spPr>
        <p:txBody>
          <a:bodyPr wrap="square" lIns="0" tIns="0" rIns="0" bIns="0" rtlCol="0" anchor="t"/>
          <a:lstStyle/>
          <a:p>
            <a:pPr marL="0" indent="0">
              <a:buNone/>
            </a:pPr>
            <a:r>
              <a:rPr lang="en-US" sz="1800" b="1" dirty="0">
                <a:solidFill>
                  <a:srgbClr val="E4002B"/>
                </a:solidFill>
                <a:latin typeface="Arial" pitchFamily="34" charset="0"/>
                <a:ea typeface="Arial" pitchFamily="34" charset="-122"/>
                <a:cs typeface="Arial" pitchFamily="34" charset="-120"/>
              </a:rPr>
              <a:t>Demanda</a:t>
            </a:r>
            <a:endParaRPr lang="en-US" sz="1800" dirty="0"/>
          </a:p>
        </p:txBody>
      </p:sp>
      <p:sp>
        <p:nvSpPr>
          <p:cNvPr id="11" name="Text 9"/>
          <p:cNvSpPr txBox="1"/>
          <p:nvPr/>
        </p:nvSpPr>
        <p:spPr>
          <a:xfrm>
            <a:off x="822960" y="4754880"/>
            <a:ext cx="3017520" cy="10972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¿Cuántas unidades de cada producto va a pedir la gente? Sirve para producción e inventario.</a:t>
            </a:r>
            <a:endParaRPr lang="en-US" sz="1400" dirty="0"/>
          </a:p>
        </p:txBody>
      </p:sp>
      <p:sp>
        <p:nvSpPr>
          <p:cNvPr id="12" name="Text 10"/>
          <p:cNvSpPr txBox="1"/>
          <p:nvPr/>
        </p:nvSpPr>
        <p:spPr>
          <a:xfrm>
            <a:off x="4480560" y="2011680"/>
            <a:ext cx="713232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EL DILEMA DE DOÑA ROSA CADA MADRUGADA</a:t>
            </a:r>
            <a:endParaRPr lang="en-US" sz="1200" dirty="0"/>
          </a:p>
        </p:txBody>
      </p:sp>
      <p:sp>
        <p:nvSpPr>
          <p:cNvPr id="13" name="Shape 11"/>
          <p:cNvSpPr/>
          <p:nvPr/>
        </p:nvSpPr>
        <p:spPr>
          <a:xfrm>
            <a:off x="4480560" y="2423160"/>
            <a:ext cx="3429000" cy="3474720"/>
          </a:xfrm>
          <a:prstGeom prst="roundRect">
            <a:avLst>
              <a:gd name="adj" fmla="val 3200"/>
            </a:avLst>
          </a:prstGeom>
          <a:solidFill>
            <a:srgbClr val="1A1A1A"/>
          </a:solidFill>
          <a:ln w="12700">
            <a:solidFill>
              <a:srgbClr val="1A1A1A"/>
            </a:solidFill>
            <a:prstDash val="solid"/>
          </a:ln>
        </p:spPr>
        <p:txBody>
          <a:bodyPr/>
          <a:lstStyle/>
          <a:p>
            <a:endParaRPr lang="es-CO"/>
          </a:p>
        </p:txBody>
      </p:sp>
      <p:sp>
        <p:nvSpPr>
          <p:cNvPr id="14" name="Shape 12"/>
          <p:cNvSpPr/>
          <p:nvPr/>
        </p:nvSpPr>
        <p:spPr>
          <a:xfrm>
            <a:off x="4754880" y="269748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15" name="Image 0" descr="preencoded.png"/>
          <p:cNvPicPr>
            <a:picLocks noChangeAspect="1"/>
          </p:cNvPicPr>
          <p:nvPr/>
        </p:nvPicPr>
        <p:blipFill>
          <a:blip r:embed="rId3"/>
          <a:stretch>
            <a:fillRect/>
          </a:stretch>
        </p:blipFill>
        <p:spPr>
          <a:xfrm>
            <a:off x="4945075" y="2887675"/>
            <a:ext cx="351130" cy="351130"/>
          </a:xfrm>
          <a:prstGeom prst="rect">
            <a:avLst/>
          </a:prstGeom>
        </p:spPr>
      </p:pic>
      <p:sp>
        <p:nvSpPr>
          <p:cNvPr id="16" name="Text 13"/>
          <p:cNvSpPr txBox="1"/>
          <p:nvPr/>
        </p:nvSpPr>
        <p:spPr>
          <a:xfrm>
            <a:off x="4754880" y="3611880"/>
            <a:ext cx="2926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Hornea de más</a:t>
            </a:r>
            <a:endParaRPr lang="en-US" sz="1800" dirty="0"/>
          </a:p>
        </p:txBody>
      </p:sp>
      <p:sp>
        <p:nvSpPr>
          <p:cNvPr id="17" name="Text 14"/>
          <p:cNvSpPr txBox="1"/>
          <p:nvPr/>
        </p:nvSpPr>
        <p:spPr>
          <a:xfrm>
            <a:off x="4754880" y="4069080"/>
            <a:ext cx="292608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Lo que sobra se bota. Pierde el costo de cada unidad.</a:t>
            </a:r>
            <a:endParaRPr lang="en-US" sz="1400" dirty="0"/>
          </a:p>
        </p:txBody>
      </p:sp>
      <p:sp>
        <p:nvSpPr>
          <p:cNvPr id="18" name="Text 15"/>
          <p:cNvSpPr txBox="1"/>
          <p:nvPr/>
        </p:nvSpPr>
        <p:spPr>
          <a:xfrm>
            <a:off x="4754880" y="5120640"/>
            <a:ext cx="2926080" cy="365760"/>
          </a:xfrm>
          <a:prstGeom prst="rect">
            <a:avLst/>
          </a:prstGeom>
          <a:noFill/>
          <a:ln/>
        </p:spPr>
        <p:txBody>
          <a:bodyPr wrap="square" lIns="0" tIns="0" rIns="0" bIns="0" rtlCol="0" anchor="t"/>
          <a:lstStyle/>
          <a:p>
            <a:pPr marL="0" indent="0">
              <a:buNone/>
            </a:pPr>
            <a:r>
              <a:rPr lang="en-US" sz="1300" dirty="0">
                <a:solidFill>
                  <a:srgbClr val="8C8C8C"/>
                </a:solidFill>
                <a:latin typeface="Courier New" pitchFamily="34" charset="0"/>
                <a:ea typeface="Courier New" pitchFamily="34" charset="-122"/>
                <a:cs typeface="Courier New" pitchFamily="34" charset="-120"/>
              </a:rPr>
              <a:t>pan: −₡80 por unidad</a:t>
            </a:r>
            <a:endParaRPr lang="en-US" sz="1300" dirty="0"/>
          </a:p>
        </p:txBody>
      </p:sp>
      <p:sp>
        <p:nvSpPr>
          <p:cNvPr id="19" name="Shape 16"/>
          <p:cNvSpPr/>
          <p:nvPr/>
        </p:nvSpPr>
        <p:spPr>
          <a:xfrm>
            <a:off x="8183880" y="2423160"/>
            <a:ext cx="3429000" cy="3474720"/>
          </a:xfrm>
          <a:prstGeom prst="roundRect">
            <a:avLst>
              <a:gd name="adj" fmla="val 3200"/>
            </a:avLst>
          </a:prstGeom>
          <a:solidFill>
            <a:srgbClr val="1A1A1A"/>
          </a:solidFill>
          <a:ln w="12700">
            <a:solidFill>
              <a:srgbClr val="1A1A1A"/>
            </a:solidFill>
            <a:prstDash val="solid"/>
          </a:ln>
        </p:spPr>
        <p:txBody>
          <a:bodyPr/>
          <a:lstStyle/>
          <a:p>
            <a:endParaRPr lang="es-CO"/>
          </a:p>
        </p:txBody>
      </p:sp>
      <p:sp>
        <p:nvSpPr>
          <p:cNvPr id="20" name="Shape 17"/>
          <p:cNvSpPr/>
          <p:nvPr/>
        </p:nvSpPr>
        <p:spPr>
          <a:xfrm>
            <a:off x="8458200" y="269748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21" name="Image 1" descr="preencoded.png"/>
          <p:cNvPicPr>
            <a:picLocks noChangeAspect="1"/>
          </p:cNvPicPr>
          <p:nvPr/>
        </p:nvPicPr>
        <p:blipFill>
          <a:blip r:embed="rId4"/>
          <a:stretch>
            <a:fillRect/>
          </a:stretch>
        </p:blipFill>
        <p:spPr>
          <a:xfrm>
            <a:off x="8648395" y="2887675"/>
            <a:ext cx="351130" cy="351130"/>
          </a:xfrm>
          <a:prstGeom prst="rect">
            <a:avLst/>
          </a:prstGeom>
        </p:spPr>
      </p:pic>
      <p:sp>
        <p:nvSpPr>
          <p:cNvPr id="22" name="Text 18"/>
          <p:cNvSpPr txBox="1"/>
          <p:nvPr/>
        </p:nvSpPr>
        <p:spPr>
          <a:xfrm>
            <a:off x="8458200" y="3611880"/>
            <a:ext cx="2926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Hornea de menos</a:t>
            </a:r>
            <a:endParaRPr lang="en-US" sz="1800" dirty="0"/>
          </a:p>
        </p:txBody>
      </p:sp>
      <p:sp>
        <p:nvSpPr>
          <p:cNvPr id="23" name="Text 19"/>
          <p:cNvSpPr txBox="1"/>
          <p:nvPr/>
        </p:nvSpPr>
        <p:spPr>
          <a:xfrm>
            <a:off x="8458200" y="4069080"/>
            <a:ext cx="292608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cliente se va sin comprar. Pierde la ganancia (y tal vez el cliente).</a:t>
            </a:r>
            <a:endParaRPr lang="en-US" sz="1400" dirty="0"/>
          </a:p>
        </p:txBody>
      </p:sp>
      <p:sp>
        <p:nvSpPr>
          <p:cNvPr id="24" name="Text 20"/>
          <p:cNvSpPr txBox="1"/>
          <p:nvPr/>
        </p:nvSpPr>
        <p:spPr>
          <a:xfrm>
            <a:off x="8458200" y="5120640"/>
            <a:ext cx="2926080" cy="365760"/>
          </a:xfrm>
          <a:prstGeom prst="rect">
            <a:avLst/>
          </a:prstGeom>
          <a:noFill/>
          <a:ln/>
        </p:spPr>
        <p:txBody>
          <a:bodyPr wrap="square" lIns="0" tIns="0" rIns="0" bIns="0" rtlCol="0" anchor="t"/>
          <a:lstStyle/>
          <a:p>
            <a:pPr marL="0" indent="0">
              <a:buNone/>
            </a:pPr>
            <a:r>
              <a:rPr lang="en-US" sz="1300" b="1" dirty="0">
                <a:solidFill>
                  <a:srgbClr val="E4002B"/>
                </a:solidFill>
                <a:latin typeface="Courier New" pitchFamily="34" charset="0"/>
                <a:ea typeface="Courier New" pitchFamily="34" charset="-122"/>
                <a:cs typeface="Courier New" pitchFamily="34" charset="-120"/>
              </a:rPr>
              <a:t>pan: −₡220 por unidad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15</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02 · PISTAS EXTERNAS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Cuando llueve, el pan sube y las empanadas bajan</a:t>
            </a:r>
            <a:endParaRPr lang="en-US" sz="3200" dirty="0"/>
          </a:p>
        </p:txBody>
      </p:sp>
      <p:graphicFrame>
        <p:nvGraphicFramePr>
          <p:cNvPr id="6" name="Chart 0"/>
          <p:cNvGraphicFramePr/>
          <p:nvPr/>
        </p:nvGraphicFramePr>
        <p:xfrm>
          <a:off x="548640" y="1828800"/>
          <a:ext cx="6217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315200" y="1920240"/>
            <a:ext cx="685800" cy="68580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4"/>
          <a:stretch>
            <a:fillRect/>
          </a:stretch>
        </p:blipFill>
        <p:spPr>
          <a:xfrm>
            <a:off x="7493508" y="2098548"/>
            <a:ext cx="329184" cy="329184"/>
          </a:xfrm>
          <a:prstGeom prst="rect">
            <a:avLst/>
          </a:prstGeom>
        </p:spPr>
      </p:pic>
      <p:sp>
        <p:nvSpPr>
          <p:cNvPr id="9" name="Text 5"/>
          <p:cNvSpPr txBox="1"/>
          <p:nvPr/>
        </p:nvSpPr>
        <p:spPr>
          <a:xfrm>
            <a:off x="8183880" y="1947672"/>
            <a:ext cx="338328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Lluvia</a:t>
            </a:r>
            <a:endParaRPr lang="en-US" sz="1700" dirty="0"/>
          </a:p>
        </p:txBody>
      </p:sp>
      <p:sp>
        <p:nvSpPr>
          <p:cNvPr id="10" name="Text 6"/>
          <p:cNvSpPr txBox="1"/>
          <p:nvPr/>
        </p:nvSpPr>
        <p:spPr>
          <a:xfrm>
            <a:off x="8183880" y="2286000"/>
            <a:ext cx="3383280" cy="36576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pronóstico del tiempo</a:t>
            </a:r>
            <a:endParaRPr lang="en-US" sz="1400" dirty="0"/>
          </a:p>
        </p:txBody>
      </p:sp>
      <p:sp>
        <p:nvSpPr>
          <p:cNvPr id="11" name="Shape 7"/>
          <p:cNvSpPr/>
          <p:nvPr/>
        </p:nvSpPr>
        <p:spPr>
          <a:xfrm>
            <a:off x="7315200" y="288036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12" name="Image 1" descr="preencoded.png"/>
          <p:cNvPicPr>
            <a:picLocks noChangeAspect="1"/>
          </p:cNvPicPr>
          <p:nvPr/>
        </p:nvPicPr>
        <p:blipFill>
          <a:blip r:embed="rId5"/>
          <a:stretch>
            <a:fillRect/>
          </a:stretch>
        </p:blipFill>
        <p:spPr>
          <a:xfrm>
            <a:off x="7493508" y="3058668"/>
            <a:ext cx="329184" cy="329184"/>
          </a:xfrm>
          <a:prstGeom prst="rect">
            <a:avLst/>
          </a:prstGeom>
        </p:spPr>
      </p:pic>
      <p:sp>
        <p:nvSpPr>
          <p:cNvPr id="13" name="Text 8"/>
          <p:cNvSpPr txBox="1"/>
          <p:nvPr/>
        </p:nvSpPr>
        <p:spPr>
          <a:xfrm>
            <a:off x="8183880" y="2907792"/>
            <a:ext cx="338328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Feriados</a:t>
            </a:r>
            <a:endParaRPr lang="en-US" sz="1700" dirty="0"/>
          </a:p>
        </p:txBody>
      </p:sp>
      <p:sp>
        <p:nvSpPr>
          <p:cNvPr id="14" name="Text 9"/>
          <p:cNvSpPr txBox="1"/>
          <p:nvPr/>
        </p:nvSpPr>
        <p:spPr>
          <a:xfrm>
            <a:off x="8183880" y="3246120"/>
            <a:ext cx="3383280" cy="36576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queque se dispara</a:t>
            </a:r>
            <a:endParaRPr lang="en-US" sz="1400" dirty="0"/>
          </a:p>
        </p:txBody>
      </p:sp>
      <p:sp>
        <p:nvSpPr>
          <p:cNvPr id="15" name="Shape 10"/>
          <p:cNvSpPr/>
          <p:nvPr/>
        </p:nvSpPr>
        <p:spPr>
          <a:xfrm>
            <a:off x="7315200" y="384048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16" name="Image 2" descr="preencoded.png"/>
          <p:cNvPicPr>
            <a:picLocks noChangeAspect="1"/>
          </p:cNvPicPr>
          <p:nvPr/>
        </p:nvPicPr>
        <p:blipFill>
          <a:blip r:embed="rId6"/>
          <a:stretch>
            <a:fillRect/>
          </a:stretch>
        </p:blipFill>
        <p:spPr>
          <a:xfrm>
            <a:off x="7493508" y="4018788"/>
            <a:ext cx="329184" cy="329184"/>
          </a:xfrm>
          <a:prstGeom prst="rect">
            <a:avLst/>
          </a:prstGeom>
        </p:spPr>
      </p:pic>
      <p:sp>
        <p:nvSpPr>
          <p:cNvPr id="17" name="Text 11"/>
          <p:cNvSpPr txBox="1"/>
          <p:nvPr/>
        </p:nvSpPr>
        <p:spPr>
          <a:xfrm>
            <a:off x="8183880" y="3867912"/>
            <a:ext cx="338328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Quincena</a:t>
            </a:r>
            <a:endParaRPr lang="en-US" sz="1700" dirty="0"/>
          </a:p>
        </p:txBody>
      </p:sp>
      <p:sp>
        <p:nvSpPr>
          <p:cNvPr id="18" name="Text 12"/>
          <p:cNvSpPr txBox="1"/>
          <p:nvPr/>
        </p:nvSpPr>
        <p:spPr>
          <a:xfrm>
            <a:off x="8183880" y="4206240"/>
            <a:ext cx="3383280" cy="36576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hay más plata en la calle</a:t>
            </a:r>
            <a:endParaRPr lang="en-US" sz="1400" dirty="0"/>
          </a:p>
        </p:txBody>
      </p:sp>
      <p:sp>
        <p:nvSpPr>
          <p:cNvPr id="19" name="Shape 13"/>
          <p:cNvSpPr/>
          <p:nvPr/>
        </p:nvSpPr>
        <p:spPr>
          <a:xfrm>
            <a:off x="7315200" y="480060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20" name="Image 3" descr="preencoded.png"/>
          <p:cNvPicPr>
            <a:picLocks noChangeAspect="1"/>
          </p:cNvPicPr>
          <p:nvPr/>
        </p:nvPicPr>
        <p:blipFill>
          <a:blip r:embed="rId7"/>
          <a:stretch>
            <a:fillRect/>
          </a:stretch>
        </p:blipFill>
        <p:spPr>
          <a:xfrm>
            <a:off x="7493508" y="4978908"/>
            <a:ext cx="329184" cy="329184"/>
          </a:xfrm>
          <a:prstGeom prst="rect">
            <a:avLst/>
          </a:prstGeom>
        </p:spPr>
      </p:pic>
      <p:sp>
        <p:nvSpPr>
          <p:cNvPr id="21" name="Text 14"/>
          <p:cNvSpPr txBox="1"/>
          <p:nvPr/>
        </p:nvSpPr>
        <p:spPr>
          <a:xfrm>
            <a:off x="8183880" y="4828032"/>
            <a:ext cx="338328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Fin de semana</a:t>
            </a:r>
            <a:endParaRPr lang="en-US" sz="1700" dirty="0"/>
          </a:p>
        </p:txBody>
      </p:sp>
      <p:sp>
        <p:nvSpPr>
          <p:cNvPr id="22" name="Text 15"/>
          <p:cNvSpPr txBox="1"/>
          <p:nvPr/>
        </p:nvSpPr>
        <p:spPr>
          <a:xfrm>
            <a:off x="8183880" y="5166360"/>
            <a:ext cx="3383280" cy="36576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más visitas y más queque</a:t>
            </a:r>
            <a:endParaRPr lang="en-US" sz="1400" dirty="0"/>
          </a:p>
        </p:txBody>
      </p:sp>
      <p:sp>
        <p:nvSpPr>
          <p:cNvPr id="23" name="Text 16"/>
          <p:cNvSpPr txBox="1"/>
          <p:nvPr/>
        </p:nvSpPr>
        <p:spPr>
          <a:xfrm>
            <a:off x="548640" y="5897880"/>
            <a:ext cx="10972800" cy="365760"/>
          </a:xfrm>
          <a:prstGeom prst="rect">
            <a:avLst/>
          </a:prstGeom>
          <a:noFill/>
          <a:ln/>
        </p:spPr>
        <p:txBody>
          <a:bodyPr wrap="square" lIns="0" tIns="0" rIns="0" bIns="0" rtlCol="0" anchor="t"/>
          <a:lstStyle/>
          <a:p>
            <a:pPr marL="0" indent="0">
              <a:buNone/>
            </a:pPr>
            <a:r>
              <a:rPr lang="en-US" sz="1400" i="1" dirty="0">
                <a:solidFill>
                  <a:srgbClr val="8C8C8C"/>
                </a:solidFill>
                <a:latin typeface="Calibri" pitchFamily="34" charset="0"/>
                <a:ea typeface="Calibri" pitchFamily="34" charset="-122"/>
                <a:cs typeface="Calibri" pitchFamily="34" charset="-120"/>
              </a:rPr>
              <a:t>¿Por qué? El modelo encuentra el patrón; la persona que conoce el negocio lo explica.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16</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02 · MEDIR EN COLONES, NO SOLO EN ERRORES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modelo reduce la pérdida a la mitad</a:t>
            </a:r>
            <a:endParaRPr lang="en-US" sz="3200" dirty="0"/>
          </a:p>
        </p:txBody>
      </p:sp>
      <p:graphicFrame>
        <p:nvGraphicFramePr>
          <p:cNvPr id="6" name="Chart 0"/>
          <p:cNvGraphicFramePr/>
          <p:nvPr/>
        </p:nvGraphicFramePr>
        <p:xfrm>
          <a:off x="548640" y="1828800"/>
          <a:ext cx="60350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7132320" y="2011680"/>
            <a:ext cx="4389120" cy="822960"/>
          </a:xfrm>
          <a:prstGeom prst="rect">
            <a:avLst/>
          </a:prstGeom>
          <a:noFill/>
          <a:ln/>
        </p:spPr>
        <p:txBody>
          <a:bodyPr wrap="square" lIns="0" tIns="0" rIns="0" bIns="0" rtlCol="0" anchor="ctr"/>
          <a:lstStyle/>
          <a:p>
            <a:pPr marL="0" indent="0">
              <a:buNone/>
            </a:pPr>
            <a:r>
              <a:rPr lang="en-US" sz="4800" b="1" dirty="0">
                <a:solidFill>
                  <a:srgbClr val="E4002B"/>
                </a:solidFill>
                <a:latin typeface="Arial" pitchFamily="34" charset="0"/>
                <a:ea typeface="Arial" pitchFamily="34" charset="-122"/>
                <a:cs typeface="Arial" pitchFamily="34" charset="-120"/>
              </a:rPr>
              <a:t>₡2,4 M</a:t>
            </a:r>
            <a:endParaRPr lang="en-US" sz="4800" dirty="0"/>
          </a:p>
        </p:txBody>
      </p:sp>
      <p:sp>
        <p:nvSpPr>
          <p:cNvPr id="8" name="Text 5"/>
          <p:cNvSpPr txBox="1"/>
          <p:nvPr/>
        </p:nvSpPr>
        <p:spPr>
          <a:xfrm>
            <a:off x="7132320" y="2880360"/>
            <a:ext cx="438912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de ahorro estimado al año para una sola panadería</a:t>
            </a:r>
            <a:endParaRPr lang="en-US" sz="1400" dirty="0"/>
          </a:p>
        </p:txBody>
      </p:sp>
      <p:sp>
        <p:nvSpPr>
          <p:cNvPr id="9" name="Text 6"/>
          <p:cNvSpPr txBox="1"/>
          <p:nvPr/>
        </p:nvSpPr>
        <p:spPr>
          <a:xfrm>
            <a:off x="7132320" y="3840480"/>
            <a:ext cx="438912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18 → 9</a:t>
            </a:r>
            <a:endParaRPr lang="en-US" sz="4000" dirty="0"/>
          </a:p>
        </p:txBody>
      </p:sp>
      <p:sp>
        <p:nvSpPr>
          <p:cNvPr id="10" name="Text 7"/>
          <p:cNvSpPr txBox="1"/>
          <p:nvPr/>
        </p:nvSpPr>
        <p:spPr>
          <a:xfrm>
            <a:off x="7132320" y="4709160"/>
            <a:ext cx="438912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unidades de error promedio por producto por día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17</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02 · EL TRUCO DEL COLCHÓN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modelo predice; el negocio decide el riesgo</a:t>
            </a:r>
            <a:endParaRPr lang="en-US" sz="3200" dirty="0"/>
          </a:p>
        </p:txBody>
      </p:sp>
      <p:sp>
        <p:nvSpPr>
          <p:cNvPr id="6" name="Shape 4"/>
          <p:cNvSpPr/>
          <p:nvPr/>
        </p:nvSpPr>
        <p:spPr>
          <a:xfrm>
            <a:off x="548640" y="2011680"/>
            <a:ext cx="5120640" cy="3840480"/>
          </a:xfrm>
          <a:prstGeom prst="roundRect">
            <a:avLst>
              <a:gd name="adj" fmla="val 2857"/>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822960" y="228600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13155" y="2476195"/>
            <a:ext cx="351130" cy="351130"/>
          </a:xfrm>
          <a:prstGeom prst="rect">
            <a:avLst/>
          </a:prstGeom>
        </p:spPr>
      </p:pic>
      <p:sp>
        <p:nvSpPr>
          <p:cNvPr id="9" name="Text 6"/>
          <p:cNvSpPr txBox="1"/>
          <p:nvPr/>
        </p:nvSpPr>
        <p:spPr>
          <a:xfrm>
            <a:off x="822960" y="3200400"/>
            <a:ext cx="457200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Como faltar cuesta más que sobrar, conviene hornear un poquito más de lo que predice el modelo.</a:t>
            </a:r>
            <a:endParaRPr lang="en-US" sz="1600" dirty="0"/>
          </a:p>
        </p:txBody>
      </p:sp>
      <p:sp>
        <p:nvSpPr>
          <p:cNvPr id="10" name="Text 7"/>
          <p:cNvSpPr txBox="1"/>
          <p:nvPr/>
        </p:nvSpPr>
        <p:spPr>
          <a:xfrm>
            <a:off x="822960" y="4343400"/>
            <a:ext cx="4572000" cy="13716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En el cuaderno probamos colchones de 0 % a 20 % y dejamos que los colones decidan. Con estos costos ganó el 3 %; si sube el costo de producción, el colchón ideal baja.</a:t>
            </a:r>
            <a:endParaRPr lang="en-US" sz="1400" dirty="0"/>
          </a:p>
        </p:txBody>
      </p:sp>
      <p:sp>
        <p:nvSpPr>
          <p:cNvPr id="11" name="Text 8"/>
          <p:cNvSpPr txBox="1"/>
          <p:nvPr/>
        </p:nvSpPr>
        <p:spPr>
          <a:xfrm>
            <a:off x="6126480" y="2011680"/>
            <a:ext cx="54864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PLAN PARA MAÑANA · SÁBADO CON LLUVIA</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0" y="2468880"/>
          <a:ext cx="548640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548640">
                <a:tc>
                  <a:txBody>
                    <a:bodyPr/>
                    <a:lstStyle/>
                    <a:p>
                      <a:pPr marL="0" indent="0">
                        <a:buNone/>
                      </a:pPr>
                      <a:r>
                        <a:rPr lang="en-US" sz="1600" b="1" dirty="0">
                          <a:solidFill>
                            <a:srgbClr val="8C8C8C"/>
                          </a:solidFill>
                          <a:latin typeface="Calibri" pitchFamily="34" charset="0"/>
                          <a:ea typeface="Calibri" pitchFamily="34" charset="-122"/>
                          <a:cs typeface="Calibri" pitchFamily="34" charset="-120"/>
                        </a:rPr>
                        <a:t>Producto</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b="1" dirty="0">
                          <a:solidFill>
                            <a:srgbClr val="8C8C8C"/>
                          </a:solidFill>
                          <a:latin typeface="Calibri" pitchFamily="34" charset="0"/>
                          <a:ea typeface="Calibri" pitchFamily="34" charset="-122"/>
                          <a:cs typeface="Calibri" pitchFamily="34" charset="-120"/>
                        </a:rPr>
                        <a:t>Pronóstico</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b="1" dirty="0">
                          <a:solidFill>
                            <a:srgbClr val="8C8C8C"/>
                          </a:solidFill>
                          <a:latin typeface="Calibri" pitchFamily="34" charset="0"/>
                          <a:ea typeface="Calibri" pitchFamily="34" charset="-122"/>
                          <a:cs typeface="Calibri" pitchFamily="34" charset="-120"/>
                        </a:rPr>
                        <a:t>Hornear</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548640">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Pan casero</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314</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b="1" dirty="0">
                          <a:solidFill>
                            <a:srgbClr val="E4002B"/>
                          </a:solidFill>
                          <a:latin typeface="Calibri" pitchFamily="34" charset="0"/>
                          <a:ea typeface="Calibri" pitchFamily="34" charset="-122"/>
                          <a:cs typeface="Calibri" pitchFamily="34" charset="-120"/>
                        </a:rPr>
                        <a:t>324</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548640">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Empanadas</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81</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b="1" dirty="0">
                          <a:solidFill>
                            <a:srgbClr val="E4002B"/>
                          </a:solidFill>
                          <a:latin typeface="Calibri" pitchFamily="34" charset="0"/>
                          <a:ea typeface="Calibri" pitchFamily="34" charset="-122"/>
                          <a:cs typeface="Calibri" pitchFamily="34" charset="-120"/>
                        </a:rPr>
                        <a:t>84</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2"/>
                  </a:ext>
                </a:extLst>
              </a:tr>
              <a:tr h="548640">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Queque (porciones)</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dirty="0">
                          <a:solidFill>
                            <a:srgbClr val="FFFFFF"/>
                          </a:solidFill>
                          <a:latin typeface="Calibri" pitchFamily="34" charset="0"/>
                          <a:ea typeface="Calibri" pitchFamily="34" charset="-122"/>
                          <a:cs typeface="Calibri" pitchFamily="34" charset="-120"/>
                        </a:rPr>
                        <a:t>57</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600" b="1" dirty="0">
                          <a:solidFill>
                            <a:srgbClr val="E4002B"/>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bl>
          </a:graphicData>
        </a:graphic>
      </p:graphicFrame>
      <p:sp>
        <p:nvSpPr>
          <p:cNvPr id="13" name="Text 9"/>
          <p:cNvSpPr txBox="1"/>
          <p:nvPr/>
        </p:nvSpPr>
        <p:spPr>
          <a:xfrm>
            <a:off x="6126480" y="4937760"/>
            <a:ext cx="5486400" cy="73152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Esto se usa igual en supermercados, farmacias, restaurantes y fábricas.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18</a:t>
            </a:r>
            <a:endParaRPr lang="en-US" sz="900" dirty="0"/>
          </a:p>
        </p:txBody>
      </p:sp>
      <p:sp>
        <p:nvSpPr>
          <p:cNvPr id="4" name="Text 2"/>
          <p:cNvSpPr txBox="1"/>
          <p:nvPr/>
        </p:nvSpPr>
        <p:spPr>
          <a:xfrm>
            <a:off x="548640" y="1005840"/>
            <a:ext cx="3657600" cy="2011680"/>
          </a:xfrm>
          <a:prstGeom prst="rect">
            <a:avLst/>
          </a:prstGeom>
          <a:noFill/>
          <a:ln/>
        </p:spPr>
        <p:txBody>
          <a:bodyPr wrap="square" lIns="0" tIns="0" rIns="0" bIns="0" rtlCol="0" anchor="ctr"/>
          <a:lstStyle/>
          <a:p>
            <a:pPr marL="0" indent="0">
              <a:buNone/>
            </a:pPr>
            <a:r>
              <a:rPr lang="en-US" sz="15000" b="1" dirty="0">
                <a:solidFill>
                  <a:srgbClr val="E4002B"/>
                </a:solidFill>
                <a:latin typeface="Arial" pitchFamily="34" charset="0"/>
                <a:ea typeface="Arial" pitchFamily="34" charset="-122"/>
                <a:cs typeface="Arial" pitchFamily="34" charset="-120"/>
              </a:rPr>
              <a:t>03</a:t>
            </a:r>
            <a:endParaRPr lang="en-US" sz="15000" dirty="0"/>
          </a:p>
        </p:txBody>
      </p:sp>
      <p:sp>
        <p:nvSpPr>
          <p:cNvPr id="5" name="Text 3"/>
          <p:cNvSpPr txBox="1"/>
          <p:nvPr/>
        </p:nvSpPr>
        <p:spPr>
          <a:xfrm>
            <a:off x="548640" y="32461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PRÁCTICO 03</a:t>
            </a:r>
            <a:endParaRPr lang="en-US" sz="1300" dirty="0"/>
          </a:p>
        </p:txBody>
      </p:sp>
      <p:sp>
        <p:nvSpPr>
          <p:cNvPr id="6" name="Text 4"/>
          <p:cNvSpPr txBox="1"/>
          <p:nvPr/>
        </p:nvSpPr>
        <p:spPr>
          <a:xfrm>
            <a:off x="548640" y="3611880"/>
            <a:ext cx="7680960"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Comportamiento de clientes</a:t>
            </a:r>
            <a:endParaRPr lang="en-US" sz="4000" dirty="0"/>
          </a:p>
        </p:txBody>
      </p:sp>
      <p:sp>
        <p:nvSpPr>
          <p:cNvPr id="7" name="Text 5"/>
          <p:cNvSpPr txBox="1"/>
          <p:nvPr/>
        </p:nvSpPr>
        <p:spPr>
          <a:xfrm>
            <a:off x="548640" y="4572000"/>
            <a:ext cx="6858000" cy="914400"/>
          </a:xfrm>
          <a:prstGeom prst="rect">
            <a:avLst/>
          </a:prstGeom>
          <a:noFill/>
          <a:ln/>
        </p:spPr>
        <p:txBody>
          <a:bodyPr wrap="square" lIns="0" tIns="0" rIns="0" bIns="0" rtlCol="0" anchor="t"/>
          <a:lstStyle/>
          <a:p>
            <a:pPr marL="0" indent="0">
              <a:buNone/>
            </a:pPr>
            <a:r>
              <a:rPr lang="en-US" sz="2000" i="1" dirty="0">
                <a:solidFill>
                  <a:srgbClr val="D4D4D4"/>
                </a:solidFill>
                <a:latin typeface="Calibri" pitchFamily="34" charset="0"/>
                <a:ea typeface="Calibri" pitchFamily="34" charset="-122"/>
                <a:cs typeface="Calibri" pitchFamily="34" charset="-120"/>
              </a:rPr>
              <a:t>TicoShop tiene 2 000 clientes. ¿Qué tipos hay y quién está a punto de irse?</a:t>
            </a:r>
            <a:endParaRPr lang="en-US" sz="2000" dirty="0"/>
          </a:p>
        </p:txBody>
      </p:sp>
      <p:sp>
        <p:nvSpPr>
          <p:cNvPr id="8" name="Shape 6"/>
          <p:cNvSpPr/>
          <p:nvPr/>
        </p:nvSpPr>
        <p:spPr>
          <a:xfrm>
            <a:off x="8503920" y="1463040"/>
            <a:ext cx="2743200" cy="274320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9217152" y="2176272"/>
            <a:ext cx="1316736" cy="1316736"/>
          </a:xfrm>
          <a:prstGeom prst="rect">
            <a:avLst/>
          </a:prstGeom>
        </p:spPr>
      </p:pic>
      <p:sp>
        <p:nvSpPr>
          <p:cNvPr id="10" name="Text 7"/>
          <p:cNvSpPr txBox="1"/>
          <p:nvPr/>
        </p:nvSpPr>
        <p:spPr>
          <a:xfrm>
            <a:off x="8138160" y="4663440"/>
            <a:ext cx="3474720" cy="274320"/>
          </a:xfrm>
          <a:prstGeom prst="rect">
            <a:avLst/>
          </a:prstGeom>
          <a:noFill/>
          <a:ln/>
        </p:spPr>
        <p:txBody>
          <a:bodyPr wrap="square" lIns="0" tIns="0" rIns="0" bIns="0" rtlCol="0" anchor="ctr"/>
          <a:lstStyle/>
          <a:p>
            <a:pPr marL="0" indent="0" algn="ctr">
              <a:buNone/>
            </a:pPr>
            <a:r>
              <a:rPr lang="en-US" sz="1000" kern="0" spc="200" dirty="0">
                <a:solidFill>
                  <a:srgbClr val="8C8C8C"/>
                </a:solidFill>
                <a:latin typeface="Courier New" pitchFamily="34" charset="0"/>
                <a:ea typeface="Courier New" pitchFamily="34" charset="-122"/>
                <a:cs typeface="Courier New" pitchFamily="34" charset="-120"/>
              </a:rPr>
              <a:t>CUADERNO COLAB</a:t>
            </a:r>
            <a:endParaRPr lang="en-US" sz="1000" dirty="0"/>
          </a:p>
        </p:txBody>
      </p:sp>
      <p:sp>
        <p:nvSpPr>
          <p:cNvPr id="11" name="Text 8"/>
          <p:cNvSpPr txBox="1"/>
          <p:nvPr/>
        </p:nvSpPr>
        <p:spPr>
          <a:xfrm>
            <a:off x="7863840" y="4937760"/>
            <a:ext cx="402336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U5_Caso3_Comportamiento_Clientes.ipynb</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19</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03 · DOS PREGUNTAS, DOS TIPOS DE ML</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Primero entender a los clientes, después anticiparse</a:t>
            </a:r>
            <a:endParaRPr lang="en-US" sz="3200" dirty="0"/>
          </a:p>
        </p:txBody>
      </p:sp>
      <p:sp>
        <p:nvSpPr>
          <p:cNvPr id="6" name="Shape 4"/>
          <p:cNvSpPr/>
          <p:nvPr/>
        </p:nvSpPr>
        <p:spPr>
          <a:xfrm>
            <a:off x="548640" y="2011680"/>
            <a:ext cx="5394960" cy="3840480"/>
          </a:xfrm>
          <a:prstGeom prst="roundRect">
            <a:avLst>
              <a:gd name="adj" fmla="val 2857"/>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868680" y="2331720"/>
            <a:ext cx="868680" cy="868680"/>
          </a:xfrm>
          <a:prstGeom prst="ellipse">
            <a:avLst/>
          </a:prstGeom>
          <a:solidFill>
            <a:srgbClr val="3A3A3A"/>
          </a:solidFill>
          <a:ln w="12700">
            <a:solidFill>
              <a:srgbClr val="3A3A3A"/>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94537" y="2557577"/>
            <a:ext cx="416966" cy="416966"/>
          </a:xfrm>
          <a:prstGeom prst="rect">
            <a:avLst/>
          </a:prstGeom>
        </p:spPr>
      </p:pic>
      <p:sp>
        <p:nvSpPr>
          <p:cNvPr id="9" name="Text 6"/>
          <p:cNvSpPr txBox="1"/>
          <p:nvPr/>
        </p:nvSpPr>
        <p:spPr>
          <a:xfrm>
            <a:off x="1965960" y="2468880"/>
            <a:ext cx="36576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NO SUPERVISADO</a:t>
            </a:r>
            <a:endParaRPr lang="en-US" sz="1200" dirty="0"/>
          </a:p>
        </p:txBody>
      </p:sp>
      <p:sp>
        <p:nvSpPr>
          <p:cNvPr id="10" name="Text 7"/>
          <p:cNvSpPr txBox="1"/>
          <p:nvPr/>
        </p:nvSpPr>
        <p:spPr>
          <a:xfrm>
            <a:off x="1965960" y="2788920"/>
            <a:ext cx="3749040" cy="54864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¿Qué tipos de clientes tengo?</a:t>
            </a:r>
            <a:endParaRPr lang="en-US" sz="2000" dirty="0"/>
          </a:p>
        </p:txBody>
      </p:sp>
      <p:sp>
        <p:nvSpPr>
          <p:cNvPr id="11" name="Text 8"/>
          <p:cNvSpPr txBox="1"/>
          <p:nvPr/>
        </p:nvSpPr>
        <p:spPr>
          <a:xfrm>
            <a:off x="868680" y="3657600"/>
            <a:ext cx="4754880" cy="1097280"/>
          </a:xfrm>
          <a:prstGeom prst="rect">
            <a:avLst/>
          </a:prstGeom>
          <a:noFill/>
          <a:ln/>
        </p:spPr>
        <p:txBody>
          <a:bodyPr wrap="square" lIns="0" tIns="0" rIns="0" bIns="0" rtlCol="0" anchor="t"/>
          <a:lstStyle/>
          <a:p>
            <a:pPr marL="0" indent="0">
              <a:buNone/>
            </a:pPr>
            <a:r>
              <a:rPr lang="en-US" sz="1600" dirty="0">
                <a:solidFill>
                  <a:srgbClr val="D4D4D4"/>
                </a:solidFill>
                <a:latin typeface="Calibri" pitchFamily="34" charset="0"/>
                <a:ea typeface="Calibri" pitchFamily="34" charset="-122"/>
                <a:cs typeface="Calibri" pitchFamily="34" charset="-120"/>
              </a:rPr>
              <a:t>No hay respuesta correcta: la máquina forma grupos de clientes parecidos.</a:t>
            </a:r>
            <a:endParaRPr lang="en-US" sz="1600" dirty="0"/>
          </a:p>
        </p:txBody>
      </p:sp>
      <p:sp>
        <p:nvSpPr>
          <p:cNvPr id="12" name="Text 9"/>
          <p:cNvSpPr txBox="1"/>
          <p:nvPr/>
        </p:nvSpPr>
        <p:spPr>
          <a:xfrm>
            <a:off x="868680" y="5029200"/>
            <a:ext cx="4754880" cy="457200"/>
          </a:xfrm>
          <a:prstGeom prst="rect">
            <a:avLst/>
          </a:prstGeom>
          <a:noFill/>
          <a:ln/>
        </p:spPr>
        <p:txBody>
          <a:bodyPr wrap="square" lIns="0" tIns="0" rIns="0" bIns="0" rtlCol="0" anchor="t"/>
          <a:lstStyle/>
          <a:p>
            <a:pPr marL="0" indent="0">
              <a:buNone/>
            </a:pPr>
            <a:r>
              <a:rPr lang="en-US" sz="1300" b="1" dirty="0">
                <a:solidFill>
                  <a:srgbClr val="FFFFFF"/>
                </a:solidFill>
                <a:latin typeface="Courier New" pitchFamily="34" charset="0"/>
                <a:ea typeface="Courier New" pitchFamily="34" charset="-122"/>
                <a:cs typeface="Courier New" pitchFamily="34" charset="-120"/>
              </a:rPr>
              <a:t>RFM + K-Means</a:t>
            </a:r>
            <a:endParaRPr lang="en-US" sz="1300" dirty="0"/>
          </a:p>
        </p:txBody>
      </p:sp>
      <p:sp>
        <p:nvSpPr>
          <p:cNvPr id="13" name="Shape 10"/>
          <p:cNvSpPr/>
          <p:nvPr/>
        </p:nvSpPr>
        <p:spPr>
          <a:xfrm>
            <a:off x="6217920" y="2011680"/>
            <a:ext cx="5394960" cy="3840480"/>
          </a:xfrm>
          <a:prstGeom prst="roundRect">
            <a:avLst>
              <a:gd name="adj" fmla="val 2857"/>
            </a:avLst>
          </a:prstGeom>
          <a:solidFill>
            <a:srgbClr val="2A0A10"/>
          </a:solidFill>
          <a:ln w="12700">
            <a:solidFill>
              <a:srgbClr val="2A0A10"/>
            </a:solidFill>
            <a:prstDash val="solid"/>
          </a:ln>
        </p:spPr>
        <p:txBody>
          <a:bodyPr/>
          <a:lstStyle/>
          <a:p>
            <a:endParaRPr lang="es-CO"/>
          </a:p>
        </p:txBody>
      </p:sp>
      <p:sp>
        <p:nvSpPr>
          <p:cNvPr id="14" name="Shape 11"/>
          <p:cNvSpPr/>
          <p:nvPr/>
        </p:nvSpPr>
        <p:spPr>
          <a:xfrm>
            <a:off x="6537960" y="2331720"/>
            <a:ext cx="868680" cy="868680"/>
          </a:xfrm>
          <a:prstGeom prst="ellipse">
            <a:avLst/>
          </a:prstGeom>
          <a:solidFill>
            <a:srgbClr val="E4002B"/>
          </a:solidFill>
          <a:ln w="12700">
            <a:solidFill>
              <a:srgbClr val="E4002B"/>
            </a:solidFill>
            <a:prstDash val="solid"/>
          </a:ln>
        </p:spPr>
        <p:txBody>
          <a:bodyPr/>
          <a:lstStyle/>
          <a:p>
            <a:endParaRPr lang="es-CO"/>
          </a:p>
        </p:txBody>
      </p:sp>
      <p:pic>
        <p:nvPicPr>
          <p:cNvPr id="15" name="Image 1" descr="preencoded.png"/>
          <p:cNvPicPr>
            <a:picLocks noChangeAspect="1"/>
          </p:cNvPicPr>
          <p:nvPr/>
        </p:nvPicPr>
        <p:blipFill>
          <a:blip r:embed="rId4"/>
          <a:stretch>
            <a:fillRect/>
          </a:stretch>
        </p:blipFill>
        <p:spPr>
          <a:xfrm>
            <a:off x="6763817" y="2557577"/>
            <a:ext cx="416966" cy="416966"/>
          </a:xfrm>
          <a:prstGeom prst="rect">
            <a:avLst/>
          </a:prstGeom>
        </p:spPr>
      </p:pic>
      <p:sp>
        <p:nvSpPr>
          <p:cNvPr id="16" name="Text 12"/>
          <p:cNvSpPr txBox="1"/>
          <p:nvPr/>
        </p:nvSpPr>
        <p:spPr>
          <a:xfrm>
            <a:off x="7635240" y="2468880"/>
            <a:ext cx="36576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SUPERVISADO</a:t>
            </a:r>
            <a:endParaRPr lang="en-US" sz="1200" dirty="0"/>
          </a:p>
        </p:txBody>
      </p:sp>
      <p:sp>
        <p:nvSpPr>
          <p:cNvPr id="17" name="Text 13"/>
          <p:cNvSpPr txBox="1"/>
          <p:nvPr/>
        </p:nvSpPr>
        <p:spPr>
          <a:xfrm>
            <a:off x="7635240" y="2788920"/>
            <a:ext cx="3749040" cy="54864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¿Quién se va a ir?</a:t>
            </a:r>
            <a:endParaRPr lang="en-US" sz="2000" dirty="0"/>
          </a:p>
        </p:txBody>
      </p:sp>
      <p:sp>
        <p:nvSpPr>
          <p:cNvPr id="18" name="Text 14"/>
          <p:cNvSpPr txBox="1"/>
          <p:nvPr/>
        </p:nvSpPr>
        <p:spPr>
          <a:xfrm>
            <a:off x="6537960" y="3657600"/>
            <a:ext cx="4754880" cy="1097280"/>
          </a:xfrm>
          <a:prstGeom prst="rect">
            <a:avLst/>
          </a:prstGeom>
          <a:noFill/>
          <a:ln/>
        </p:spPr>
        <p:txBody>
          <a:bodyPr wrap="square" lIns="0" tIns="0" rIns="0" bIns="0" rtlCol="0" anchor="t"/>
          <a:lstStyle/>
          <a:p>
            <a:pPr marL="0" indent="0">
              <a:buNone/>
            </a:pPr>
            <a:r>
              <a:rPr lang="en-US" sz="1600" dirty="0">
                <a:solidFill>
                  <a:srgbClr val="D4D4D4"/>
                </a:solidFill>
                <a:latin typeface="Calibri" pitchFamily="34" charset="0"/>
                <a:ea typeface="Calibri" pitchFamily="34" charset="-122"/>
                <a:cs typeface="Calibri" pitchFamily="34" charset="-120"/>
              </a:rPr>
              <a:t>Sabemos quién se fue en el pasado: el modelo aprende de esos ejemplos.</a:t>
            </a:r>
            <a:endParaRPr lang="en-US" sz="1600" dirty="0"/>
          </a:p>
        </p:txBody>
      </p:sp>
      <p:sp>
        <p:nvSpPr>
          <p:cNvPr id="19" name="Text 15"/>
          <p:cNvSpPr txBox="1"/>
          <p:nvPr/>
        </p:nvSpPr>
        <p:spPr>
          <a:xfrm>
            <a:off x="6537960" y="5029200"/>
            <a:ext cx="4754880" cy="457200"/>
          </a:xfrm>
          <a:prstGeom prst="rect">
            <a:avLst/>
          </a:prstGeom>
          <a:noFill/>
          <a:ln/>
        </p:spPr>
        <p:txBody>
          <a:bodyPr wrap="square" lIns="0" tIns="0" rIns="0" bIns="0" rtlCol="0" anchor="t"/>
          <a:lstStyle/>
          <a:p>
            <a:pPr marL="0" indent="0">
              <a:buNone/>
            </a:pPr>
            <a:r>
              <a:rPr lang="en-US" sz="1300" b="1" dirty="0">
                <a:solidFill>
                  <a:srgbClr val="FFFFFF"/>
                </a:solidFill>
                <a:latin typeface="Courier New" pitchFamily="34" charset="0"/>
                <a:ea typeface="Courier New" pitchFamily="34" charset="-122"/>
                <a:cs typeface="Courier New" pitchFamily="34" charset="-120"/>
              </a:rPr>
              <a:t>Árbol de decisión · Regresión logística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20</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03 · PARTE A: ANÁLISIS RFM</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Tres números que resumen a cualquier cliente</a:t>
            </a:r>
            <a:endParaRPr lang="en-US" sz="3200" dirty="0"/>
          </a:p>
        </p:txBody>
      </p:sp>
      <p:sp>
        <p:nvSpPr>
          <p:cNvPr id="6" name="Shape 4"/>
          <p:cNvSpPr/>
          <p:nvPr/>
        </p:nvSpPr>
        <p:spPr>
          <a:xfrm>
            <a:off x="548640" y="2011680"/>
            <a:ext cx="3474720" cy="3017520"/>
          </a:xfrm>
          <a:prstGeom prst="roundRect">
            <a:avLst>
              <a:gd name="adj" fmla="val 3636"/>
            </a:avLst>
          </a:prstGeom>
          <a:solidFill>
            <a:srgbClr val="1A1A1A"/>
          </a:solidFill>
          <a:ln w="12700">
            <a:solidFill>
              <a:srgbClr val="1A1A1A"/>
            </a:solidFill>
            <a:prstDash val="solid"/>
          </a:ln>
        </p:spPr>
        <p:txBody>
          <a:bodyPr/>
          <a:lstStyle/>
          <a:p>
            <a:endParaRPr lang="es-CO"/>
          </a:p>
        </p:txBody>
      </p:sp>
      <p:sp>
        <p:nvSpPr>
          <p:cNvPr id="7" name="Text 5"/>
          <p:cNvSpPr txBox="1"/>
          <p:nvPr/>
        </p:nvSpPr>
        <p:spPr>
          <a:xfrm>
            <a:off x="822960" y="2148840"/>
            <a:ext cx="1097280" cy="1097280"/>
          </a:xfrm>
          <a:prstGeom prst="rect">
            <a:avLst/>
          </a:prstGeom>
          <a:noFill/>
          <a:ln/>
        </p:spPr>
        <p:txBody>
          <a:bodyPr wrap="square" lIns="0" tIns="0" rIns="0" bIns="0" rtlCol="0" anchor="ctr"/>
          <a:lstStyle/>
          <a:p>
            <a:pPr marL="0" indent="0">
              <a:buNone/>
            </a:pPr>
            <a:r>
              <a:rPr lang="en-US" sz="6400" b="1" dirty="0">
                <a:solidFill>
                  <a:srgbClr val="E4002B"/>
                </a:solidFill>
                <a:latin typeface="Arial" pitchFamily="34" charset="0"/>
                <a:ea typeface="Arial" pitchFamily="34" charset="-122"/>
                <a:cs typeface="Arial" pitchFamily="34" charset="-120"/>
              </a:rPr>
              <a:t>R</a:t>
            </a:r>
            <a:endParaRPr lang="en-US" sz="6400" dirty="0"/>
          </a:p>
        </p:txBody>
      </p:sp>
      <p:sp>
        <p:nvSpPr>
          <p:cNvPr id="8" name="Shape 6"/>
          <p:cNvSpPr/>
          <p:nvPr/>
        </p:nvSpPr>
        <p:spPr>
          <a:xfrm>
            <a:off x="3063240" y="228600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3241548" y="2464308"/>
            <a:ext cx="329184" cy="329184"/>
          </a:xfrm>
          <a:prstGeom prst="rect">
            <a:avLst/>
          </a:prstGeom>
        </p:spPr>
      </p:pic>
      <p:sp>
        <p:nvSpPr>
          <p:cNvPr id="10" name="Text 7"/>
          <p:cNvSpPr txBox="1"/>
          <p:nvPr/>
        </p:nvSpPr>
        <p:spPr>
          <a:xfrm>
            <a:off x="822960" y="3291840"/>
            <a:ext cx="3017520" cy="36576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Recencia</a:t>
            </a:r>
            <a:endParaRPr lang="en-US" sz="1900" dirty="0"/>
          </a:p>
        </p:txBody>
      </p:sp>
      <p:sp>
        <p:nvSpPr>
          <p:cNvPr id="11" name="Text 8"/>
          <p:cNvSpPr txBox="1"/>
          <p:nvPr/>
        </p:nvSpPr>
        <p:spPr>
          <a:xfrm>
            <a:off x="822960" y="3703320"/>
            <a:ext cx="3017520" cy="640080"/>
          </a:xfrm>
          <a:prstGeom prst="rect">
            <a:avLst/>
          </a:prstGeom>
          <a:noFill/>
          <a:ln/>
        </p:spPr>
        <p:txBody>
          <a:bodyPr wrap="square" lIns="0" tIns="0" rIns="0" bIns="0" rtlCol="0" anchor="t"/>
          <a:lstStyle/>
          <a:p>
            <a:pPr marL="0" indent="0">
              <a:buNone/>
            </a:pPr>
            <a:r>
              <a:rPr lang="en-US" sz="1500" dirty="0">
                <a:solidFill>
                  <a:srgbClr val="D4D4D4"/>
                </a:solidFill>
                <a:latin typeface="Calibri" pitchFamily="34" charset="0"/>
                <a:ea typeface="Calibri" pitchFamily="34" charset="-122"/>
                <a:cs typeface="Calibri" pitchFamily="34" charset="-120"/>
              </a:rPr>
              <a:t>¿Hace cuánto compró por última vez?</a:t>
            </a:r>
            <a:endParaRPr lang="en-US" sz="1500" dirty="0"/>
          </a:p>
        </p:txBody>
      </p:sp>
      <p:sp>
        <p:nvSpPr>
          <p:cNvPr id="12" name="Text 9"/>
          <p:cNvSpPr txBox="1"/>
          <p:nvPr/>
        </p:nvSpPr>
        <p:spPr>
          <a:xfrm>
            <a:off x="822960" y="4434840"/>
            <a:ext cx="3017520" cy="36576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Menos días = mejor</a:t>
            </a:r>
            <a:endParaRPr lang="en-US" sz="1200" dirty="0"/>
          </a:p>
        </p:txBody>
      </p:sp>
      <p:sp>
        <p:nvSpPr>
          <p:cNvPr id="13" name="Shape 10"/>
          <p:cNvSpPr/>
          <p:nvPr/>
        </p:nvSpPr>
        <p:spPr>
          <a:xfrm>
            <a:off x="4297680" y="2011680"/>
            <a:ext cx="3474720" cy="3017520"/>
          </a:xfrm>
          <a:prstGeom prst="roundRect">
            <a:avLst>
              <a:gd name="adj" fmla="val 3636"/>
            </a:avLst>
          </a:prstGeom>
          <a:solidFill>
            <a:srgbClr val="1A1A1A"/>
          </a:solidFill>
          <a:ln w="12700">
            <a:solidFill>
              <a:srgbClr val="1A1A1A"/>
            </a:solidFill>
            <a:prstDash val="solid"/>
          </a:ln>
        </p:spPr>
        <p:txBody>
          <a:bodyPr/>
          <a:lstStyle/>
          <a:p>
            <a:endParaRPr lang="es-CO"/>
          </a:p>
        </p:txBody>
      </p:sp>
      <p:sp>
        <p:nvSpPr>
          <p:cNvPr id="14" name="Text 11"/>
          <p:cNvSpPr txBox="1"/>
          <p:nvPr/>
        </p:nvSpPr>
        <p:spPr>
          <a:xfrm>
            <a:off x="4572000" y="2148840"/>
            <a:ext cx="1097280" cy="1097280"/>
          </a:xfrm>
          <a:prstGeom prst="rect">
            <a:avLst/>
          </a:prstGeom>
          <a:noFill/>
          <a:ln/>
        </p:spPr>
        <p:txBody>
          <a:bodyPr wrap="square" lIns="0" tIns="0" rIns="0" bIns="0" rtlCol="0" anchor="ctr"/>
          <a:lstStyle/>
          <a:p>
            <a:pPr marL="0" indent="0">
              <a:buNone/>
            </a:pPr>
            <a:r>
              <a:rPr lang="en-US" sz="6400" b="1" dirty="0">
                <a:solidFill>
                  <a:srgbClr val="E4002B"/>
                </a:solidFill>
                <a:latin typeface="Arial" pitchFamily="34" charset="0"/>
                <a:ea typeface="Arial" pitchFamily="34" charset="-122"/>
                <a:cs typeface="Arial" pitchFamily="34" charset="-120"/>
              </a:rPr>
              <a:t>F</a:t>
            </a:r>
            <a:endParaRPr lang="en-US" sz="6400" dirty="0"/>
          </a:p>
        </p:txBody>
      </p:sp>
      <p:sp>
        <p:nvSpPr>
          <p:cNvPr id="15" name="Shape 12"/>
          <p:cNvSpPr/>
          <p:nvPr/>
        </p:nvSpPr>
        <p:spPr>
          <a:xfrm>
            <a:off x="6812280" y="228600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16" name="Image 1" descr="preencoded.png"/>
          <p:cNvPicPr>
            <a:picLocks noChangeAspect="1"/>
          </p:cNvPicPr>
          <p:nvPr/>
        </p:nvPicPr>
        <p:blipFill>
          <a:blip r:embed="rId4"/>
          <a:stretch>
            <a:fillRect/>
          </a:stretch>
        </p:blipFill>
        <p:spPr>
          <a:xfrm>
            <a:off x="6990588" y="2464308"/>
            <a:ext cx="329184" cy="329184"/>
          </a:xfrm>
          <a:prstGeom prst="rect">
            <a:avLst/>
          </a:prstGeom>
        </p:spPr>
      </p:pic>
      <p:sp>
        <p:nvSpPr>
          <p:cNvPr id="17" name="Text 13"/>
          <p:cNvSpPr txBox="1"/>
          <p:nvPr/>
        </p:nvSpPr>
        <p:spPr>
          <a:xfrm>
            <a:off x="4572000" y="3291840"/>
            <a:ext cx="3017520" cy="36576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Frecuencia</a:t>
            </a:r>
            <a:endParaRPr lang="en-US" sz="1900" dirty="0"/>
          </a:p>
        </p:txBody>
      </p:sp>
      <p:sp>
        <p:nvSpPr>
          <p:cNvPr id="18" name="Text 14"/>
          <p:cNvSpPr txBox="1"/>
          <p:nvPr/>
        </p:nvSpPr>
        <p:spPr>
          <a:xfrm>
            <a:off x="4572000" y="3703320"/>
            <a:ext cx="3017520" cy="640080"/>
          </a:xfrm>
          <a:prstGeom prst="rect">
            <a:avLst/>
          </a:prstGeom>
          <a:noFill/>
          <a:ln/>
        </p:spPr>
        <p:txBody>
          <a:bodyPr wrap="square" lIns="0" tIns="0" rIns="0" bIns="0" rtlCol="0" anchor="t"/>
          <a:lstStyle/>
          <a:p>
            <a:pPr marL="0" indent="0">
              <a:buNone/>
            </a:pPr>
            <a:r>
              <a:rPr lang="en-US" sz="1500" dirty="0">
                <a:solidFill>
                  <a:srgbClr val="D4D4D4"/>
                </a:solidFill>
                <a:latin typeface="Calibri" pitchFamily="34" charset="0"/>
                <a:ea typeface="Calibri" pitchFamily="34" charset="-122"/>
                <a:cs typeface="Calibri" pitchFamily="34" charset="-120"/>
              </a:rPr>
              <a:t>¿Cuántas veces compró en el año?</a:t>
            </a:r>
            <a:endParaRPr lang="en-US" sz="1500" dirty="0"/>
          </a:p>
        </p:txBody>
      </p:sp>
      <p:sp>
        <p:nvSpPr>
          <p:cNvPr id="19" name="Text 15"/>
          <p:cNvSpPr txBox="1"/>
          <p:nvPr/>
        </p:nvSpPr>
        <p:spPr>
          <a:xfrm>
            <a:off x="4572000" y="4434840"/>
            <a:ext cx="3017520" cy="36576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Más compras = mejor</a:t>
            </a:r>
            <a:endParaRPr lang="en-US" sz="1200" dirty="0"/>
          </a:p>
        </p:txBody>
      </p:sp>
      <p:sp>
        <p:nvSpPr>
          <p:cNvPr id="20" name="Shape 16"/>
          <p:cNvSpPr/>
          <p:nvPr/>
        </p:nvSpPr>
        <p:spPr>
          <a:xfrm>
            <a:off x="8046720" y="2011680"/>
            <a:ext cx="3474720" cy="3017520"/>
          </a:xfrm>
          <a:prstGeom prst="roundRect">
            <a:avLst>
              <a:gd name="adj" fmla="val 3636"/>
            </a:avLst>
          </a:prstGeom>
          <a:solidFill>
            <a:srgbClr val="1A1A1A"/>
          </a:solidFill>
          <a:ln w="12700">
            <a:solidFill>
              <a:srgbClr val="1A1A1A"/>
            </a:solidFill>
            <a:prstDash val="solid"/>
          </a:ln>
        </p:spPr>
        <p:txBody>
          <a:bodyPr/>
          <a:lstStyle/>
          <a:p>
            <a:endParaRPr lang="es-CO"/>
          </a:p>
        </p:txBody>
      </p:sp>
      <p:sp>
        <p:nvSpPr>
          <p:cNvPr id="21" name="Text 17"/>
          <p:cNvSpPr txBox="1"/>
          <p:nvPr/>
        </p:nvSpPr>
        <p:spPr>
          <a:xfrm>
            <a:off x="8321040" y="2148840"/>
            <a:ext cx="1097280" cy="1097280"/>
          </a:xfrm>
          <a:prstGeom prst="rect">
            <a:avLst/>
          </a:prstGeom>
          <a:noFill/>
          <a:ln/>
        </p:spPr>
        <p:txBody>
          <a:bodyPr wrap="square" lIns="0" tIns="0" rIns="0" bIns="0" rtlCol="0" anchor="ctr"/>
          <a:lstStyle/>
          <a:p>
            <a:pPr marL="0" indent="0">
              <a:buNone/>
            </a:pPr>
            <a:r>
              <a:rPr lang="en-US" sz="6400" b="1" dirty="0">
                <a:solidFill>
                  <a:srgbClr val="E4002B"/>
                </a:solidFill>
                <a:latin typeface="Arial" pitchFamily="34" charset="0"/>
                <a:ea typeface="Arial" pitchFamily="34" charset="-122"/>
                <a:cs typeface="Arial" pitchFamily="34" charset="-120"/>
              </a:rPr>
              <a:t>M</a:t>
            </a:r>
            <a:endParaRPr lang="en-US" sz="6400" dirty="0"/>
          </a:p>
        </p:txBody>
      </p:sp>
      <p:sp>
        <p:nvSpPr>
          <p:cNvPr id="22" name="Shape 18"/>
          <p:cNvSpPr/>
          <p:nvPr/>
        </p:nvSpPr>
        <p:spPr>
          <a:xfrm>
            <a:off x="10561320" y="2286000"/>
            <a:ext cx="685800" cy="685800"/>
          </a:xfrm>
          <a:prstGeom prst="ellipse">
            <a:avLst/>
          </a:prstGeom>
          <a:solidFill>
            <a:srgbClr val="3A3A3A"/>
          </a:solidFill>
          <a:ln w="12700">
            <a:solidFill>
              <a:srgbClr val="3A3A3A"/>
            </a:solidFill>
            <a:prstDash val="solid"/>
          </a:ln>
        </p:spPr>
        <p:txBody>
          <a:bodyPr/>
          <a:lstStyle/>
          <a:p>
            <a:endParaRPr lang="es-CO"/>
          </a:p>
        </p:txBody>
      </p:sp>
      <p:pic>
        <p:nvPicPr>
          <p:cNvPr id="23" name="Image 2" descr="preencoded.png"/>
          <p:cNvPicPr>
            <a:picLocks noChangeAspect="1"/>
          </p:cNvPicPr>
          <p:nvPr/>
        </p:nvPicPr>
        <p:blipFill>
          <a:blip r:embed="rId5"/>
          <a:stretch>
            <a:fillRect/>
          </a:stretch>
        </p:blipFill>
        <p:spPr>
          <a:xfrm>
            <a:off x="10739628" y="2464308"/>
            <a:ext cx="329184" cy="329184"/>
          </a:xfrm>
          <a:prstGeom prst="rect">
            <a:avLst/>
          </a:prstGeom>
        </p:spPr>
      </p:pic>
      <p:sp>
        <p:nvSpPr>
          <p:cNvPr id="24" name="Text 19"/>
          <p:cNvSpPr txBox="1"/>
          <p:nvPr/>
        </p:nvSpPr>
        <p:spPr>
          <a:xfrm>
            <a:off x="8321040" y="3291840"/>
            <a:ext cx="3017520" cy="36576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Monto</a:t>
            </a:r>
            <a:endParaRPr lang="en-US" sz="1900" dirty="0"/>
          </a:p>
        </p:txBody>
      </p:sp>
      <p:sp>
        <p:nvSpPr>
          <p:cNvPr id="25" name="Text 20"/>
          <p:cNvSpPr txBox="1"/>
          <p:nvPr/>
        </p:nvSpPr>
        <p:spPr>
          <a:xfrm>
            <a:off x="8321040" y="3703320"/>
            <a:ext cx="3017520" cy="640080"/>
          </a:xfrm>
          <a:prstGeom prst="rect">
            <a:avLst/>
          </a:prstGeom>
          <a:noFill/>
          <a:ln/>
        </p:spPr>
        <p:txBody>
          <a:bodyPr wrap="square" lIns="0" tIns="0" rIns="0" bIns="0" rtlCol="0" anchor="t"/>
          <a:lstStyle/>
          <a:p>
            <a:pPr marL="0" indent="0">
              <a:buNone/>
            </a:pPr>
            <a:r>
              <a:rPr lang="en-US" sz="1500" dirty="0">
                <a:solidFill>
                  <a:srgbClr val="D4D4D4"/>
                </a:solidFill>
                <a:latin typeface="Calibri" pitchFamily="34" charset="0"/>
                <a:ea typeface="Calibri" pitchFamily="34" charset="-122"/>
                <a:cs typeface="Calibri" pitchFamily="34" charset="-120"/>
              </a:rPr>
              <a:t>¿Cuánto gastó en total?</a:t>
            </a:r>
            <a:endParaRPr lang="en-US" sz="1500" dirty="0"/>
          </a:p>
        </p:txBody>
      </p:sp>
      <p:sp>
        <p:nvSpPr>
          <p:cNvPr id="26" name="Text 21"/>
          <p:cNvSpPr txBox="1"/>
          <p:nvPr/>
        </p:nvSpPr>
        <p:spPr>
          <a:xfrm>
            <a:off x="8321040" y="4434840"/>
            <a:ext cx="3017520" cy="36576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Más colones = mejor</a:t>
            </a:r>
            <a:endParaRPr lang="en-US" sz="1200" dirty="0"/>
          </a:p>
        </p:txBody>
      </p:sp>
      <p:sp>
        <p:nvSpPr>
          <p:cNvPr id="27" name="Text 22"/>
          <p:cNvSpPr txBox="1"/>
          <p:nvPr/>
        </p:nvSpPr>
        <p:spPr>
          <a:xfrm>
            <a:off x="548640" y="5303520"/>
            <a:ext cx="10972800" cy="3657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A cada cliente se le da una nota del 1 al 5 en cada letra. Un 555 es oro puro; un 111 probablemente ya se fue.</a:t>
            </a:r>
            <a:endParaRPr lang="en-US" sz="1600" dirty="0"/>
          </a:p>
        </p:txBody>
      </p:sp>
      <p:sp>
        <p:nvSpPr>
          <p:cNvPr id="28" name="Text 23"/>
          <p:cNvSpPr txBox="1"/>
          <p:nvPr/>
        </p:nvSpPr>
        <p:spPr>
          <a:xfrm>
            <a:off x="548640" y="5715000"/>
            <a:ext cx="10972800" cy="365760"/>
          </a:xfrm>
          <a:prstGeom prst="rect">
            <a:avLst/>
          </a:prstGeom>
          <a:noFill/>
          <a:ln/>
        </p:spPr>
        <p:txBody>
          <a:bodyPr wrap="square" lIns="0" tIns="0" rIns="0" bIns="0" rtlCol="0" anchor="t"/>
          <a:lstStyle/>
          <a:p>
            <a:pPr marL="0" indent="0">
              <a:buNone/>
            </a:pPr>
            <a:r>
              <a:rPr lang="en-US" sz="1500" i="1" dirty="0">
                <a:solidFill>
                  <a:srgbClr val="8C8C8C"/>
                </a:solidFill>
                <a:latin typeface="Calibri" pitchFamily="34" charset="0"/>
                <a:ea typeface="Calibri" pitchFamily="34" charset="-122"/>
                <a:cs typeface="Calibri" pitchFamily="34" charset="-120"/>
              </a:rPr>
              <a:t>Problema: hay 125 combinaciones posibles. Demasiadas para diseñar campañas… aquí entra K-Means.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21</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03 · K-MEANS FORMÓ 4 GRUPOS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La máquina agrupa; la persona pone el nombre</a:t>
            </a:r>
            <a:endParaRPr lang="en-US" sz="3200" dirty="0"/>
          </a:p>
        </p:txBody>
      </p:sp>
      <p:sp>
        <p:nvSpPr>
          <p:cNvPr id="6" name="Shape 4"/>
          <p:cNvSpPr/>
          <p:nvPr/>
        </p:nvSpPr>
        <p:spPr>
          <a:xfrm>
            <a:off x="548640" y="1965960"/>
            <a:ext cx="2606040" cy="406908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777240" y="224028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967435" y="2430475"/>
            <a:ext cx="351130" cy="351130"/>
          </a:xfrm>
          <a:prstGeom prst="rect">
            <a:avLst/>
          </a:prstGeom>
        </p:spPr>
      </p:pic>
      <p:sp>
        <p:nvSpPr>
          <p:cNvPr id="9" name="Text 6"/>
          <p:cNvSpPr txBox="1"/>
          <p:nvPr/>
        </p:nvSpPr>
        <p:spPr>
          <a:xfrm>
            <a:off x="777240" y="3108960"/>
            <a:ext cx="224028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Campeones</a:t>
            </a:r>
            <a:endParaRPr lang="en-US" sz="1900" dirty="0"/>
          </a:p>
        </p:txBody>
      </p:sp>
      <p:sp>
        <p:nvSpPr>
          <p:cNvPr id="10" name="Text 7"/>
          <p:cNvSpPr txBox="1"/>
          <p:nvPr/>
        </p:nvSpPr>
        <p:spPr>
          <a:xfrm>
            <a:off x="777240" y="3520440"/>
            <a:ext cx="2240280" cy="32004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309 clientes</a:t>
            </a:r>
            <a:endParaRPr lang="en-US" sz="1200" dirty="0"/>
          </a:p>
        </p:txBody>
      </p:sp>
      <p:sp>
        <p:nvSpPr>
          <p:cNvPr id="11" name="Text 8"/>
          <p:cNvSpPr txBox="1"/>
          <p:nvPr/>
        </p:nvSpPr>
        <p:spPr>
          <a:xfrm>
            <a:off x="777240" y="3886200"/>
            <a:ext cx="2240280" cy="5486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1 %</a:t>
            </a:r>
            <a:r>
              <a:rPr lang="en-US" sz="1300" dirty="0">
                <a:solidFill>
                  <a:srgbClr val="8C8C8C"/>
                </a:solidFill>
                <a:latin typeface="Calibri" pitchFamily="34" charset="0"/>
                <a:ea typeface="Calibri" pitchFamily="34" charset="-122"/>
                <a:cs typeface="Calibri" pitchFamily="34" charset="-120"/>
              </a:rPr>
              <a:t>  se van</a:t>
            </a:r>
            <a:endParaRPr lang="en-US" sz="3000" dirty="0"/>
          </a:p>
        </p:txBody>
      </p:sp>
      <p:sp>
        <p:nvSpPr>
          <p:cNvPr id="12" name="Text 9"/>
          <p:cNvSpPr txBox="1"/>
          <p:nvPr/>
        </p:nvSpPr>
        <p:spPr>
          <a:xfrm>
            <a:off x="777240" y="4526280"/>
            <a:ext cx="2194560" cy="548640"/>
          </a:xfrm>
          <a:prstGeom prst="rect">
            <a:avLst/>
          </a:prstGeom>
          <a:noFill/>
          <a:ln/>
        </p:spPr>
        <p:txBody>
          <a:bodyPr wrap="square" lIns="0" tIns="0" rIns="0" bIns="0" rtlCol="0" anchor="t"/>
          <a:lstStyle/>
          <a:p>
            <a:pPr marL="0" indent="0">
              <a:buNone/>
            </a:pPr>
            <a:r>
              <a:rPr lang="en-US" sz="1300" dirty="0">
                <a:solidFill>
                  <a:srgbClr val="D4D4D4"/>
                </a:solidFill>
                <a:latin typeface="Calibri" pitchFamily="34" charset="0"/>
                <a:ea typeface="Calibri" pitchFamily="34" charset="-122"/>
                <a:cs typeface="Calibri" pitchFamily="34" charset="-120"/>
              </a:rPr>
              <a:t>Compran seguido y gastan mucho</a:t>
            </a:r>
            <a:endParaRPr lang="en-US" sz="1300" dirty="0"/>
          </a:p>
        </p:txBody>
      </p:sp>
      <p:sp>
        <p:nvSpPr>
          <p:cNvPr id="13" name="Text 10"/>
          <p:cNvSpPr txBox="1"/>
          <p:nvPr/>
        </p:nvSpPr>
        <p:spPr>
          <a:xfrm>
            <a:off x="777240" y="5120640"/>
            <a:ext cx="2194560" cy="7772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Programa VIP. No regalar descuentos innecesarios</a:t>
            </a:r>
            <a:endParaRPr lang="en-US" sz="1300" dirty="0"/>
          </a:p>
        </p:txBody>
      </p:sp>
      <p:sp>
        <p:nvSpPr>
          <p:cNvPr id="14" name="Shape 11"/>
          <p:cNvSpPr/>
          <p:nvPr/>
        </p:nvSpPr>
        <p:spPr>
          <a:xfrm>
            <a:off x="3364992" y="1965960"/>
            <a:ext cx="2606040" cy="406908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15" name="Shape 12"/>
          <p:cNvSpPr/>
          <p:nvPr/>
        </p:nvSpPr>
        <p:spPr>
          <a:xfrm>
            <a:off x="3593592" y="224028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16" name="Image 1" descr="preencoded.png"/>
          <p:cNvPicPr>
            <a:picLocks noChangeAspect="1"/>
          </p:cNvPicPr>
          <p:nvPr/>
        </p:nvPicPr>
        <p:blipFill>
          <a:blip r:embed="rId4"/>
          <a:stretch>
            <a:fillRect/>
          </a:stretch>
        </p:blipFill>
        <p:spPr>
          <a:xfrm>
            <a:off x="3783787" y="2430475"/>
            <a:ext cx="351130" cy="351130"/>
          </a:xfrm>
          <a:prstGeom prst="rect">
            <a:avLst/>
          </a:prstGeom>
        </p:spPr>
      </p:pic>
      <p:sp>
        <p:nvSpPr>
          <p:cNvPr id="17" name="Text 13"/>
          <p:cNvSpPr txBox="1"/>
          <p:nvPr/>
        </p:nvSpPr>
        <p:spPr>
          <a:xfrm>
            <a:off x="3593592" y="3108960"/>
            <a:ext cx="224028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Regulares</a:t>
            </a:r>
            <a:endParaRPr lang="en-US" sz="1900" dirty="0"/>
          </a:p>
        </p:txBody>
      </p:sp>
      <p:sp>
        <p:nvSpPr>
          <p:cNvPr id="18" name="Text 14"/>
          <p:cNvSpPr txBox="1"/>
          <p:nvPr/>
        </p:nvSpPr>
        <p:spPr>
          <a:xfrm>
            <a:off x="3593592" y="3520440"/>
            <a:ext cx="2240280" cy="32004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982 clientes</a:t>
            </a:r>
            <a:endParaRPr lang="en-US" sz="1200" dirty="0"/>
          </a:p>
        </p:txBody>
      </p:sp>
      <p:sp>
        <p:nvSpPr>
          <p:cNvPr id="19" name="Text 15"/>
          <p:cNvSpPr txBox="1"/>
          <p:nvPr/>
        </p:nvSpPr>
        <p:spPr>
          <a:xfrm>
            <a:off x="3593592" y="3886200"/>
            <a:ext cx="2240280" cy="5486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8 %</a:t>
            </a:r>
            <a:r>
              <a:rPr lang="en-US" sz="1300" dirty="0">
                <a:solidFill>
                  <a:srgbClr val="8C8C8C"/>
                </a:solidFill>
                <a:latin typeface="Calibri" pitchFamily="34" charset="0"/>
                <a:ea typeface="Calibri" pitchFamily="34" charset="-122"/>
                <a:cs typeface="Calibri" pitchFamily="34" charset="-120"/>
              </a:rPr>
              <a:t>  se van</a:t>
            </a:r>
            <a:endParaRPr lang="en-US" sz="3000" dirty="0"/>
          </a:p>
        </p:txBody>
      </p:sp>
      <p:sp>
        <p:nvSpPr>
          <p:cNvPr id="20" name="Text 16"/>
          <p:cNvSpPr txBox="1"/>
          <p:nvPr/>
        </p:nvSpPr>
        <p:spPr>
          <a:xfrm>
            <a:off x="3593592" y="4526280"/>
            <a:ext cx="2194560" cy="548640"/>
          </a:xfrm>
          <a:prstGeom prst="rect">
            <a:avLst/>
          </a:prstGeom>
          <a:noFill/>
          <a:ln/>
        </p:spPr>
        <p:txBody>
          <a:bodyPr wrap="square" lIns="0" tIns="0" rIns="0" bIns="0" rtlCol="0" anchor="t"/>
          <a:lstStyle/>
          <a:p>
            <a:pPr marL="0" indent="0">
              <a:buNone/>
            </a:pPr>
            <a:r>
              <a:rPr lang="en-US" sz="1300" dirty="0">
                <a:solidFill>
                  <a:srgbClr val="D4D4D4"/>
                </a:solidFill>
                <a:latin typeface="Calibri" pitchFamily="34" charset="0"/>
                <a:ea typeface="Calibri" pitchFamily="34" charset="-122"/>
                <a:cs typeface="Calibri" pitchFamily="34" charset="-120"/>
              </a:rPr>
              <a:t>Compran cada mes, gasto medio</a:t>
            </a:r>
            <a:endParaRPr lang="en-US" sz="1300" dirty="0"/>
          </a:p>
        </p:txBody>
      </p:sp>
      <p:sp>
        <p:nvSpPr>
          <p:cNvPr id="21" name="Text 17"/>
          <p:cNvSpPr txBox="1"/>
          <p:nvPr/>
        </p:nvSpPr>
        <p:spPr>
          <a:xfrm>
            <a:off x="3593592" y="5120640"/>
            <a:ext cx="2194560" cy="7772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Recomendaciones para subir la frecuencia</a:t>
            </a:r>
            <a:endParaRPr lang="en-US" sz="1300" dirty="0"/>
          </a:p>
        </p:txBody>
      </p:sp>
      <p:sp>
        <p:nvSpPr>
          <p:cNvPr id="22" name="Shape 18"/>
          <p:cNvSpPr/>
          <p:nvPr/>
        </p:nvSpPr>
        <p:spPr>
          <a:xfrm>
            <a:off x="6181344" y="1965960"/>
            <a:ext cx="2606040" cy="406908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23" name="Shape 19"/>
          <p:cNvSpPr/>
          <p:nvPr/>
        </p:nvSpPr>
        <p:spPr>
          <a:xfrm>
            <a:off x="6409944" y="2240280"/>
            <a:ext cx="731520" cy="731520"/>
          </a:xfrm>
          <a:prstGeom prst="ellipse">
            <a:avLst/>
          </a:prstGeom>
          <a:solidFill>
            <a:srgbClr val="F2A900"/>
          </a:solidFill>
          <a:ln w="12700">
            <a:solidFill>
              <a:srgbClr val="F2A900"/>
            </a:solidFill>
            <a:prstDash val="solid"/>
          </a:ln>
        </p:spPr>
        <p:txBody>
          <a:bodyPr/>
          <a:lstStyle/>
          <a:p>
            <a:endParaRPr lang="es-CO"/>
          </a:p>
        </p:txBody>
      </p:sp>
      <p:pic>
        <p:nvPicPr>
          <p:cNvPr id="24" name="Image 2" descr="preencoded.png"/>
          <p:cNvPicPr>
            <a:picLocks noChangeAspect="1"/>
          </p:cNvPicPr>
          <p:nvPr/>
        </p:nvPicPr>
        <p:blipFill>
          <a:blip r:embed="rId5"/>
          <a:stretch>
            <a:fillRect/>
          </a:stretch>
        </p:blipFill>
        <p:spPr>
          <a:xfrm>
            <a:off x="6600139" y="2430475"/>
            <a:ext cx="351130" cy="351130"/>
          </a:xfrm>
          <a:prstGeom prst="rect">
            <a:avLst/>
          </a:prstGeom>
        </p:spPr>
      </p:pic>
      <p:sp>
        <p:nvSpPr>
          <p:cNvPr id="25" name="Text 20"/>
          <p:cNvSpPr txBox="1"/>
          <p:nvPr/>
        </p:nvSpPr>
        <p:spPr>
          <a:xfrm>
            <a:off x="6409944" y="3108960"/>
            <a:ext cx="224028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Enfriándose</a:t>
            </a:r>
            <a:endParaRPr lang="en-US" sz="1900" dirty="0"/>
          </a:p>
        </p:txBody>
      </p:sp>
      <p:sp>
        <p:nvSpPr>
          <p:cNvPr id="26" name="Text 21"/>
          <p:cNvSpPr txBox="1"/>
          <p:nvPr/>
        </p:nvSpPr>
        <p:spPr>
          <a:xfrm>
            <a:off x="6409944" y="3520440"/>
            <a:ext cx="2240280" cy="32004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464 clientes</a:t>
            </a:r>
            <a:endParaRPr lang="en-US" sz="1200" dirty="0"/>
          </a:p>
        </p:txBody>
      </p:sp>
      <p:sp>
        <p:nvSpPr>
          <p:cNvPr id="27" name="Text 22"/>
          <p:cNvSpPr txBox="1"/>
          <p:nvPr/>
        </p:nvSpPr>
        <p:spPr>
          <a:xfrm>
            <a:off x="6409944" y="3886200"/>
            <a:ext cx="2240280" cy="548640"/>
          </a:xfrm>
          <a:prstGeom prst="rect">
            <a:avLst/>
          </a:prstGeom>
          <a:noFill/>
          <a:ln/>
        </p:spPr>
        <p:txBody>
          <a:bodyPr wrap="square" lIns="0" tIns="0" rIns="0" bIns="0" rtlCol="0" anchor="ctr"/>
          <a:lstStyle/>
          <a:p>
            <a:pPr marL="0" indent="0">
              <a:buNone/>
            </a:pPr>
            <a:r>
              <a:rPr lang="en-US" sz="3000" b="1" dirty="0">
                <a:solidFill>
                  <a:srgbClr val="E4002B"/>
                </a:solidFill>
                <a:latin typeface="Arial" pitchFamily="34" charset="0"/>
                <a:ea typeface="Arial" pitchFamily="34" charset="-122"/>
                <a:cs typeface="Arial" pitchFamily="34" charset="-120"/>
              </a:rPr>
              <a:t>32 %</a:t>
            </a:r>
            <a:r>
              <a:rPr lang="en-US" sz="1300" dirty="0">
                <a:solidFill>
                  <a:srgbClr val="8C8C8C"/>
                </a:solidFill>
                <a:latin typeface="Calibri" pitchFamily="34" charset="0"/>
                <a:ea typeface="Calibri" pitchFamily="34" charset="-122"/>
                <a:cs typeface="Calibri" pitchFamily="34" charset="-120"/>
              </a:rPr>
              <a:t>  se van</a:t>
            </a:r>
            <a:endParaRPr lang="en-US" sz="3000" dirty="0"/>
          </a:p>
        </p:txBody>
      </p:sp>
      <p:sp>
        <p:nvSpPr>
          <p:cNvPr id="28" name="Text 23"/>
          <p:cNvSpPr txBox="1"/>
          <p:nvPr/>
        </p:nvSpPr>
        <p:spPr>
          <a:xfrm>
            <a:off x="6409944" y="4526280"/>
            <a:ext cx="2194560" cy="548640"/>
          </a:xfrm>
          <a:prstGeom prst="rect">
            <a:avLst/>
          </a:prstGeom>
          <a:noFill/>
          <a:ln/>
        </p:spPr>
        <p:txBody>
          <a:bodyPr wrap="square" lIns="0" tIns="0" rIns="0" bIns="0" rtlCol="0" anchor="t"/>
          <a:lstStyle/>
          <a:p>
            <a:pPr marL="0" indent="0">
              <a:buNone/>
            </a:pPr>
            <a:r>
              <a:rPr lang="en-US" sz="1300" dirty="0">
                <a:solidFill>
                  <a:srgbClr val="D4D4D4"/>
                </a:solidFill>
                <a:latin typeface="Calibri" pitchFamily="34" charset="0"/>
                <a:ea typeface="Calibri" pitchFamily="34" charset="-122"/>
                <a:cs typeface="Calibri" pitchFamily="34" charset="-120"/>
              </a:rPr>
              <a:t>Hace 2 meses no vuelven</a:t>
            </a:r>
            <a:endParaRPr lang="en-US" sz="1300" dirty="0"/>
          </a:p>
        </p:txBody>
      </p:sp>
      <p:sp>
        <p:nvSpPr>
          <p:cNvPr id="29" name="Text 24"/>
          <p:cNvSpPr txBox="1"/>
          <p:nvPr/>
        </p:nvSpPr>
        <p:spPr>
          <a:xfrm>
            <a:off x="6409944" y="5120640"/>
            <a:ext cx="2194560" cy="7772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Contactar ya con un incentivo personal</a:t>
            </a:r>
            <a:endParaRPr lang="en-US" sz="1300" dirty="0"/>
          </a:p>
        </p:txBody>
      </p:sp>
      <p:sp>
        <p:nvSpPr>
          <p:cNvPr id="30" name="Shape 25"/>
          <p:cNvSpPr/>
          <p:nvPr/>
        </p:nvSpPr>
        <p:spPr>
          <a:xfrm>
            <a:off x="8997696" y="1965960"/>
            <a:ext cx="2606040" cy="406908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31" name="Shape 26"/>
          <p:cNvSpPr/>
          <p:nvPr/>
        </p:nvSpPr>
        <p:spPr>
          <a:xfrm>
            <a:off x="9226296" y="224028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32" name="Image 3" descr="preencoded.png"/>
          <p:cNvPicPr>
            <a:picLocks noChangeAspect="1"/>
          </p:cNvPicPr>
          <p:nvPr/>
        </p:nvPicPr>
        <p:blipFill>
          <a:blip r:embed="rId6"/>
          <a:stretch>
            <a:fillRect/>
          </a:stretch>
        </p:blipFill>
        <p:spPr>
          <a:xfrm>
            <a:off x="9416491" y="2430475"/>
            <a:ext cx="351130" cy="351130"/>
          </a:xfrm>
          <a:prstGeom prst="rect">
            <a:avLst/>
          </a:prstGeom>
        </p:spPr>
      </p:pic>
      <p:sp>
        <p:nvSpPr>
          <p:cNvPr id="33" name="Text 27"/>
          <p:cNvSpPr txBox="1"/>
          <p:nvPr/>
        </p:nvSpPr>
        <p:spPr>
          <a:xfrm>
            <a:off x="9226296" y="3108960"/>
            <a:ext cx="224028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Dormidos</a:t>
            </a:r>
            <a:endParaRPr lang="en-US" sz="1900" dirty="0"/>
          </a:p>
        </p:txBody>
      </p:sp>
      <p:sp>
        <p:nvSpPr>
          <p:cNvPr id="34" name="Text 28"/>
          <p:cNvSpPr txBox="1"/>
          <p:nvPr/>
        </p:nvSpPr>
        <p:spPr>
          <a:xfrm>
            <a:off x="9226296" y="3520440"/>
            <a:ext cx="2240280" cy="320040"/>
          </a:xfrm>
          <a:prstGeom prst="rect">
            <a:avLst/>
          </a:prstGeom>
          <a:noFill/>
          <a:ln/>
        </p:spPr>
        <p:txBody>
          <a:bodyPr wrap="square" lIns="0" tIns="0" rIns="0" bIns="0" rtlCol="0" anchor="t"/>
          <a:lstStyle/>
          <a:p>
            <a:pPr marL="0" indent="0">
              <a:buNone/>
            </a:pPr>
            <a:r>
              <a:rPr lang="en-US" sz="1200" dirty="0">
                <a:solidFill>
                  <a:srgbClr val="8C8C8C"/>
                </a:solidFill>
                <a:latin typeface="Courier New" pitchFamily="34" charset="0"/>
                <a:ea typeface="Courier New" pitchFamily="34" charset="-122"/>
                <a:cs typeface="Courier New" pitchFamily="34" charset="-120"/>
              </a:rPr>
              <a:t>245 clientes</a:t>
            </a:r>
            <a:endParaRPr lang="en-US" sz="1200" dirty="0"/>
          </a:p>
        </p:txBody>
      </p:sp>
      <p:sp>
        <p:nvSpPr>
          <p:cNvPr id="35" name="Text 29"/>
          <p:cNvSpPr txBox="1"/>
          <p:nvPr/>
        </p:nvSpPr>
        <p:spPr>
          <a:xfrm>
            <a:off x="9226296" y="3886200"/>
            <a:ext cx="2240280" cy="548640"/>
          </a:xfrm>
          <a:prstGeom prst="rect">
            <a:avLst/>
          </a:prstGeom>
          <a:noFill/>
          <a:ln/>
        </p:spPr>
        <p:txBody>
          <a:bodyPr wrap="square" lIns="0" tIns="0" rIns="0" bIns="0" rtlCol="0" anchor="ctr"/>
          <a:lstStyle/>
          <a:p>
            <a:pPr marL="0" indent="0">
              <a:buNone/>
            </a:pPr>
            <a:r>
              <a:rPr lang="en-US" sz="3000" b="1" dirty="0">
                <a:solidFill>
                  <a:srgbClr val="E4002B"/>
                </a:solidFill>
                <a:latin typeface="Arial" pitchFamily="34" charset="0"/>
                <a:ea typeface="Arial" pitchFamily="34" charset="-122"/>
                <a:cs typeface="Arial" pitchFamily="34" charset="-120"/>
              </a:rPr>
              <a:t>81 %</a:t>
            </a:r>
            <a:r>
              <a:rPr lang="en-US" sz="1300" dirty="0">
                <a:solidFill>
                  <a:srgbClr val="8C8C8C"/>
                </a:solidFill>
                <a:latin typeface="Calibri" pitchFamily="34" charset="0"/>
                <a:ea typeface="Calibri" pitchFamily="34" charset="-122"/>
                <a:cs typeface="Calibri" pitchFamily="34" charset="-120"/>
              </a:rPr>
              <a:t>  se van</a:t>
            </a:r>
            <a:endParaRPr lang="en-US" sz="3000" dirty="0"/>
          </a:p>
        </p:txBody>
      </p:sp>
      <p:sp>
        <p:nvSpPr>
          <p:cNvPr id="36" name="Text 30"/>
          <p:cNvSpPr txBox="1"/>
          <p:nvPr/>
        </p:nvSpPr>
        <p:spPr>
          <a:xfrm>
            <a:off x="9226296" y="4526280"/>
            <a:ext cx="2194560" cy="548640"/>
          </a:xfrm>
          <a:prstGeom prst="rect">
            <a:avLst/>
          </a:prstGeom>
          <a:noFill/>
          <a:ln/>
        </p:spPr>
        <p:txBody>
          <a:bodyPr wrap="square" lIns="0" tIns="0" rIns="0" bIns="0" rtlCol="0" anchor="t"/>
          <a:lstStyle/>
          <a:p>
            <a:pPr marL="0" indent="0">
              <a:buNone/>
            </a:pPr>
            <a:r>
              <a:rPr lang="en-US" sz="1300" dirty="0">
                <a:solidFill>
                  <a:srgbClr val="D4D4D4"/>
                </a:solidFill>
                <a:latin typeface="Calibri" pitchFamily="34" charset="0"/>
                <a:ea typeface="Calibri" pitchFamily="34" charset="-122"/>
                <a:cs typeface="Calibri" pitchFamily="34" charset="-120"/>
              </a:rPr>
              <a:t>Más de 7 meses sin comprar</a:t>
            </a:r>
            <a:endParaRPr lang="en-US" sz="1300" dirty="0"/>
          </a:p>
        </p:txBody>
      </p:sp>
      <p:sp>
        <p:nvSpPr>
          <p:cNvPr id="37" name="Text 31"/>
          <p:cNvSpPr txBox="1"/>
          <p:nvPr/>
        </p:nvSpPr>
        <p:spPr>
          <a:xfrm>
            <a:off x="9226296" y="5120640"/>
            <a:ext cx="2194560" cy="7772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Reactivación "¡te extrañamos!" o dejarlos ir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22</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03 · PARTE B: PREDECIR EL ABANDONO (CHURN)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Leer la matriz de confusión con ojos de negocio</a:t>
            </a:r>
            <a:endParaRPr lang="en-US" sz="3200" dirty="0"/>
          </a:p>
        </p:txBody>
      </p:sp>
      <p:sp>
        <p:nvSpPr>
          <p:cNvPr id="6" name="Shape 4"/>
          <p:cNvSpPr/>
          <p:nvPr/>
        </p:nvSpPr>
        <p:spPr>
          <a:xfrm>
            <a:off x="548640" y="2057400"/>
            <a:ext cx="2880360" cy="1737360"/>
          </a:xfrm>
          <a:prstGeom prst="roundRect">
            <a:avLst>
              <a:gd name="adj" fmla="val 6316"/>
            </a:avLst>
          </a:prstGeom>
          <a:solidFill>
            <a:srgbClr val="1A1A1A"/>
          </a:solidFill>
          <a:ln w="12700">
            <a:solidFill>
              <a:srgbClr val="1A1A1A"/>
            </a:solidFill>
            <a:prstDash val="solid"/>
          </a:ln>
        </p:spPr>
        <p:txBody>
          <a:bodyPr/>
          <a:lstStyle/>
          <a:p>
            <a:endParaRPr lang="es-CO"/>
          </a:p>
        </p:txBody>
      </p:sp>
      <p:sp>
        <p:nvSpPr>
          <p:cNvPr id="7" name="Text 5"/>
          <p:cNvSpPr txBox="1"/>
          <p:nvPr/>
        </p:nvSpPr>
        <p:spPr>
          <a:xfrm>
            <a:off x="777240" y="2240280"/>
            <a:ext cx="2468880" cy="502920"/>
          </a:xfrm>
          <a:prstGeom prst="rect">
            <a:avLst/>
          </a:prstGeom>
          <a:noFill/>
          <a:ln/>
        </p:spPr>
        <p:txBody>
          <a:bodyPr wrap="square" lIns="0" tIns="0" rIns="0" bIns="0" rtlCol="0" anchor="t"/>
          <a:lstStyle/>
          <a:p>
            <a:pPr marL="0" indent="0">
              <a:buNone/>
            </a:pPr>
            <a:r>
              <a:rPr lang="en-US" sz="1000" dirty="0">
                <a:solidFill>
                  <a:srgbClr val="8C8C8C"/>
                </a:solidFill>
                <a:latin typeface="Courier New" pitchFamily="34" charset="0"/>
                <a:ea typeface="Courier New" pitchFamily="34" charset="-122"/>
                <a:cs typeface="Courier New" pitchFamily="34" charset="-120"/>
              </a:rPr>
              <a:t>Real: Se quedó · Predijo: se queda</a:t>
            </a:r>
            <a:endParaRPr lang="en-US" sz="1000" dirty="0"/>
          </a:p>
        </p:txBody>
      </p:sp>
      <p:sp>
        <p:nvSpPr>
          <p:cNvPr id="8" name="Text 6"/>
          <p:cNvSpPr txBox="1"/>
          <p:nvPr/>
        </p:nvSpPr>
        <p:spPr>
          <a:xfrm>
            <a:off x="777240" y="2834640"/>
            <a:ext cx="2468880" cy="822960"/>
          </a:xfrm>
          <a:prstGeom prst="rect">
            <a:avLst/>
          </a:prstGeom>
          <a:noFill/>
          <a:ln/>
        </p:spPr>
        <p:txBody>
          <a:bodyPr wrap="square" lIns="0" tIns="0" rIns="0" bIns="0" rtlCol="0" anchor="t"/>
          <a:lstStyle/>
          <a:p>
            <a:pPr marL="0" indent="0">
              <a:buNone/>
            </a:pPr>
            <a:r>
              <a:rPr lang="en-US" sz="1600" b="1" dirty="0">
                <a:solidFill>
                  <a:srgbClr val="D4D4D4"/>
                </a:solidFill>
                <a:latin typeface="Arial" pitchFamily="34" charset="0"/>
                <a:ea typeface="Arial" pitchFamily="34" charset="-122"/>
                <a:cs typeface="Arial" pitchFamily="34" charset="-120"/>
              </a:rPr>
              <a:t>Todo bien</a:t>
            </a:r>
            <a:endParaRPr lang="en-US" sz="1600" dirty="0"/>
          </a:p>
        </p:txBody>
      </p:sp>
      <p:sp>
        <p:nvSpPr>
          <p:cNvPr id="9" name="Shape 7"/>
          <p:cNvSpPr/>
          <p:nvPr/>
        </p:nvSpPr>
        <p:spPr>
          <a:xfrm>
            <a:off x="3611880" y="2057400"/>
            <a:ext cx="2880360" cy="1737360"/>
          </a:xfrm>
          <a:prstGeom prst="roundRect">
            <a:avLst>
              <a:gd name="adj" fmla="val 6316"/>
            </a:avLst>
          </a:prstGeom>
          <a:solidFill>
            <a:srgbClr val="242424"/>
          </a:solidFill>
          <a:ln w="12700">
            <a:solidFill>
              <a:srgbClr val="242424"/>
            </a:solidFill>
            <a:prstDash val="solid"/>
          </a:ln>
        </p:spPr>
        <p:txBody>
          <a:bodyPr/>
          <a:lstStyle/>
          <a:p>
            <a:endParaRPr lang="es-CO"/>
          </a:p>
        </p:txBody>
      </p:sp>
      <p:sp>
        <p:nvSpPr>
          <p:cNvPr id="10" name="Text 8"/>
          <p:cNvSpPr txBox="1"/>
          <p:nvPr/>
        </p:nvSpPr>
        <p:spPr>
          <a:xfrm>
            <a:off x="3840480" y="2240280"/>
            <a:ext cx="2468880" cy="502920"/>
          </a:xfrm>
          <a:prstGeom prst="rect">
            <a:avLst/>
          </a:prstGeom>
          <a:noFill/>
          <a:ln/>
        </p:spPr>
        <p:txBody>
          <a:bodyPr wrap="square" lIns="0" tIns="0" rIns="0" bIns="0" rtlCol="0" anchor="t"/>
          <a:lstStyle/>
          <a:p>
            <a:pPr marL="0" indent="0">
              <a:buNone/>
            </a:pPr>
            <a:r>
              <a:rPr lang="en-US" sz="1000" dirty="0">
                <a:solidFill>
                  <a:srgbClr val="8C8C8C"/>
                </a:solidFill>
                <a:latin typeface="Courier New" pitchFamily="34" charset="0"/>
                <a:ea typeface="Courier New" pitchFamily="34" charset="-122"/>
                <a:cs typeface="Courier New" pitchFamily="34" charset="-120"/>
              </a:rPr>
              <a:t>Real: Se quedó · Predijo: se va</a:t>
            </a:r>
            <a:endParaRPr lang="en-US" sz="1000" dirty="0"/>
          </a:p>
        </p:txBody>
      </p:sp>
      <p:sp>
        <p:nvSpPr>
          <p:cNvPr id="11" name="Text 9"/>
          <p:cNvSpPr txBox="1"/>
          <p:nvPr/>
        </p:nvSpPr>
        <p:spPr>
          <a:xfrm>
            <a:off x="3840480" y="2834640"/>
            <a:ext cx="2468880" cy="822960"/>
          </a:xfrm>
          <a:prstGeom prst="rect">
            <a:avLst/>
          </a:prstGeom>
          <a:noFill/>
          <a:ln/>
        </p:spPr>
        <p:txBody>
          <a:bodyPr wrap="square" lIns="0" tIns="0" rIns="0" bIns="0" rtlCol="0" anchor="t"/>
          <a:lstStyle/>
          <a:p>
            <a:pPr marL="0" indent="0">
              <a:buNone/>
            </a:pPr>
            <a:r>
              <a:rPr lang="en-US" sz="1600" b="1" dirty="0">
                <a:solidFill>
                  <a:srgbClr val="D4D4D4"/>
                </a:solidFill>
                <a:latin typeface="Arial" pitchFamily="34" charset="0"/>
                <a:ea typeface="Arial" pitchFamily="34" charset="-122"/>
                <a:cs typeface="Arial" pitchFamily="34" charset="-120"/>
              </a:rPr>
              <a:t>Cupón de más: gasto pequeño</a:t>
            </a:r>
            <a:endParaRPr lang="en-US" sz="1600" dirty="0"/>
          </a:p>
        </p:txBody>
      </p:sp>
      <p:sp>
        <p:nvSpPr>
          <p:cNvPr id="12" name="Shape 10"/>
          <p:cNvSpPr/>
          <p:nvPr/>
        </p:nvSpPr>
        <p:spPr>
          <a:xfrm>
            <a:off x="548640" y="3977640"/>
            <a:ext cx="2880360" cy="1737360"/>
          </a:xfrm>
          <a:prstGeom prst="roundRect">
            <a:avLst>
              <a:gd name="adj" fmla="val 6316"/>
            </a:avLst>
          </a:prstGeom>
          <a:solidFill>
            <a:srgbClr val="3A0A12"/>
          </a:solidFill>
          <a:ln w="12700">
            <a:solidFill>
              <a:srgbClr val="3A0A12"/>
            </a:solidFill>
            <a:prstDash val="solid"/>
          </a:ln>
        </p:spPr>
        <p:txBody>
          <a:bodyPr/>
          <a:lstStyle/>
          <a:p>
            <a:endParaRPr lang="es-CO"/>
          </a:p>
        </p:txBody>
      </p:sp>
      <p:sp>
        <p:nvSpPr>
          <p:cNvPr id="13" name="Text 11"/>
          <p:cNvSpPr txBox="1"/>
          <p:nvPr/>
        </p:nvSpPr>
        <p:spPr>
          <a:xfrm>
            <a:off x="777240" y="4160520"/>
            <a:ext cx="2468880" cy="502920"/>
          </a:xfrm>
          <a:prstGeom prst="rect">
            <a:avLst/>
          </a:prstGeom>
          <a:noFill/>
          <a:ln/>
        </p:spPr>
        <p:txBody>
          <a:bodyPr wrap="square" lIns="0" tIns="0" rIns="0" bIns="0" rtlCol="0" anchor="t"/>
          <a:lstStyle/>
          <a:p>
            <a:pPr marL="0" indent="0">
              <a:buNone/>
            </a:pPr>
            <a:r>
              <a:rPr lang="en-US" sz="1000" dirty="0">
                <a:solidFill>
                  <a:srgbClr val="8C8C8C"/>
                </a:solidFill>
                <a:latin typeface="Courier New" pitchFamily="34" charset="0"/>
                <a:ea typeface="Courier New" pitchFamily="34" charset="-122"/>
                <a:cs typeface="Courier New" pitchFamily="34" charset="-120"/>
              </a:rPr>
              <a:t>Real: Se fue · Predijo: se queda</a:t>
            </a:r>
            <a:endParaRPr lang="en-US" sz="1000" dirty="0"/>
          </a:p>
        </p:txBody>
      </p:sp>
      <p:sp>
        <p:nvSpPr>
          <p:cNvPr id="14" name="Text 12"/>
          <p:cNvSpPr txBox="1"/>
          <p:nvPr/>
        </p:nvSpPr>
        <p:spPr>
          <a:xfrm>
            <a:off x="777240" y="4754880"/>
            <a:ext cx="2468880" cy="822960"/>
          </a:xfrm>
          <a:prstGeom prst="rect">
            <a:avLst/>
          </a:prstGeom>
          <a:noFill/>
          <a:ln/>
        </p:spPr>
        <p:txBody>
          <a:bodyPr wrap="square" lIns="0" tIns="0" rIns="0" bIns="0" rtlCol="0" anchor="t"/>
          <a:lstStyle/>
          <a:p>
            <a:pPr marL="0" indent="0">
              <a:buNone/>
            </a:pPr>
            <a:r>
              <a:rPr lang="en-US" sz="1600" b="1" dirty="0">
                <a:solidFill>
                  <a:srgbClr val="E4002B"/>
                </a:solidFill>
                <a:latin typeface="Arial" pitchFamily="34" charset="0"/>
                <a:ea typeface="Arial" pitchFamily="34" charset="-122"/>
                <a:cs typeface="Arial" pitchFamily="34" charset="-120"/>
              </a:rPr>
              <a:t>Cliente perdido sin darnos cuenta</a:t>
            </a:r>
            <a:endParaRPr lang="en-US" sz="1600" dirty="0"/>
          </a:p>
        </p:txBody>
      </p:sp>
      <p:sp>
        <p:nvSpPr>
          <p:cNvPr id="15" name="Shape 13"/>
          <p:cNvSpPr/>
          <p:nvPr/>
        </p:nvSpPr>
        <p:spPr>
          <a:xfrm>
            <a:off x="3611880" y="3977640"/>
            <a:ext cx="2880360" cy="1737360"/>
          </a:xfrm>
          <a:prstGeom prst="roundRect">
            <a:avLst>
              <a:gd name="adj" fmla="val 6316"/>
            </a:avLst>
          </a:prstGeom>
          <a:solidFill>
            <a:srgbClr val="E4002B"/>
          </a:solidFill>
          <a:ln w="12700">
            <a:solidFill>
              <a:srgbClr val="E4002B"/>
            </a:solidFill>
            <a:prstDash val="solid"/>
          </a:ln>
        </p:spPr>
        <p:txBody>
          <a:bodyPr/>
          <a:lstStyle/>
          <a:p>
            <a:endParaRPr lang="es-CO"/>
          </a:p>
        </p:txBody>
      </p:sp>
      <p:sp>
        <p:nvSpPr>
          <p:cNvPr id="16" name="Text 14"/>
          <p:cNvSpPr txBox="1"/>
          <p:nvPr/>
        </p:nvSpPr>
        <p:spPr>
          <a:xfrm>
            <a:off x="3840480" y="4160520"/>
            <a:ext cx="2468880" cy="502920"/>
          </a:xfrm>
          <a:prstGeom prst="rect">
            <a:avLst/>
          </a:prstGeom>
          <a:noFill/>
          <a:ln/>
        </p:spPr>
        <p:txBody>
          <a:bodyPr wrap="square" lIns="0" tIns="0" rIns="0" bIns="0" rtlCol="0" anchor="t"/>
          <a:lstStyle/>
          <a:p>
            <a:pPr marL="0" indent="0">
              <a:buNone/>
            </a:pPr>
            <a:r>
              <a:rPr lang="en-US" sz="1000" dirty="0">
                <a:solidFill>
                  <a:srgbClr val="FFFFFF"/>
                </a:solidFill>
                <a:latin typeface="Courier New" pitchFamily="34" charset="0"/>
                <a:ea typeface="Courier New" pitchFamily="34" charset="-122"/>
                <a:cs typeface="Courier New" pitchFamily="34" charset="-120"/>
              </a:rPr>
              <a:t>Real: Se fue · Predijo: se va</a:t>
            </a:r>
            <a:endParaRPr lang="en-US" sz="1000" dirty="0"/>
          </a:p>
        </p:txBody>
      </p:sp>
      <p:sp>
        <p:nvSpPr>
          <p:cNvPr id="17" name="Text 15"/>
          <p:cNvSpPr txBox="1"/>
          <p:nvPr/>
        </p:nvSpPr>
        <p:spPr>
          <a:xfrm>
            <a:off x="3840480" y="4754880"/>
            <a:ext cx="2468880" cy="82296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¡Lo atrapamos! Se puede rescatar</a:t>
            </a:r>
            <a:endParaRPr lang="en-US" sz="1600" dirty="0"/>
          </a:p>
        </p:txBody>
      </p:sp>
      <p:sp>
        <p:nvSpPr>
          <p:cNvPr id="18" name="Text 16"/>
          <p:cNvSpPr txBox="1"/>
          <p:nvPr/>
        </p:nvSpPr>
        <p:spPr>
          <a:xfrm>
            <a:off x="6949440" y="2057400"/>
            <a:ext cx="4663440" cy="822960"/>
          </a:xfrm>
          <a:prstGeom prst="rect">
            <a:avLst/>
          </a:prstGeom>
          <a:noFill/>
          <a:ln/>
        </p:spPr>
        <p:txBody>
          <a:bodyPr wrap="square" lIns="0" tIns="0" rIns="0" bIns="0" rtlCol="0" anchor="ctr"/>
          <a:lstStyle/>
          <a:p>
            <a:pPr marL="0" indent="0">
              <a:buNone/>
            </a:pPr>
            <a:r>
              <a:rPr lang="en-US" sz="4800" b="1" dirty="0">
                <a:solidFill>
                  <a:srgbClr val="E4002B"/>
                </a:solidFill>
                <a:latin typeface="Arial" pitchFamily="34" charset="0"/>
                <a:ea typeface="Arial" pitchFamily="34" charset="-122"/>
                <a:cs typeface="Arial" pitchFamily="34" charset="-120"/>
              </a:rPr>
              <a:t>70 %</a:t>
            </a:r>
            <a:endParaRPr lang="en-US" sz="4800" dirty="0"/>
          </a:p>
        </p:txBody>
      </p:sp>
      <p:sp>
        <p:nvSpPr>
          <p:cNvPr id="19" name="Text 17"/>
          <p:cNvSpPr txBox="1"/>
          <p:nvPr/>
        </p:nvSpPr>
        <p:spPr>
          <a:xfrm>
            <a:off x="6949440" y="2926080"/>
            <a:ext cx="466344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Recall: de cada 10 clientes que se iban, el modelo atrapa 7</a:t>
            </a:r>
            <a:endParaRPr lang="en-US" sz="1400" dirty="0"/>
          </a:p>
        </p:txBody>
      </p:sp>
      <p:sp>
        <p:nvSpPr>
          <p:cNvPr id="20" name="Text 18"/>
          <p:cNvSpPr txBox="1"/>
          <p:nvPr/>
        </p:nvSpPr>
        <p:spPr>
          <a:xfrm>
            <a:off x="6949440" y="3703320"/>
            <a:ext cx="466344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56 %</a:t>
            </a:r>
            <a:endParaRPr lang="en-US" sz="4000" dirty="0"/>
          </a:p>
        </p:txBody>
      </p:sp>
      <p:sp>
        <p:nvSpPr>
          <p:cNvPr id="21" name="Text 19"/>
          <p:cNvSpPr txBox="1"/>
          <p:nvPr/>
        </p:nvSpPr>
        <p:spPr>
          <a:xfrm>
            <a:off x="6949440" y="4572000"/>
            <a:ext cx="466344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Precisión: cuando da la alerta, acierta un poco más de la mitad</a:t>
            </a:r>
            <a:endParaRPr lang="en-US" sz="1400" dirty="0"/>
          </a:p>
        </p:txBody>
      </p:sp>
      <p:sp>
        <p:nvSpPr>
          <p:cNvPr id="22" name="Text 20"/>
          <p:cNvSpPr txBox="1"/>
          <p:nvPr/>
        </p:nvSpPr>
        <p:spPr>
          <a:xfrm>
            <a:off x="6949440" y="5257800"/>
            <a:ext cx="4663440" cy="731520"/>
          </a:xfrm>
          <a:prstGeom prst="rect">
            <a:avLst/>
          </a:prstGeom>
          <a:noFill/>
          <a:ln/>
        </p:spPr>
        <p:txBody>
          <a:bodyPr wrap="square" lIns="0" tIns="0" rIns="0" bIns="0" rtlCol="0" anchor="t"/>
          <a:lstStyle/>
          <a:p>
            <a:pPr marL="0" indent="0">
              <a:buNone/>
            </a:pPr>
            <a:r>
              <a:rPr lang="en-US" sz="1400" i="1" dirty="0">
                <a:solidFill>
                  <a:srgbClr val="D4D4D4"/>
                </a:solidFill>
                <a:latin typeface="Calibri" pitchFamily="34" charset="0"/>
                <a:ea typeface="Calibri" pitchFamily="34" charset="-122"/>
                <a:cs typeface="Calibri" pitchFamily="34" charset="-120"/>
              </a:rPr>
              <a:t>En abandono preferimos alto recall: es más barato mandar un cupón de más que perder un cliente.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23</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03 · DE LA PROBABILIDAD A LA ACCIÓN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Qué empuja a irse y a quién llamar primero</a:t>
            </a:r>
            <a:endParaRPr lang="en-US" sz="3200" dirty="0"/>
          </a:p>
        </p:txBody>
      </p:sp>
      <p:sp>
        <p:nvSpPr>
          <p:cNvPr id="6" name="Shape 4"/>
          <p:cNvSpPr/>
          <p:nvPr/>
        </p:nvSpPr>
        <p:spPr>
          <a:xfrm>
            <a:off x="548640" y="2011680"/>
            <a:ext cx="5120640" cy="777240"/>
          </a:xfrm>
          <a:prstGeom prst="roundRect">
            <a:avLst>
              <a:gd name="adj" fmla="val 14118"/>
            </a:avLst>
          </a:prstGeom>
          <a:solidFill>
            <a:srgbClr val="1A1A1A"/>
          </a:solidFill>
          <a:ln w="12700">
            <a:solidFill>
              <a:srgbClr val="1A1A1A"/>
            </a:solidFill>
            <a:prstDash val="solid"/>
          </a:ln>
        </p:spPr>
        <p:txBody>
          <a:bodyPr/>
          <a:lstStyle/>
          <a:p>
            <a:endParaRPr lang="es-CO"/>
          </a:p>
        </p:txBody>
      </p:sp>
      <p:sp>
        <p:nvSpPr>
          <p:cNvPr id="7" name="Text 5"/>
          <p:cNvSpPr txBox="1"/>
          <p:nvPr/>
        </p:nvSpPr>
        <p:spPr>
          <a:xfrm>
            <a:off x="731520" y="2011680"/>
            <a:ext cx="457200" cy="777240"/>
          </a:xfrm>
          <a:prstGeom prst="rect">
            <a:avLst/>
          </a:prstGeom>
          <a:noFill/>
          <a:ln/>
        </p:spPr>
        <p:txBody>
          <a:bodyPr wrap="square" lIns="0" tIns="0" rIns="0" bIns="0" rtlCol="0" anchor="ctr"/>
          <a:lstStyle/>
          <a:p>
            <a:pPr marL="0" indent="0">
              <a:buNone/>
            </a:pPr>
            <a:r>
              <a:rPr lang="en-US" sz="2000" dirty="0">
                <a:solidFill>
                  <a:srgbClr val="E4002B"/>
                </a:solidFill>
                <a:latin typeface="Arial" pitchFamily="34" charset="0"/>
                <a:ea typeface="Arial" pitchFamily="34" charset="-122"/>
                <a:cs typeface="Arial" pitchFamily="34" charset="-120"/>
              </a:rPr>
              <a:t>▲</a:t>
            </a:r>
            <a:endParaRPr lang="en-US" sz="2000" dirty="0"/>
          </a:p>
        </p:txBody>
      </p:sp>
      <p:sp>
        <p:nvSpPr>
          <p:cNvPr id="8" name="Text 6"/>
          <p:cNvSpPr txBox="1"/>
          <p:nvPr/>
        </p:nvSpPr>
        <p:spPr>
          <a:xfrm>
            <a:off x="1234440" y="2011680"/>
            <a:ext cx="1920240"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Recencia alta</a:t>
            </a:r>
            <a:endParaRPr lang="en-US" sz="1600" dirty="0"/>
          </a:p>
        </p:txBody>
      </p:sp>
      <p:sp>
        <p:nvSpPr>
          <p:cNvPr id="9" name="Text 7"/>
          <p:cNvSpPr txBox="1"/>
          <p:nvPr/>
        </p:nvSpPr>
        <p:spPr>
          <a:xfrm>
            <a:off x="3154680" y="2011680"/>
            <a:ext cx="2468880" cy="777240"/>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más días sin comprar</a:t>
            </a:r>
            <a:endParaRPr lang="en-US" sz="1400" dirty="0"/>
          </a:p>
        </p:txBody>
      </p:sp>
      <p:sp>
        <p:nvSpPr>
          <p:cNvPr id="10" name="Shape 8"/>
          <p:cNvSpPr/>
          <p:nvPr/>
        </p:nvSpPr>
        <p:spPr>
          <a:xfrm>
            <a:off x="548640" y="2971800"/>
            <a:ext cx="5120640" cy="777240"/>
          </a:xfrm>
          <a:prstGeom prst="roundRect">
            <a:avLst>
              <a:gd name="adj" fmla="val 14118"/>
            </a:avLst>
          </a:prstGeom>
          <a:solidFill>
            <a:srgbClr val="1A1A1A"/>
          </a:solidFill>
          <a:ln w="12700">
            <a:solidFill>
              <a:srgbClr val="1A1A1A"/>
            </a:solidFill>
            <a:prstDash val="solid"/>
          </a:ln>
        </p:spPr>
        <p:txBody>
          <a:bodyPr/>
          <a:lstStyle/>
          <a:p>
            <a:endParaRPr lang="es-CO"/>
          </a:p>
        </p:txBody>
      </p:sp>
      <p:sp>
        <p:nvSpPr>
          <p:cNvPr id="11" name="Text 9"/>
          <p:cNvSpPr txBox="1"/>
          <p:nvPr/>
        </p:nvSpPr>
        <p:spPr>
          <a:xfrm>
            <a:off x="731520" y="2971800"/>
            <a:ext cx="457200" cy="777240"/>
          </a:xfrm>
          <a:prstGeom prst="rect">
            <a:avLst/>
          </a:prstGeom>
          <a:noFill/>
          <a:ln/>
        </p:spPr>
        <p:txBody>
          <a:bodyPr wrap="square" lIns="0" tIns="0" rIns="0" bIns="0" rtlCol="0" anchor="ctr"/>
          <a:lstStyle/>
          <a:p>
            <a:pPr marL="0" indent="0">
              <a:buNone/>
            </a:pPr>
            <a:r>
              <a:rPr lang="en-US" sz="2000" dirty="0">
                <a:solidFill>
                  <a:srgbClr val="E4002B"/>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1234440" y="2971800"/>
            <a:ext cx="1920240"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Quejas</a:t>
            </a:r>
            <a:endParaRPr lang="en-US" sz="1600" dirty="0"/>
          </a:p>
        </p:txBody>
      </p:sp>
      <p:sp>
        <p:nvSpPr>
          <p:cNvPr id="13" name="Text 11"/>
          <p:cNvSpPr txBox="1"/>
          <p:nvPr/>
        </p:nvSpPr>
        <p:spPr>
          <a:xfrm>
            <a:off x="3154680" y="2971800"/>
            <a:ext cx="2468880" cy="777240"/>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cada reclamo suma riesgo</a:t>
            </a:r>
            <a:endParaRPr lang="en-US" sz="1400" dirty="0"/>
          </a:p>
        </p:txBody>
      </p:sp>
      <p:sp>
        <p:nvSpPr>
          <p:cNvPr id="14" name="Shape 12"/>
          <p:cNvSpPr/>
          <p:nvPr/>
        </p:nvSpPr>
        <p:spPr>
          <a:xfrm>
            <a:off x="548640" y="3931920"/>
            <a:ext cx="5120640" cy="777240"/>
          </a:xfrm>
          <a:prstGeom prst="roundRect">
            <a:avLst>
              <a:gd name="adj" fmla="val 14118"/>
            </a:avLst>
          </a:prstGeom>
          <a:solidFill>
            <a:srgbClr val="1A1A1A"/>
          </a:solidFill>
          <a:ln w="12700">
            <a:solidFill>
              <a:srgbClr val="1A1A1A"/>
            </a:solidFill>
            <a:prstDash val="solid"/>
          </a:ln>
        </p:spPr>
        <p:txBody>
          <a:bodyPr/>
          <a:lstStyle/>
          <a:p>
            <a:endParaRPr lang="es-CO"/>
          </a:p>
        </p:txBody>
      </p:sp>
      <p:sp>
        <p:nvSpPr>
          <p:cNvPr id="15" name="Text 13"/>
          <p:cNvSpPr txBox="1"/>
          <p:nvPr/>
        </p:nvSpPr>
        <p:spPr>
          <a:xfrm>
            <a:off x="731520" y="3931920"/>
            <a:ext cx="457200" cy="777240"/>
          </a:xfrm>
          <a:prstGeom prst="rect">
            <a:avLst/>
          </a:prstGeom>
          <a:noFill/>
          <a:ln/>
        </p:spPr>
        <p:txBody>
          <a:bodyPr wrap="square" lIns="0" tIns="0" rIns="0" bIns="0" rtlCol="0" anchor="ctr"/>
          <a:lstStyle/>
          <a:p>
            <a:pPr marL="0" indent="0">
              <a:buNone/>
            </a:pPr>
            <a:r>
              <a:rPr lang="en-US" sz="2000" dirty="0">
                <a:solidFill>
                  <a:srgbClr val="888888"/>
                </a:solidFill>
                <a:latin typeface="Arial" pitchFamily="34" charset="0"/>
                <a:ea typeface="Arial" pitchFamily="34" charset="-122"/>
                <a:cs typeface="Arial" pitchFamily="34" charset="-120"/>
              </a:rPr>
              <a:t>▼</a:t>
            </a:r>
            <a:endParaRPr lang="en-US" sz="2000" dirty="0"/>
          </a:p>
        </p:txBody>
      </p:sp>
      <p:sp>
        <p:nvSpPr>
          <p:cNvPr id="16" name="Text 14"/>
          <p:cNvSpPr txBox="1"/>
          <p:nvPr/>
        </p:nvSpPr>
        <p:spPr>
          <a:xfrm>
            <a:off x="1234440" y="3931920"/>
            <a:ext cx="1920240"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Frecuencia</a:t>
            </a:r>
            <a:endParaRPr lang="en-US" sz="1600" dirty="0"/>
          </a:p>
        </p:txBody>
      </p:sp>
      <p:sp>
        <p:nvSpPr>
          <p:cNvPr id="17" name="Text 15"/>
          <p:cNvSpPr txBox="1"/>
          <p:nvPr/>
        </p:nvSpPr>
        <p:spPr>
          <a:xfrm>
            <a:off x="3154680" y="3931920"/>
            <a:ext cx="2468880" cy="777240"/>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compra seguido = se queda</a:t>
            </a:r>
            <a:endParaRPr lang="en-US" sz="1400" dirty="0"/>
          </a:p>
        </p:txBody>
      </p:sp>
      <p:sp>
        <p:nvSpPr>
          <p:cNvPr id="18" name="Shape 16"/>
          <p:cNvSpPr/>
          <p:nvPr/>
        </p:nvSpPr>
        <p:spPr>
          <a:xfrm>
            <a:off x="548640" y="4892040"/>
            <a:ext cx="5120640" cy="777240"/>
          </a:xfrm>
          <a:prstGeom prst="roundRect">
            <a:avLst>
              <a:gd name="adj" fmla="val 14118"/>
            </a:avLst>
          </a:prstGeom>
          <a:solidFill>
            <a:srgbClr val="1A1A1A"/>
          </a:solidFill>
          <a:ln w="12700">
            <a:solidFill>
              <a:srgbClr val="1A1A1A"/>
            </a:solidFill>
            <a:prstDash val="solid"/>
          </a:ln>
        </p:spPr>
        <p:txBody>
          <a:bodyPr/>
          <a:lstStyle/>
          <a:p>
            <a:endParaRPr lang="es-CO"/>
          </a:p>
        </p:txBody>
      </p:sp>
      <p:sp>
        <p:nvSpPr>
          <p:cNvPr id="19" name="Text 17"/>
          <p:cNvSpPr txBox="1"/>
          <p:nvPr/>
        </p:nvSpPr>
        <p:spPr>
          <a:xfrm>
            <a:off x="731520" y="4892040"/>
            <a:ext cx="457200" cy="777240"/>
          </a:xfrm>
          <a:prstGeom prst="rect">
            <a:avLst/>
          </a:prstGeom>
          <a:noFill/>
          <a:ln/>
        </p:spPr>
        <p:txBody>
          <a:bodyPr wrap="square" lIns="0" tIns="0" rIns="0" bIns="0" rtlCol="0" anchor="ctr"/>
          <a:lstStyle/>
          <a:p>
            <a:pPr marL="0" indent="0">
              <a:buNone/>
            </a:pPr>
            <a:r>
              <a:rPr lang="en-US" sz="2000" dirty="0">
                <a:solidFill>
                  <a:srgbClr val="888888"/>
                </a:solidFill>
                <a:latin typeface="Arial" pitchFamily="34" charset="0"/>
                <a:ea typeface="Arial" pitchFamily="34" charset="-122"/>
                <a:cs typeface="Arial" pitchFamily="34" charset="-120"/>
              </a:rPr>
              <a:t>▼</a:t>
            </a:r>
            <a:endParaRPr lang="en-US" sz="2000" dirty="0"/>
          </a:p>
        </p:txBody>
      </p:sp>
      <p:sp>
        <p:nvSpPr>
          <p:cNvPr id="20" name="Text 18"/>
          <p:cNvSpPr txBox="1"/>
          <p:nvPr/>
        </p:nvSpPr>
        <p:spPr>
          <a:xfrm>
            <a:off x="1234440" y="4892040"/>
            <a:ext cx="1920240" cy="7772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Usa la app</a:t>
            </a:r>
            <a:endParaRPr lang="en-US" sz="1600" dirty="0"/>
          </a:p>
        </p:txBody>
      </p:sp>
      <p:sp>
        <p:nvSpPr>
          <p:cNvPr id="21" name="Text 19"/>
          <p:cNvSpPr txBox="1"/>
          <p:nvPr/>
        </p:nvSpPr>
        <p:spPr>
          <a:xfrm>
            <a:off x="3154680" y="4892040"/>
            <a:ext cx="2468880" cy="777240"/>
          </a:xfrm>
          <a:prstGeom prst="rect">
            <a:avLst/>
          </a:prstGeom>
          <a:noFill/>
          <a:ln/>
        </p:spPr>
        <p:txBody>
          <a:bodyPr wrap="square" lIns="0" tIns="0" rIns="0" bIns="0" rtlCol="0" anchor="ctr"/>
          <a:lstStyle/>
          <a:p>
            <a:pPr marL="0" indent="0">
              <a:buNone/>
            </a:pPr>
            <a:r>
              <a:rPr lang="en-US" sz="1400" dirty="0">
                <a:solidFill>
                  <a:srgbClr val="D4D4D4"/>
                </a:solidFill>
                <a:latin typeface="Calibri" pitchFamily="34" charset="0"/>
                <a:ea typeface="Calibri" pitchFamily="34" charset="-122"/>
                <a:cs typeface="Calibri" pitchFamily="34" charset="-120"/>
              </a:rPr>
              <a:t>la app lo mantiene cerca</a:t>
            </a:r>
            <a:endParaRPr lang="en-US" sz="1400" dirty="0"/>
          </a:p>
        </p:txBody>
      </p:sp>
      <p:sp>
        <p:nvSpPr>
          <p:cNvPr id="22" name="Text 20"/>
          <p:cNvSpPr txBox="1"/>
          <p:nvPr/>
        </p:nvSpPr>
        <p:spPr>
          <a:xfrm>
            <a:off x="548640" y="5897880"/>
            <a:ext cx="5486400" cy="274320"/>
          </a:xfrm>
          <a:prstGeom prst="rect">
            <a:avLst/>
          </a:prstGeom>
          <a:noFill/>
          <a:ln/>
        </p:spPr>
        <p:txBody>
          <a:bodyPr wrap="square" lIns="0" tIns="0" rIns="0" bIns="0" rtlCol="0" anchor="t"/>
          <a:lstStyle/>
          <a:p>
            <a:pPr marL="0" indent="0">
              <a:buNone/>
            </a:pPr>
            <a:r>
              <a:rPr lang="en-US" sz="1200" dirty="0">
                <a:solidFill>
                  <a:srgbClr val="8C8C8C"/>
                </a:solidFill>
                <a:latin typeface="Calibri" pitchFamily="34" charset="0"/>
                <a:ea typeface="Calibri" pitchFamily="34" charset="-122"/>
                <a:cs typeface="Calibri" pitchFamily="34" charset="-120"/>
              </a:rPr>
              <a:t>▲ aumenta el riesgo    ▼ lo disminuye</a:t>
            </a:r>
            <a:endParaRPr lang="en-US" sz="1200" dirty="0"/>
          </a:p>
        </p:txBody>
      </p:sp>
      <p:sp>
        <p:nvSpPr>
          <p:cNvPr id="23" name="Shape 21"/>
          <p:cNvSpPr/>
          <p:nvPr/>
        </p:nvSpPr>
        <p:spPr>
          <a:xfrm>
            <a:off x="6126480" y="2011680"/>
            <a:ext cx="5486400" cy="3749040"/>
          </a:xfrm>
          <a:prstGeom prst="roundRect">
            <a:avLst>
              <a:gd name="adj" fmla="val 2927"/>
            </a:avLst>
          </a:prstGeom>
          <a:solidFill>
            <a:srgbClr val="2A0A10"/>
          </a:solidFill>
          <a:ln w="12700">
            <a:solidFill>
              <a:srgbClr val="2A0A10"/>
            </a:solidFill>
            <a:prstDash val="solid"/>
          </a:ln>
        </p:spPr>
        <p:txBody>
          <a:bodyPr/>
          <a:lstStyle/>
          <a:p>
            <a:endParaRPr lang="es-CO"/>
          </a:p>
        </p:txBody>
      </p:sp>
      <p:sp>
        <p:nvSpPr>
          <p:cNvPr id="24" name="Text 22"/>
          <p:cNvSpPr txBox="1"/>
          <p:nvPr/>
        </p:nvSpPr>
        <p:spPr>
          <a:xfrm>
            <a:off x="6400800" y="2240280"/>
            <a:ext cx="50292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LA LISTA PARA MERCADEO</a:t>
            </a:r>
            <a:endParaRPr lang="en-US" sz="1200" dirty="0"/>
          </a:p>
        </p:txBody>
      </p:sp>
      <p:sp>
        <p:nvSpPr>
          <p:cNvPr id="25" name="Text 23"/>
          <p:cNvSpPr txBox="1"/>
          <p:nvPr/>
        </p:nvSpPr>
        <p:spPr>
          <a:xfrm>
            <a:off x="6400800" y="2606040"/>
            <a:ext cx="5029200" cy="45720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Prioridad = alto riesgo × alto valor</a:t>
            </a:r>
            <a:endParaRPr lang="en-US" sz="2000" dirty="0"/>
          </a:p>
        </p:txBody>
      </p:sp>
      <p:sp>
        <p:nvSpPr>
          <p:cNvPr id="26" name="Text 24"/>
          <p:cNvSpPr txBox="1"/>
          <p:nvPr/>
        </p:nvSpPr>
        <p:spPr>
          <a:xfrm>
            <a:off x="6400800" y="3246120"/>
            <a:ext cx="4937760" cy="2377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Probabilidad de irse para cada cliente</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Se cruza con su segmento</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Se ordena por cuánto gasta</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Resultado: 15 clientes para llamar esta semana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24</a:t>
            </a:r>
            <a:endParaRPr lang="en-US" sz="900" dirty="0"/>
          </a:p>
        </p:txBody>
      </p:sp>
      <p:sp>
        <p:nvSpPr>
          <p:cNvPr id="4" name="Text 2"/>
          <p:cNvSpPr txBox="1"/>
          <p:nvPr/>
        </p:nvSpPr>
        <p:spPr>
          <a:xfrm>
            <a:off x="548640" y="1005840"/>
            <a:ext cx="3657600" cy="2011680"/>
          </a:xfrm>
          <a:prstGeom prst="rect">
            <a:avLst/>
          </a:prstGeom>
          <a:noFill/>
          <a:ln/>
        </p:spPr>
        <p:txBody>
          <a:bodyPr wrap="square" lIns="0" tIns="0" rIns="0" bIns="0" rtlCol="0" anchor="ctr"/>
          <a:lstStyle/>
          <a:p>
            <a:pPr marL="0" indent="0">
              <a:buNone/>
            </a:pPr>
            <a:r>
              <a:rPr lang="en-US" sz="15000" b="1" dirty="0">
                <a:solidFill>
                  <a:srgbClr val="E4002B"/>
                </a:solidFill>
                <a:latin typeface="Arial" pitchFamily="34" charset="0"/>
                <a:ea typeface="Arial" pitchFamily="34" charset="-122"/>
                <a:cs typeface="Arial" pitchFamily="34" charset="-120"/>
              </a:rPr>
              <a:t>04</a:t>
            </a:r>
            <a:endParaRPr lang="en-US" sz="15000" dirty="0"/>
          </a:p>
        </p:txBody>
      </p:sp>
      <p:sp>
        <p:nvSpPr>
          <p:cNvPr id="5" name="Text 3"/>
          <p:cNvSpPr txBox="1"/>
          <p:nvPr/>
        </p:nvSpPr>
        <p:spPr>
          <a:xfrm>
            <a:off x="548640" y="32461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PRÁCTICO 04</a:t>
            </a:r>
            <a:endParaRPr lang="en-US" sz="1300" dirty="0"/>
          </a:p>
        </p:txBody>
      </p:sp>
      <p:sp>
        <p:nvSpPr>
          <p:cNvPr id="6" name="Text 4"/>
          <p:cNvSpPr txBox="1"/>
          <p:nvPr/>
        </p:nvSpPr>
        <p:spPr>
          <a:xfrm>
            <a:off x="548640" y="3611880"/>
            <a:ext cx="7680960"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ML en empresas</a:t>
            </a:r>
            <a:endParaRPr lang="en-US" sz="4000" dirty="0"/>
          </a:p>
        </p:txBody>
      </p:sp>
      <p:sp>
        <p:nvSpPr>
          <p:cNvPr id="7" name="Text 5"/>
          <p:cNvSpPr txBox="1"/>
          <p:nvPr/>
        </p:nvSpPr>
        <p:spPr>
          <a:xfrm>
            <a:off x="548640" y="4572000"/>
            <a:ext cx="6858000" cy="914400"/>
          </a:xfrm>
          <a:prstGeom prst="rect">
            <a:avLst/>
          </a:prstGeom>
          <a:noFill/>
          <a:ln/>
        </p:spPr>
        <p:txBody>
          <a:bodyPr wrap="square" lIns="0" tIns="0" rIns="0" bIns="0" rtlCol="0" anchor="t"/>
          <a:lstStyle/>
          <a:p>
            <a:pPr marL="0" indent="0">
              <a:buNone/>
            </a:pPr>
            <a:r>
              <a:rPr lang="en-US" sz="2000" i="1" dirty="0">
                <a:solidFill>
                  <a:srgbClr val="D4D4D4"/>
                </a:solidFill>
                <a:latin typeface="Calibri" pitchFamily="34" charset="0"/>
                <a:ea typeface="Calibri" pitchFamily="34" charset="-122"/>
                <a:cs typeface="Calibri" pitchFamily="34" charset="-120"/>
              </a:rPr>
              <a:t>Almacén El Hogar: ¿a qué clientes llamar para ofrecer la garantía extendida?</a:t>
            </a:r>
            <a:endParaRPr lang="en-US" sz="2000" dirty="0"/>
          </a:p>
        </p:txBody>
      </p:sp>
      <p:sp>
        <p:nvSpPr>
          <p:cNvPr id="8" name="Shape 6"/>
          <p:cNvSpPr/>
          <p:nvPr/>
        </p:nvSpPr>
        <p:spPr>
          <a:xfrm>
            <a:off x="8503920" y="1463040"/>
            <a:ext cx="2743200" cy="274320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9217152" y="2176272"/>
            <a:ext cx="1316736" cy="1316736"/>
          </a:xfrm>
          <a:prstGeom prst="rect">
            <a:avLst/>
          </a:prstGeom>
        </p:spPr>
      </p:pic>
      <p:sp>
        <p:nvSpPr>
          <p:cNvPr id="10" name="Text 7"/>
          <p:cNvSpPr txBox="1"/>
          <p:nvPr/>
        </p:nvSpPr>
        <p:spPr>
          <a:xfrm>
            <a:off x="8138160" y="4663440"/>
            <a:ext cx="3474720" cy="274320"/>
          </a:xfrm>
          <a:prstGeom prst="rect">
            <a:avLst/>
          </a:prstGeom>
          <a:noFill/>
          <a:ln/>
        </p:spPr>
        <p:txBody>
          <a:bodyPr wrap="square" lIns="0" tIns="0" rIns="0" bIns="0" rtlCol="0" anchor="ctr"/>
          <a:lstStyle/>
          <a:p>
            <a:pPr marL="0" indent="0" algn="ctr">
              <a:buNone/>
            </a:pPr>
            <a:r>
              <a:rPr lang="en-US" sz="1000" kern="0" spc="200" dirty="0">
                <a:solidFill>
                  <a:srgbClr val="8C8C8C"/>
                </a:solidFill>
                <a:latin typeface="Courier New" pitchFamily="34" charset="0"/>
                <a:ea typeface="Courier New" pitchFamily="34" charset="-122"/>
                <a:cs typeface="Courier New" pitchFamily="34" charset="-120"/>
              </a:rPr>
              <a:t>CUADERNO COLAB</a:t>
            </a:r>
            <a:endParaRPr lang="en-US" sz="1000" dirty="0"/>
          </a:p>
        </p:txBody>
      </p:sp>
      <p:sp>
        <p:nvSpPr>
          <p:cNvPr id="11" name="Text 8"/>
          <p:cNvSpPr txBox="1"/>
          <p:nvPr/>
        </p:nvSpPr>
        <p:spPr>
          <a:xfrm>
            <a:off x="7863840" y="4937760"/>
            <a:ext cx="402336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U5_Caso4_ML_en_Empresas.ipynb</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25</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04 · LA SITUACIÓN</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Hoy llaman a todos… y la campaña pierde plata</a:t>
            </a:r>
            <a:endParaRPr lang="en-US" sz="3200" dirty="0"/>
          </a:p>
        </p:txBody>
      </p:sp>
      <p:sp>
        <p:nvSpPr>
          <p:cNvPr id="6" name="Text 4"/>
          <p:cNvSpPr txBox="1"/>
          <p:nvPr/>
        </p:nvSpPr>
        <p:spPr>
          <a:xfrm>
            <a:off x="548640" y="2103120"/>
            <a:ext cx="3474720" cy="82296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₡2 500</a:t>
            </a:r>
            <a:endParaRPr lang="en-US" sz="4800" dirty="0"/>
          </a:p>
        </p:txBody>
      </p:sp>
      <p:sp>
        <p:nvSpPr>
          <p:cNvPr id="7" name="Text 5"/>
          <p:cNvSpPr txBox="1"/>
          <p:nvPr/>
        </p:nvSpPr>
        <p:spPr>
          <a:xfrm>
            <a:off x="548640" y="2971800"/>
            <a:ext cx="347472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cuesta cada llamada (tiempo del agente)</a:t>
            </a:r>
            <a:endParaRPr lang="en-US" sz="1400" dirty="0"/>
          </a:p>
        </p:txBody>
      </p:sp>
      <p:sp>
        <p:nvSpPr>
          <p:cNvPr id="8" name="Text 6"/>
          <p:cNvSpPr txBox="1"/>
          <p:nvPr/>
        </p:nvSpPr>
        <p:spPr>
          <a:xfrm>
            <a:off x="4206240" y="2103120"/>
            <a:ext cx="3474720" cy="82296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₡25 000</a:t>
            </a:r>
            <a:endParaRPr lang="en-US" sz="4800" dirty="0"/>
          </a:p>
        </p:txBody>
      </p:sp>
      <p:sp>
        <p:nvSpPr>
          <p:cNvPr id="9" name="Text 7"/>
          <p:cNvSpPr txBox="1"/>
          <p:nvPr/>
        </p:nvSpPr>
        <p:spPr>
          <a:xfrm>
            <a:off x="4206240" y="2971800"/>
            <a:ext cx="347472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de ganancia por cada garantía vendida</a:t>
            </a:r>
            <a:endParaRPr lang="en-US" sz="1400" dirty="0"/>
          </a:p>
        </p:txBody>
      </p:sp>
      <p:sp>
        <p:nvSpPr>
          <p:cNvPr id="10" name="Text 8"/>
          <p:cNvSpPr txBox="1"/>
          <p:nvPr/>
        </p:nvSpPr>
        <p:spPr>
          <a:xfrm>
            <a:off x="7863840" y="2103120"/>
            <a:ext cx="3474720" cy="822960"/>
          </a:xfrm>
          <a:prstGeom prst="rect">
            <a:avLst/>
          </a:prstGeom>
          <a:noFill/>
          <a:ln/>
        </p:spPr>
        <p:txBody>
          <a:bodyPr wrap="square" lIns="0" tIns="0" rIns="0" bIns="0" rtlCol="0" anchor="ctr"/>
          <a:lstStyle/>
          <a:p>
            <a:pPr marL="0" indent="0">
              <a:buNone/>
            </a:pPr>
            <a:r>
              <a:rPr lang="en-US" sz="4800" b="1" dirty="0">
                <a:solidFill>
                  <a:srgbClr val="E4002B"/>
                </a:solidFill>
                <a:latin typeface="Arial" pitchFamily="34" charset="0"/>
                <a:ea typeface="Arial" pitchFamily="34" charset="-122"/>
                <a:cs typeface="Arial" pitchFamily="34" charset="-120"/>
              </a:rPr>
              <a:t>7,8 %</a:t>
            </a:r>
            <a:endParaRPr lang="en-US" sz="4800" dirty="0"/>
          </a:p>
        </p:txBody>
      </p:sp>
      <p:sp>
        <p:nvSpPr>
          <p:cNvPr id="11" name="Text 9"/>
          <p:cNvSpPr txBox="1"/>
          <p:nvPr/>
        </p:nvSpPr>
        <p:spPr>
          <a:xfrm>
            <a:off x="7863840" y="2971800"/>
            <a:ext cx="3474720" cy="5486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de los clientes llamados compra</a:t>
            </a:r>
            <a:endParaRPr lang="en-US" sz="1400" dirty="0"/>
          </a:p>
        </p:txBody>
      </p:sp>
      <p:sp>
        <p:nvSpPr>
          <p:cNvPr id="12" name="Shape 10"/>
          <p:cNvSpPr/>
          <p:nvPr/>
        </p:nvSpPr>
        <p:spPr>
          <a:xfrm>
            <a:off x="548640" y="3931920"/>
            <a:ext cx="11064240" cy="1828800"/>
          </a:xfrm>
          <a:prstGeom prst="roundRect">
            <a:avLst>
              <a:gd name="adj" fmla="val 6000"/>
            </a:avLst>
          </a:prstGeom>
          <a:solidFill>
            <a:srgbClr val="1A1A1A"/>
          </a:solidFill>
          <a:ln w="12700">
            <a:solidFill>
              <a:srgbClr val="1A1A1A"/>
            </a:solidFill>
            <a:prstDash val="solid"/>
          </a:ln>
        </p:spPr>
        <p:txBody>
          <a:bodyPr/>
          <a:lstStyle/>
          <a:p>
            <a:endParaRPr lang="es-CO"/>
          </a:p>
        </p:txBody>
      </p:sp>
      <p:sp>
        <p:nvSpPr>
          <p:cNvPr id="13" name="Text 11"/>
          <p:cNvSpPr txBox="1"/>
          <p:nvPr/>
        </p:nvSpPr>
        <p:spPr>
          <a:xfrm>
            <a:off x="822960" y="4114800"/>
            <a:ext cx="457200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La cuenta rápida</a:t>
            </a:r>
            <a:endParaRPr lang="en-US" sz="1800" dirty="0"/>
          </a:p>
        </p:txBody>
      </p:sp>
      <p:sp>
        <p:nvSpPr>
          <p:cNvPr id="14" name="Text 12"/>
          <p:cNvSpPr txBox="1"/>
          <p:nvPr/>
        </p:nvSpPr>
        <p:spPr>
          <a:xfrm>
            <a:off x="822960" y="4526280"/>
            <a:ext cx="10515600" cy="1188720"/>
          </a:xfrm>
          <a:prstGeom prst="rect">
            <a:avLst/>
          </a:prstGeom>
          <a:noFill/>
          <a:ln/>
        </p:spPr>
        <p:txBody>
          <a:bodyPr wrap="square" lIns="0" tIns="0" rIns="0" bIns="0" rtlCol="0" anchor="t"/>
          <a:lstStyle/>
          <a:p>
            <a:pPr marL="0" indent="0">
              <a:buNone/>
            </a:pPr>
            <a:r>
              <a:rPr lang="en-US" sz="1600" dirty="0">
                <a:solidFill>
                  <a:srgbClr val="D4D4D4"/>
                </a:solidFill>
                <a:latin typeface="Calibri" pitchFamily="34" charset="0"/>
                <a:ea typeface="Calibri" pitchFamily="34" charset="-122"/>
                <a:cs typeface="Calibri" pitchFamily="34" charset="-120"/>
              </a:rPr>
              <a:t>Solo conviene llamar si la probabilidad de compra × ₡25 000 es mayor que ₡2 500, o sea, si la probabilidad supera el 10 %. En promedio los clientes están en 7,8 %: llamar a todos pierde dinero. ¿Puede un modelo encontrar a los que sí superan ese 10 %?</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26</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04 · ¿EL MODELO ENCUENTRA A LOS COMPRADORES?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El mejor 10 % compra 4,6 veces más que el promedio</a:t>
            </a:r>
            <a:endParaRPr lang="en-US" sz="3200" dirty="0"/>
          </a:p>
        </p:txBody>
      </p:sp>
      <p:graphicFrame>
        <p:nvGraphicFramePr>
          <p:cNvPr id="6" name="Chart 0"/>
          <p:cNvGraphicFramePr/>
          <p:nvPr/>
        </p:nvGraphicFramePr>
        <p:xfrm>
          <a:off x="548640" y="1828800"/>
          <a:ext cx="7315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321040" y="1920240"/>
            <a:ext cx="3291840" cy="3931920"/>
          </a:xfrm>
          <a:prstGeom prst="roundRect">
            <a:avLst>
              <a:gd name="adj" fmla="val 3333"/>
            </a:avLst>
          </a:prstGeom>
          <a:solidFill>
            <a:srgbClr val="1A1A1A"/>
          </a:solidFill>
          <a:ln w="12700">
            <a:solidFill>
              <a:srgbClr val="1A1A1A"/>
            </a:solidFill>
            <a:prstDash val="solid"/>
          </a:ln>
        </p:spPr>
        <p:txBody>
          <a:bodyPr/>
          <a:lstStyle/>
          <a:p>
            <a:endParaRPr lang="es-CO"/>
          </a:p>
        </p:txBody>
      </p:sp>
      <p:sp>
        <p:nvSpPr>
          <p:cNvPr id="8" name="Text 5"/>
          <p:cNvSpPr txBox="1"/>
          <p:nvPr/>
        </p:nvSpPr>
        <p:spPr>
          <a:xfrm>
            <a:off x="8595360" y="2148840"/>
            <a:ext cx="27432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LIFT</a:t>
            </a:r>
            <a:endParaRPr lang="en-US" sz="1200" dirty="0"/>
          </a:p>
        </p:txBody>
      </p:sp>
      <p:sp>
        <p:nvSpPr>
          <p:cNvPr id="9" name="Text 6"/>
          <p:cNvSpPr txBox="1"/>
          <p:nvPr/>
        </p:nvSpPr>
        <p:spPr>
          <a:xfrm>
            <a:off x="8595360" y="2468880"/>
            <a:ext cx="274320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Cuántas veces mejor que llamar al azar.</a:t>
            </a:r>
            <a:endParaRPr lang="en-US" sz="1500" dirty="0"/>
          </a:p>
        </p:txBody>
      </p:sp>
      <p:sp>
        <p:nvSpPr>
          <p:cNvPr id="10" name="Text 7"/>
          <p:cNvSpPr txBox="1"/>
          <p:nvPr/>
        </p:nvSpPr>
        <p:spPr>
          <a:xfrm>
            <a:off x="8595360" y="3291840"/>
            <a:ext cx="2743200" cy="73152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Decil 1: 35,6 % ÷ 7,8 % ≈ 4,6×</a:t>
            </a:r>
            <a:endParaRPr lang="en-US" sz="1300" dirty="0"/>
          </a:p>
        </p:txBody>
      </p:sp>
      <p:sp>
        <p:nvSpPr>
          <p:cNvPr id="11" name="Text 8"/>
          <p:cNvSpPr txBox="1"/>
          <p:nvPr/>
        </p:nvSpPr>
        <p:spPr>
          <a:xfrm>
            <a:off x="8595360" y="4023360"/>
            <a:ext cx="2743200" cy="173736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Para una campaña no necesitamos que el modelo acierte a todos: necesitamos que ordene bien. Por eso usamos AUC (≈ 0,8).</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27</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04 · LA DECISIÓN EN COLONES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Llamar a menos gente sí deja ganancia</a:t>
            </a:r>
            <a:endParaRPr lang="en-US" sz="3200" dirty="0"/>
          </a:p>
        </p:txBody>
      </p:sp>
      <p:graphicFrame>
        <p:nvGraphicFramePr>
          <p:cNvPr id="6" name="Chart 0"/>
          <p:cNvGraphicFramePr/>
          <p:nvPr/>
        </p:nvGraphicFramePr>
        <p:xfrm>
          <a:off x="548640" y="1828800"/>
          <a:ext cx="60350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040880" y="1920240"/>
            <a:ext cx="4572000" cy="3931920"/>
          </a:xfrm>
          <a:prstGeom prst="roundRect">
            <a:avLst>
              <a:gd name="adj" fmla="val 2791"/>
            </a:avLst>
          </a:prstGeom>
          <a:solidFill>
            <a:srgbClr val="2A0A10"/>
          </a:solidFill>
          <a:ln w="12700">
            <a:solidFill>
              <a:srgbClr val="2A0A10"/>
            </a:solidFill>
            <a:prstDash val="solid"/>
          </a:ln>
        </p:spPr>
        <p:txBody>
          <a:bodyPr/>
          <a:lstStyle/>
          <a:p>
            <a:endParaRPr lang="es-CO"/>
          </a:p>
        </p:txBody>
      </p:sp>
      <p:sp>
        <p:nvSpPr>
          <p:cNvPr id="8" name="Shape 5"/>
          <p:cNvSpPr/>
          <p:nvPr/>
        </p:nvSpPr>
        <p:spPr>
          <a:xfrm>
            <a:off x="7315200" y="219456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9" name="Image 0" descr="preencoded.png"/>
          <p:cNvPicPr>
            <a:picLocks noChangeAspect="1"/>
          </p:cNvPicPr>
          <p:nvPr/>
        </p:nvPicPr>
        <p:blipFill>
          <a:blip r:embed="rId4"/>
          <a:stretch>
            <a:fillRect/>
          </a:stretch>
        </p:blipFill>
        <p:spPr>
          <a:xfrm>
            <a:off x="7517282" y="2396642"/>
            <a:ext cx="373075" cy="373075"/>
          </a:xfrm>
          <a:prstGeom prst="rect">
            <a:avLst/>
          </a:prstGeom>
        </p:spPr>
      </p:pic>
      <p:sp>
        <p:nvSpPr>
          <p:cNvPr id="10" name="Text 6"/>
          <p:cNvSpPr txBox="1"/>
          <p:nvPr/>
        </p:nvSpPr>
        <p:spPr>
          <a:xfrm>
            <a:off x="7315200" y="3154680"/>
            <a:ext cx="4114800" cy="45720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El mejor umbral NO es 50 %</a:t>
            </a:r>
            <a:endParaRPr lang="en-US" sz="2000" dirty="0"/>
          </a:p>
        </p:txBody>
      </p:sp>
      <p:sp>
        <p:nvSpPr>
          <p:cNvPr id="11" name="Text 7"/>
          <p:cNvSpPr txBox="1"/>
          <p:nvPr/>
        </p:nvSpPr>
        <p:spPr>
          <a:xfrm>
            <a:off x="7315200" y="3703320"/>
            <a:ext cx="4023360" cy="1463040"/>
          </a:xfrm>
          <a:prstGeom prst="rect">
            <a:avLst/>
          </a:prstGeom>
          <a:noFill/>
          <a:ln/>
        </p:spPr>
        <p:txBody>
          <a:bodyPr wrap="square" lIns="0" tIns="0" rIns="0" bIns="0" rtlCol="0" anchor="t"/>
          <a:lstStyle/>
          <a:p>
            <a:pPr marL="0" indent="0">
              <a:buNone/>
            </a:pPr>
            <a:r>
              <a:rPr lang="en-US" sz="1500" dirty="0">
                <a:solidFill>
                  <a:srgbClr val="D4D4D4"/>
                </a:solidFill>
                <a:latin typeface="Calibri" pitchFamily="34" charset="0"/>
                <a:ea typeface="Calibri" pitchFamily="34" charset="-122"/>
                <a:cs typeface="Calibri" pitchFamily="34" charset="-120"/>
              </a:rPr>
              <a:t>Aquí conviene llamar a todo cliente con probabilidad mayor a ≈ 11,6 %. Ese número no lo decide el algoritmo: lo deciden el costo de la llamada y la ganancia de la venta.</a:t>
            </a:r>
            <a:endParaRPr lang="en-US" sz="1500" dirty="0"/>
          </a:p>
        </p:txBody>
      </p:sp>
      <p:sp>
        <p:nvSpPr>
          <p:cNvPr id="12" name="Text 8"/>
          <p:cNvSpPr txBox="1"/>
          <p:nvPr/>
        </p:nvSpPr>
        <p:spPr>
          <a:xfrm>
            <a:off x="7315200" y="5257800"/>
            <a:ext cx="4023360" cy="457200"/>
          </a:xfrm>
          <a:prstGeom prst="rect">
            <a:avLst/>
          </a:prstGeom>
          <a:noFill/>
          <a:ln/>
        </p:spPr>
        <p:txBody>
          <a:bodyPr wrap="square" lIns="0" tIns="0" rIns="0" bIns="0" rtlCol="0" anchor="t"/>
          <a:lstStyle/>
          <a:p>
            <a:pPr marL="0" indent="0">
              <a:buNone/>
            </a:pPr>
            <a:r>
              <a:rPr lang="en-US" sz="1400" i="1" dirty="0">
                <a:solidFill>
                  <a:srgbClr val="8C8C8C"/>
                </a:solidFill>
                <a:latin typeface="Calibri" pitchFamily="34" charset="0"/>
                <a:ea typeface="Calibri" pitchFamily="34" charset="-122"/>
                <a:cs typeface="Calibri" pitchFamily="34" charset="-120"/>
              </a:rPr>
              <a:t>Si la llamada baja a ₡1 500, el umbral cambia.</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28</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CASO 04 · DEL CUADERNO A LA EMPRESA</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Un modelo en producción: guardar, usar y vigilar</a:t>
            </a:r>
            <a:endParaRPr lang="en-US" sz="3200" dirty="0"/>
          </a:p>
        </p:txBody>
      </p:sp>
      <p:sp>
        <p:nvSpPr>
          <p:cNvPr id="6" name="Shape 4"/>
          <p:cNvSpPr/>
          <p:nvPr/>
        </p:nvSpPr>
        <p:spPr>
          <a:xfrm>
            <a:off x="548640" y="2011680"/>
            <a:ext cx="2606040" cy="329184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822960" y="2286000"/>
            <a:ext cx="777240" cy="777240"/>
          </a:xfrm>
          <a:prstGeom prst="ellipse">
            <a:avLst/>
          </a:prstGeom>
          <a:solidFill>
            <a:srgbClr val="3A3A3A"/>
          </a:solidFill>
          <a:ln w="12700">
            <a:solidFill>
              <a:srgbClr val="3A3A3A"/>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25042" y="2488082"/>
            <a:ext cx="373075" cy="373075"/>
          </a:xfrm>
          <a:prstGeom prst="rect">
            <a:avLst/>
          </a:prstGeom>
        </p:spPr>
      </p:pic>
      <p:sp>
        <p:nvSpPr>
          <p:cNvPr id="9" name="Text 6"/>
          <p:cNvSpPr txBox="1"/>
          <p:nvPr/>
        </p:nvSpPr>
        <p:spPr>
          <a:xfrm>
            <a:off x="2286000" y="2286000"/>
            <a:ext cx="594360" cy="548640"/>
          </a:xfrm>
          <a:prstGeom prst="rect">
            <a:avLst/>
          </a:prstGeom>
          <a:noFill/>
          <a:ln/>
        </p:spPr>
        <p:txBody>
          <a:bodyPr wrap="square" lIns="0" tIns="0" rIns="0" bIns="0" rtlCol="0" anchor="ctr"/>
          <a:lstStyle/>
          <a:p>
            <a:pPr marL="0" indent="0" algn="r">
              <a:buNone/>
            </a:pPr>
            <a:r>
              <a:rPr lang="en-US" sz="2600" b="1" dirty="0">
                <a:solidFill>
                  <a:srgbClr val="4A4A4A"/>
                </a:solidFill>
                <a:latin typeface="Arial" pitchFamily="34" charset="0"/>
                <a:ea typeface="Arial" pitchFamily="34" charset="-122"/>
                <a:cs typeface="Arial" pitchFamily="34" charset="-120"/>
              </a:rPr>
              <a:t>1</a:t>
            </a:r>
            <a:endParaRPr lang="en-US" sz="2600" dirty="0"/>
          </a:p>
        </p:txBody>
      </p:sp>
      <p:sp>
        <p:nvSpPr>
          <p:cNvPr id="10" name="Text 7"/>
          <p:cNvSpPr txBox="1"/>
          <p:nvPr/>
        </p:nvSpPr>
        <p:spPr>
          <a:xfrm>
            <a:off x="822960" y="3246120"/>
            <a:ext cx="219456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Pipeline</a:t>
            </a:r>
            <a:endParaRPr lang="en-US" sz="1900" dirty="0"/>
          </a:p>
        </p:txBody>
      </p:sp>
      <p:sp>
        <p:nvSpPr>
          <p:cNvPr id="11" name="Text 8"/>
          <p:cNvSpPr txBox="1"/>
          <p:nvPr/>
        </p:nvSpPr>
        <p:spPr>
          <a:xfrm>
            <a:off x="822960" y="3703320"/>
            <a:ext cx="2148840" cy="14630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Preparación + modelo en una sola caja. Entra la tabla cruda, sale la predicción.</a:t>
            </a:r>
            <a:endParaRPr lang="en-US" sz="1400" dirty="0"/>
          </a:p>
        </p:txBody>
      </p:sp>
      <p:sp>
        <p:nvSpPr>
          <p:cNvPr id="12" name="Shape 9"/>
          <p:cNvSpPr/>
          <p:nvPr/>
        </p:nvSpPr>
        <p:spPr>
          <a:xfrm>
            <a:off x="3364992" y="2011680"/>
            <a:ext cx="2606040" cy="329184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13" name="Shape 10"/>
          <p:cNvSpPr/>
          <p:nvPr/>
        </p:nvSpPr>
        <p:spPr>
          <a:xfrm>
            <a:off x="3639312" y="2286000"/>
            <a:ext cx="777240" cy="777240"/>
          </a:xfrm>
          <a:prstGeom prst="ellipse">
            <a:avLst/>
          </a:prstGeom>
          <a:solidFill>
            <a:srgbClr val="3A3A3A"/>
          </a:solidFill>
          <a:ln w="12700">
            <a:solidFill>
              <a:srgbClr val="3A3A3A"/>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3841394" y="2488082"/>
            <a:ext cx="373075" cy="373075"/>
          </a:xfrm>
          <a:prstGeom prst="rect">
            <a:avLst/>
          </a:prstGeom>
        </p:spPr>
      </p:pic>
      <p:sp>
        <p:nvSpPr>
          <p:cNvPr id="15" name="Text 11"/>
          <p:cNvSpPr txBox="1"/>
          <p:nvPr/>
        </p:nvSpPr>
        <p:spPr>
          <a:xfrm>
            <a:off x="5102352" y="2286000"/>
            <a:ext cx="594360" cy="548640"/>
          </a:xfrm>
          <a:prstGeom prst="rect">
            <a:avLst/>
          </a:prstGeom>
          <a:noFill/>
          <a:ln/>
        </p:spPr>
        <p:txBody>
          <a:bodyPr wrap="square" lIns="0" tIns="0" rIns="0" bIns="0" rtlCol="0" anchor="ctr"/>
          <a:lstStyle/>
          <a:p>
            <a:pPr marL="0" indent="0" algn="r">
              <a:buNone/>
            </a:pPr>
            <a:r>
              <a:rPr lang="en-US" sz="2600" b="1" dirty="0">
                <a:solidFill>
                  <a:srgbClr val="4A4A4A"/>
                </a:solidFill>
                <a:latin typeface="Arial" pitchFamily="34" charset="0"/>
                <a:ea typeface="Arial" pitchFamily="34" charset="-122"/>
                <a:cs typeface="Arial" pitchFamily="34" charset="-120"/>
              </a:rPr>
              <a:t>2</a:t>
            </a:r>
            <a:endParaRPr lang="en-US" sz="2600" dirty="0"/>
          </a:p>
        </p:txBody>
      </p:sp>
      <p:sp>
        <p:nvSpPr>
          <p:cNvPr id="16" name="Text 12"/>
          <p:cNvSpPr txBox="1"/>
          <p:nvPr/>
        </p:nvSpPr>
        <p:spPr>
          <a:xfrm>
            <a:off x="3639312" y="3246120"/>
            <a:ext cx="219456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Guardar</a:t>
            </a:r>
            <a:endParaRPr lang="en-US" sz="1900" dirty="0"/>
          </a:p>
        </p:txBody>
      </p:sp>
      <p:sp>
        <p:nvSpPr>
          <p:cNvPr id="17" name="Text 13"/>
          <p:cNvSpPr txBox="1"/>
          <p:nvPr/>
        </p:nvSpPr>
        <p:spPr>
          <a:xfrm>
            <a:off x="3639312" y="3703320"/>
            <a:ext cx="2148840" cy="14630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joblib.dump() guarda el modelo y el umbral en un archivo.</a:t>
            </a:r>
            <a:endParaRPr lang="en-US" sz="1400" dirty="0"/>
          </a:p>
        </p:txBody>
      </p:sp>
      <p:sp>
        <p:nvSpPr>
          <p:cNvPr id="18" name="Shape 14"/>
          <p:cNvSpPr/>
          <p:nvPr/>
        </p:nvSpPr>
        <p:spPr>
          <a:xfrm>
            <a:off x="6181344" y="2011680"/>
            <a:ext cx="2606040" cy="3291840"/>
          </a:xfrm>
          <a:prstGeom prst="roundRect">
            <a:avLst>
              <a:gd name="adj" fmla="val 4211"/>
            </a:avLst>
          </a:prstGeom>
          <a:solidFill>
            <a:srgbClr val="1A1A1A"/>
          </a:solidFill>
          <a:ln w="12700">
            <a:solidFill>
              <a:srgbClr val="1A1A1A"/>
            </a:solidFill>
            <a:prstDash val="solid"/>
          </a:ln>
        </p:spPr>
        <p:txBody>
          <a:bodyPr/>
          <a:lstStyle/>
          <a:p>
            <a:endParaRPr lang="es-CO"/>
          </a:p>
        </p:txBody>
      </p:sp>
      <p:sp>
        <p:nvSpPr>
          <p:cNvPr id="19" name="Shape 15"/>
          <p:cNvSpPr/>
          <p:nvPr/>
        </p:nvSpPr>
        <p:spPr>
          <a:xfrm>
            <a:off x="6455664" y="2286000"/>
            <a:ext cx="777240" cy="777240"/>
          </a:xfrm>
          <a:prstGeom prst="ellipse">
            <a:avLst/>
          </a:prstGeom>
          <a:solidFill>
            <a:srgbClr val="3A3A3A"/>
          </a:solidFill>
          <a:ln w="12700">
            <a:solidFill>
              <a:srgbClr val="3A3A3A"/>
            </a:solidFill>
            <a:prstDash val="solid"/>
          </a:ln>
        </p:spPr>
        <p:txBody>
          <a:bodyPr/>
          <a:lstStyle/>
          <a:p>
            <a:endParaRPr lang="es-CO"/>
          </a:p>
        </p:txBody>
      </p:sp>
      <p:pic>
        <p:nvPicPr>
          <p:cNvPr id="20" name="Image 2" descr="preencoded.png"/>
          <p:cNvPicPr>
            <a:picLocks noChangeAspect="1"/>
          </p:cNvPicPr>
          <p:nvPr/>
        </p:nvPicPr>
        <p:blipFill>
          <a:blip r:embed="rId5"/>
          <a:stretch>
            <a:fillRect/>
          </a:stretch>
        </p:blipFill>
        <p:spPr>
          <a:xfrm>
            <a:off x="6657746" y="2488082"/>
            <a:ext cx="373075" cy="373075"/>
          </a:xfrm>
          <a:prstGeom prst="rect">
            <a:avLst/>
          </a:prstGeom>
        </p:spPr>
      </p:pic>
      <p:sp>
        <p:nvSpPr>
          <p:cNvPr id="21" name="Text 16"/>
          <p:cNvSpPr txBox="1"/>
          <p:nvPr/>
        </p:nvSpPr>
        <p:spPr>
          <a:xfrm>
            <a:off x="7918704" y="2286000"/>
            <a:ext cx="594360" cy="548640"/>
          </a:xfrm>
          <a:prstGeom prst="rect">
            <a:avLst/>
          </a:prstGeom>
          <a:noFill/>
          <a:ln/>
        </p:spPr>
        <p:txBody>
          <a:bodyPr wrap="square" lIns="0" tIns="0" rIns="0" bIns="0" rtlCol="0" anchor="ctr"/>
          <a:lstStyle/>
          <a:p>
            <a:pPr marL="0" indent="0" algn="r">
              <a:buNone/>
            </a:pPr>
            <a:r>
              <a:rPr lang="en-US" sz="2600" b="1" dirty="0">
                <a:solidFill>
                  <a:srgbClr val="4A4A4A"/>
                </a:solidFill>
                <a:latin typeface="Arial" pitchFamily="34" charset="0"/>
                <a:ea typeface="Arial" pitchFamily="34" charset="-122"/>
                <a:cs typeface="Arial" pitchFamily="34" charset="-120"/>
              </a:rPr>
              <a:t>3</a:t>
            </a:r>
            <a:endParaRPr lang="en-US" sz="2600" dirty="0"/>
          </a:p>
        </p:txBody>
      </p:sp>
      <p:sp>
        <p:nvSpPr>
          <p:cNvPr id="22" name="Text 17"/>
          <p:cNvSpPr txBox="1"/>
          <p:nvPr/>
        </p:nvSpPr>
        <p:spPr>
          <a:xfrm>
            <a:off x="6455664" y="3246120"/>
            <a:ext cx="219456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Usar cada mes</a:t>
            </a:r>
            <a:endParaRPr lang="en-US" sz="1900" dirty="0"/>
          </a:p>
        </p:txBody>
      </p:sp>
      <p:sp>
        <p:nvSpPr>
          <p:cNvPr id="23" name="Text 18"/>
          <p:cNvSpPr txBox="1"/>
          <p:nvPr/>
        </p:nvSpPr>
        <p:spPr>
          <a:xfrm>
            <a:off x="6455664" y="3703320"/>
            <a:ext cx="2148840" cy="14630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Llega la lista de 800 clientes → sale a quién llamar (165).</a:t>
            </a:r>
            <a:endParaRPr lang="en-US" sz="1400" dirty="0"/>
          </a:p>
        </p:txBody>
      </p:sp>
      <p:sp>
        <p:nvSpPr>
          <p:cNvPr id="24" name="Shape 19"/>
          <p:cNvSpPr/>
          <p:nvPr/>
        </p:nvSpPr>
        <p:spPr>
          <a:xfrm>
            <a:off x="8997696" y="2011680"/>
            <a:ext cx="2606040" cy="3291840"/>
          </a:xfrm>
          <a:prstGeom prst="roundRect">
            <a:avLst>
              <a:gd name="adj" fmla="val 4211"/>
            </a:avLst>
          </a:prstGeom>
          <a:solidFill>
            <a:srgbClr val="2A0A10"/>
          </a:solidFill>
          <a:ln w="12700">
            <a:solidFill>
              <a:srgbClr val="2A0A10"/>
            </a:solidFill>
            <a:prstDash val="solid"/>
          </a:ln>
        </p:spPr>
        <p:txBody>
          <a:bodyPr/>
          <a:lstStyle/>
          <a:p>
            <a:endParaRPr lang="es-CO"/>
          </a:p>
        </p:txBody>
      </p:sp>
      <p:sp>
        <p:nvSpPr>
          <p:cNvPr id="25" name="Shape 20"/>
          <p:cNvSpPr/>
          <p:nvPr/>
        </p:nvSpPr>
        <p:spPr>
          <a:xfrm>
            <a:off x="9272016" y="2286000"/>
            <a:ext cx="777240" cy="777240"/>
          </a:xfrm>
          <a:prstGeom prst="ellipse">
            <a:avLst/>
          </a:prstGeom>
          <a:solidFill>
            <a:srgbClr val="E4002B"/>
          </a:solidFill>
          <a:ln w="12700">
            <a:solidFill>
              <a:srgbClr val="E4002B"/>
            </a:solidFill>
            <a:prstDash val="solid"/>
          </a:ln>
        </p:spPr>
        <p:txBody>
          <a:bodyPr/>
          <a:lstStyle/>
          <a:p>
            <a:endParaRPr lang="es-CO"/>
          </a:p>
        </p:txBody>
      </p:sp>
      <p:pic>
        <p:nvPicPr>
          <p:cNvPr id="26" name="Image 3" descr="preencoded.png"/>
          <p:cNvPicPr>
            <a:picLocks noChangeAspect="1"/>
          </p:cNvPicPr>
          <p:nvPr/>
        </p:nvPicPr>
        <p:blipFill>
          <a:blip r:embed="rId6"/>
          <a:stretch>
            <a:fillRect/>
          </a:stretch>
        </p:blipFill>
        <p:spPr>
          <a:xfrm>
            <a:off x="9474098" y="2488082"/>
            <a:ext cx="373075" cy="373075"/>
          </a:xfrm>
          <a:prstGeom prst="rect">
            <a:avLst/>
          </a:prstGeom>
        </p:spPr>
      </p:pic>
      <p:sp>
        <p:nvSpPr>
          <p:cNvPr id="27" name="Text 21"/>
          <p:cNvSpPr txBox="1"/>
          <p:nvPr/>
        </p:nvSpPr>
        <p:spPr>
          <a:xfrm>
            <a:off x="10735056" y="2286000"/>
            <a:ext cx="594360" cy="548640"/>
          </a:xfrm>
          <a:prstGeom prst="rect">
            <a:avLst/>
          </a:prstGeom>
          <a:noFill/>
          <a:ln/>
        </p:spPr>
        <p:txBody>
          <a:bodyPr wrap="square" lIns="0" tIns="0" rIns="0" bIns="0" rtlCol="0" anchor="ctr"/>
          <a:lstStyle/>
          <a:p>
            <a:pPr marL="0" indent="0" algn="r">
              <a:buNone/>
            </a:pPr>
            <a:r>
              <a:rPr lang="en-US" sz="2600" b="1" dirty="0">
                <a:solidFill>
                  <a:srgbClr val="4A4A4A"/>
                </a:solidFill>
                <a:latin typeface="Arial" pitchFamily="34" charset="0"/>
                <a:ea typeface="Arial" pitchFamily="34" charset="-122"/>
                <a:cs typeface="Arial" pitchFamily="34" charset="-120"/>
              </a:rPr>
              <a:t>4</a:t>
            </a:r>
            <a:endParaRPr lang="en-US" sz="2600" dirty="0"/>
          </a:p>
        </p:txBody>
      </p:sp>
      <p:sp>
        <p:nvSpPr>
          <p:cNvPr id="28" name="Text 22"/>
          <p:cNvSpPr txBox="1"/>
          <p:nvPr/>
        </p:nvSpPr>
        <p:spPr>
          <a:xfrm>
            <a:off x="9272016" y="3246120"/>
            <a:ext cx="219456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Vigilar</a:t>
            </a:r>
            <a:endParaRPr lang="en-US" sz="1900" dirty="0"/>
          </a:p>
        </p:txBody>
      </p:sp>
      <p:sp>
        <p:nvSpPr>
          <p:cNvPr id="29" name="Text 23"/>
          <p:cNvSpPr txBox="1"/>
          <p:nvPr/>
        </p:nvSpPr>
        <p:spPr>
          <a:xfrm>
            <a:off x="9272016" y="3703320"/>
            <a:ext cx="2148840" cy="146304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¿Los clientes de hoy se parecen a los del histórico? Si no: ⚠️ revisar.</a:t>
            </a:r>
            <a:endParaRPr lang="en-US" sz="1400" dirty="0"/>
          </a:p>
        </p:txBody>
      </p:sp>
      <p:sp>
        <p:nvSpPr>
          <p:cNvPr id="30" name="Text 24"/>
          <p:cNvSpPr txBox="1"/>
          <p:nvPr/>
        </p:nvSpPr>
        <p:spPr>
          <a:xfrm>
            <a:off x="548640" y="5532120"/>
            <a:ext cx="10972800" cy="640080"/>
          </a:xfrm>
          <a:prstGeom prst="rect">
            <a:avLst/>
          </a:prstGeom>
          <a:noFill/>
          <a:ln/>
        </p:spPr>
        <p:txBody>
          <a:bodyPr wrap="square" lIns="0" tIns="0" rIns="0" bIns="0" rtlCol="0" anchor="t"/>
          <a:lstStyle/>
          <a:p>
            <a:pPr marL="0" indent="0">
              <a:buNone/>
            </a:pPr>
            <a:r>
              <a:rPr lang="en-US" sz="1500" i="1" dirty="0">
                <a:solidFill>
                  <a:srgbClr val="D4D4D4"/>
                </a:solidFill>
                <a:latin typeface="Calibri" pitchFamily="34" charset="0"/>
                <a:ea typeface="Calibri" pitchFamily="34" charset="-122"/>
                <a:cs typeface="Calibri" pitchFamily="34" charset="-120"/>
              </a:rPr>
              <a:t>Data drift: en un mes con promoción de celulares, la mezcla de productos cambió 36 %. El modelo sigue funcionando, pero una persona debe revisar si hay que reentrenar.</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29</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APLICACIÓN DE ML EN EMPRESAS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Los mismos casos, en todas las industrias</a:t>
            </a:r>
            <a:endParaRPr lang="en-US" sz="3200" dirty="0"/>
          </a:p>
        </p:txBody>
      </p:sp>
      <p:sp>
        <p:nvSpPr>
          <p:cNvPr id="6" name="Shape 4"/>
          <p:cNvSpPr/>
          <p:nvPr/>
        </p:nvSpPr>
        <p:spPr>
          <a:xfrm>
            <a:off x="548640" y="201168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822960" y="228600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13155" y="2476195"/>
            <a:ext cx="351130" cy="351130"/>
          </a:xfrm>
          <a:prstGeom prst="rect">
            <a:avLst/>
          </a:prstGeom>
        </p:spPr>
      </p:pic>
      <p:sp>
        <p:nvSpPr>
          <p:cNvPr id="9" name="Text 6"/>
          <p:cNvSpPr txBox="1"/>
          <p:nvPr/>
        </p:nvSpPr>
        <p:spPr>
          <a:xfrm>
            <a:off x="1737360" y="233172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Retail</a:t>
            </a:r>
            <a:endParaRPr lang="en-US" sz="1600" dirty="0"/>
          </a:p>
        </p:txBody>
      </p:sp>
      <p:sp>
        <p:nvSpPr>
          <p:cNvPr id="10" name="Text 7"/>
          <p:cNvSpPr txBox="1"/>
          <p:nvPr/>
        </p:nvSpPr>
        <p:spPr>
          <a:xfrm>
            <a:off x="822960" y="310896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¿Cuánto vender y cuánto pedir al proveedor?</a:t>
            </a:r>
            <a:endParaRPr lang="en-US" sz="1400" dirty="0"/>
          </a:p>
        </p:txBody>
      </p:sp>
      <p:sp>
        <p:nvSpPr>
          <p:cNvPr id="11" name="Shape 8"/>
          <p:cNvSpPr/>
          <p:nvPr/>
        </p:nvSpPr>
        <p:spPr>
          <a:xfrm>
            <a:off x="4297680" y="201168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12" name="Shape 9"/>
          <p:cNvSpPr/>
          <p:nvPr/>
        </p:nvSpPr>
        <p:spPr>
          <a:xfrm>
            <a:off x="4572000" y="228600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13" name="Image 1" descr="preencoded.png"/>
          <p:cNvPicPr>
            <a:picLocks noChangeAspect="1"/>
          </p:cNvPicPr>
          <p:nvPr/>
        </p:nvPicPr>
        <p:blipFill>
          <a:blip r:embed="rId4"/>
          <a:stretch>
            <a:fillRect/>
          </a:stretch>
        </p:blipFill>
        <p:spPr>
          <a:xfrm>
            <a:off x="4762195" y="2476195"/>
            <a:ext cx="351130" cy="351130"/>
          </a:xfrm>
          <a:prstGeom prst="rect">
            <a:avLst/>
          </a:prstGeom>
        </p:spPr>
      </p:pic>
      <p:sp>
        <p:nvSpPr>
          <p:cNvPr id="14" name="Text 10"/>
          <p:cNvSpPr txBox="1"/>
          <p:nvPr/>
        </p:nvSpPr>
        <p:spPr>
          <a:xfrm>
            <a:off x="5486400" y="233172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Bancos y cooperativas</a:t>
            </a:r>
            <a:endParaRPr lang="en-US" sz="1600" dirty="0"/>
          </a:p>
        </p:txBody>
      </p:sp>
      <p:sp>
        <p:nvSpPr>
          <p:cNvPr id="15" name="Text 11"/>
          <p:cNvSpPr txBox="1"/>
          <p:nvPr/>
        </p:nvSpPr>
        <p:spPr>
          <a:xfrm>
            <a:off x="4572000" y="310896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¿Se pagará este crédito? ¿Es fraude?</a:t>
            </a:r>
            <a:endParaRPr lang="en-US" sz="1400" dirty="0"/>
          </a:p>
        </p:txBody>
      </p:sp>
      <p:sp>
        <p:nvSpPr>
          <p:cNvPr id="16" name="Shape 12"/>
          <p:cNvSpPr/>
          <p:nvPr/>
        </p:nvSpPr>
        <p:spPr>
          <a:xfrm>
            <a:off x="8046720" y="201168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17" name="Shape 13"/>
          <p:cNvSpPr/>
          <p:nvPr/>
        </p:nvSpPr>
        <p:spPr>
          <a:xfrm>
            <a:off x="8321040" y="228600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18" name="Image 2" descr="preencoded.png"/>
          <p:cNvPicPr>
            <a:picLocks noChangeAspect="1"/>
          </p:cNvPicPr>
          <p:nvPr/>
        </p:nvPicPr>
        <p:blipFill>
          <a:blip r:embed="rId5"/>
          <a:stretch>
            <a:fillRect/>
          </a:stretch>
        </p:blipFill>
        <p:spPr>
          <a:xfrm>
            <a:off x="8511235" y="2476195"/>
            <a:ext cx="351130" cy="351130"/>
          </a:xfrm>
          <a:prstGeom prst="rect">
            <a:avLst/>
          </a:prstGeom>
        </p:spPr>
      </p:pic>
      <p:sp>
        <p:nvSpPr>
          <p:cNvPr id="19" name="Text 14"/>
          <p:cNvSpPr txBox="1"/>
          <p:nvPr/>
        </p:nvSpPr>
        <p:spPr>
          <a:xfrm>
            <a:off x="9235440" y="233172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Telecom y suscripciones</a:t>
            </a:r>
            <a:endParaRPr lang="en-US" sz="1600" dirty="0"/>
          </a:p>
        </p:txBody>
      </p:sp>
      <p:sp>
        <p:nvSpPr>
          <p:cNvPr id="20" name="Text 15"/>
          <p:cNvSpPr txBox="1"/>
          <p:nvPr/>
        </p:nvSpPr>
        <p:spPr>
          <a:xfrm>
            <a:off x="8321040" y="310896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¿Quién va a cancelar el servicio?</a:t>
            </a:r>
            <a:endParaRPr lang="en-US" sz="1400" dirty="0"/>
          </a:p>
        </p:txBody>
      </p:sp>
      <p:sp>
        <p:nvSpPr>
          <p:cNvPr id="21" name="Shape 16"/>
          <p:cNvSpPr/>
          <p:nvPr/>
        </p:nvSpPr>
        <p:spPr>
          <a:xfrm>
            <a:off x="548640" y="402336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22" name="Shape 17"/>
          <p:cNvSpPr/>
          <p:nvPr/>
        </p:nvSpPr>
        <p:spPr>
          <a:xfrm>
            <a:off x="822960" y="429768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23" name="Image 3" descr="preencoded.png"/>
          <p:cNvPicPr>
            <a:picLocks noChangeAspect="1"/>
          </p:cNvPicPr>
          <p:nvPr/>
        </p:nvPicPr>
        <p:blipFill>
          <a:blip r:embed="rId6"/>
          <a:stretch>
            <a:fillRect/>
          </a:stretch>
        </p:blipFill>
        <p:spPr>
          <a:xfrm>
            <a:off x="1013155" y="4487875"/>
            <a:ext cx="351130" cy="351130"/>
          </a:xfrm>
          <a:prstGeom prst="rect">
            <a:avLst/>
          </a:prstGeom>
        </p:spPr>
      </p:pic>
      <p:sp>
        <p:nvSpPr>
          <p:cNvPr id="24" name="Text 18"/>
          <p:cNvSpPr txBox="1"/>
          <p:nvPr/>
        </p:nvSpPr>
        <p:spPr>
          <a:xfrm>
            <a:off x="1737360" y="434340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Salud</a:t>
            </a:r>
            <a:endParaRPr lang="en-US" sz="1600" dirty="0"/>
          </a:p>
        </p:txBody>
      </p:sp>
      <p:sp>
        <p:nvSpPr>
          <p:cNvPr id="25" name="Text 19"/>
          <p:cNvSpPr txBox="1"/>
          <p:nvPr/>
        </p:nvSpPr>
        <p:spPr>
          <a:xfrm>
            <a:off x="822960" y="512064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¿Cuántos pacientes llegarán el lunes?</a:t>
            </a:r>
            <a:endParaRPr lang="en-US" sz="1400" dirty="0"/>
          </a:p>
        </p:txBody>
      </p:sp>
      <p:sp>
        <p:nvSpPr>
          <p:cNvPr id="26" name="Shape 20"/>
          <p:cNvSpPr/>
          <p:nvPr/>
        </p:nvSpPr>
        <p:spPr>
          <a:xfrm>
            <a:off x="4297680" y="402336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27" name="Shape 21"/>
          <p:cNvSpPr/>
          <p:nvPr/>
        </p:nvSpPr>
        <p:spPr>
          <a:xfrm>
            <a:off x="4572000" y="4297680"/>
            <a:ext cx="731520" cy="731520"/>
          </a:xfrm>
          <a:prstGeom prst="ellipse">
            <a:avLst/>
          </a:prstGeom>
          <a:solidFill>
            <a:srgbClr val="E4002B"/>
          </a:solidFill>
          <a:ln w="12700">
            <a:solidFill>
              <a:srgbClr val="E4002B"/>
            </a:solidFill>
            <a:prstDash val="solid"/>
          </a:ln>
        </p:spPr>
        <p:txBody>
          <a:bodyPr/>
          <a:lstStyle/>
          <a:p>
            <a:endParaRPr lang="es-CO"/>
          </a:p>
        </p:txBody>
      </p:sp>
      <p:pic>
        <p:nvPicPr>
          <p:cNvPr id="28" name="Image 4" descr="preencoded.png"/>
          <p:cNvPicPr>
            <a:picLocks noChangeAspect="1"/>
          </p:cNvPicPr>
          <p:nvPr/>
        </p:nvPicPr>
        <p:blipFill>
          <a:blip r:embed="rId7"/>
          <a:stretch>
            <a:fillRect/>
          </a:stretch>
        </p:blipFill>
        <p:spPr>
          <a:xfrm>
            <a:off x="4762195" y="4487875"/>
            <a:ext cx="351130" cy="351130"/>
          </a:xfrm>
          <a:prstGeom prst="rect">
            <a:avLst/>
          </a:prstGeom>
        </p:spPr>
      </p:pic>
      <p:sp>
        <p:nvSpPr>
          <p:cNvPr id="29" name="Text 22"/>
          <p:cNvSpPr txBox="1"/>
          <p:nvPr/>
        </p:nvSpPr>
        <p:spPr>
          <a:xfrm>
            <a:off x="5486400" y="434340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Manufactura</a:t>
            </a:r>
            <a:endParaRPr lang="en-US" sz="1600" dirty="0"/>
          </a:p>
        </p:txBody>
      </p:sp>
      <p:sp>
        <p:nvSpPr>
          <p:cNvPr id="30" name="Text 23"/>
          <p:cNvSpPr txBox="1"/>
          <p:nvPr/>
        </p:nvSpPr>
        <p:spPr>
          <a:xfrm>
            <a:off x="4572000" y="512064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¿Cuándo va a fallar esta máquina?</a:t>
            </a:r>
            <a:endParaRPr lang="en-US" sz="1400" dirty="0"/>
          </a:p>
        </p:txBody>
      </p:sp>
      <p:sp>
        <p:nvSpPr>
          <p:cNvPr id="31" name="Shape 24"/>
          <p:cNvSpPr/>
          <p:nvPr/>
        </p:nvSpPr>
        <p:spPr>
          <a:xfrm>
            <a:off x="8046720" y="4023360"/>
            <a:ext cx="3474720" cy="1783080"/>
          </a:xfrm>
          <a:prstGeom prst="roundRect">
            <a:avLst>
              <a:gd name="adj" fmla="val 6154"/>
            </a:avLst>
          </a:prstGeom>
          <a:solidFill>
            <a:srgbClr val="1A1A1A"/>
          </a:solidFill>
          <a:ln w="12700">
            <a:solidFill>
              <a:srgbClr val="1A1A1A"/>
            </a:solidFill>
            <a:prstDash val="solid"/>
          </a:ln>
        </p:spPr>
        <p:txBody>
          <a:bodyPr/>
          <a:lstStyle/>
          <a:p>
            <a:endParaRPr lang="es-CO"/>
          </a:p>
        </p:txBody>
      </p:sp>
      <p:sp>
        <p:nvSpPr>
          <p:cNvPr id="32" name="Shape 25"/>
          <p:cNvSpPr/>
          <p:nvPr/>
        </p:nvSpPr>
        <p:spPr>
          <a:xfrm>
            <a:off x="8321040" y="4297680"/>
            <a:ext cx="731520" cy="731520"/>
          </a:xfrm>
          <a:prstGeom prst="ellipse">
            <a:avLst/>
          </a:prstGeom>
          <a:solidFill>
            <a:srgbClr val="3A3A3A"/>
          </a:solidFill>
          <a:ln w="12700">
            <a:solidFill>
              <a:srgbClr val="3A3A3A"/>
            </a:solidFill>
            <a:prstDash val="solid"/>
          </a:ln>
        </p:spPr>
        <p:txBody>
          <a:bodyPr/>
          <a:lstStyle/>
          <a:p>
            <a:endParaRPr lang="es-CO"/>
          </a:p>
        </p:txBody>
      </p:sp>
      <p:pic>
        <p:nvPicPr>
          <p:cNvPr id="33" name="Image 5" descr="preencoded.png"/>
          <p:cNvPicPr>
            <a:picLocks noChangeAspect="1"/>
          </p:cNvPicPr>
          <p:nvPr/>
        </p:nvPicPr>
        <p:blipFill>
          <a:blip r:embed="rId8"/>
          <a:stretch>
            <a:fillRect/>
          </a:stretch>
        </p:blipFill>
        <p:spPr>
          <a:xfrm>
            <a:off x="8511235" y="4487875"/>
            <a:ext cx="351130" cy="351130"/>
          </a:xfrm>
          <a:prstGeom prst="rect">
            <a:avLst/>
          </a:prstGeom>
        </p:spPr>
      </p:pic>
      <p:sp>
        <p:nvSpPr>
          <p:cNvPr id="34" name="Text 26"/>
          <p:cNvSpPr txBox="1"/>
          <p:nvPr/>
        </p:nvSpPr>
        <p:spPr>
          <a:xfrm>
            <a:off x="9235440" y="4343400"/>
            <a:ext cx="219456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Recursos humanos</a:t>
            </a:r>
            <a:endParaRPr lang="en-US" sz="1600" dirty="0"/>
          </a:p>
        </p:txBody>
      </p:sp>
      <p:sp>
        <p:nvSpPr>
          <p:cNvPr id="35" name="Text 27"/>
          <p:cNvSpPr txBox="1"/>
          <p:nvPr/>
        </p:nvSpPr>
        <p:spPr>
          <a:xfrm>
            <a:off x="8321040" y="5120640"/>
            <a:ext cx="3017520" cy="64008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¿Qué colaboradores podrían renunciar?</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30</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ANTES DE PONERLO A TRABAJAR</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Lista de chequeo para un modelo en una empresa</a:t>
            </a:r>
            <a:endParaRPr lang="en-US" sz="3200" dirty="0"/>
          </a:p>
        </p:txBody>
      </p:sp>
      <p:sp>
        <p:nvSpPr>
          <p:cNvPr id="6" name="Shape 4"/>
          <p:cNvSpPr/>
          <p:nvPr/>
        </p:nvSpPr>
        <p:spPr>
          <a:xfrm>
            <a:off x="548640" y="201168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7" name="Shape 5"/>
          <p:cNvSpPr/>
          <p:nvPr/>
        </p:nvSpPr>
        <p:spPr>
          <a:xfrm>
            <a:off x="777240" y="224028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943661" y="2406701"/>
            <a:ext cx="307238" cy="307238"/>
          </a:xfrm>
          <a:prstGeom prst="rect">
            <a:avLst/>
          </a:prstGeom>
        </p:spPr>
      </p:pic>
      <p:sp>
        <p:nvSpPr>
          <p:cNvPr id="9" name="Text 6"/>
          <p:cNvSpPr txBox="1"/>
          <p:nvPr/>
        </p:nvSpPr>
        <p:spPr>
          <a:xfrm>
            <a:off x="1600200" y="214884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¿La pregunta de negocio es clara y alguien va a actuar con el resultado?</a:t>
            </a:r>
            <a:endParaRPr lang="en-US" sz="1500" dirty="0"/>
          </a:p>
        </p:txBody>
      </p:sp>
      <p:sp>
        <p:nvSpPr>
          <p:cNvPr id="10" name="Shape 7"/>
          <p:cNvSpPr/>
          <p:nvPr/>
        </p:nvSpPr>
        <p:spPr>
          <a:xfrm>
            <a:off x="6217920" y="201168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11" name="Shape 8"/>
          <p:cNvSpPr/>
          <p:nvPr/>
        </p:nvSpPr>
        <p:spPr>
          <a:xfrm>
            <a:off x="6446520" y="224028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12" name="Image 1" descr="preencoded.png"/>
          <p:cNvPicPr>
            <a:picLocks noChangeAspect="1"/>
          </p:cNvPicPr>
          <p:nvPr/>
        </p:nvPicPr>
        <p:blipFill>
          <a:blip r:embed="rId3"/>
          <a:stretch>
            <a:fillRect/>
          </a:stretch>
        </p:blipFill>
        <p:spPr>
          <a:xfrm>
            <a:off x="6612941" y="2406701"/>
            <a:ext cx="307238" cy="307238"/>
          </a:xfrm>
          <a:prstGeom prst="rect">
            <a:avLst/>
          </a:prstGeom>
        </p:spPr>
      </p:pic>
      <p:sp>
        <p:nvSpPr>
          <p:cNvPr id="13" name="Text 9"/>
          <p:cNvSpPr txBox="1"/>
          <p:nvPr/>
        </p:nvSpPr>
        <p:spPr>
          <a:xfrm>
            <a:off x="7269480" y="214884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¿Le gana a una regla simple (línea base)?</a:t>
            </a:r>
            <a:endParaRPr lang="en-US" sz="1500" dirty="0"/>
          </a:p>
        </p:txBody>
      </p:sp>
      <p:sp>
        <p:nvSpPr>
          <p:cNvPr id="14" name="Shape 10"/>
          <p:cNvSpPr/>
          <p:nvPr/>
        </p:nvSpPr>
        <p:spPr>
          <a:xfrm>
            <a:off x="548640" y="329184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15" name="Shape 11"/>
          <p:cNvSpPr/>
          <p:nvPr/>
        </p:nvSpPr>
        <p:spPr>
          <a:xfrm>
            <a:off x="777240" y="352044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16" name="Image 2" descr="preencoded.png"/>
          <p:cNvPicPr>
            <a:picLocks noChangeAspect="1"/>
          </p:cNvPicPr>
          <p:nvPr/>
        </p:nvPicPr>
        <p:blipFill>
          <a:blip r:embed="rId3"/>
          <a:stretch>
            <a:fillRect/>
          </a:stretch>
        </p:blipFill>
        <p:spPr>
          <a:xfrm>
            <a:off x="943661" y="3686861"/>
            <a:ext cx="307238" cy="307238"/>
          </a:xfrm>
          <a:prstGeom prst="rect">
            <a:avLst/>
          </a:prstGeom>
        </p:spPr>
      </p:pic>
      <p:sp>
        <p:nvSpPr>
          <p:cNvPr id="17" name="Text 12"/>
          <p:cNvSpPr txBox="1"/>
          <p:nvPr/>
        </p:nvSpPr>
        <p:spPr>
          <a:xfrm>
            <a:off x="1600200" y="342900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¿Se evaluó en colones, no solo en exactitud?</a:t>
            </a:r>
            <a:endParaRPr lang="en-US" sz="1500" dirty="0"/>
          </a:p>
        </p:txBody>
      </p:sp>
      <p:sp>
        <p:nvSpPr>
          <p:cNvPr id="18" name="Shape 13"/>
          <p:cNvSpPr/>
          <p:nvPr/>
        </p:nvSpPr>
        <p:spPr>
          <a:xfrm>
            <a:off x="6217920" y="329184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19" name="Shape 14"/>
          <p:cNvSpPr/>
          <p:nvPr/>
        </p:nvSpPr>
        <p:spPr>
          <a:xfrm>
            <a:off x="6446520" y="3520440"/>
            <a:ext cx="640080" cy="640080"/>
          </a:xfrm>
          <a:prstGeom prst="ellipse">
            <a:avLst/>
          </a:prstGeom>
          <a:solidFill>
            <a:srgbClr val="E4002B"/>
          </a:solidFill>
          <a:ln w="12700">
            <a:solidFill>
              <a:srgbClr val="E4002B"/>
            </a:solidFill>
            <a:prstDash val="solid"/>
          </a:ln>
        </p:spPr>
        <p:txBody>
          <a:bodyPr/>
          <a:lstStyle/>
          <a:p>
            <a:endParaRPr lang="es-CO"/>
          </a:p>
        </p:txBody>
      </p:sp>
      <p:pic>
        <p:nvPicPr>
          <p:cNvPr id="20" name="Image 3" descr="preencoded.png"/>
          <p:cNvPicPr>
            <a:picLocks noChangeAspect="1"/>
          </p:cNvPicPr>
          <p:nvPr/>
        </p:nvPicPr>
        <p:blipFill>
          <a:blip r:embed="rId3"/>
          <a:stretch>
            <a:fillRect/>
          </a:stretch>
        </p:blipFill>
        <p:spPr>
          <a:xfrm>
            <a:off x="6612941" y="3686861"/>
            <a:ext cx="307238" cy="307238"/>
          </a:xfrm>
          <a:prstGeom prst="rect">
            <a:avLst/>
          </a:prstGeom>
        </p:spPr>
      </p:pic>
      <p:sp>
        <p:nvSpPr>
          <p:cNvPr id="21" name="Text 15"/>
          <p:cNvSpPr txBox="1"/>
          <p:nvPr/>
        </p:nvSpPr>
        <p:spPr>
          <a:xfrm>
            <a:off x="7269480" y="342900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¿Los datos personales se usan de forma legal y ética? (Ley 8968 de Protección de Datos Personales)</a:t>
            </a:r>
            <a:endParaRPr lang="en-US" sz="1500" dirty="0"/>
          </a:p>
        </p:txBody>
      </p:sp>
      <p:sp>
        <p:nvSpPr>
          <p:cNvPr id="22" name="Shape 16"/>
          <p:cNvSpPr/>
          <p:nvPr/>
        </p:nvSpPr>
        <p:spPr>
          <a:xfrm>
            <a:off x="548640" y="457200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23" name="Shape 17"/>
          <p:cNvSpPr/>
          <p:nvPr/>
        </p:nvSpPr>
        <p:spPr>
          <a:xfrm>
            <a:off x="777240" y="4800600"/>
            <a:ext cx="640080" cy="640080"/>
          </a:xfrm>
          <a:prstGeom prst="ellipse">
            <a:avLst/>
          </a:prstGeom>
          <a:solidFill>
            <a:srgbClr val="E4002B"/>
          </a:solidFill>
          <a:ln w="12700">
            <a:solidFill>
              <a:srgbClr val="E4002B"/>
            </a:solidFill>
            <a:prstDash val="solid"/>
          </a:ln>
        </p:spPr>
        <p:txBody>
          <a:bodyPr/>
          <a:lstStyle/>
          <a:p>
            <a:endParaRPr lang="es-CO"/>
          </a:p>
        </p:txBody>
      </p:sp>
      <p:pic>
        <p:nvPicPr>
          <p:cNvPr id="24" name="Image 4" descr="preencoded.png"/>
          <p:cNvPicPr>
            <a:picLocks noChangeAspect="1"/>
          </p:cNvPicPr>
          <p:nvPr/>
        </p:nvPicPr>
        <p:blipFill>
          <a:blip r:embed="rId3"/>
          <a:stretch>
            <a:fillRect/>
          </a:stretch>
        </p:blipFill>
        <p:spPr>
          <a:xfrm>
            <a:off x="943661" y="4967021"/>
            <a:ext cx="307238" cy="307238"/>
          </a:xfrm>
          <a:prstGeom prst="rect">
            <a:avLst/>
          </a:prstGeom>
        </p:spPr>
      </p:pic>
      <p:sp>
        <p:nvSpPr>
          <p:cNvPr id="25" name="Text 18"/>
          <p:cNvSpPr txBox="1"/>
          <p:nvPr/>
        </p:nvSpPr>
        <p:spPr>
          <a:xfrm>
            <a:off x="1600200" y="470916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¿El modelo discrimina injustamente a algún grupo (edad, género, zona)?</a:t>
            </a:r>
            <a:endParaRPr lang="en-US" sz="1500" dirty="0"/>
          </a:p>
        </p:txBody>
      </p:sp>
      <p:sp>
        <p:nvSpPr>
          <p:cNvPr id="26" name="Shape 19"/>
          <p:cNvSpPr/>
          <p:nvPr/>
        </p:nvSpPr>
        <p:spPr>
          <a:xfrm>
            <a:off x="6217920" y="4572000"/>
            <a:ext cx="5394960" cy="1097280"/>
          </a:xfrm>
          <a:prstGeom prst="roundRect">
            <a:avLst>
              <a:gd name="adj" fmla="val 10000"/>
            </a:avLst>
          </a:prstGeom>
          <a:solidFill>
            <a:srgbClr val="1A1A1A"/>
          </a:solidFill>
          <a:ln w="12700">
            <a:solidFill>
              <a:srgbClr val="1A1A1A"/>
            </a:solidFill>
            <a:prstDash val="solid"/>
          </a:ln>
        </p:spPr>
        <p:txBody>
          <a:bodyPr/>
          <a:lstStyle/>
          <a:p>
            <a:endParaRPr lang="es-CO"/>
          </a:p>
        </p:txBody>
      </p:sp>
      <p:sp>
        <p:nvSpPr>
          <p:cNvPr id="27" name="Shape 20"/>
          <p:cNvSpPr/>
          <p:nvPr/>
        </p:nvSpPr>
        <p:spPr>
          <a:xfrm>
            <a:off x="6446520" y="480060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28" name="Image 5" descr="preencoded.png"/>
          <p:cNvPicPr>
            <a:picLocks noChangeAspect="1"/>
          </p:cNvPicPr>
          <p:nvPr/>
        </p:nvPicPr>
        <p:blipFill>
          <a:blip r:embed="rId3"/>
          <a:stretch>
            <a:fillRect/>
          </a:stretch>
        </p:blipFill>
        <p:spPr>
          <a:xfrm>
            <a:off x="6612941" y="4967021"/>
            <a:ext cx="307238" cy="307238"/>
          </a:xfrm>
          <a:prstGeom prst="rect">
            <a:avLst/>
          </a:prstGeom>
        </p:spPr>
      </p:pic>
      <p:sp>
        <p:nvSpPr>
          <p:cNvPr id="29" name="Text 21"/>
          <p:cNvSpPr txBox="1"/>
          <p:nvPr/>
        </p:nvSpPr>
        <p:spPr>
          <a:xfrm>
            <a:off x="7269480" y="4709160"/>
            <a:ext cx="41605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¿Hay alguien responsable de vigilarlo y reentrenarlo?</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900" kern="0" spc="200" dirty="0">
                <a:solidFill>
                  <a:srgbClr val="8C8C8C"/>
                </a:solidFill>
                <a:latin typeface="Courier New" pitchFamily="34" charset="0"/>
                <a:ea typeface="Courier New" pitchFamily="34" charset="-122"/>
                <a:cs typeface="Courier New" pitchFamily="34" charset="-120"/>
              </a:rPr>
              <a:t>UNIDAD 5 · CASOS PRÁCTICOS EMPRESARIALES</a:t>
            </a:r>
            <a:endParaRPr lang="en-US" sz="900" dirty="0"/>
          </a:p>
        </p:txBody>
      </p:sp>
      <p:sp>
        <p:nvSpPr>
          <p:cNvPr id="3" name="Text 1"/>
          <p:cNvSpPr txBox="1"/>
          <p:nvPr/>
        </p:nvSpPr>
        <p:spPr>
          <a:xfrm>
            <a:off x="10911535" y="6400800"/>
            <a:ext cx="731520" cy="274320"/>
          </a:xfrm>
          <a:prstGeom prst="rect">
            <a:avLst/>
          </a:prstGeom>
          <a:noFill/>
          <a:ln/>
        </p:spPr>
        <p:txBody>
          <a:bodyPr wrap="square" lIns="0" tIns="0" rIns="0" bIns="0" rtlCol="0" anchor="ctr"/>
          <a:lstStyle/>
          <a:p>
            <a:pPr marL="0" indent="0" algn="r">
              <a:buNone/>
            </a:pPr>
            <a:r>
              <a:rPr lang="en-US" sz="900" dirty="0">
                <a:solidFill>
                  <a:srgbClr val="8C8C8C"/>
                </a:solidFill>
                <a:latin typeface="Courier New" pitchFamily="34" charset="0"/>
                <a:ea typeface="Courier New" pitchFamily="34" charset="-122"/>
                <a:cs typeface="Courier New" pitchFamily="34" charset="-120"/>
              </a:rPr>
              <a:t>31</a:t>
            </a:r>
            <a:endParaRPr lang="en-US" sz="900" dirty="0"/>
          </a:p>
        </p:txBody>
      </p:sp>
      <p:sp>
        <p:nvSpPr>
          <p:cNvPr id="4" name="Text 2"/>
          <p:cNvSpPr txBox="1"/>
          <p:nvPr/>
        </p:nvSpPr>
        <p:spPr>
          <a:xfrm>
            <a:off x="548640" y="50292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RETO FINAL DE LA UNIDAD · EN PAREJAS</a:t>
            </a:r>
            <a:endParaRPr lang="en-US" sz="1300" dirty="0"/>
          </a:p>
        </p:txBody>
      </p:sp>
      <p:sp>
        <p:nvSpPr>
          <p:cNvPr id="5" name="Text 3"/>
          <p:cNvSpPr txBox="1"/>
          <p:nvPr/>
        </p:nvSpPr>
        <p:spPr>
          <a:xfrm>
            <a:off x="548640" y="868680"/>
            <a:ext cx="10972800" cy="8229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Resuelvan un problema real con el ciclo completo</a:t>
            </a:r>
            <a:endParaRPr lang="en-US" sz="3200" dirty="0"/>
          </a:p>
        </p:txBody>
      </p:sp>
      <p:sp>
        <p:nvSpPr>
          <p:cNvPr id="6" name="Text 4"/>
          <p:cNvSpPr txBox="1"/>
          <p:nvPr/>
        </p:nvSpPr>
        <p:spPr>
          <a:xfrm>
            <a:off x="548640" y="2011680"/>
            <a:ext cx="5760720" cy="40233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Una empresa costarricense, real o inventada</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Pregunta de negocio en una frase y quién la usará</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Datos reales (Kaggle, datos abiertos) o simulados</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Línea base + al menos dos modelos validados</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Resultado en dinero frente a la situación actual</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Plan de uso: quién lo corre, cada cuánto y cómo se vigila</a:t>
            </a:r>
            <a:endParaRPr lang="en-US" sz="1600" dirty="0"/>
          </a:p>
          <a:p>
            <a:pPr marL="228600" indent="-228600">
              <a:spcAft>
                <a:spcPts val="800"/>
              </a:spcAft>
              <a:buSzPct val="100000"/>
              <a:buChar char="•"/>
            </a:pPr>
            <a:r>
              <a:rPr lang="en-US" sz="1600" dirty="0">
                <a:solidFill>
                  <a:srgbClr val="D4D4D4"/>
                </a:solidFill>
                <a:latin typeface="Calibri" pitchFamily="34" charset="0"/>
                <a:ea typeface="Calibri" pitchFamily="34" charset="-122"/>
                <a:cs typeface="Calibri" pitchFamily="34" charset="-120"/>
              </a:rPr>
              <a:t>Presentación de 7 minutos para "la gerencia", sin código</a:t>
            </a:r>
            <a:endParaRPr lang="en-US" sz="1600" dirty="0"/>
          </a:p>
        </p:txBody>
      </p:sp>
      <p:sp>
        <p:nvSpPr>
          <p:cNvPr id="7" name="Shape 5"/>
          <p:cNvSpPr/>
          <p:nvPr/>
        </p:nvSpPr>
        <p:spPr>
          <a:xfrm>
            <a:off x="6675120" y="1920240"/>
            <a:ext cx="4937760" cy="4114800"/>
          </a:xfrm>
          <a:prstGeom prst="roundRect">
            <a:avLst>
              <a:gd name="adj" fmla="val 2667"/>
            </a:avLst>
          </a:prstGeom>
          <a:solidFill>
            <a:srgbClr val="1A1A1A"/>
          </a:solidFill>
          <a:ln w="12700">
            <a:solidFill>
              <a:srgbClr val="1A1A1A"/>
            </a:solidFill>
            <a:prstDash val="solid"/>
          </a:ln>
        </p:spPr>
        <p:txBody>
          <a:bodyPr/>
          <a:lstStyle/>
          <a:p>
            <a:endParaRPr lang="es-CO"/>
          </a:p>
        </p:txBody>
      </p:sp>
      <p:sp>
        <p:nvSpPr>
          <p:cNvPr id="8" name="Text 6"/>
          <p:cNvSpPr txBox="1"/>
          <p:nvPr/>
        </p:nvSpPr>
        <p:spPr>
          <a:xfrm>
            <a:off x="6949440" y="2148840"/>
            <a:ext cx="3657600" cy="274320"/>
          </a:xfrm>
          <a:prstGeom prst="rect">
            <a:avLst/>
          </a:prstGeom>
          <a:noFill/>
          <a:ln/>
        </p:spPr>
        <p:txBody>
          <a:bodyPr wrap="square" lIns="0" tIns="0" rIns="0" bIns="0" rtlCol="0" anchor="t"/>
          <a:lstStyle/>
          <a:p>
            <a:pPr marL="0" indent="0">
              <a:buNone/>
            </a:pPr>
            <a:r>
              <a:rPr lang="en-US" sz="1200" b="1" dirty="0">
                <a:solidFill>
                  <a:srgbClr val="E4002B"/>
                </a:solidFill>
                <a:latin typeface="Courier New" pitchFamily="34" charset="0"/>
                <a:ea typeface="Courier New" pitchFamily="34" charset="-122"/>
                <a:cs typeface="Courier New" pitchFamily="34" charset="-120"/>
              </a:rPr>
              <a:t>RÚBRICA</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949440" y="2560320"/>
          <a:ext cx="438912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475488">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Pregunta de negocio clara y accionable</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Preparación de datos y variables</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Modelado y validación correcta</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E4002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Traducción a dinero / decisión</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E4002B"/>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D4D4D4"/>
                          </a:solidFill>
                          <a:latin typeface="Calibri" pitchFamily="34" charset="0"/>
                          <a:ea typeface="Calibri" pitchFamily="34" charset="-122"/>
                          <a:cs typeface="Calibri" pitchFamily="34" charset="-120"/>
                        </a:rPr>
                        <a:t>Presentación y comunicación</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A0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0058400" cy="320040"/>
          </a:xfrm>
          <a:prstGeom prst="rect">
            <a:avLst/>
          </a:prstGeom>
          <a:noFill/>
          <a:ln/>
        </p:spPr>
        <p:txBody>
          <a:bodyPr wrap="square" lIns="0" tIns="0" rIns="0" bIns="0" rtlCol="0" anchor="ctr"/>
          <a:lstStyle/>
          <a:p>
            <a:pPr marL="0" indent="0">
              <a:buNone/>
            </a:pPr>
            <a:r>
              <a:rPr lang="en-US" sz="1300" b="1" kern="0" spc="400" dirty="0">
                <a:solidFill>
                  <a:srgbClr val="E4002B"/>
                </a:solidFill>
                <a:latin typeface="Courier New" pitchFamily="34" charset="0"/>
                <a:ea typeface="Courier New" pitchFamily="34" charset="-122"/>
                <a:cs typeface="Courier New" pitchFamily="34" charset="-120"/>
              </a:rPr>
              <a:t>PARA LLEVARSE A LA CASA</a:t>
            </a:r>
            <a:endParaRPr lang="en-US" sz="1300" dirty="0"/>
          </a:p>
        </p:txBody>
      </p:sp>
      <p:sp>
        <p:nvSpPr>
          <p:cNvPr id="3" name="Text 1"/>
          <p:cNvSpPr txBox="1"/>
          <p:nvPr/>
        </p:nvSpPr>
        <p:spPr>
          <a:xfrm>
            <a:off x="548640" y="1280160"/>
            <a:ext cx="10972800" cy="182880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Predicción + decisión</a:t>
            </a:r>
            <a:endParaRPr lang="en-US" sz="4400" dirty="0"/>
          </a:p>
          <a:p>
            <a:pPr marL="0" indent="0">
              <a:buNone/>
            </a:pPr>
            <a:r>
              <a:rPr lang="en-US" sz="4400" b="1" dirty="0">
                <a:solidFill>
                  <a:srgbClr val="FFFFFF"/>
                </a:solidFill>
                <a:latin typeface="Arial" pitchFamily="34" charset="0"/>
                <a:ea typeface="Arial" pitchFamily="34" charset="-122"/>
                <a:cs typeface="Arial" pitchFamily="34" charset="-120"/>
              </a:rPr>
              <a:t>= valor para la empresa</a:t>
            </a:r>
            <a:endParaRPr lang="en-US" sz="4400" dirty="0"/>
          </a:p>
        </p:txBody>
      </p:sp>
      <p:sp>
        <p:nvSpPr>
          <p:cNvPr id="4" name="Shape 2"/>
          <p:cNvSpPr/>
          <p:nvPr/>
        </p:nvSpPr>
        <p:spPr>
          <a:xfrm>
            <a:off x="548640" y="3474720"/>
            <a:ext cx="2606040" cy="2011680"/>
          </a:xfrm>
          <a:prstGeom prst="roundRect">
            <a:avLst>
              <a:gd name="adj" fmla="val 5455"/>
            </a:avLst>
          </a:prstGeom>
          <a:solidFill>
            <a:srgbClr val="1A1A1A"/>
          </a:solidFill>
          <a:ln w="12700">
            <a:solidFill>
              <a:srgbClr val="1A1A1A"/>
            </a:solidFill>
            <a:prstDash val="solid"/>
          </a:ln>
        </p:spPr>
        <p:txBody>
          <a:bodyPr/>
          <a:lstStyle/>
          <a:p>
            <a:endParaRPr lang="es-CO"/>
          </a:p>
        </p:txBody>
      </p:sp>
      <p:sp>
        <p:nvSpPr>
          <p:cNvPr id="5" name="Shape 3"/>
          <p:cNvSpPr/>
          <p:nvPr/>
        </p:nvSpPr>
        <p:spPr>
          <a:xfrm>
            <a:off x="777240" y="3703320"/>
            <a:ext cx="640080" cy="640080"/>
          </a:xfrm>
          <a:prstGeom prst="ellipse">
            <a:avLst/>
          </a:prstGeom>
          <a:solidFill>
            <a:srgbClr val="E4002B"/>
          </a:solidFill>
          <a:ln w="12700">
            <a:solidFill>
              <a:srgbClr val="E4002B"/>
            </a:solidFill>
            <a:prstDash val="solid"/>
          </a:ln>
        </p:spPr>
        <p:txBody>
          <a:bodyPr/>
          <a:lstStyle/>
          <a:p>
            <a:endParaRPr lang="es-CO"/>
          </a:p>
        </p:txBody>
      </p:sp>
      <p:pic>
        <p:nvPicPr>
          <p:cNvPr id="6" name="Image 0" descr="preencoded.png"/>
          <p:cNvPicPr>
            <a:picLocks noChangeAspect="1"/>
          </p:cNvPicPr>
          <p:nvPr/>
        </p:nvPicPr>
        <p:blipFill>
          <a:blip r:embed="rId3"/>
          <a:stretch>
            <a:fillRect/>
          </a:stretch>
        </p:blipFill>
        <p:spPr>
          <a:xfrm>
            <a:off x="943661" y="3869741"/>
            <a:ext cx="307238" cy="307238"/>
          </a:xfrm>
          <a:prstGeom prst="rect">
            <a:avLst/>
          </a:prstGeom>
        </p:spPr>
      </p:pic>
      <p:sp>
        <p:nvSpPr>
          <p:cNvPr id="7" name="Text 4"/>
          <p:cNvSpPr txBox="1"/>
          <p:nvPr/>
        </p:nvSpPr>
        <p:spPr>
          <a:xfrm>
            <a:off x="1554480" y="3776472"/>
            <a:ext cx="1463040" cy="45720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Ventas</a:t>
            </a:r>
            <a:endParaRPr lang="en-US" sz="1700" dirty="0"/>
          </a:p>
        </p:txBody>
      </p:sp>
      <p:sp>
        <p:nvSpPr>
          <p:cNvPr id="8" name="Text 5"/>
          <p:cNvSpPr txBox="1"/>
          <p:nvPr/>
        </p:nvSpPr>
        <p:spPr>
          <a:xfrm>
            <a:off x="777240" y="4480560"/>
            <a:ext cx="21945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Respeta el tiempo y compara con una regla simple</a:t>
            </a:r>
            <a:endParaRPr lang="en-US" sz="1400" dirty="0"/>
          </a:p>
        </p:txBody>
      </p:sp>
      <p:sp>
        <p:nvSpPr>
          <p:cNvPr id="9" name="Shape 6"/>
          <p:cNvSpPr/>
          <p:nvPr/>
        </p:nvSpPr>
        <p:spPr>
          <a:xfrm>
            <a:off x="3364992" y="3474720"/>
            <a:ext cx="2606040" cy="2011680"/>
          </a:xfrm>
          <a:prstGeom prst="roundRect">
            <a:avLst>
              <a:gd name="adj" fmla="val 5455"/>
            </a:avLst>
          </a:prstGeom>
          <a:solidFill>
            <a:srgbClr val="1A1A1A"/>
          </a:solidFill>
          <a:ln w="12700">
            <a:solidFill>
              <a:srgbClr val="1A1A1A"/>
            </a:solidFill>
            <a:prstDash val="solid"/>
          </a:ln>
        </p:spPr>
        <p:txBody>
          <a:bodyPr/>
          <a:lstStyle/>
          <a:p>
            <a:endParaRPr lang="es-CO"/>
          </a:p>
        </p:txBody>
      </p:sp>
      <p:sp>
        <p:nvSpPr>
          <p:cNvPr id="10" name="Shape 7"/>
          <p:cNvSpPr/>
          <p:nvPr/>
        </p:nvSpPr>
        <p:spPr>
          <a:xfrm>
            <a:off x="3593592" y="370332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11" name="Image 1" descr="preencoded.png"/>
          <p:cNvPicPr>
            <a:picLocks noChangeAspect="1"/>
          </p:cNvPicPr>
          <p:nvPr/>
        </p:nvPicPr>
        <p:blipFill>
          <a:blip r:embed="rId4"/>
          <a:stretch>
            <a:fillRect/>
          </a:stretch>
        </p:blipFill>
        <p:spPr>
          <a:xfrm>
            <a:off x="3760013" y="3869741"/>
            <a:ext cx="307238" cy="307238"/>
          </a:xfrm>
          <a:prstGeom prst="rect">
            <a:avLst/>
          </a:prstGeom>
        </p:spPr>
      </p:pic>
      <p:sp>
        <p:nvSpPr>
          <p:cNvPr id="12" name="Text 8"/>
          <p:cNvSpPr txBox="1"/>
          <p:nvPr/>
        </p:nvSpPr>
        <p:spPr>
          <a:xfrm>
            <a:off x="4370832" y="3776472"/>
            <a:ext cx="1463040" cy="45720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Demanda</a:t>
            </a:r>
            <a:endParaRPr lang="en-US" sz="1700" dirty="0"/>
          </a:p>
        </p:txBody>
      </p:sp>
      <p:sp>
        <p:nvSpPr>
          <p:cNvPr id="13" name="Text 9"/>
          <p:cNvSpPr txBox="1"/>
          <p:nvPr/>
        </p:nvSpPr>
        <p:spPr>
          <a:xfrm>
            <a:off x="3593592" y="4480560"/>
            <a:ext cx="21945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Mide en colones y usa un colchón</a:t>
            </a:r>
            <a:endParaRPr lang="en-US" sz="1400" dirty="0"/>
          </a:p>
        </p:txBody>
      </p:sp>
      <p:sp>
        <p:nvSpPr>
          <p:cNvPr id="14" name="Shape 10"/>
          <p:cNvSpPr/>
          <p:nvPr/>
        </p:nvSpPr>
        <p:spPr>
          <a:xfrm>
            <a:off x="6181344" y="3474720"/>
            <a:ext cx="2606040" cy="2011680"/>
          </a:xfrm>
          <a:prstGeom prst="roundRect">
            <a:avLst>
              <a:gd name="adj" fmla="val 5455"/>
            </a:avLst>
          </a:prstGeom>
          <a:solidFill>
            <a:srgbClr val="1A1A1A"/>
          </a:solidFill>
          <a:ln w="12700">
            <a:solidFill>
              <a:srgbClr val="1A1A1A"/>
            </a:solidFill>
            <a:prstDash val="solid"/>
          </a:ln>
        </p:spPr>
        <p:txBody>
          <a:bodyPr/>
          <a:lstStyle/>
          <a:p>
            <a:endParaRPr lang="es-CO"/>
          </a:p>
        </p:txBody>
      </p:sp>
      <p:sp>
        <p:nvSpPr>
          <p:cNvPr id="15" name="Shape 11"/>
          <p:cNvSpPr/>
          <p:nvPr/>
        </p:nvSpPr>
        <p:spPr>
          <a:xfrm>
            <a:off x="6409944" y="3703320"/>
            <a:ext cx="640080" cy="640080"/>
          </a:xfrm>
          <a:prstGeom prst="ellipse">
            <a:avLst/>
          </a:prstGeom>
          <a:solidFill>
            <a:srgbClr val="E4002B"/>
          </a:solidFill>
          <a:ln w="12700">
            <a:solidFill>
              <a:srgbClr val="E4002B"/>
            </a:solidFill>
            <a:prstDash val="solid"/>
          </a:ln>
        </p:spPr>
        <p:txBody>
          <a:bodyPr/>
          <a:lstStyle/>
          <a:p>
            <a:endParaRPr lang="es-CO"/>
          </a:p>
        </p:txBody>
      </p:sp>
      <p:pic>
        <p:nvPicPr>
          <p:cNvPr id="16" name="Image 2" descr="preencoded.png"/>
          <p:cNvPicPr>
            <a:picLocks noChangeAspect="1"/>
          </p:cNvPicPr>
          <p:nvPr/>
        </p:nvPicPr>
        <p:blipFill>
          <a:blip r:embed="rId5"/>
          <a:stretch>
            <a:fillRect/>
          </a:stretch>
        </p:blipFill>
        <p:spPr>
          <a:xfrm>
            <a:off x="6576365" y="3869741"/>
            <a:ext cx="307238" cy="307238"/>
          </a:xfrm>
          <a:prstGeom prst="rect">
            <a:avLst/>
          </a:prstGeom>
        </p:spPr>
      </p:pic>
      <p:sp>
        <p:nvSpPr>
          <p:cNvPr id="17" name="Text 12"/>
          <p:cNvSpPr txBox="1"/>
          <p:nvPr/>
        </p:nvSpPr>
        <p:spPr>
          <a:xfrm>
            <a:off x="7187184" y="3776472"/>
            <a:ext cx="1463040" cy="45720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Clientes</a:t>
            </a:r>
            <a:endParaRPr lang="en-US" sz="1700" dirty="0"/>
          </a:p>
        </p:txBody>
      </p:sp>
      <p:sp>
        <p:nvSpPr>
          <p:cNvPr id="18" name="Text 13"/>
          <p:cNvSpPr txBox="1"/>
          <p:nvPr/>
        </p:nvSpPr>
        <p:spPr>
          <a:xfrm>
            <a:off x="6409944" y="4480560"/>
            <a:ext cx="21945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Segmenta primero, anticipa después</a:t>
            </a:r>
            <a:endParaRPr lang="en-US" sz="1400" dirty="0"/>
          </a:p>
        </p:txBody>
      </p:sp>
      <p:sp>
        <p:nvSpPr>
          <p:cNvPr id="19" name="Shape 14"/>
          <p:cNvSpPr/>
          <p:nvPr/>
        </p:nvSpPr>
        <p:spPr>
          <a:xfrm>
            <a:off x="8997696" y="3474720"/>
            <a:ext cx="2606040" cy="2011680"/>
          </a:xfrm>
          <a:prstGeom prst="roundRect">
            <a:avLst>
              <a:gd name="adj" fmla="val 5455"/>
            </a:avLst>
          </a:prstGeom>
          <a:solidFill>
            <a:srgbClr val="1A1A1A"/>
          </a:solidFill>
          <a:ln w="12700">
            <a:solidFill>
              <a:srgbClr val="1A1A1A"/>
            </a:solidFill>
            <a:prstDash val="solid"/>
          </a:ln>
        </p:spPr>
        <p:txBody>
          <a:bodyPr/>
          <a:lstStyle/>
          <a:p>
            <a:endParaRPr lang="es-CO"/>
          </a:p>
        </p:txBody>
      </p:sp>
      <p:sp>
        <p:nvSpPr>
          <p:cNvPr id="20" name="Shape 15"/>
          <p:cNvSpPr/>
          <p:nvPr/>
        </p:nvSpPr>
        <p:spPr>
          <a:xfrm>
            <a:off x="9226296" y="3703320"/>
            <a:ext cx="640080" cy="640080"/>
          </a:xfrm>
          <a:prstGeom prst="ellipse">
            <a:avLst/>
          </a:prstGeom>
          <a:solidFill>
            <a:srgbClr val="3A3A3A"/>
          </a:solidFill>
          <a:ln w="12700">
            <a:solidFill>
              <a:srgbClr val="3A3A3A"/>
            </a:solidFill>
            <a:prstDash val="solid"/>
          </a:ln>
        </p:spPr>
        <p:txBody>
          <a:bodyPr/>
          <a:lstStyle/>
          <a:p>
            <a:endParaRPr lang="es-CO"/>
          </a:p>
        </p:txBody>
      </p:sp>
      <p:pic>
        <p:nvPicPr>
          <p:cNvPr id="21" name="Image 3" descr="preencoded.png"/>
          <p:cNvPicPr>
            <a:picLocks noChangeAspect="1"/>
          </p:cNvPicPr>
          <p:nvPr/>
        </p:nvPicPr>
        <p:blipFill>
          <a:blip r:embed="rId6"/>
          <a:stretch>
            <a:fillRect/>
          </a:stretch>
        </p:blipFill>
        <p:spPr>
          <a:xfrm>
            <a:off x="9392717" y="3869741"/>
            <a:ext cx="307238" cy="307238"/>
          </a:xfrm>
          <a:prstGeom prst="rect">
            <a:avLst/>
          </a:prstGeom>
        </p:spPr>
      </p:pic>
      <p:sp>
        <p:nvSpPr>
          <p:cNvPr id="22" name="Text 16"/>
          <p:cNvSpPr txBox="1"/>
          <p:nvPr/>
        </p:nvSpPr>
        <p:spPr>
          <a:xfrm>
            <a:off x="10003536" y="3776472"/>
            <a:ext cx="1463040" cy="45720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Empresa</a:t>
            </a:r>
            <a:endParaRPr lang="en-US" sz="1700" dirty="0"/>
          </a:p>
        </p:txBody>
      </p:sp>
      <p:sp>
        <p:nvSpPr>
          <p:cNvPr id="23" name="Text 17"/>
          <p:cNvSpPr txBox="1"/>
          <p:nvPr/>
        </p:nvSpPr>
        <p:spPr>
          <a:xfrm>
            <a:off x="9226296" y="4480560"/>
            <a:ext cx="2194560" cy="914400"/>
          </a:xfrm>
          <a:prstGeom prst="rect">
            <a:avLst/>
          </a:prstGeom>
          <a:noFill/>
          <a:ln/>
        </p:spPr>
        <p:txBody>
          <a:bodyPr wrap="square" lIns="0" tIns="0" rIns="0" bIns="0" rtlCol="0" anchor="t"/>
          <a:lstStyle/>
          <a:p>
            <a:pPr marL="0" indent="0">
              <a:buNone/>
            </a:pPr>
            <a:r>
              <a:rPr lang="en-US" sz="1400" dirty="0">
                <a:solidFill>
                  <a:srgbClr val="D4D4D4"/>
                </a:solidFill>
                <a:latin typeface="Calibri" pitchFamily="34" charset="0"/>
                <a:ea typeface="Calibri" pitchFamily="34" charset="-122"/>
                <a:cs typeface="Calibri" pitchFamily="34" charset="-120"/>
              </a:rPr>
              <a:t>El umbral lo decide el negocio; vigila el modelo</a:t>
            </a:r>
            <a:endParaRPr lang="en-US" sz="1400" dirty="0"/>
          </a:p>
        </p:txBody>
      </p:sp>
      <p:sp>
        <p:nvSpPr>
          <p:cNvPr id="24" name="Text 18"/>
          <p:cNvSpPr txBox="1"/>
          <p:nvPr/>
        </p:nvSpPr>
        <p:spPr>
          <a:xfrm>
            <a:off x="548640" y="5943600"/>
            <a:ext cx="548640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Ing. Berman Moya Umaña</a:t>
            </a:r>
            <a:endParaRPr lang="en-US" sz="1500" dirty="0"/>
          </a:p>
        </p:txBody>
      </p:sp>
      <p:sp>
        <p:nvSpPr>
          <p:cNvPr id="25" name="Text 19"/>
          <p:cNvSpPr txBox="1"/>
          <p:nvPr/>
        </p:nvSpPr>
        <p:spPr>
          <a:xfrm>
            <a:off x="7955280" y="5943600"/>
            <a:ext cx="3657600" cy="365760"/>
          </a:xfrm>
          <a:prstGeom prst="rect">
            <a:avLst/>
          </a:prstGeom>
          <a:noFill/>
          <a:ln/>
        </p:spPr>
        <p:txBody>
          <a:bodyPr wrap="square" lIns="0" tIns="0" rIns="0" bIns="0" rtlCol="0" anchor="ctr"/>
          <a:lstStyle/>
          <a:p>
            <a:pPr marL="0" indent="0" algn="r">
              <a:buNone/>
            </a:pPr>
            <a:r>
              <a:rPr lang="en-US" sz="1400" b="1" kern="0" spc="400" dirty="0">
                <a:solidFill>
                  <a:srgbClr val="E4002B"/>
                </a:solidFill>
                <a:latin typeface="Courier New" pitchFamily="34" charset="0"/>
                <a:ea typeface="Courier New" pitchFamily="34" charset="-122"/>
                <a:cs typeface="Courier New" pitchFamily="34" charset="-120"/>
              </a:rPr>
              <a:t>¿PREGUNTAS?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4320</Words>
  <Application>Microsoft Office PowerPoint</Application>
  <PresentationFormat>Panorámica</PresentationFormat>
  <Paragraphs>531</Paragraphs>
  <Slides>32</Slides>
  <Notes>32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32</vt:i4>
      </vt:variant>
    </vt:vector>
  </HeadingPairs>
  <TitlesOfParts>
    <vt:vector size="36"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5 · Casos prácticos empresariales</dc:title>
  <dc:subject>PptxGenJS Presentation</dc:subject>
  <dc:creator>Ing. Berman Moya Umaña</dc:creator>
  <cp:lastModifiedBy>Alonso Moya</cp:lastModifiedBy>
  <cp:revision>2</cp:revision>
  <dcterms:created xsi:type="dcterms:W3CDTF">2026-09-30T00:20:52Z</dcterms:created>
  <dcterms:modified xsi:type="dcterms:W3CDTF">2026-09-30T14:38:46Z</dcterms:modified>
</cp:coreProperties>
</file>